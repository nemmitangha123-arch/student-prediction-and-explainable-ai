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172A"/>
                </a:solidFill>
                <a:latin typeface="Arial"/>
              </a:defRPr>
            </a:pPr>
            <a:r>
              <a:rPr sz="1200" b="0" i="0" u="none" strike="noStrike">
                <a:solidFill>
                  <a:srgbClr val="0F172A"/>
                </a:solidFill>
                <a:latin typeface="Arial"/>
              </a:rPr>
              <a:t>Mean absolute error (lower is better)</a:t>
            </a:r>
          </a:p>
        </c:rich>
      </c:tx>
      <c:layout/>
      <c:overlay val="0"/>
    </c:title>
    <c:autoTitleDeleted val="0"/>
    <c:plotArea>
      <c:layout/>
      <c:barChart>
        <c:barDir val="bar"/>
        <c:grouping val="clustered"/>
        <c:varyColors val="0"/>
        <c:ser>
          <c:idx val="0"/>
          <c:order val="0"/>
          <c:tx>
            <c:strRef>
              <c:f>Sheet1!$B$1</c:f>
              <c:strCache>
                <c:ptCount val="1"/>
                <c:pt idx="0">
                  <c:v>MAE (marks)</c:v>
                </c:pt>
              </c:strCache>
            </c:strRef>
          </c:tx>
          <c:spPr>
            <a:solidFill>
              <a:srgbClr val="2563EB"/>
            </a:solidFill>
            <a:effectLst/>
          </c:spPr>
          <c:invertIfNegative val="0"/>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Linear Reg.</c:v>
                  </c:pt>
                  <c:pt idx="1">
                    <c:v>RF (tuned)</c:v>
                  </c:pt>
                  <c:pt idx="2">
                    <c:v>SVR</c:v>
                  </c:pt>
                  <c:pt idx="3">
                    <c:v>Random Forest</c:v>
                  </c:pt>
                  <c:pt idx="4">
                    <c:v>Decision Tree</c:v>
                  </c:pt>
                </c:lvl>
              </c:multiLvlStrCache>
            </c:multiLvlStrRef>
          </c:cat>
          <c:val>
            <c:numRef>
              <c:f>Sheet1!$B$2:$B$6</c:f>
              <c:numCache>
                <c:formatCode>General</c:formatCode>
                <c:ptCount val="5"/>
                <c:pt idx="0">
                  <c:v>3.62</c:v>
                </c:pt>
                <c:pt idx="1">
                  <c:v>3.85</c:v>
                </c:pt>
                <c:pt idx="2">
                  <c:v>3.91</c:v>
                </c:pt>
                <c:pt idx="3">
                  <c:v>3.99</c:v>
                </c:pt>
                <c:pt idx="4">
                  <c:v>4.85</c:v>
                </c:pt>
              </c:numCache>
            </c:numRef>
          </c:val>
        </c:ser>
        <c:dLbls>
          <c:numFmt formatCode="0.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an AI-based student performance prediction and decision support system with explainable AI.
The theme is explainable AI for early identification of at-risk students.
In one sentence: the system predicts a student's final-exam marks, flags an early-warning level, explains the prediction with SHAP, suggests actions, and shows how a teacher could assign and track those actions.
Everything I show today is a working prototype that I will demonstrate live. The model is trained on our 2,000-record dataset, but the app itself demonstrates the workflow with five predefined demo student profiles — they are not real students.
Transition: let me start with the problem we are addressing.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struggling students are often noticed late, typically after results are out.
Second, even if we have a model that predicts a score, a number by itself does not tell the teacher why.
Third, there is usually no clear path from "this student may be at risk" to "here is what we will do about it".
So our question is whether prediction plus explanation can support earlier identification and connect it to action.
I am careful not to claim this solves the problem — it is a prototype that explores the idea.
Transition: that leads to our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five objectives.
One, predict final-exam marks from five academic inputs.
Two, turn that prediction into an early warning with three levels.
Three, explain each individual prediction using SHAP, so it is not a black box.
Four, generate recommendations based on that explanation.
Five, demonstrate how a teacher would act on it: assign an intervention, see it marked completed, and view a report.
Transition: here is how these pieces fit together as one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because it is also the structure of my live demo.
The top row is the machine-learning part. We take five academic inputs, the model predicts final-exam marks, early-warning rules turn that into a level, and SHAP explains which inputs pushed the prediction up or down.
The bottom row is decision support. The explanation drives recommendations, a teacher can assign one as an intervention, the student marks it completed, and a report brings it all together.
Everything in the top row plus the recommendations comes from the real Flask API. The teacher workflow runs in the browser session — there is no database — which I will be open about throughout.
Transition: before the data, a quick look at how the application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application is built.
The user works in a React and Vite frontend, which has the Student Portal and the Teacher Portal.
The frontend talks to a Flask REST API over HTTP and JSON. There are three main endpoints: /predict returns the predicted marks and the early-warning band, /explain returns the SHAP contributions, and /recommend returns the recommendations. The API also checks that every input is inside the range the model was trained on.
Behind the API is the saved scikit-learn pipeline — StandardScaler plus Linear Regression — together with a SHAP explainer and the two sets of rules.
The bottom row is the logical chain: prediction, then SHAP, then recommendation rules, then the teacher's intervention and report.
There is no database. The results and interventions for the five demo students live in the browser session, which is enough for a demonstration.
Transition: now let's look at the data behind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the model was trained and evaluated on: 2,000 student records, five input features and one target.
The inputs are attendance, two internal tests out of 40, an assignment score out of 10, and daily study hours. The target is the final-exam mark out of 100.
The ranges in the right column are the ranges present in the data, and the app's API only accepts inputs inside them — so we never ask the model to extrapolate.
One important distinction: this is training data. The application you will see does not show these records. It uses five predefined demo students to demonstrate the workflow.
Transition: next, how we built and validated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had six steps. We prepared the data — five features and the target, with no missing values.
In the individual model experiments we used an 80/20 split, 1,600 rows for training and 400 for testing.
For the final comparison we used five-fold cross-validation: the data is split into five parts, each part is held out once, and we average the results. That gives a more reliable estimate than a single split.
The final model is a pipeline of a StandardScaler followed by Linear Regression. The scaler is inside the pipeline, so during cross-validation it only learns from training rows — no data leakage.
Transition: here is how the five models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five regression models on exactly the same five folds, so the comparison is fair.
Linear Regression has the lowest MAE and RMSE and the highest R squared, so we chose it. The bar chart shows the MAE: lower is better.
It is a nice result because the simplest model won — which also makes SHAP explanations very clean for a linear model.
If asked about XGBoost: we have experiment scripts for it, but the xgboost package is not installed or in our requirements, so we could not reproduce it. Rather than quote an unverified number, we left it out of the comparison.
Transition: now the final model's numbers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final model performance, from five-fold cross-validation.
MAE is 3.62 marks: on average our prediction is about three and a half marks away from the real final-exam mark. The plus-minus is the variation across the five folds, and it is small, so the result is stable.
RMSE is 4.59 marks. It is similar to MAE but penalises big mistakes more.
R squared is 0.8357: the model explains roughly 84 percent of the variation in final marks.
Please note I do not call this accuracy. This is a regression model — it predicts a number — so accuracy does not apply, and the model does not give a confidence score either.
Transition: but a teacher needs more than a number, which brings us to the early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predicts marks. To turn that into an early warning we apply three project-defined rules: below 40 is High Concern, 40 to 44 is Borderline, above 44 is Lower Concern.
I want to be clear: the ML model is not a three-class classifier. It is a regressor, and these bands are decision rules on top of its prediction.
We also evaluated the bands honestly using out-of-fold predictions. Only 25 of the 2,000 students actually scored below 40. High Concern caught 13 of them; if you count High Concern or Borderline together, 21 of 25 were flagged.
Regression tends to pull low scores towards the average, so some low scorers are predicted a bit too high. We kept the thresholds fixed rather than tuning them on the same data, and we report this limitation.
Transition: the band tells us "how worried"; SHAP tells us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prediction alone answers "what". SHAP answers "why": how much each input moved this particular prediction, in marks.
SHAP starts from a base value — the model's average prediction, 64.855 marks — and adds one contribution per feature. The contributions add up exactly to the prediction. We checked this in our API for all five demo students. For Demo Student 3, 64.855 plus minus 22.73 gives 42.12.
In the screenshot, Internal Test 1 pulled the prediction down by about 7 marks, Internal Test 2 by about 6.7, attendance by about 5.8.
Positive means it pushed the prediction up, negative means down.
A key point for questions: SHAP explains the model, not the real world. It shows contribution to the prediction, not that attendance caused a low score.
Transition: we then use those contributions to generate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engine is rule-based and driven by SHAP.
For each feature we look at its SHAP contribution. Below minus one mark it becomes a HIGH priority recommendation; between minus one and minus half a mark it is MEDIUM; near zero we say nothing; above plus half a mark it is a POSITIVE maintenance message.
The card on the right is real output for Demo Student 3. Internal Test 1 was 24 out of 40, it contributed minus 7.07 marks, so it is HIGH priority and the strongest negative contributor, with a concrete recommended action.
I want to be careful: these are guidance, not guarantees. We do not claim that following them will raise the marks.
Transition: to explore "what if", we built a scenario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simulator lets us ask: how would the model's prediction change for a different scenario?
It starts from the selected demo student's current inputs. When I move a slider, the app calls the same /predict endpoint and shows the current prediction, the What-If prediction and the difference.
In the screenshot I raised attendance from 70 to 85, and the model's prediction went from 42.12 to 47.97 — it even crosses from Borderline to Lower Concern.
But this is a comparison between two model predictions, not a causal simulation. It does not promise that the student would really gain 5.85 marks.
Transition: now let me show how this looks in the Student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 Portal, and it is the first thing I will open in the demo.
One: I pick one of the five predefined demo students — the yellow banner says clearly this is not real student data.
Two and three: after predicting, the dashboard shows the predicted marks and the early-warning status.
Four: the inputs that were actually used for that prediction.
Five: from here I can open the What-If simulator.
Six: the sidebar takes me to the full prediction report with SHAP and recommendations, and to the student's improvement tasks.
Transition: now the same result from the teacher's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Portal shows the same live results from the faculty side.
The dashboard answers "what needs attention?": which demo students are High Concern or Borderline, sorted by predicted marks, and how many interventions are assigned or completed.
Student AI Analysis shows one student in depth: the prediction summary, the inputs, the SHAP contributions and the recommendations.
Intervention Management lists the actionable recommendations and lets the teacher assign them.
This is a demonstration teacher workflow. There are no real faculty accounts and no real student records behind it.
Transition: let me zoom into the intervention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intervention workflow, which connects the explanation to an action.
A HIGH or MEDIUM recommendation is a risk area. The teacher clicks Assign to Student, sees exactly the recommendation from the API, can add a note, and assigns it.
The student then sees it under My Improvement Tasks and marks it completed, and the teacher immediately sees Completed.
Two honest points. First, this state lives in the browser session only — refreshing the page clears it, there is no database.
Second, we do not measure whether the intervention worked, because we do not store any outcome data. So there is no effectiveness percentage anywhere in the app.
Transition: everything then comes together in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bring the whole flow together for one demo student.
The Student Report shows the inputs, the predicted marks, the band and its explanation, the recommendations and any assigned interventions.
The Prediction Report shows the five SHAP contributions and the model's recommendations.
The Intervention Report shows what was assigned, why, its status and when it was assigned.
Everything here comes from the same live model results and the same session state — nothing is typed in or invented. If a student has not been predicted yet, the teacher can generate the report, which calls the same API.
The Department Report is deliberately unavailable, because we do not have department or cohort data, and I did not want to show fake charts.
Transition: here is exactly how I will demonstrate all of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my live demo script. I will switch to the browser now.
One: in the Student Portal I select Demo Student 3. Two: these are the academic inputs — 70 attendance, 24 and 25 in the tests, 7 in assignments, 2 hours of study.
Three: I run the prediction. Four: the model predicts 42.12, which is Borderline.
Five: SHAP shows the two internal tests and attendance pulled the prediction down the most. Six: here are the recommendations those contributions produce.
If there is time, I open What-If and raise attendance to 85 to show the prediction change.
Seven: I switch to the Teacher Portal, Intervention Management, and assign the Internal Test 1 recommendation. Eight: back in the Student Portal, under My Improvement Tasks, I mark it completed.
Nine and ten: in Teacher Reports, the consolidated report shows the prediction, the explanation and the completed intervention.
Backup plan: if the backend is not running, the app shows "Prediction service unavailable" with a Retry button instead of fake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open about the limitations, because they define the scope of this prototype.
The live demo uses five predefined demo students, and there is no database — everything is in the browser session, so a refresh resets it.
The model is trained on our project dataset, not on real university records.
Because there is no department or historical data, we do not show department analytics or trends — and we chose empty states instead of fake charts.
We do not measure intervention effectiveness, and there is no real login.
Finally, the early-warning bands are not perfect: High Concern found 13 of the 25 students who actually scored below 40. We report that rather than hide it.
Transition: these limitations also point directly to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possible next steps, and I want to stress that none of them exist today.
The first is a database, so predictions and interventions persist. With consent and governance, the system could then use real student records, with proper login for students and faculty.
With history over time we could add trends and department analytics, and by recording intervention outcomes we could finally study whether interventions help.
We would also re-validate the model and the thresholds on new cohorts before any institutional deployment.
Transition: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system combines machine learning, early-warning rules, SHAP explainability, recommendations and a teacher intervention workflow.
The regression model is validated with five-fold cross-validation — MAE 3.62 marks and R squared 0.8357. The rules turn predictions into early-warning levels, SHAP explains each prediction, and those explanations drive recommendations and a simple teacher workflow that ends in a report.
In short: from prediction, to explanation, to action.
And to be clear once more, this is a demonstration prototype using five predefined demo students.
The two references at the bottom are the SHAP paper and scikit-learn. Thank you —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0B1B3A"/>
          </a:solidFill>
          <a:ln w="12700">
            <a:solidFill>
              <a:srgbClr val="0B1B3A"/>
            </a:solidFill>
            <a:prstDash val="solid"/>
          </a:ln>
        </p:spPr>
      </p:sp>
      <p:sp>
        <p:nvSpPr>
          <p:cNvPr id="3" name="Shape 1"/>
          <p:cNvSpPr/>
          <p:nvPr/>
        </p:nvSpPr>
        <p:spPr>
          <a:xfrm>
            <a:off x="5120640" y="0"/>
            <a:ext cx="73152" cy="6858000"/>
          </a:xfrm>
          <a:prstGeom prst="rect">
            <a:avLst/>
          </a:prstGeom>
          <a:solidFill>
            <a:srgbClr val="2563EB"/>
          </a:solidFill>
          <a:ln w="12700">
            <a:solidFill>
              <a:srgbClr val="2563EB"/>
            </a:solidFill>
            <a:prstDash val="solid"/>
          </a:ln>
        </p:spPr>
      </p:sp>
      <p:sp>
        <p:nvSpPr>
          <p:cNvPr id="4" name="Text 2"/>
          <p:cNvSpPr/>
          <p:nvPr/>
        </p:nvSpPr>
        <p:spPr>
          <a:xfrm>
            <a:off x="548640" y="640080"/>
            <a:ext cx="4206240" cy="320040"/>
          </a:xfrm>
          <a:prstGeom prst="rect">
            <a:avLst/>
          </a:prstGeom>
          <a:noFill/>
          <a:ln/>
        </p:spPr>
        <p:txBody>
          <a:bodyPr wrap="square" lIns="0" tIns="0" rIns="0" bIns="0" rtlCol="0" anchor="t"/>
          <a:lstStyle/>
          <a:p>
            <a:pPr indent="0" marL="0">
              <a:buNone/>
            </a:pPr>
            <a:r>
              <a:rPr lang="en-US" sz="1300" spc="300" kern="0" dirty="0">
                <a:solidFill>
                  <a:srgbClr val="93C5FD"/>
                </a:solidFill>
                <a:latin typeface="Segoe UI Semibold" pitchFamily="34" charset="0"/>
                <a:ea typeface="Segoe UI Semibold" pitchFamily="34" charset="-122"/>
                <a:cs typeface="Segoe UI Semibold" pitchFamily="34" charset="-120"/>
              </a:rPr>
              <a:t>PBL · SEMESTER 5</a:t>
            </a:r>
            <a:endParaRPr lang="en-US" sz="1300" dirty="0"/>
          </a:p>
        </p:txBody>
      </p:sp>
      <p:sp>
        <p:nvSpPr>
          <p:cNvPr id="5" name="Text 3"/>
          <p:cNvSpPr/>
          <p:nvPr/>
        </p:nvSpPr>
        <p:spPr>
          <a:xfrm>
            <a:off x="548640" y="1143000"/>
            <a:ext cx="4297680" cy="2651760"/>
          </a:xfrm>
          <a:prstGeom prst="rect">
            <a:avLst/>
          </a:prstGeom>
          <a:noFill/>
          <a:ln/>
        </p:spPr>
        <p:txBody>
          <a:bodyPr wrap="square" lIns="0" tIns="0" rIns="0" bIns="0" rtlCol="0" anchor="t"/>
          <a:lstStyle/>
          <a:p>
            <a:pPr indent="0" marL="0">
              <a:lnSpc>
                <a:spcPct val="105000"/>
              </a:lnSpc>
              <a:buNone/>
            </a:pPr>
            <a:r>
              <a:rPr lang="en-US" sz="2800" dirty="0">
                <a:solidFill>
                  <a:srgbClr val="FFFFFF"/>
                </a:solidFill>
                <a:latin typeface="Segoe UI Semibold" pitchFamily="34" charset="0"/>
                <a:ea typeface="Segoe UI Semibold" pitchFamily="34" charset="-122"/>
                <a:cs typeface="Segoe UI Semibold" pitchFamily="34" charset="-120"/>
              </a:rPr>
              <a:t>AI-Based Student Performance Prediction and Decision Support System with Explainable AI</a:t>
            </a:r>
            <a:endParaRPr lang="en-US" sz="2800" dirty="0"/>
          </a:p>
        </p:txBody>
      </p:sp>
      <p:sp>
        <p:nvSpPr>
          <p:cNvPr id="6" name="Shape 4"/>
          <p:cNvSpPr/>
          <p:nvPr/>
        </p:nvSpPr>
        <p:spPr>
          <a:xfrm>
            <a:off x="548640" y="3977640"/>
            <a:ext cx="1097280" cy="0"/>
          </a:xfrm>
          <a:prstGeom prst="line">
            <a:avLst/>
          </a:prstGeom>
          <a:noFill/>
          <a:ln w="38100">
            <a:solidFill>
              <a:srgbClr val="38BDF8"/>
            </a:solidFill>
            <a:prstDash val="solid"/>
          </a:ln>
        </p:spPr>
      </p:sp>
      <p:sp>
        <p:nvSpPr>
          <p:cNvPr id="7" name="Text 5"/>
          <p:cNvSpPr/>
          <p:nvPr/>
        </p:nvSpPr>
        <p:spPr>
          <a:xfrm>
            <a:off x="548640" y="4160520"/>
            <a:ext cx="4297680" cy="822960"/>
          </a:xfrm>
          <a:prstGeom prst="rect">
            <a:avLst/>
          </a:prstGeom>
          <a:noFill/>
          <a:ln/>
        </p:spPr>
        <p:txBody>
          <a:bodyPr wrap="square" lIns="0" tIns="0" rIns="0" bIns="0" rtlCol="0" anchor="t"/>
          <a:lstStyle/>
          <a:p>
            <a:pPr indent="0" marL="0">
              <a:buNone/>
            </a:pPr>
            <a:r>
              <a:rPr lang="en-US" sz="1600" dirty="0">
                <a:solidFill>
                  <a:srgbClr val="CBD5E1"/>
                </a:solidFill>
                <a:latin typeface="Segoe UI" pitchFamily="34" charset="0"/>
                <a:ea typeface="Segoe UI" pitchFamily="34" charset="-122"/>
                <a:cs typeface="Segoe UI" pitchFamily="34" charset="-120"/>
              </a:rPr>
              <a:t>Explainable AI Techniques for Early Identification of At-Risk Students</a:t>
            </a:r>
            <a:endParaRPr lang="en-US" sz="1600" dirty="0"/>
          </a:p>
        </p:txBody>
      </p:sp>
      <p:sp>
        <p:nvSpPr>
          <p:cNvPr id="8" name="Text 6"/>
          <p:cNvSpPr/>
          <p:nvPr/>
        </p:nvSpPr>
        <p:spPr>
          <a:xfrm>
            <a:off x="548640" y="5257800"/>
            <a:ext cx="4297680" cy="274320"/>
          </a:xfrm>
          <a:prstGeom prst="rect">
            <a:avLst/>
          </a:prstGeom>
          <a:noFill/>
          <a:ln/>
        </p:spPr>
        <p:txBody>
          <a:bodyPr wrap="square" lIns="0" tIns="0" rIns="0" bIns="0" rtlCol="0" anchor="t"/>
          <a:lstStyle/>
          <a:p>
            <a:pPr indent="0" marL="0">
              <a:buNone/>
            </a:pPr>
            <a:r>
              <a:rPr lang="en-US" sz="1200" dirty="0">
                <a:solidFill>
                  <a:srgbClr val="93C5FD"/>
                </a:solidFill>
                <a:latin typeface="Segoe UI Semibold" pitchFamily="34" charset="0"/>
                <a:ea typeface="Segoe UI Semibold" pitchFamily="34" charset="-122"/>
                <a:cs typeface="Segoe UI Semibold" pitchFamily="34" charset="-120"/>
              </a:rPr>
              <a:t>Team</a:t>
            </a:r>
            <a:endParaRPr lang="en-US" sz="1200" dirty="0"/>
          </a:p>
        </p:txBody>
      </p:sp>
      <p:sp>
        <p:nvSpPr>
          <p:cNvPr id="9" name="Text 7"/>
          <p:cNvSpPr/>
          <p:nvPr/>
        </p:nvSpPr>
        <p:spPr>
          <a:xfrm>
            <a:off x="548640" y="5532120"/>
            <a:ext cx="4297680" cy="365760"/>
          </a:xfrm>
          <a:prstGeom prst="rect">
            <a:avLst/>
          </a:prstGeom>
          <a:noFill/>
          <a:ln/>
        </p:spPr>
        <p:txBody>
          <a:bodyPr wrap="square" lIns="0" tIns="0" rIns="0" bIns="0" rtlCol="0" anchor="t"/>
          <a:lstStyle/>
          <a:p>
            <a:pPr indent="0" marL="0">
              <a:buNone/>
            </a:pPr>
            <a:r>
              <a:rPr lang="en-US" sz="1500" dirty="0">
                <a:solidFill>
                  <a:srgbClr val="FFFFFF"/>
                </a:solidFill>
                <a:latin typeface="Segoe UI" pitchFamily="34" charset="0"/>
                <a:ea typeface="Segoe UI" pitchFamily="34" charset="-122"/>
                <a:cs typeface="Segoe UI" pitchFamily="34" charset="-120"/>
              </a:rPr>
              <a:t>Nemmi Tangha  ·  Oyindrela Das Oitri</a:t>
            </a:r>
            <a:endParaRPr lang="en-US" sz="1500" dirty="0"/>
          </a:p>
        </p:txBody>
      </p:sp>
      <p:sp>
        <p:nvSpPr>
          <p:cNvPr id="10" name="Shape 8"/>
          <p:cNvSpPr/>
          <p:nvPr/>
        </p:nvSpPr>
        <p:spPr>
          <a:xfrm>
            <a:off x="5550408" y="955548"/>
            <a:ext cx="6272784" cy="3941064"/>
          </a:xfrm>
          <a:prstGeom prst="rect">
            <a:avLst/>
          </a:prstGeom>
          <a:solidFill>
            <a:srgbClr val="E2E8F0"/>
          </a:solidFill>
          <a:ln w="12700">
            <a:solidFill>
              <a:srgbClr val="E2E8F0"/>
            </a:solidFill>
            <a:prstDash val="solid"/>
          </a:ln>
        </p:spPr>
      </p:sp>
      <p:pic>
        <p:nvPicPr>
          <p:cNvPr id="11" name="Image 0" descr="C:\Users\NEMMI\AppData\Local\Temp\claude\d--Documents-Sharda-University-Semester-5-PBL-fontend-student-prediction\d6ce81b2-62cd-4b95-adc5-3e24f53e42a1\scratchpad\deck2\shots\01-landing.png">    </p:cNvPr>
          <p:cNvPicPr>
            <a:picLocks noChangeAspect="1"/>
          </p:cNvPicPr>
          <p:nvPr/>
        </p:nvPicPr>
        <p:blipFill>
          <a:blip r:embed="rId1"/>
          <a:stretch>
            <a:fillRect/>
          </a:stretch>
        </p:blipFill>
        <p:spPr>
          <a:xfrm>
            <a:off x="5577840" y="982980"/>
            <a:ext cx="6217920" cy="3886200"/>
          </a:xfrm>
          <a:prstGeom prst="rect">
            <a:avLst/>
          </a:prstGeom>
        </p:spPr>
      </p:pic>
      <p:sp>
        <p:nvSpPr>
          <p:cNvPr id="12" name="Text 9"/>
          <p:cNvSpPr/>
          <p:nvPr/>
        </p:nvSpPr>
        <p:spPr>
          <a:xfrm>
            <a:off x="5577840" y="4942332"/>
            <a:ext cx="621792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The working application — landing page (actual screenshot)</a:t>
            </a:r>
            <a:endParaRPr lang="en-US" sz="1100" dirty="0"/>
          </a:p>
        </p:txBody>
      </p:sp>
      <p:sp>
        <p:nvSpPr>
          <p:cNvPr id="13" name="Shape 10"/>
          <p:cNvSpPr/>
          <p:nvPr/>
        </p:nvSpPr>
        <p:spPr>
          <a:xfrm>
            <a:off x="5577840" y="5669280"/>
            <a:ext cx="6217920" cy="685800"/>
          </a:xfrm>
          <a:prstGeom prst="roundRect">
            <a:avLst>
              <a:gd name="adj" fmla="val 10667"/>
            </a:avLst>
          </a:prstGeom>
          <a:solidFill>
            <a:srgbClr val="FEF3C7"/>
          </a:solidFill>
          <a:ln w="12700">
            <a:solidFill>
              <a:srgbClr val="FDE68A"/>
            </a:solidFill>
            <a:prstDash val="solid"/>
          </a:ln>
        </p:spPr>
      </p:sp>
      <p:sp>
        <p:nvSpPr>
          <p:cNvPr id="14" name="Text 11"/>
          <p:cNvSpPr/>
          <p:nvPr/>
        </p:nvSpPr>
        <p:spPr>
          <a:xfrm>
            <a:off x="5760720" y="5742432"/>
            <a:ext cx="5852160" cy="548640"/>
          </a:xfrm>
          <a:prstGeom prst="rect">
            <a:avLst/>
          </a:prstGeom>
          <a:noFill/>
          <a:ln/>
        </p:spPr>
        <p:txBody>
          <a:bodyPr wrap="square" lIns="0" tIns="0" rIns="0" bIns="0" rtlCol="0" anchor="ctr"/>
          <a:lstStyle/>
          <a:p>
            <a:pPr indent="0" marL="0">
              <a:buNone/>
            </a:pPr>
            <a:r>
              <a:rPr lang="en-US" sz="1200" dirty="0">
                <a:solidFill>
                  <a:srgbClr val="78350F"/>
                </a:solidFill>
                <a:latin typeface="Segoe UI" pitchFamily="34" charset="0"/>
                <a:ea typeface="Segoe UI" pitchFamily="34" charset="-122"/>
                <a:cs typeface="Segoe UI" pitchFamily="34" charset="-120"/>
              </a:rPr>
              <a:t>Working prototype: React + Flask + scikit-learn + SHAP. The live demo uses five predefined demonstration student profiles — not real student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PROBLEM STATEMENT</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Struggling students are often identified late</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2 / 21</a:t>
            </a:r>
            <a:endParaRPr lang="en-US" sz="1000" dirty="0"/>
          </a:p>
        </p:txBody>
      </p:sp>
      <p:sp>
        <p:nvSpPr>
          <p:cNvPr id="8" name="Shape 6"/>
          <p:cNvSpPr/>
          <p:nvPr/>
        </p:nvSpPr>
        <p:spPr>
          <a:xfrm>
            <a:off x="502920" y="1508760"/>
            <a:ext cx="3520440" cy="1965960"/>
          </a:xfrm>
          <a:prstGeom prst="roundRect">
            <a:avLst>
              <a:gd name="adj" fmla="val 3721"/>
            </a:avLst>
          </a:prstGeom>
          <a:solidFill>
            <a:srgbClr val="FFFFFF"/>
          </a:solidFill>
          <a:ln w="12700">
            <a:solidFill>
              <a:srgbClr val="E2E8F0"/>
            </a:solidFill>
            <a:prstDash val="solid"/>
          </a:ln>
        </p:spPr>
      </p:sp>
      <p:sp>
        <p:nvSpPr>
          <p:cNvPr id="9" name="Text 7"/>
          <p:cNvSpPr/>
          <p:nvPr/>
        </p:nvSpPr>
        <p:spPr>
          <a:xfrm>
            <a:off x="685800" y="1655064"/>
            <a:ext cx="3154680" cy="365760"/>
          </a:xfrm>
          <a:prstGeom prst="rect">
            <a:avLst/>
          </a:prstGeom>
          <a:noFill/>
          <a:ln/>
        </p:spPr>
        <p:txBody>
          <a:bodyPr wrap="square" lIns="0" tIns="0" rIns="0" bIns="0" rtlCol="0" anchor="t"/>
          <a:lstStyle/>
          <a:p>
            <a:pPr indent="0" marL="0">
              <a:buNone/>
            </a:pPr>
            <a:r>
              <a:rPr lang="en-US" sz="1600" dirty="0">
                <a:solidFill>
                  <a:srgbClr val="2563EB"/>
                </a:solidFill>
                <a:latin typeface="Segoe UI Semibold" pitchFamily="34" charset="0"/>
                <a:ea typeface="Segoe UI Semibold" pitchFamily="34" charset="-122"/>
                <a:cs typeface="Segoe UI Semibold" pitchFamily="34" charset="-120"/>
              </a:rPr>
              <a:t>Late identification</a:t>
            </a:r>
            <a:endParaRPr lang="en-US" sz="1600" dirty="0"/>
          </a:p>
        </p:txBody>
      </p:sp>
      <p:sp>
        <p:nvSpPr>
          <p:cNvPr id="10" name="Text 8"/>
          <p:cNvSpPr/>
          <p:nvPr/>
        </p:nvSpPr>
        <p:spPr>
          <a:xfrm>
            <a:off x="685800" y="2057400"/>
            <a:ext cx="3154680" cy="1280160"/>
          </a:xfrm>
          <a:prstGeom prst="rect">
            <a:avLst/>
          </a:prstGeom>
          <a:noFill/>
          <a:ln/>
        </p:spPr>
        <p:txBody>
          <a:bodyPr wrap="square" lIns="0" tIns="0" rIns="0" bIns="0" rtlCol="0" anchor="t"/>
          <a:lstStyle/>
          <a:p>
            <a:pPr indent="0" marL="0">
              <a:lnSpc>
                <a:spcPct val="110000"/>
              </a:lnSpc>
              <a:buNone/>
            </a:pPr>
            <a:r>
              <a:rPr lang="en-US" sz="1500" dirty="0">
                <a:solidFill>
                  <a:srgbClr val="334155"/>
                </a:solidFill>
                <a:latin typeface="Segoe UI" pitchFamily="34" charset="0"/>
                <a:ea typeface="Segoe UI" pitchFamily="34" charset="-122"/>
                <a:cs typeface="Segoe UI" pitchFamily="34" charset="-120"/>
              </a:rPr>
              <a:t>Academic difficulty often becomes visible only after final results, when there is little time left to help.</a:t>
            </a:r>
            <a:endParaRPr lang="en-US" sz="1500" dirty="0"/>
          </a:p>
        </p:txBody>
      </p:sp>
      <p:sp>
        <p:nvSpPr>
          <p:cNvPr id="11" name="Shape 9"/>
          <p:cNvSpPr/>
          <p:nvPr/>
        </p:nvSpPr>
        <p:spPr>
          <a:xfrm>
            <a:off x="4251960" y="1508760"/>
            <a:ext cx="3520440" cy="1965960"/>
          </a:xfrm>
          <a:prstGeom prst="roundRect">
            <a:avLst>
              <a:gd name="adj" fmla="val 3721"/>
            </a:avLst>
          </a:prstGeom>
          <a:solidFill>
            <a:srgbClr val="FFFFFF"/>
          </a:solidFill>
          <a:ln w="12700">
            <a:solidFill>
              <a:srgbClr val="E2E8F0"/>
            </a:solidFill>
            <a:prstDash val="solid"/>
          </a:ln>
        </p:spPr>
      </p:sp>
      <p:sp>
        <p:nvSpPr>
          <p:cNvPr id="12" name="Text 10"/>
          <p:cNvSpPr/>
          <p:nvPr/>
        </p:nvSpPr>
        <p:spPr>
          <a:xfrm>
            <a:off x="4434840" y="1655064"/>
            <a:ext cx="3154680" cy="365760"/>
          </a:xfrm>
          <a:prstGeom prst="rect">
            <a:avLst/>
          </a:prstGeom>
          <a:noFill/>
          <a:ln/>
        </p:spPr>
        <p:txBody>
          <a:bodyPr wrap="square" lIns="0" tIns="0" rIns="0" bIns="0" rtlCol="0" anchor="t"/>
          <a:lstStyle/>
          <a:p>
            <a:pPr indent="0" marL="0">
              <a:buNone/>
            </a:pPr>
            <a:r>
              <a:rPr lang="en-US" sz="1600" dirty="0">
                <a:solidFill>
                  <a:srgbClr val="2563EB"/>
                </a:solidFill>
                <a:latin typeface="Segoe UI Semibold" pitchFamily="34" charset="0"/>
                <a:ea typeface="Segoe UI Semibold" pitchFamily="34" charset="-122"/>
                <a:cs typeface="Segoe UI Semibold" pitchFamily="34" charset="-120"/>
              </a:rPr>
              <a:t>Predictions without reasons</a:t>
            </a:r>
            <a:endParaRPr lang="en-US" sz="1600" dirty="0"/>
          </a:p>
        </p:txBody>
      </p:sp>
      <p:sp>
        <p:nvSpPr>
          <p:cNvPr id="13" name="Text 11"/>
          <p:cNvSpPr/>
          <p:nvPr/>
        </p:nvSpPr>
        <p:spPr>
          <a:xfrm>
            <a:off x="4434840" y="2057400"/>
            <a:ext cx="3154680" cy="1280160"/>
          </a:xfrm>
          <a:prstGeom prst="rect">
            <a:avLst/>
          </a:prstGeom>
          <a:noFill/>
          <a:ln/>
        </p:spPr>
        <p:txBody>
          <a:bodyPr wrap="square" lIns="0" tIns="0" rIns="0" bIns="0" rtlCol="0" anchor="t"/>
          <a:lstStyle/>
          <a:p>
            <a:pPr indent="0" marL="0">
              <a:lnSpc>
                <a:spcPct val="110000"/>
              </a:lnSpc>
              <a:buNone/>
            </a:pPr>
            <a:r>
              <a:rPr lang="en-US" sz="1500" dirty="0">
                <a:solidFill>
                  <a:srgbClr val="334155"/>
                </a:solidFill>
                <a:latin typeface="Segoe UI" pitchFamily="34" charset="0"/>
                <a:ea typeface="Segoe UI" pitchFamily="34" charset="-122"/>
                <a:cs typeface="Segoe UI" pitchFamily="34" charset="-120"/>
              </a:rPr>
              <a:t>A predicted score alone does not tell a teacher which factors are behind it or what to look at.</a:t>
            </a:r>
            <a:endParaRPr lang="en-US" sz="1500" dirty="0"/>
          </a:p>
        </p:txBody>
      </p:sp>
      <p:sp>
        <p:nvSpPr>
          <p:cNvPr id="14" name="Shape 12"/>
          <p:cNvSpPr/>
          <p:nvPr/>
        </p:nvSpPr>
        <p:spPr>
          <a:xfrm>
            <a:off x="8001000" y="1508760"/>
            <a:ext cx="3520440" cy="1965960"/>
          </a:xfrm>
          <a:prstGeom prst="roundRect">
            <a:avLst>
              <a:gd name="adj" fmla="val 3721"/>
            </a:avLst>
          </a:prstGeom>
          <a:solidFill>
            <a:srgbClr val="FFFFFF"/>
          </a:solidFill>
          <a:ln w="12700">
            <a:solidFill>
              <a:srgbClr val="E2E8F0"/>
            </a:solidFill>
            <a:prstDash val="solid"/>
          </a:ln>
        </p:spPr>
      </p:sp>
      <p:sp>
        <p:nvSpPr>
          <p:cNvPr id="15" name="Text 13"/>
          <p:cNvSpPr/>
          <p:nvPr/>
        </p:nvSpPr>
        <p:spPr>
          <a:xfrm>
            <a:off x="8183880" y="1655064"/>
            <a:ext cx="3154680" cy="365760"/>
          </a:xfrm>
          <a:prstGeom prst="rect">
            <a:avLst/>
          </a:prstGeom>
          <a:noFill/>
          <a:ln/>
        </p:spPr>
        <p:txBody>
          <a:bodyPr wrap="square" lIns="0" tIns="0" rIns="0" bIns="0" rtlCol="0" anchor="t"/>
          <a:lstStyle/>
          <a:p>
            <a:pPr indent="0" marL="0">
              <a:buNone/>
            </a:pPr>
            <a:r>
              <a:rPr lang="en-US" sz="1600" dirty="0">
                <a:solidFill>
                  <a:srgbClr val="2563EB"/>
                </a:solidFill>
                <a:latin typeface="Segoe UI Semibold" pitchFamily="34" charset="0"/>
                <a:ea typeface="Segoe UI Semibold" pitchFamily="34" charset="-122"/>
                <a:cs typeface="Segoe UI Semibold" pitchFamily="34" charset="-120"/>
              </a:rPr>
              <a:t>Insight not linked to action</a:t>
            </a:r>
            <a:endParaRPr lang="en-US" sz="1600" dirty="0"/>
          </a:p>
        </p:txBody>
      </p:sp>
      <p:sp>
        <p:nvSpPr>
          <p:cNvPr id="16" name="Text 14"/>
          <p:cNvSpPr/>
          <p:nvPr/>
        </p:nvSpPr>
        <p:spPr>
          <a:xfrm>
            <a:off x="8183880" y="2057400"/>
            <a:ext cx="3154680" cy="1280160"/>
          </a:xfrm>
          <a:prstGeom prst="rect">
            <a:avLst/>
          </a:prstGeom>
          <a:noFill/>
          <a:ln/>
        </p:spPr>
        <p:txBody>
          <a:bodyPr wrap="square" lIns="0" tIns="0" rIns="0" bIns="0" rtlCol="0" anchor="t"/>
          <a:lstStyle/>
          <a:p>
            <a:pPr indent="0" marL="0">
              <a:lnSpc>
                <a:spcPct val="110000"/>
              </a:lnSpc>
              <a:buNone/>
            </a:pPr>
            <a:r>
              <a:rPr lang="en-US" sz="1500" dirty="0">
                <a:solidFill>
                  <a:srgbClr val="334155"/>
                </a:solidFill>
                <a:latin typeface="Segoe UI" pitchFamily="34" charset="0"/>
                <a:ea typeface="Segoe UI" pitchFamily="34" charset="-122"/>
                <a:cs typeface="Segoe UI" pitchFamily="34" charset="-120"/>
              </a:rPr>
              <a:t>Even when a risk is noticed, there is no simple path from the warning to a concrete, trackable support action.</a:t>
            </a:r>
            <a:endParaRPr lang="en-US" sz="1500" dirty="0"/>
          </a:p>
        </p:txBody>
      </p:sp>
      <p:sp>
        <p:nvSpPr>
          <p:cNvPr id="17" name="Shape 15"/>
          <p:cNvSpPr/>
          <p:nvPr/>
        </p:nvSpPr>
        <p:spPr>
          <a:xfrm>
            <a:off x="502920" y="3840480"/>
            <a:ext cx="11018520" cy="1737360"/>
          </a:xfrm>
          <a:prstGeom prst="roundRect">
            <a:avLst>
              <a:gd name="adj" fmla="val 4211"/>
            </a:avLst>
          </a:prstGeom>
          <a:solidFill>
            <a:srgbClr val="EFF6FF"/>
          </a:solidFill>
          <a:ln w="12700">
            <a:solidFill>
              <a:srgbClr val="DBEAFE"/>
            </a:solidFill>
            <a:prstDash val="solid"/>
          </a:ln>
        </p:spPr>
      </p:sp>
      <p:sp>
        <p:nvSpPr>
          <p:cNvPr id="18" name="Text 16"/>
          <p:cNvSpPr/>
          <p:nvPr/>
        </p:nvSpPr>
        <p:spPr>
          <a:xfrm>
            <a:off x="777240" y="4023360"/>
            <a:ext cx="10515600" cy="320040"/>
          </a:xfrm>
          <a:prstGeom prst="rect">
            <a:avLst/>
          </a:prstGeom>
          <a:noFill/>
          <a:ln/>
        </p:spPr>
        <p:txBody>
          <a:bodyPr wrap="square" lIns="0" tIns="0" rIns="0" bIns="0" rtlCol="0" anchor="t"/>
          <a:lstStyle/>
          <a:p>
            <a:pPr indent="0" marL="0">
              <a:buNone/>
            </a:pPr>
            <a:r>
              <a:rPr lang="en-US" sz="1400" dirty="0">
                <a:solidFill>
                  <a:srgbClr val="2563EB"/>
                </a:solidFill>
                <a:latin typeface="Segoe UI Semibold" pitchFamily="34" charset="0"/>
                <a:ea typeface="Segoe UI Semibold" pitchFamily="34" charset="-122"/>
                <a:cs typeface="Segoe UI Semibold" pitchFamily="34" charset="-120"/>
              </a:rPr>
              <a:t>Our question</a:t>
            </a:r>
            <a:endParaRPr lang="en-US" sz="1400" dirty="0"/>
          </a:p>
        </p:txBody>
      </p:sp>
      <p:sp>
        <p:nvSpPr>
          <p:cNvPr id="19" name="Text 17"/>
          <p:cNvSpPr/>
          <p:nvPr/>
        </p:nvSpPr>
        <p:spPr>
          <a:xfrm>
            <a:off x="777240" y="4389120"/>
            <a:ext cx="10515600" cy="1051560"/>
          </a:xfrm>
          <a:prstGeom prst="rect">
            <a:avLst/>
          </a:prstGeom>
          <a:noFill/>
          <a:ln/>
        </p:spPr>
        <p:txBody>
          <a:bodyPr wrap="square" lIns="0" tIns="0" rIns="0" bIns="0" rtlCol="0" anchor="t"/>
          <a:lstStyle/>
          <a:p>
            <a:pPr indent="0" marL="0">
              <a:buNone/>
            </a:pPr>
            <a:r>
              <a:rPr lang="en-US" sz="1800" dirty="0">
                <a:solidFill>
                  <a:srgbClr val="0F172A"/>
                </a:solidFill>
                <a:latin typeface="Segoe UI" pitchFamily="34" charset="0"/>
                <a:ea typeface="Segoe UI" pitchFamily="34" charset="-122"/>
                <a:cs typeface="Segoe UI" pitchFamily="34" charset="-120"/>
              </a:rPr>
              <a:t>Can a machine-learning prediction, combined with an explanation of that prediction, support earlier identification of students who may need help — and connect that warning to a teacher action?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PROJECT OBJECTIVES</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What the system sets out to do</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3 / 21</a:t>
            </a:r>
            <a:endParaRPr lang="en-US" sz="1000" dirty="0"/>
          </a:p>
        </p:txBody>
      </p:sp>
      <p:sp>
        <p:nvSpPr>
          <p:cNvPr id="8" name="Shape 6"/>
          <p:cNvSpPr/>
          <p:nvPr/>
        </p:nvSpPr>
        <p:spPr>
          <a:xfrm>
            <a:off x="502920" y="1463040"/>
            <a:ext cx="11018520" cy="804672"/>
          </a:xfrm>
          <a:prstGeom prst="roundRect">
            <a:avLst>
              <a:gd name="adj" fmla="val 9091"/>
            </a:avLst>
          </a:prstGeom>
          <a:solidFill>
            <a:srgbClr val="FFFFFF"/>
          </a:solidFill>
          <a:ln w="12700">
            <a:solidFill>
              <a:srgbClr val="E2E8F0"/>
            </a:solidFill>
            <a:prstDash val="solid"/>
          </a:ln>
        </p:spPr>
      </p:sp>
      <p:sp>
        <p:nvSpPr>
          <p:cNvPr id="9" name="Shape 7"/>
          <p:cNvSpPr/>
          <p:nvPr/>
        </p:nvSpPr>
        <p:spPr>
          <a:xfrm>
            <a:off x="731520" y="1636776"/>
            <a:ext cx="457200" cy="457200"/>
          </a:xfrm>
          <a:prstGeom prst="ellipse">
            <a:avLst/>
          </a:prstGeom>
          <a:solidFill>
            <a:srgbClr val="2563EB"/>
          </a:solidFill>
          <a:ln w="12700">
            <a:solidFill>
              <a:srgbClr val="2563EB"/>
            </a:solidFill>
            <a:prstDash val="solid"/>
          </a:ln>
        </p:spPr>
      </p:sp>
      <p:sp>
        <p:nvSpPr>
          <p:cNvPr id="10" name="Text 8"/>
          <p:cNvSpPr/>
          <p:nvPr/>
        </p:nvSpPr>
        <p:spPr>
          <a:xfrm>
            <a:off x="731520" y="1636776"/>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1</a:t>
            </a:r>
            <a:endParaRPr lang="en-US" sz="1600" dirty="0"/>
          </a:p>
        </p:txBody>
      </p:sp>
      <p:sp>
        <p:nvSpPr>
          <p:cNvPr id="11" name="Text 9"/>
          <p:cNvSpPr/>
          <p:nvPr/>
        </p:nvSpPr>
        <p:spPr>
          <a:xfrm>
            <a:off x="1417320" y="1664208"/>
            <a:ext cx="1920240" cy="411480"/>
          </a:xfrm>
          <a:prstGeom prst="rect">
            <a:avLst/>
          </a:prstGeom>
          <a:noFill/>
          <a:ln/>
        </p:spPr>
        <p:txBody>
          <a:bodyPr wrap="square" lIns="0" tIns="0" rIns="0" bIns="0" rtlCol="0" anchor="ctr"/>
          <a:lstStyle/>
          <a:p>
            <a:pPr indent="0" marL="0">
              <a:buNone/>
            </a:pPr>
            <a:r>
              <a:rPr lang="en-US" sz="1800" dirty="0">
                <a:solidFill>
                  <a:srgbClr val="0F172A"/>
                </a:solidFill>
                <a:latin typeface="Segoe UI Semibold" pitchFamily="34" charset="0"/>
                <a:ea typeface="Segoe UI Semibold" pitchFamily="34" charset="-122"/>
                <a:cs typeface="Segoe UI Semibold" pitchFamily="34" charset="-120"/>
              </a:rPr>
              <a:t>Predict</a:t>
            </a:r>
            <a:endParaRPr lang="en-US" sz="1800" dirty="0"/>
          </a:p>
        </p:txBody>
      </p:sp>
      <p:sp>
        <p:nvSpPr>
          <p:cNvPr id="12" name="Text 10"/>
          <p:cNvSpPr/>
          <p:nvPr/>
        </p:nvSpPr>
        <p:spPr>
          <a:xfrm>
            <a:off x="3337560" y="1645920"/>
            <a:ext cx="8046720" cy="457200"/>
          </a:xfrm>
          <a:prstGeom prst="rect">
            <a:avLst/>
          </a:prstGeom>
          <a:noFill/>
          <a:ln/>
        </p:spPr>
        <p:txBody>
          <a:bodyPr wrap="square" lIns="0" tIns="0" rIns="0" bIns="0" rtlCol="0" anchor="ctr"/>
          <a:lstStyle/>
          <a:p>
            <a:pPr indent="0" marL="0">
              <a:buNone/>
            </a:pPr>
            <a:r>
              <a:rPr lang="en-US" sz="1500" dirty="0">
                <a:solidFill>
                  <a:srgbClr val="334155"/>
                </a:solidFill>
                <a:latin typeface="Segoe UI" pitchFamily="34" charset="0"/>
                <a:ea typeface="Segoe UI" pitchFamily="34" charset="-122"/>
                <a:cs typeface="Segoe UI" pitchFamily="34" charset="-120"/>
              </a:rPr>
              <a:t>Predict final-exam marks from five academic inputs using a validated regression model.</a:t>
            </a:r>
            <a:endParaRPr lang="en-US" sz="1500" dirty="0"/>
          </a:p>
        </p:txBody>
      </p:sp>
      <p:sp>
        <p:nvSpPr>
          <p:cNvPr id="13" name="Shape 11"/>
          <p:cNvSpPr/>
          <p:nvPr/>
        </p:nvSpPr>
        <p:spPr>
          <a:xfrm>
            <a:off x="502920" y="2404872"/>
            <a:ext cx="11018520" cy="804672"/>
          </a:xfrm>
          <a:prstGeom prst="roundRect">
            <a:avLst>
              <a:gd name="adj" fmla="val 9091"/>
            </a:avLst>
          </a:prstGeom>
          <a:solidFill>
            <a:srgbClr val="FFFFFF"/>
          </a:solidFill>
          <a:ln w="12700">
            <a:solidFill>
              <a:srgbClr val="E2E8F0"/>
            </a:solidFill>
            <a:prstDash val="solid"/>
          </a:ln>
        </p:spPr>
      </p:sp>
      <p:sp>
        <p:nvSpPr>
          <p:cNvPr id="14" name="Shape 12"/>
          <p:cNvSpPr/>
          <p:nvPr/>
        </p:nvSpPr>
        <p:spPr>
          <a:xfrm>
            <a:off x="731520" y="2578608"/>
            <a:ext cx="457200" cy="457200"/>
          </a:xfrm>
          <a:prstGeom prst="ellipse">
            <a:avLst/>
          </a:prstGeom>
          <a:solidFill>
            <a:srgbClr val="2563EB"/>
          </a:solidFill>
          <a:ln w="12700">
            <a:solidFill>
              <a:srgbClr val="2563EB"/>
            </a:solidFill>
            <a:prstDash val="solid"/>
          </a:ln>
        </p:spPr>
      </p:sp>
      <p:sp>
        <p:nvSpPr>
          <p:cNvPr id="15" name="Text 13"/>
          <p:cNvSpPr/>
          <p:nvPr/>
        </p:nvSpPr>
        <p:spPr>
          <a:xfrm>
            <a:off x="731520" y="2578608"/>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2</a:t>
            </a:r>
            <a:endParaRPr lang="en-US" sz="1600" dirty="0"/>
          </a:p>
        </p:txBody>
      </p:sp>
      <p:sp>
        <p:nvSpPr>
          <p:cNvPr id="16" name="Text 14"/>
          <p:cNvSpPr/>
          <p:nvPr/>
        </p:nvSpPr>
        <p:spPr>
          <a:xfrm>
            <a:off x="1417320" y="2606040"/>
            <a:ext cx="1920240" cy="411480"/>
          </a:xfrm>
          <a:prstGeom prst="rect">
            <a:avLst/>
          </a:prstGeom>
          <a:noFill/>
          <a:ln/>
        </p:spPr>
        <p:txBody>
          <a:bodyPr wrap="square" lIns="0" tIns="0" rIns="0" bIns="0" rtlCol="0" anchor="ctr"/>
          <a:lstStyle/>
          <a:p>
            <a:pPr indent="0" marL="0">
              <a:buNone/>
            </a:pPr>
            <a:r>
              <a:rPr lang="en-US" sz="1800" dirty="0">
                <a:solidFill>
                  <a:srgbClr val="0F172A"/>
                </a:solidFill>
                <a:latin typeface="Segoe UI Semibold" pitchFamily="34" charset="0"/>
                <a:ea typeface="Segoe UI Semibold" pitchFamily="34" charset="-122"/>
                <a:cs typeface="Segoe UI Semibold" pitchFamily="34" charset="-120"/>
              </a:rPr>
              <a:t>Warn early</a:t>
            </a:r>
            <a:endParaRPr lang="en-US" sz="1800" dirty="0"/>
          </a:p>
        </p:txBody>
      </p:sp>
      <p:sp>
        <p:nvSpPr>
          <p:cNvPr id="17" name="Text 15"/>
          <p:cNvSpPr/>
          <p:nvPr/>
        </p:nvSpPr>
        <p:spPr>
          <a:xfrm>
            <a:off x="3337560" y="2587752"/>
            <a:ext cx="8046720" cy="457200"/>
          </a:xfrm>
          <a:prstGeom prst="rect">
            <a:avLst/>
          </a:prstGeom>
          <a:noFill/>
          <a:ln/>
        </p:spPr>
        <p:txBody>
          <a:bodyPr wrap="square" lIns="0" tIns="0" rIns="0" bIns="0" rtlCol="0" anchor="ctr"/>
          <a:lstStyle/>
          <a:p>
            <a:pPr indent="0" marL="0">
              <a:buNone/>
            </a:pPr>
            <a:r>
              <a:rPr lang="en-US" sz="1500" dirty="0">
                <a:solidFill>
                  <a:srgbClr val="334155"/>
                </a:solidFill>
                <a:latin typeface="Segoe UI" pitchFamily="34" charset="0"/>
                <a:ea typeface="Segoe UI" pitchFamily="34" charset="-122"/>
                <a:cs typeface="Segoe UI" pitchFamily="34" charset="-120"/>
              </a:rPr>
              <a:t>Apply early-warning rules to the prediction: High Concern, Borderline, Lower Concern.</a:t>
            </a:r>
            <a:endParaRPr lang="en-US" sz="1500" dirty="0"/>
          </a:p>
        </p:txBody>
      </p:sp>
      <p:sp>
        <p:nvSpPr>
          <p:cNvPr id="18" name="Shape 16"/>
          <p:cNvSpPr/>
          <p:nvPr/>
        </p:nvSpPr>
        <p:spPr>
          <a:xfrm>
            <a:off x="502920" y="3346704"/>
            <a:ext cx="11018520" cy="804672"/>
          </a:xfrm>
          <a:prstGeom prst="roundRect">
            <a:avLst>
              <a:gd name="adj" fmla="val 9091"/>
            </a:avLst>
          </a:prstGeom>
          <a:solidFill>
            <a:srgbClr val="FFFFFF"/>
          </a:solidFill>
          <a:ln w="12700">
            <a:solidFill>
              <a:srgbClr val="E2E8F0"/>
            </a:solidFill>
            <a:prstDash val="solid"/>
          </a:ln>
        </p:spPr>
      </p:sp>
      <p:sp>
        <p:nvSpPr>
          <p:cNvPr id="19" name="Shape 17"/>
          <p:cNvSpPr/>
          <p:nvPr/>
        </p:nvSpPr>
        <p:spPr>
          <a:xfrm>
            <a:off x="731520" y="3520440"/>
            <a:ext cx="457200" cy="457200"/>
          </a:xfrm>
          <a:prstGeom prst="ellipse">
            <a:avLst/>
          </a:prstGeom>
          <a:solidFill>
            <a:srgbClr val="2563EB"/>
          </a:solidFill>
          <a:ln w="12700">
            <a:solidFill>
              <a:srgbClr val="2563EB"/>
            </a:solidFill>
            <a:prstDash val="solid"/>
          </a:ln>
        </p:spPr>
      </p:sp>
      <p:sp>
        <p:nvSpPr>
          <p:cNvPr id="20" name="Text 18"/>
          <p:cNvSpPr/>
          <p:nvPr/>
        </p:nvSpPr>
        <p:spPr>
          <a:xfrm>
            <a:off x="731520" y="3520440"/>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3</a:t>
            </a:r>
            <a:endParaRPr lang="en-US" sz="1600" dirty="0"/>
          </a:p>
        </p:txBody>
      </p:sp>
      <p:sp>
        <p:nvSpPr>
          <p:cNvPr id="21" name="Text 19"/>
          <p:cNvSpPr/>
          <p:nvPr/>
        </p:nvSpPr>
        <p:spPr>
          <a:xfrm>
            <a:off x="1417320" y="3547872"/>
            <a:ext cx="1920240" cy="411480"/>
          </a:xfrm>
          <a:prstGeom prst="rect">
            <a:avLst/>
          </a:prstGeom>
          <a:noFill/>
          <a:ln/>
        </p:spPr>
        <p:txBody>
          <a:bodyPr wrap="square" lIns="0" tIns="0" rIns="0" bIns="0" rtlCol="0" anchor="ctr"/>
          <a:lstStyle/>
          <a:p>
            <a:pPr indent="0" marL="0">
              <a:buNone/>
            </a:pPr>
            <a:r>
              <a:rPr lang="en-US" sz="1800" dirty="0">
                <a:solidFill>
                  <a:srgbClr val="0F172A"/>
                </a:solidFill>
                <a:latin typeface="Segoe UI Semibold" pitchFamily="34" charset="0"/>
                <a:ea typeface="Segoe UI Semibold" pitchFamily="34" charset="-122"/>
                <a:cs typeface="Segoe UI Semibold" pitchFamily="34" charset="-120"/>
              </a:rPr>
              <a:t>Explain</a:t>
            </a:r>
            <a:endParaRPr lang="en-US" sz="1800" dirty="0"/>
          </a:p>
        </p:txBody>
      </p:sp>
      <p:sp>
        <p:nvSpPr>
          <p:cNvPr id="22" name="Text 20"/>
          <p:cNvSpPr/>
          <p:nvPr/>
        </p:nvSpPr>
        <p:spPr>
          <a:xfrm>
            <a:off x="3337560" y="3529584"/>
            <a:ext cx="8046720" cy="457200"/>
          </a:xfrm>
          <a:prstGeom prst="rect">
            <a:avLst/>
          </a:prstGeom>
          <a:noFill/>
          <a:ln/>
        </p:spPr>
        <p:txBody>
          <a:bodyPr wrap="square" lIns="0" tIns="0" rIns="0" bIns="0" rtlCol="0" anchor="ctr"/>
          <a:lstStyle/>
          <a:p>
            <a:pPr indent="0" marL="0">
              <a:buNone/>
            </a:pPr>
            <a:r>
              <a:rPr lang="en-US" sz="1500" dirty="0">
                <a:solidFill>
                  <a:srgbClr val="334155"/>
                </a:solidFill>
                <a:latin typeface="Segoe UI" pitchFamily="34" charset="0"/>
                <a:ea typeface="Segoe UI" pitchFamily="34" charset="-122"/>
                <a:cs typeface="Segoe UI" pitchFamily="34" charset="-120"/>
              </a:rPr>
              <a:t>Explain every individual prediction with SHAP feature contributions, in marks.</a:t>
            </a:r>
            <a:endParaRPr lang="en-US" sz="1500" dirty="0"/>
          </a:p>
        </p:txBody>
      </p:sp>
      <p:sp>
        <p:nvSpPr>
          <p:cNvPr id="23" name="Shape 21"/>
          <p:cNvSpPr/>
          <p:nvPr/>
        </p:nvSpPr>
        <p:spPr>
          <a:xfrm>
            <a:off x="502920" y="4288536"/>
            <a:ext cx="11018520" cy="804672"/>
          </a:xfrm>
          <a:prstGeom prst="roundRect">
            <a:avLst>
              <a:gd name="adj" fmla="val 9091"/>
            </a:avLst>
          </a:prstGeom>
          <a:solidFill>
            <a:srgbClr val="FFFFFF"/>
          </a:solidFill>
          <a:ln w="12700">
            <a:solidFill>
              <a:srgbClr val="E2E8F0"/>
            </a:solidFill>
            <a:prstDash val="solid"/>
          </a:ln>
        </p:spPr>
      </p:sp>
      <p:sp>
        <p:nvSpPr>
          <p:cNvPr id="24" name="Shape 22"/>
          <p:cNvSpPr/>
          <p:nvPr/>
        </p:nvSpPr>
        <p:spPr>
          <a:xfrm>
            <a:off x="731520" y="4462272"/>
            <a:ext cx="457200" cy="457200"/>
          </a:xfrm>
          <a:prstGeom prst="ellipse">
            <a:avLst/>
          </a:prstGeom>
          <a:solidFill>
            <a:srgbClr val="2563EB"/>
          </a:solidFill>
          <a:ln w="12700">
            <a:solidFill>
              <a:srgbClr val="2563EB"/>
            </a:solidFill>
            <a:prstDash val="solid"/>
          </a:ln>
        </p:spPr>
      </p:sp>
      <p:sp>
        <p:nvSpPr>
          <p:cNvPr id="25" name="Text 23"/>
          <p:cNvSpPr/>
          <p:nvPr/>
        </p:nvSpPr>
        <p:spPr>
          <a:xfrm>
            <a:off x="731520" y="4462272"/>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4</a:t>
            </a:r>
            <a:endParaRPr lang="en-US" sz="1600" dirty="0"/>
          </a:p>
        </p:txBody>
      </p:sp>
      <p:sp>
        <p:nvSpPr>
          <p:cNvPr id="26" name="Text 24"/>
          <p:cNvSpPr/>
          <p:nvPr/>
        </p:nvSpPr>
        <p:spPr>
          <a:xfrm>
            <a:off x="1417320" y="4489704"/>
            <a:ext cx="1920240" cy="411480"/>
          </a:xfrm>
          <a:prstGeom prst="rect">
            <a:avLst/>
          </a:prstGeom>
          <a:noFill/>
          <a:ln/>
        </p:spPr>
        <p:txBody>
          <a:bodyPr wrap="square" lIns="0" tIns="0" rIns="0" bIns="0" rtlCol="0" anchor="ctr"/>
          <a:lstStyle/>
          <a:p>
            <a:pPr indent="0" marL="0">
              <a:buNone/>
            </a:pPr>
            <a:r>
              <a:rPr lang="en-US" sz="1800" dirty="0">
                <a:solidFill>
                  <a:srgbClr val="0F172A"/>
                </a:solidFill>
                <a:latin typeface="Segoe UI Semibold" pitchFamily="34" charset="0"/>
                <a:ea typeface="Segoe UI Semibold" pitchFamily="34" charset="-122"/>
                <a:cs typeface="Segoe UI Semibold" pitchFamily="34" charset="-120"/>
              </a:rPr>
              <a:t>Recommend</a:t>
            </a:r>
            <a:endParaRPr lang="en-US" sz="1800" dirty="0"/>
          </a:p>
        </p:txBody>
      </p:sp>
      <p:sp>
        <p:nvSpPr>
          <p:cNvPr id="27" name="Text 25"/>
          <p:cNvSpPr/>
          <p:nvPr/>
        </p:nvSpPr>
        <p:spPr>
          <a:xfrm>
            <a:off x="3337560" y="4471416"/>
            <a:ext cx="8046720" cy="457200"/>
          </a:xfrm>
          <a:prstGeom prst="rect">
            <a:avLst/>
          </a:prstGeom>
          <a:noFill/>
          <a:ln/>
        </p:spPr>
        <p:txBody>
          <a:bodyPr wrap="square" lIns="0" tIns="0" rIns="0" bIns="0" rtlCol="0" anchor="ctr"/>
          <a:lstStyle/>
          <a:p>
            <a:pPr indent="0" marL="0">
              <a:buNone/>
            </a:pPr>
            <a:r>
              <a:rPr lang="en-US" sz="1500" dirty="0">
                <a:solidFill>
                  <a:srgbClr val="334155"/>
                </a:solidFill>
                <a:latin typeface="Segoe UI" pitchFamily="34" charset="0"/>
                <a:ea typeface="Segoe UI" pitchFamily="34" charset="-122"/>
                <a:cs typeface="Segoe UI" pitchFamily="34" charset="-120"/>
              </a:rPr>
              <a:t>Generate feature-level recommendations guided by the SHAP explanation.</a:t>
            </a:r>
            <a:endParaRPr lang="en-US" sz="1500" dirty="0"/>
          </a:p>
        </p:txBody>
      </p:sp>
      <p:sp>
        <p:nvSpPr>
          <p:cNvPr id="28" name="Shape 26"/>
          <p:cNvSpPr/>
          <p:nvPr/>
        </p:nvSpPr>
        <p:spPr>
          <a:xfrm>
            <a:off x="502920" y="5230368"/>
            <a:ext cx="11018520" cy="804672"/>
          </a:xfrm>
          <a:prstGeom prst="roundRect">
            <a:avLst>
              <a:gd name="adj" fmla="val 9091"/>
            </a:avLst>
          </a:prstGeom>
          <a:solidFill>
            <a:srgbClr val="FFFFFF"/>
          </a:solidFill>
          <a:ln w="12700">
            <a:solidFill>
              <a:srgbClr val="E2E8F0"/>
            </a:solidFill>
            <a:prstDash val="solid"/>
          </a:ln>
        </p:spPr>
      </p:sp>
      <p:sp>
        <p:nvSpPr>
          <p:cNvPr id="29" name="Shape 27"/>
          <p:cNvSpPr/>
          <p:nvPr/>
        </p:nvSpPr>
        <p:spPr>
          <a:xfrm>
            <a:off x="731520" y="5404104"/>
            <a:ext cx="457200" cy="457200"/>
          </a:xfrm>
          <a:prstGeom prst="ellipse">
            <a:avLst/>
          </a:prstGeom>
          <a:solidFill>
            <a:srgbClr val="2563EB"/>
          </a:solidFill>
          <a:ln w="12700">
            <a:solidFill>
              <a:srgbClr val="2563EB"/>
            </a:solidFill>
            <a:prstDash val="solid"/>
          </a:ln>
        </p:spPr>
      </p:sp>
      <p:sp>
        <p:nvSpPr>
          <p:cNvPr id="30" name="Text 28"/>
          <p:cNvSpPr/>
          <p:nvPr/>
        </p:nvSpPr>
        <p:spPr>
          <a:xfrm>
            <a:off x="731520" y="540410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Segoe UI Semibold" pitchFamily="34" charset="0"/>
                <a:ea typeface="Segoe UI Semibold" pitchFamily="34" charset="-122"/>
                <a:cs typeface="Segoe UI Semibold" pitchFamily="34" charset="-120"/>
              </a:rPr>
              <a:t>5</a:t>
            </a:r>
            <a:endParaRPr lang="en-US" sz="1600" dirty="0"/>
          </a:p>
        </p:txBody>
      </p:sp>
      <p:sp>
        <p:nvSpPr>
          <p:cNvPr id="31" name="Text 29"/>
          <p:cNvSpPr/>
          <p:nvPr/>
        </p:nvSpPr>
        <p:spPr>
          <a:xfrm>
            <a:off x="1417320" y="5431536"/>
            <a:ext cx="1920240" cy="411480"/>
          </a:xfrm>
          <a:prstGeom prst="rect">
            <a:avLst/>
          </a:prstGeom>
          <a:noFill/>
          <a:ln/>
        </p:spPr>
        <p:txBody>
          <a:bodyPr wrap="square" lIns="0" tIns="0" rIns="0" bIns="0" rtlCol="0" anchor="ctr"/>
          <a:lstStyle/>
          <a:p>
            <a:pPr indent="0" marL="0">
              <a:buNone/>
            </a:pPr>
            <a:r>
              <a:rPr lang="en-US" sz="1800" dirty="0">
                <a:solidFill>
                  <a:srgbClr val="0F172A"/>
                </a:solidFill>
                <a:latin typeface="Segoe UI Semibold" pitchFamily="34" charset="0"/>
                <a:ea typeface="Segoe UI Semibold" pitchFamily="34" charset="-122"/>
                <a:cs typeface="Segoe UI Semibold" pitchFamily="34" charset="-120"/>
              </a:rPr>
              <a:t>Act</a:t>
            </a:r>
            <a:endParaRPr lang="en-US" sz="1800" dirty="0"/>
          </a:p>
        </p:txBody>
      </p:sp>
      <p:sp>
        <p:nvSpPr>
          <p:cNvPr id="32" name="Text 30"/>
          <p:cNvSpPr/>
          <p:nvPr/>
        </p:nvSpPr>
        <p:spPr>
          <a:xfrm>
            <a:off x="3337560" y="5413248"/>
            <a:ext cx="8046720" cy="457200"/>
          </a:xfrm>
          <a:prstGeom prst="rect">
            <a:avLst/>
          </a:prstGeom>
          <a:noFill/>
          <a:ln/>
        </p:spPr>
        <p:txBody>
          <a:bodyPr wrap="square" lIns="0" tIns="0" rIns="0" bIns="0" rtlCol="0" anchor="ctr"/>
          <a:lstStyle/>
          <a:p>
            <a:pPr indent="0" marL="0">
              <a:buNone/>
            </a:pPr>
            <a:r>
              <a:rPr lang="en-US" sz="1500" dirty="0">
                <a:solidFill>
                  <a:srgbClr val="334155"/>
                </a:solidFill>
                <a:latin typeface="Segoe UI" pitchFamily="34" charset="0"/>
                <a:ea typeface="Segoe UI" pitchFamily="34" charset="-122"/>
                <a:cs typeface="Segoe UI" pitchFamily="34" charset="-120"/>
              </a:rPr>
              <a:t>Demonstrate a teacher workflow: assign an intervention, track assigned / completed, and report.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PROPOSED SYSTEM</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From prediction to explanation to action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4 / 21</a:t>
            </a:r>
            <a:endParaRPr lang="en-US" sz="1000" dirty="0"/>
          </a:p>
        </p:txBody>
      </p:sp>
      <p:sp>
        <p:nvSpPr>
          <p:cNvPr id="8" name="Text 6"/>
          <p:cNvSpPr/>
          <p:nvPr/>
        </p:nvSpPr>
        <p:spPr>
          <a:xfrm>
            <a:off x="502920" y="1417320"/>
            <a:ext cx="10972800" cy="274320"/>
          </a:xfrm>
          <a:prstGeom prst="rect">
            <a:avLst/>
          </a:prstGeom>
          <a:noFill/>
          <a:ln/>
        </p:spPr>
        <p:txBody>
          <a:bodyPr wrap="square" lIns="0" tIns="0" rIns="0" bIns="0" rtlCol="0" anchor="t"/>
          <a:lstStyle/>
          <a:p>
            <a:pPr indent="0" marL="0">
              <a:buNone/>
            </a:pPr>
            <a:r>
              <a:rPr lang="en-US" sz="1200" dirty="0">
                <a:solidFill>
                  <a:srgbClr val="2563EB"/>
                </a:solidFill>
                <a:latin typeface="Segoe UI Semibold" pitchFamily="34" charset="0"/>
                <a:ea typeface="Segoe UI Semibold" pitchFamily="34" charset="-122"/>
                <a:cs typeface="Segoe UI Semibold" pitchFamily="34" charset="-120"/>
              </a:rPr>
              <a:t>MODEL + API  (Flask: /predict, /explain, /recommend)</a:t>
            </a:r>
            <a:endParaRPr lang="en-US" sz="1200" dirty="0"/>
          </a:p>
        </p:txBody>
      </p:sp>
      <p:sp>
        <p:nvSpPr>
          <p:cNvPr id="9" name="Shape 7"/>
          <p:cNvSpPr/>
          <p:nvPr/>
        </p:nvSpPr>
        <p:spPr>
          <a:xfrm>
            <a:off x="502920" y="1783080"/>
            <a:ext cx="2535174" cy="1508760"/>
          </a:xfrm>
          <a:prstGeom prst="roundRect">
            <a:avLst>
              <a:gd name="adj" fmla="val 4848"/>
            </a:avLst>
          </a:prstGeom>
          <a:solidFill>
            <a:srgbClr val="EFF6FF"/>
          </a:solidFill>
          <a:ln w="12700">
            <a:solidFill>
              <a:srgbClr val="DBEAFE"/>
            </a:solidFill>
            <a:prstDash val="solid"/>
          </a:ln>
        </p:spPr>
      </p:sp>
      <p:sp>
        <p:nvSpPr>
          <p:cNvPr id="10" name="Shape 8"/>
          <p:cNvSpPr/>
          <p:nvPr/>
        </p:nvSpPr>
        <p:spPr>
          <a:xfrm>
            <a:off x="1615059" y="1911096"/>
            <a:ext cx="310896" cy="310896"/>
          </a:xfrm>
          <a:prstGeom prst="ellipse">
            <a:avLst/>
          </a:prstGeom>
          <a:solidFill>
            <a:srgbClr val="2563EB"/>
          </a:solidFill>
          <a:ln w="12700">
            <a:solidFill>
              <a:srgbClr val="2563EB"/>
            </a:solidFill>
            <a:prstDash val="solid"/>
          </a:ln>
        </p:spPr>
      </p:sp>
      <p:sp>
        <p:nvSpPr>
          <p:cNvPr id="11" name="Text 9"/>
          <p:cNvSpPr/>
          <p:nvPr/>
        </p:nvSpPr>
        <p:spPr>
          <a:xfrm>
            <a:off x="1615059" y="1911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2" name="Text 10"/>
          <p:cNvSpPr/>
          <p:nvPr/>
        </p:nvSpPr>
        <p:spPr>
          <a:xfrm>
            <a:off x="576072" y="2286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Student data</a:t>
            </a:r>
            <a:endParaRPr lang="en-US" sz="1500" dirty="0"/>
          </a:p>
        </p:txBody>
      </p:sp>
      <p:sp>
        <p:nvSpPr>
          <p:cNvPr id="13" name="Text 11"/>
          <p:cNvSpPr/>
          <p:nvPr/>
        </p:nvSpPr>
        <p:spPr>
          <a:xfrm>
            <a:off x="576072" y="2743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5 academic inputs</a:t>
            </a:r>
            <a:endParaRPr lang="en-US" sz="1200" dirty="0"/>
          </a:p>
        </p:txBody>
      </p:sp>
      <p:sp>
        <p:nvSpPr>
          <p:cNvPr id="14" name="Shape 12"/>
          <p:cNvSpPr/>
          <p:nvPr/>
        </p:nvSpPr>
        <p:spPr>
          <a:xfrm>
            <a:off x="3074670" y="2537460"/>
            <a:ext cx="219456" cy="0"/>
          </a:xfrm>
          <a:prstGeom prst="line">
            <a:avLst/>
          </a:prstGeom>
          <a:noFill/>
          <a:ln w="25400">
            <a:solidFill>
              <a:srgbClr val="2563EB"/>
            </a:solidFill>
            <a:prstDash val="solid"/>
            <a:tailEnd type="triangle"/>
          </a:ln>
        </p:spPr>
      </p:sp>
      <p:sp>
        <p:nvSpPr>
          <p:cNvPr id="15" name="Shape 13"/>
          <p:cNvSpPr/>
          <p:nvPr/>
        </p:nvSpPr>
        <p:spPr>
          <a:xfrm>
            <a:off x="3330702" y="1783080"/>
            <a:ext cx="2535174" cy="1508760"/>
          </a:xfrm>
          <a:prstGeom prst="roundRect">
            <a:avLst>
              <a:gd name="adj" fmla="val 4848"/>
            </a:avLst>
          </a:prstGeom>
          <a:solidFill>
            <a:srgbClr val="EFF6FF"/>
          </a:solidFill>
          <a:ln w="12700">
            <a:solidFill>
              <a:srgbClr val="DBEAFE"/>
            </a:solidFill>
            <a:prstDash val="solid"/>
          </a:ln>
        </p:spPr>
      </p:sp>
      <p:sp>
        <p:nvSpPr>
          <p:cNvPr id="16" name="Shape 14"/>
          <p:cNvSpPr/>
          <p:nvPr/>
        </p:nvSpPr>
        <p:spPr>
          <a:xfrm>
            <a:off x="4442841" y="1911096"/>
            <a:ext cx="310896" cy="310896"/>
          </a:xfrm>
          <a:prstGeom prst="ellipse">
            <a:avLst/>
          </a:prstGeom>
          <a:solidFill>
            <a:srgbClr val="2563EB"/>
          </a:solidFill>
          <a:ln w="12700">
            <a:solidFill>
              <a:srgbClr val="2563EB"/>
            </a:solidFill>
            <a:prstDash val="solid"/>
          </a:ln>
        </p:spPr>
      </p:sp>
      <p:sp>
        <p:nvSpPr>
          <p:cNvPr id="17" name="Text 15"/>
          <p:cNvSpPr/>
          <p:nvPr/>
        </p:nvSpPr>
        <p:spPr>
          <a:xfrm>
            <a:off x="4442841" y="1911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8" name="Text 16"/>
          <p:cNvSpPr/>
          <p:nvPr/>
        </p:nvSpPr>
        <p:spPr>
          <a:xfrm>
            <a:off x="3403854" y="2286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ML prediction</a:t>
            </a:r>
            <a:endParaRPr lang="en-US" sz="1500" dirty="0"/>
          </a:p>
        </p:txBody>
      </p:sp>
      <p:sp>
        <p:nvSpPr>
          <p:cNvPr id="19" name="Text 17"/>
          <p:cNvSpPr/>
          <p:nvPr/>
        </p:nvSpPr>
        <p:spPr>
          <a:xfrm>
            <a:off x="3403854" y="2743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Final-exam marks</a:t>
            </a:r>
            <a:endParaRPr lang="en-US" sz="1200" dirty="0"/>
          </a:p>
        </p:txBody>
      </p:sp>
      <p:sp>
        <p:nvSpPr>
          <p:cNvPr id="20" name="Shape 18"/>
          <p:cNvSpPr/>
          <p:nvPr/>
        </p:nvSpPr>
        <p:spPr>
          <a:xfrm>
            <a:off x="5902452" y="2537460"/>
            <a:ext cx="219456" cy="0"/>
          </a:xfrm>
          <a:prstGeom prst="line">
            <a:avLst/>
          </a:prstGeom>
          <a:noFill/>
          <a:ln w="25400">
            <a:solidFill>
              <a:srgbClr val="2563EB"/>
            </a:solidFill>
            <a:prstDash val="solid"/>
            <a:tailEnd type="triangle"/>
          </a:ln>
        </p:spPr>
      </p:sp>
      <p:sp>
        <p:nvSpPr>
          <p:cNvPr id="21" name="Shape 19"/>
          <p:cNvSpPr/>
          <p:nvPr/>
        </p:nvSpPr>
        <p:spPr>
          <a:xfrm>
            <a:off x="6158484" y="1783080"/>
            <a:ext cx="2535174" cy="1508760"/>
          </a:xfrm>
          <a:prstGeom prst="roundRect">
            <a:avLst>
              <a:gd name="adj" fmla="val 4848"/>
            </a:avLst>
          </a:prstGeom>
          <a:solidFill>
            <a:srgbClr val="EFF6FF"/>
          </a:solidFill>
          <a:ln w="12700">
            <a:solidFill>
              <a:srgbClr val="DBEAFE"/>
            </a:solidFill>
            <a:prstDash val="solid"/>
          </a:ln>
        </p:spPr>
      </p:sp>
      <p:sp>
        <p:nvSpPr>
          <p:cNvPr id="22" name="Shape 20"/>
          <p:cNvSpPr/>
          <p:nvPr/>
        </p:nvSpPr>
        <p:spPr>
          <a:xfrm>
            <a:off x="7270623" y="1911096"/>
            <a:ext cx="310896" cy="310896"/>
          </a:xfrm>
          <a:prstGeom prst="ellipse">
            <a:avLst/>
          </a:prstGeom>
          <a:solidFill>
            <a:srgbClr val="2563EB"/>
          </a:solidFill>
          <a:ln w="12700">
            <a:solidFill>
              <a:srgbClr val="2563EB"/>
            </a:solidFill>
            <a:prstDash val="solid"/>
          </a:ln>
        </p:spPr>
      </p:sp>
      <p:sp>
        <p:nvSpPr>
          <p:cNvPr id="23" name="Text 21"/>
          <p:cNvSpPr/>
          <p:nvPr/>
        </p:nvSpPr>
        <p:spPr>
          <a:xfrm>
            <a:off x="7270623" y="1911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4" name="Text 22"/>
          <p:cNvSpPr/>
          <p:nvPr/>
        </p:nvSpPr>
        <p:spPr>
          <a:xfrm>
            <a:off x="6231636" y="2286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Early warning</a:t>
            </a:r>
            <a:endParaRPr lang="en-US" sz="1500" dirty="0"/>
          </a:p>
        </p:txBody>
      </p:sp>
      <p:sp>
        <p:nvSpPr>
          <p:cNvPr id="25" name="Text 23"/>
          <p:cNvSpPr/>
          <p:nvPr/>
        </p:nvSpPr>
        <p:spPr>
          <a:xfrm>
            <a:off x="6231636" y="2743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3 project-defined bands</a:t>
            </a:r>
            <a:endParaRPr lang="en-US" sz="1200" dirty="0"/>
          </a:p>
        </p:txBody>
      </p:sp>
      <p:sp>
        <p:nvSpPr>
          <p:cNvPr id="26" name="Shape 24"/>
          <p:cNvSpPr/>
          <p:nvPr/>
        </p:nvSpPr>
        <p:spPr>
          <a:xfrm>
            <a:off x="8730234" y="2537460"/>
            <a:ext cx="219456" cy="0"/>
          </a:xfrm>
          <a:prstGeom prst="line">
            <a:avLst/>
          </a:prstGeom>
          <a:noFill/>
          <a:ln w="25400">
            <a:solidFill>
              <a:srgbClr val="2563EB"/>
            </a:solidFill>
            <a:prstDash val="solid"/>
            <a:tailEnd type="triangle"/>
          </a:ln>
        </p:spPr>
      </p:sp>
      <p:sp>
        <p:nvSpPr>
          <p:cNvPr id="27" name="Shape 25"/>
          <p:cNvSpPr/>
          <p:nvPr/>
        </p:nvSpPr>
        <p:spPr>
          <a:xfrm>
            <a:off x="8986266" y="1783080"/>
            <a:ext cx="2535174" cy="1508760"/>
          </a:xfrm>
          <a:prstGeom prst="roundRect">
            <a:avLst>
              <a:gd name="adj" fmla="val 4848"/>
            </a:avLst>
          </a:prstGeom>
          <a:solidFill>
            <a:srgbClr val="EFF6FF"/>
          </a:solidFill>
          <a:ln w="12700">
            <a:solidFill>
              <a:srgbClr val="DBEAFE"/>
            </a:solidFill>
            <a:prstDash val="solid"/>
          </a:ln>
        </p:spPr>
      </p:sp>
      <p:sp>
        <p:nvSpPr>
          <p:cNvPr id="28" name="Shape 26"/>
          <p:cNvSpPr/>
          <p:nvPr/>
        </p:nvSpPr>
        <p:spPr>
          <a:xfrm>
            <a:off x="10098405" y="1911096"/>
            <a:ext cx="310896" cy="310896"/>
          </a:xfrm>
          <a:prstGeom prst="ellipse">
            <a:avLst/>
          </a:prstGeom>
          <a:solidFill>
            <a:srgbClr val="2563EB"/>
          </a:solidFill>
          <a:ln w="12700">
            <a:solidFill>
              <a:srgbClr val="2563EB"/>
            </a:solidFill>
            <a:prstDash val="solid"/>
          </a:ln>
        </p:spPr>
      </p:sp>
      <p:sp>
        <p:nvSpPr>
          <p:cNvPr id="29" name="Text 27"/>
          <p:cNvSpPr/>
          <p:nvPr/>
        </p:nvSpPr>
        <p:spPr>
          <a:xfrm>
            <a:off x="10098405" y="1911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0" name="Text 28"/>
          <p:cNvSpPr/>
          <p:nvPr/>
        </p:nvSpPr>
        <p:spPr>
          <a:xfrm>
            <a:off x="9059418" y="2286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SHAP explanation</a:t>
            </a:r>
            <a:endParaRPr lang="en-US" sz="1500" dirty="0"/>
          </a:p>
        </p:txBody>
      </p:sp>
      <p:sp>
        <p:nvSpPr>
          <p:cNvPr id="31" name="Text 29"/>
          <p:cNvSpPr/>
          <p:nvPr/>
        </p:nvSpPr>
        <p:spPr>
          <a:xfrm>
            <a:off x="9059418" y="2743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Contribution of each input</a:t>
            </a:r>
            <a:endParaRPr lang="en-US" sz="1200" dirty="0"/>
          </a:p>
        </p:txBody>
      </p:sp>
      <p:sp>
        <p:nvSpPr>
          <p:cNvPr id="32" name="Shape 30"/>
          <p:cNvSpPr/>
          <p:nvPr/>
        </p:nvSpPr>
        <p:spPr>
          <a:xfrm>
            <a:off x="10652760" y="3310128"/>
            <a:ext cx="0" cy="347472"/>
          </a:xfrm>
          <a:prstGeom prst="line">
            <a:avLst/>
          </a:prstGeom>
          <a:noFill/>
          <a:ln w="25400">
            <a:solidFill>
              <a:srgbClr val="2563EB"/>
            </a:solidFill>
            <a:prstDash val="solid"/>
          </a:ln>
        </p:spPr>
      </p:sp>
      <p:sp>
        <p:nvSpPr>
          <p:cNvPr id="33" name="Shape 31"/>
          <p:cNvSpPr/>
          <p:nvPr/>
        </p:nvSpPr>
        <p:spPr>
          <a:xfrm>
            <a:off x="1481328" y="3657600"/>
            <a:ext cx="9171432" cy="0"/>
          </a:xfrm>
          <a:prstGeom prst="line">
            <a:avLst/>
          </a:prstGeom>
          <a:noFill/>
          <a:ln w="25400">
            <a:solidFill>
              <a:srgbClr val="2563EB"/>
            </a:solidFill>
            <a:prstDash val="solid"/>
          </a:ln>
        </p:spPr>
      </p:sp>
      <p:sp>
        <p:nvSpPr>
          <p:cNvPr id="34" name="Shape 32"/>
          <p:cNvSpPr/>
          <p:nvPr/>
        </p:nvSpPr>
        <p:spPr>
          <a:xfrm>
            <a:off x="1481328" y="3657600"/>
            <a:ext cx="0" cy="384048"/>
          </a:xfrm>
          <a:prstGeom prst="line">
            <a:avLst/>
          </a:prstGeom>
          <a:noFill/>
          <a:ln w="25400">
            <a:solidFill>
              <a:srgbClr val="2563EB"/>
            </a:solidFill>
            <a:prstDash val="solid"/>
            <a:tailEnd type="triangle"/>
          </a:ln>
        </p:spPr>
      </p:sp>
      <p:sp>
        <p:nvSpPr>
          <p:cNvPr id="35" name="Text 33"/>
          <p:cNvSpPr/>
          <p:nvPr/>
        </p:nvSpPr>
        <p:spPr>
          <a:xfrm>
            <a:off x="502920" y="3730752"/>
            <a:ext cx="10972800" cy="274320"/>
          </a:xfrm>
          <a:prstGeom prst="rect">
            <a:avLst/>
          </a:prstGeom>
          <a:noFill/>
          <a:ln/>
        </p:spPr>
        <p:txBody>
          <a:bodyPr wrap="square" lIns="0" tIns="0" rIns="0" bIns="0" rtlCol="0" anchor="t"/>
          <a:lstStyle/>
          <a:p>
            <a:pPr algn="r" indent="0" marL="0">
              <a:buNone/>
            </a:pPr>
            <a:r>
              <a:rPr lang="en-US" sz="1200" dirty="0">
                <a:solidFill>
                  <a:srgbClr val="047857"/>
                </a:solidFill>
                <a:latin typeface="Segoe UI Semibold" pitchFamily="34" charset="0"/>
                <a:ea typeface="Segoe UI Semibold" pitchFamily="34" charset="-122"/>
                <a:cs typeface="Segoe UI Semibold" pitchFamily="34" charset="-120"/>
              </a:rPr>
              <a:t>DECISION SUPPORT  (Student Portal + Teacher Portal, session state)</a:t>
            </a:r>
            <a:endParaRPr lang="en-US" sz="1200" dirty="0"/>
          </a:p>
        </p:txBody>
      </p:sp>
      <p:sp>
        <p:nvSpPr>
          <p:cNvPr id="36" name="Shape 34"/>
          <p:cNvSpPr/>
          <p:nvPr/>
        </p:nvSpPr>
        <p:spPr>
          <a:xfrm>
            <a:off x="502920" y="4069080"/>
            <a:ext cx="2535174" cy="1508760"/>
          </a:xfrm>
          <a:prstGeom prst="roundRect">
            <a:avLst>
              <a:gd name="adj" fmla="val 4848"/>
            </a:avLst>
          </a:prstGeom>
          <a:solidFill>
            <a:srgbClr val="F0FDF4"/>
          </a:solidFill>
          <a:ln w="12700">
            <a:solidFill>
              <a:srgbClr val="BBF7D0"/>
            </a:solidFill>
            <a:prstDash val="solid"/>
          </a:ln>
        </p:spPr>
      </p:sp>
      <p:sp>
        <p:nvSpPr>
          <p:cNvPr id="37" name="Shape 35"/>
          <p:cNvSpPr/>
          <p:nvPr/>
        </p:nvSpPr>
        <p:spPr>
          <a:xfrm>
            <a:off x="1615059" y="4197096"/>
            <a:ext cx="310896" cy="310896"/>
          </a:xfrm>
          <a:prstGeom prst="ellipse">
            <a:avLst/>
          </a:prstGeom>
          <a:solidFill>
            <a:srgbClr val="047857"/>
          </a:solidFill>
          <a:ln w="12700">
            <a:solidFill>
              <a:srgbClr val="047857"/>
            </a:solidFill>
            <a:prstDash val="solid"/>
          </a:ln>
        </p:spPr>
      </p:sp>
      <p:sp>
        <p:nvSpPr>
          <p:cNvPr id="38" name="Text 36"/>
          <p:cNvSpPr/>
          <p:nvPr/>
        </p:nvSpPr>
        <p:spPr>
          <a:xfrm>
            <a:off x="1615059" y="4197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39" name="Text 37"/>
          <p:cNvSpPr/>
          <p:nvPr/>
        </p:nvSpPr>
        <p:spPr>
          <a:xfrm>
            <a:off x="576072" y="4572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Recommendation</a:t>
            </a:r>
            <a:endParaRPr lang="en-US" sz="1500" dirty="0"/>
          </a:p>
        </p:txBody>
      </p:sp>
      <p:sp>
        <p:nvSpPr>
          <p:cNvPr id="40" name="Text 38"/>
          <p:cNvSpPr/>
          <p:nvPr/>
        </p:nvSpPr>
        <p:spPr>
          <a:xfrm>
            <a:off x="576072" y="5029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Model-based, per feature</a:t>
            </a:r>
            <a:endParaRPr lang="en-US" sz="1200" dirty="0"/>
          </a:p>
        </p:txBody>
      </p:sp>
      <p:sp>
        <p:nvSpPr>
          <p:cNvPr id="41" name="Shape 39"/>
          <p:cNvSpPr/>
          <p:nvPr/>
        </p:nvSpPr>
        <p:spPr>
          <a:xfrm>
            <a:off x="3074670" y="4823460"/>
            <a:ext cx="219456" cy="0"/>
          </a:xfrm>
          <a:prstGeom prst="line">
            <a:avLst/>
          </a:prstGeom>
          <a:noFill/>
          <a:ln w="25400">
            <a:solidFill>
              <a:srgbClr val="2563EB"/>
            </a:solidFill>
            <a:prstDash val="solid"/>
            <a:tailEnd type="triangle"/>
          </a:ln>
        </p:spPr>
      </p:sp>
      <p:sp>
        <p:nvSpPr>
          <p:cNvPr id="42" name="Shape 40"/>
          <p:cNvSpPr/>
          <p:nvPr/>
        </p:nvSpPr>
        <p:spPr>
          <a:xfrm>
            <a:off x="3330702" y="4069080"/>
            <a:ext cx="2535174" cy="1508760"/>
          </a:xfrm>
          <a:prstGeom prst="roundRect">
            <a:avLst>
              <a:gd name="adj" fmla="val 4848"/>
            </a:avLst>
          </a:prstGeom>
          <a:solidFill>
            <a:srgbClr val="F0FDF4"/>
          </a:solidFill>
          <a:ln w="12700">
            <a:solidFill>
              <a:srgbClr val="BBF7D0"/>
            </a:solidFill>
            <a:prstDash val="solid"/>
          </a:ln>
        </p:spPr>
      </p:sp>
      <p:sp>
        <p:nvSpPr>
          <p:cNvPr id="43" name="Shape 41"/>
          <p:cNvSpPr/>
          <p:nvPr/>
        </p:nvSpPr>
        <p:spPr>
          <a:xfrm>
            <a:off x="4442841" y="4197096"/>
            <a:ext cx="310896" cy="310896"/>
          </a:xfrm>
          <a:prstGeom prst="ellipse">
            <a:avLst/>
          </a:prstGeom>
          <a:solidFill>
            <a:srgbClr val="047857"/>
          </a:solidFill>
          <a:ln w="12700">
            <a:solidFill>
              <a:srgbClr val="047857"/>
            </a:solidFill>
            <a:prstDash val="solid"/>
          </a:ln>
        </p:spPr>
      </p:sp>
      <p:sp>
        <p:nvSpPr>
          <p:cNvPr id="44" name="Text 42"/>
          <p:cNvSpPr/>
          <p:nvPr/>
        </p:nvSpPr>
        <p:spPr>
          <a:xfrm>
            <a:off x="4442841" y="4197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45" name="Text 43"/>
          <p:cNvSpPr/>
          <p:nvPr/>
        </p:nvSpPr>
        <p:spPr>
          <a:xfrm>
            <a:off x="3403854" y="4572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Teacher intervention</a:t>
            </a:r>
            <a:endParaRPr lang="en-US" sz="1500" dirty="0"/>
          </a:p>
        </p:txBody>
      </p:sp>
      <p:sp>
        <p:nvSpPr>
          <p:cNvPr id="46" name="Text 44"/>
          <p:cNvSpPr/>
          <p:nvPr/>
        </p:nvSpPr>
        <p:spPr>
          <a:xfrm>
            <a:off x="3403854" y="5029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Assign a HIGH/MEDIUM item</a:t>
            </a:r>
            <a:endParaRPr lang="en-US" sz="1200" dirty="0"/>
          </a:p>
        </p:txBody>
      </p:sp>
      <p:sp>
        <p:nvSpPr>
          <p:cNvPr id="47" name="Shape 45"/>
          <p:cNvSpPr/>
          <p:nvPr/>
        </p:nvSpPr>
        <p:spPr>
          <a:xfrm>
            <a:off x="5902452" y="4823460"/>
            <a:ext cx="219456" cy="0"/>
          </a:xfrm>
          <a:prstGeom prst="line">
            <a:avLst/>
          </a:prstGeom>
          <a:noFill/>
          <a:ln w="25400">
            <a:solidFill>
              <a:srgbClr val="2563EB"/>
            </a:solidFill>
            <a:prstDash val="solid"/>
            <a:tailEnd type="triangle"/>
          </a:ln>
        </p:spPr>
      </p:sp>
      <p:sp>
        <p:nvSpPr>
          <p:cNvPr id="48" name="Shape 46"/>
          <p:cNvSpPr/>
          <p:nvPr/>
        </p:nvSpPr>
        <p:spPr>
          <a:xfrm>
            <a:off x="6158484" y="4069080"/>
            <a:ext cx="2535174" cy="1508760"/>
          </a:xfrm>
          <a:prstGeom prst="roundRect">
            <a:avLst>
              <a:gd name="adj" fmla="val 4848"/>
            </a:avLst>
          </a:prstGeom>
          <a:solidFill>
            <a:srgbClr val="F0FDF4"/>
          </a:solidFill>
          <a:ln w="12700">
            <a:solidFill>
              <a:srgbClr val="BBF7D0"/>
            </a:solidFill>
            <a:prstDash val="solid"/>
          </a:ln>
        </p:spPr>
      </p:sp>
      <p:sp>
        <p:nvSpPr>
          <p:cNvPr id="49" name="Shape 47"/>
          <p:cNvSpPr/>
          <p:nvPr/>
        </p:nvSpPr>
        <p:spPr>
          <a:xfrm>
            <a:off x="7270623" y="4197096"/>
            <a:ext cx="310896" cy="310896"/>
          </a:xfrm>
          <a:prstGeom prst="ellipse">
            <a:avLst/>
          </a:prstGeom>
          <a:solidFill>
            <a:srgbClr val="047857"/>
          </a:solidFill>
          <a:ln w="12700">
            <a:solidFill>
              <a:srgbClr val="047857"/>
            </a:solidFill>
            <a:prstDash val="solid"/>
          </a:ln>
        </p:spPr>
      </p:sp>
      <p:sp>
        <p:nvSpPr>
          <p:cNvPr id="50" name="Text 48"/>
          <p:cNvSpPr/>
          <p:nvPr/>
        </p:nvSpPr>
        <p:spPr>
          <a:xfrm>
            <a:off x="7270623" y="4197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7</a:t>
            </a:r>
            <a:endParaRPr lang="en-US" sz="1200" dirty="0"/>
          </a:p>
        </p:txBody>
      </p:sp>
      <p:sp>
        <p:nvSpPr>
          <p:cNvPr id="51" name="Text 49"/>
          <p:cNvSpPr/>
          <p:nvPr/>
        </p:nvSpPr>
        <p:spPr>
          <a:xfrm>
            <a:off x="6231636" y="4572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Intervention status</a:t>
            </a:r>
            <a:endParaRPr lang="en-US" sz="1500" dirty="0"/>
          </a:p>
        </p:txBody>
      </p:sp>
      <p:sp>
        <p:nvSpPr>
          <p:cNvPr id="52" name="Text 50"/>
          <p:cNvSpPr/>
          <p:nvPr/>
        </p:nvSpPr>
        <p:spPr>
          <a:xfrm>
            <a:off x="6231636" y="5029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Assigned → Completed</a:t>
            </a:r>
            <a:endParaRPr lang="en-US" sz="1200" dirty="0"/>
          </a:p>
        </p:txBody>
      </p:sp>
      <p:sp>
        <p:nvSpPr>
          <p:cNvPr id="53" name="Shape 51"/>
          <p:cNvSpPr/>
          <p:nvPr/>
        </p:nvSpPr>
        <p:spPr>
          <a:xfrm>
            <a:off x="8730234" y="4823460"/>
            <a:ext cx="219456" cy="0"/>
          </a:xfrm>
          <a:prstGeom prst="line">
            <a:avLst/>
          </a:prstGeom>
          <a:noFill/>
          <a:ln w="25400">
            <a:solidFill>
              <a:srgbClr val="2563EB"/>
            </a:solidFill>
            <a:prstDash val="solid"/>
            <a:tailEnd type="triangle"/>
          </a:ln>
        </p:spPr>
      </p:sp>
      <p:sp>
        <p:nvSpPr>
          <p:cNvPr id="54" name="Shape 52"/>
          <p:cNvSpPr/>
          <p:nvPr/>
        </p:nvSpPr>
        <p:spPr>
          <a:xfrm>
            <a:off x="8986266" y="4069080"/>
            <a:ext cx="2535174" cy="1508760"/>
          </a:xfrm>
          <a:prstGeom prst="roundRect">
            <a:avLst>
              <a:gd name="adj" fmla="val 4848"/>
            </a:avLst>
          </a:prstGeom>
          <a:solidFill>
            <a:srgbClr val="F0FDF4"/>
          </a:solidFill>
          <a:ln w="12700">
            <a:solidFill>
              <a:srgbClr val="BBF7D0"/>
            </a:solidFill>
            <a:prstDash val="solid"/>
          </a:ln>
        </p:spPr>
      </p:sp>
      <p:sp>
        <p:nvSpPr>
          <p:cNvPr id="55" name="Shape 53"/>
          <p:cNvSpPr/>
          <p:nvPr/>
        </p:nvSpPr>
        <p:spPr>
          <a:xfrm>
            <a:off x="10098405" y="4197096"/>
            <a:ext cx="310896" cy="310896"/>
          </a:xfrm>
          <a:prstGeom prst="ellipse">
            <a:avLst/>
          </a:prstGeom>
          <a:solidFill>
            <a:srgbClr val="047857"/>
          </a:solidFill>
          <a:ln w="12700">
            <a:solidFill>
              <a:srgbClr val="047857"/>
            </a:solidFill>
            <a:prstDash val="solid"/>
          </a:ln>
        </p:spPr>
      </p:sp>
      <p:sp>
        <p:nvSpPr>
          <p:cNvPr id="56" name="Text 54"/>
          <p:cNvSpPr/>
          <p:nvPr/>
        </p:nvSpPr>
        <p:spPr>
          <a:xfrm>
            <a:off x="10098405" y="419709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8</a:t>
            </a:r>
            <a:endParaRPr lang="en-US" sz="1200" dirty="0"/>
          </a:p>
        </p:txBody>
      </p:sp>
      <p:sp>
        <p:nvSpPr>
          <p:cNvPr id="57" name="Text 55"/>
          <p:cNvSpPr/>
          <p:nvPr/>
        </p:nvSpPr>
        <p:spPr>
          <a:xfrm>
            <a:off x="9059418" y="4572000"/>
            <a:ext cx="2388870" cy="457200"/>
          </a:xfrm>
          <a:prstGeom prst="rect">
            <a:avLst/>
          </a:prstGeom>
          <a:noFill/>
          <a:ln/>
        </p:spPr>
        <p:txBody>
          <a:bodyPr wrap="square" lIns="0" tIns="0" rIns="0" bIns="0" rtlCol="0" anchor="t"/>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Demo report</a:t>
            </a:r>
            <a:endParaRPr lang="en-US" sz="1500" dirty="0"/>
          </a:p>
        </p:txBody>
      </p:sp>
      <p:sp>
        <p:nvSpPr>
          <p:cNvPr id="58" name="Text 56"/>
          <p:cNvSpPr/>
          <p:nvPr/>
        </p:nvSpPr>
        <p:spPr>
          <a:xfrm>
            <a:off x="9059418" y="5029200"/>
            <a:ext cx="2388870" cy="457200"/>
          </a:xfrm>
          <a:prstGeom prst="rect">
            <a:avLst/>
          </a:prstGeom>
          <a:noFill/>
          <a:ln/>
        </p:spPr>
        <p:txBody>
          <a:bodyPr wrap="square" lIns="0" tIns="0" rIns="0" bIns="0" rtlCol="0" anchor="t"/>
          <a:lstStyle/>
          <a:p>
            <a:pPr algn="ctr" indent="0" marL="0">
              <a:buNone/>
            </a:pPr>
            <a:r>
              <a:rPr lang="en-US" sz="1200" dirty="0">
                <a:solidFill>
                  <a:srgbClr val="64748B"/>
                </a:solidFill>
                <a:latin typeface="Segoe UI" pitchFamily="34" charset="0"/>
                <a:ea typeface="Segoe UI" pitchFamily="34" charset="-122"/>
                <a:cs typeface="Segoe UI" pitchFamily="34" charset="-120"/>
              </a:rPr>
              <a:t>Student · Prediction · Intervention</a:t>
            </a:r>
            <a:endParaRPr lang="en-US" sz="1200" dirty="0"/>
          </a:p>
        </p:txBody>
      </p:sp>
      <p:sp>
        <p:nvSpPr>
          <p:cNvPr id="59" name="Shape 57"/>
          <p:cNvSpPr/>
          <p:nvPr/>
        </p:nvSpPr>
        <p:spPr>
          <a:xfrm>
            <a:off x="502920" y="5760720"/>
            <a:ext cx="11018520" cy="530352"/>
          </a:xfrm>
          <a:prstGeom prst="roundRect">
            <a:avLst>
              <a:gd name="adj" fmla="val 13793"/>
            </a:avLst>
          </a:prstGeom>
          <a:solidFill>
            <a:srgbClr val="F8FAFC"/>
          </a:solidFill>
          <a:ln w="12700">
            <a:solidFill>
              <a:srgbClr val="E2E8F0"/>
            </a:solidFill>
            <a:prstDash val="solid"/>
          </a:ln>
        </p:spPr>
      </p:sp>
      <p:sp>
        <p:nvSpPr>
          <p:cNvPr id="60" name="Text 58"/>
          <p:cNvSpPr/>
          <p:nvPr/>
        </p:nvSpPr>
        <p:spPr>
          <a:xfrm>
            <a:off x="685800" y="5815584"/>
            <a:ext cx="10698480" cy="420624"/>
          </a:xfrm>
          <a:prstGeom prst="rect">
            <a:avLst/>
          </a:prstGeom>
          <a:noFill/>
          <a:ln/>
        </p:spPr>
        <p:txBody>
          <a:bodyPr wrap="square" lIns="0" tIns="0" rIns="0" bIns="0" rtlCol="0" anchor="ctr"/>
          <a:lstStyle/>
          <a:p>
            <a:pPr indent="0" marL="0">
              <a:buNone/>
            </a:pPr>
            <a:r>
              <a:rPr lang="en-US" sz="1200" dirty="0">
                <a:solidFill>
                  <a:srgbClr val="334155"/>
                </a:solidFill>
                <a:latin typeface="Segoe UI" pitchFamily="34" charset="0"/>
                <a:ea typeface="Segoe UI" pitchFamily="34" charset="-122"/>
                <a:cs typeface="Segoe UI" pitchFamily="34" charset="-120"/>
              </a:rPr>
              <a:t>Steps 1–5 are computed by the real model and API for every prediction. Steps 6–8 are the demonstration workflow, kept in browser session state (no database).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SYSTEM ARCHITECTURE</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How the application is built</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5 / 21</a:t>
            </a:r>
            <a:endParaRPr lang="en-US" sz="1000" dirty="0"/>
          </a:p>
        </p:txBody>
      </p:sp>
      <p:sp>
        <p:nvSpPr>
          <p:cNvPr id="8" name="Shape 6"/>
          <p:cNvSpPr/>
          <p:nvPr/>
        </p:nvSpPr>
        <p:spPr>
          <a:xfrm>
            <a:off x="502920" y="1417320"/>
            <a:ext cx="1920240" cy="3017520"/>
          </a:xfrm>
          <a:prstGeom prst="roundRect">
            <a:avLst>
              <a:gd name="adj" fmla="val 3810"/>
            </a:avLst>
          </a:prstGeom>
          <a:solidFill>
            <a:srgbClr val="F8FAFC"/>
          </a:solidFill>
          <a:ln w="12700">
            <a:solidFill>
              <a:srgbClr val="E2E8F0"/>
            </a:solidFill>
            <a:prstDash val="solid"/>
          </a:ln>
        </p:spPr>
      </p:sp>
      <p:sp>
        <p:nvSpPr>
          <p:cNvPr id="9" name="Text 7"/>
          <p:cNvSpPr/>
          <p:nvPr/>
        </p:nvSpPr>
        <p:spPr>
          <a:xfrm>
            <a:off x="640080" y="1554480"/>
            <a:ext cx="1645920" cy="411480"/>
          </a:xfrm>
          <a:prstGeom prst="rect">
            <a:avLst/>
          </a:prstGeom>
          <a:noFill/>
          <a:ln/>
        </p:spPr>
        <p:txBody>
          <a:bodyPr wrap="square" lIns="0" tIns="0" rIns="0" bIns="0" rtlCol="0" anchor="t"/>
          <a:lstStyle/>
          <a:p>
            <a:pPr algn="ctr" indent="0" marL="0">
              <a:buNone/>
            </a:pPr>
            <a:r>
              <a:rPr lang="en-US" sz="1550" dirty="0">
                <a:solidFill>
                  <a:srgbClr val="0F172A"/>
                </a:solidFill>
                <a:latin typeface="Segoe UI Semibold" pitchFamily="34" charset="0"/>
                <a:ea typeface="Segoe UI Semibold" pitchFamily="34" charset="-122"/>
                <a:cs typeface="Segoe UI Semibold" pitchFamily="34" charset="-120"/>
              </a:rPr>
              <a:t>User</a:t>
            </a:r>
            <a:endParaRPr lang="en-US" sz="1550" dirty="0"/>
          </a:p>
        </p:txBody>
      </p:sp>
      <p:sp>
        <p:nvSpPr>
          <p:cNvPr id="10" name="Text 8"/>
          <p:cNvSpPr/>
          <p:nvPr/>
        </p:nvSpPr>
        <p:spPr>
          <a:xfrm>
            <a:off x="667512" y="2057400"/>
            <a:ext cx="1591056" cy="2240280"/>
          </a:xfrm>
          <a:prstGeom prst="rect">
            <a:avLst/>
          </a:prstGeom>
          <a:noFill/>
          <a:ln/>
        </p:spPr>
        <p:txBody>
          <a:bodyPr wrap="square" lIns="0" tIns="0" rIns="0" bIns="0" rtlCol="0" anchor="t"/>
          <a:lstStyle/>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Student or teacher</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in a web browser</a:t>
            </a:r>
            <a:endParaRPr lang="en-US" sz="1250" dirty="0"/>
          </a:p>
        </p:txBody>
      </p:sp>
      <p:sp>
        <p:nvSpPr>
          <p:cNvPr id="11" name="Shape 9"/>
          <p:cNvSpPr/>
          <p:nvPr/>
        </p:nvSpPr>
        <p:spPr>
          <a:xfrm>
            <a:off x="2459736" y="2743200"/>
            <a:ext cx="566928" cy="0"/>
          </a:xfrm>
          <a:prstGeom prst="line">
            <a:avLst/>
          </a:prstGeom>
          <a:noFill/>
          <a:ln w="25400">
            <a:solidFill>
              <a:srgbClr val="2563EB"/>
            </a:solidFill>
            <a:prstDash val="solid"/>
            <a:tailEnd type="triangle"/>
          </a:ln>
        </p:spPr>
      </p:sp>
      <p:sp>
        <p:nvSpPr>
          <p:cNvPr id="12" name="Text 10"/>
          <p:cNvSpPr/>
          <p:nvPr/>
        </p:nvSpPr>
        <p:spPr>
          <a:xfrm>
            <a:off x="2423160" y="2816352"/>
            <a:ext cx="640080" cy="274320"/>
          </a:xfrm>
          <a:prstGeom prst="rect">
            <a:avLst/>
          </a:prstGeom>
          <a:noFill/>
          <a:ln/>
        </p:spPr>
        <p:txBody>
          <a:bodyPr wrap="square" lIns="0" tIns="0" rIns="0" bIns="0" rtlCol="0" anchor="t"/>
          <a:lstStyle/>
          <a:p>
            <a:pPr algn="ctr" indent="0" marL="0">
              <a:buNone/>
            </a:pPr>
            <a:r>
              <a:rPr lang="en-US" sz="1000" dirty="0">
                <a:solidFill>
                  <a:srgbClr val="64748B"/>
                </a:solidFill>
                <a:latin typeface="Segoe UI" pitchFamily="34" charset="0"/>
                <a:ea typeface="Segoe UI" pitchFamily="34" charset="-122"/>
                <a:cs typeface="Segoe UI" pitchFamily="34" charset="-120"/>
              </a:rPr>
              <a:t>uses</a:t>
            </a:r>
            <a:endParaRPr lang="en-US" sz="1000" dirty="0"/>
          </a:p>
        </p:txBody>
      </p:sp>
      <p:sp>
        <p:nvSpPr>
          <p:cNvPr id="13" name="Shape 11"/>
          <p:cNvSpPr/>
          <p:nvPr/>
        </p:nvSpPr>
        <p:spPr>
          <a:xfrm>
            <a:off x="3063240" y="1417320"/>
            <a:ext cx="2788920" cy="3017520"/>
          </a:xfrm>
          <a:prstGeom prst="roundRect">
            <a:avLst>
              <a:gd name="adj" fmla="val 2623"/>
            </a:avLst>
          </a:prstGeom>
          <a:solidFill>
            <a:srgbClr val="EFF6FF"/>
          </a:solidFill>
          <a:ln w="12700">
            <a:solidFill>
              <a:srgbClr val="DBEAFE"/>
            </a:solidFill>
            <a:prstDash val="solid"/>
          </a:ln>
        </p:spPr>
      </p:sp>
      <p:sp>
        <p:nvSpPr>
          <p:cNvPr id="14" name="Text 12"/>
          <p:cNvSpPr/>
          <p:nvPr/>
        </p:nvSpPr>
        <p:spPr>
          <a:xfrm>
            <a:off x="3200400" y="1554480"/>
            <a:ext cx="2514600" cy="411480"/>
          </a:xfrm>
          <a:prstGeom prst="rect">
            <a:avLst/>
          </a:prstGeom>
          <a:noFill/>
          <a:ln/>
        </p:spPr>
        <p:txBody>
          <a:bodyPr wrap="square" lIns="0" tIns="0" rIns="0" bIns="0" rtlCol="0" anchor="t"/>
          <a:lstStyle/>
          <a:p>
            <a:pPr algn="ctr" indent="0" marL="0">
              <a:buNone/>
            </a:pPr>
            <a:r>
              <a:rPr lang="en-US" sz="1550" dirty="0">
                <a:solidFill>
                  <a:srgbClr val="0F172A"/>
                </a:solidFill>
                <a:latin typeface="Segoe UI Semibold" pitchFamily="34" charset="0"/>
                <a:ea typeface="Segoe UI Semibold" pitchFamily="34" charset="-122"/>
                <a:cs typeface="Segoe UI Semibold" pitchFamily="34" charset="-120"/>
              </a:rPr>
              <a:t>React + Vite frontend</a:t>
            </a:r>
            <a:endParaRPr lang="en-US" sz="1550" dirty="0"/>
          </a:p>
        </p:txBody>
      </p:sp>
      <p:sp>
        <p:nvSpPr>
          <p:cNvPr id="15" name="Text 13"/>
          <p:cNvSpPr/>
          <p:nvPr/>
        </p:nvSpPr>
        <p:spPr>
          <a:xfrm>
            <a:off x="3227832" y="2057400"/>
            <a:ext cx="2459736" cy="2240280"/>
          </a:xfrm>
          <a:prstGeom prst="rect">
            <a:avLst/>
          </a:prstGeom>
          <a:noFill/>
          <a:ln/>
        </p:spPr>
        <p:txBody>
          <a:bodyPr wrap="square" lIns="0" tIns="0" rIns="0" bIns="0" rtlCol="0" anchor="t"/>
          <a:lstStyle/>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Student Portal</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Prediction · What-If · Tasks</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Teacher Portal</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Analytics · Reports</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Session state (React context): selected demo student, latest results, assignments</a:t>
            </a:r>
            <a:endParaRPr lang="en-US" sz="1250" dirty="0"/>
          </a:p>
        </p:txBody>
      </p:sp>
      <p:sp>
        <p:nvSpPr>
          <p:cNvPr id="16" name="Shape 14"/>
          <p:cNvSpPr/>
          <p:nvPr/>
        </p:nvSpPr>
        <p:spPr>
          <a:xfrm>
            <a:off x="5888736" y="2743200"/>
            <a:ext cx="658368" cy="0"/>
          </a:xfrm>
          <a:prstGeom prst="line">
            <a:avLst/>
          </a:prstGeom>
          <a:noFill/>
          <a:ln w="25400">
            <a:solidFill>
              <a:srgbClr val="2563EB"/>
            </a:solidFill>
            <a:prstDash val="solid"/>
            <a:tailEnd type="triangle"/>
          </a:ln>
        </p:spPr>
      </p:sp>
      <p:sp>
        <p:nvSpPr>
          <p:cNvPr id="17" name="Text 15"/>
          <p:cNvSpPr/>
          <p:nvPr/>
        </p:nvSpPr>
        <p:spPr>
          <a:xfrm>
            <a:off x="5852160" y="2816352"/>
            <a:ext cx="731520" cy="274320"/>
          </a:xfrm>
          <a:prstGeom prst="rect">
            <a:avLst/>
          </a:prstGeom>
          <a:noFill/>
          <a:ln/>
        </p:spPr>
        <p:txBody>
          <a:bodyPr wrap="square" lIns="0" tIns="0" rIns="0" bIns="0" rtlCol="0" anchor="t"/>
          <a:lstStyle/>
          <a:p>
            <a:pPr algn="ctr" indent="0" marL="0">
              <a:buNone/>
            </a:pPr>
            <a:r>
              <a:rPr lang="en-US" sz="1000" dirty="0">
                <a:solidFill>
                  <a:srgbClr val="64748B"/>
                </a:solidFill>
                <a:latin typeface="Segoe UI" pitchFamily="34" charset="0"/>
                <a:ea typeface="Segoe UI" pitchFamily="34" charset="-122"/>
                <a:cs typeface="Segoe UI" pitchFamily="34" charset="-120"/>
              </a:rPr>
              <a:t>HTTP/JSON</a:t>
            </a:r>
            <a:endParaRPr lang="en-US" sz="1000" dirty="0"/>
          </a:p>
        </p:txBody>
      </p:sp>
      <p:sp>
        <p:nvSpPr>
          <p:cNvPr id="18" name="Shape 16"/>
          <p:cNvSpPr/>
          <p:nvPr/>
        </p:nvSpPr>
        <p:spPr>
          <a:xfrm>
            <a:off x="6583680" y="1417320"/>
            <a:ext cx="2240280" cy="3017520"/>
          </a:xfrm>
          <a:prstGeom prst="roundRect">
            <a:avLst>
              <a:gd name="adj" fmla="val 3265"/>
            </a:avLst>
          </a:prstGeom>
          <a:solidFill>
            <a:srgbClr val="EFF6FF"/>
          </a:solidFill>
          <a:ln w="12700">
            <a:solidFill>
              <a:srgbClr val="DBEAFE"/>
            </a:solidFill>
            <a:prstDash val="solid"/>
          </a:ln>
        </p:spPr>
      </p:sp>
      <p:sp>
        <p:nvSpPr>
          <p:cNvPr id="19" name="Text 17"/>
          <p:cNvSpPr/>
          <p:nvPr/>
        </p:nvSpPr>
        <p:spPr>
          <a:xfrm>
            <a:off x="6720840" y="1554480"/>
            <a:ext cx="1965960" cy="411480"/>
          </a:xfrm>
          <a:prstGeom prst="rect">
            <a:avLst/>
          </a:prstGeom>
          <a:noFill/>
          <a:ln/>
        </p:spPr>
        <p:txBody>
          <a:bodyPr wrap="square" lIns="0" tIns="0" rIns="0" bIns="0" rtlCol="0" anchor="t"/>
          <a:lstStyle/>
          <a:p>
            <a:pPr algn="ctr" indent="0" marL="0">
              <a:buNone/>
            </a:pPr>
            <a:r>
              <a:rPr lang="en-US" sz="1550" dirty="0">
                <a:solidFill>
                  <a:srgbClr val="0F172A"/>
                </a:solidFill>
                <a:latin typeface="Segoe UI Semibold" pitchFamily="34" charset="0"/>
                <a:ea typeface="Segoe UI Semibold" pitchFamily="34" charset="-122"/>
                <a:cs typeface="Segoe UI Semibold" pitchFamily="34" charset="-120"/>
              </a:rPr>
              <a:t>Flask REST API</a:t>
            </a:r>
            <a:endParaRPr lang="en-US" sz="1550" dirty="0"/>
          </a:p>
        </p:txBody>
      </p:sp>
      <p:sp>
        <p:nvSpPr>
          <p:cNvPr id="20" name="Text 18"/>
          <p:cNvSpPr/>
          <p:nvPr/>
        </p:nvSpPr>
        <p:spPr>
          <a:xfrm>
            <a:off x="6748272" y="2057400"/>
            <a:ext cx="1911096" cy="2240280"/>
          </a:xfrm>
          <a:prstGeom prst="rect">
            <a:avLst/>
          </a:prstGeom>
          <a:noFill/>
          <a:ln/>
        </p:spPr>
        <p:txBody>
          <a:bodyPr wrap="square" lIns="0" tIns="0" rIns="0" bIns="0" rtlCol="0" anchor="t"/>
          <a:lstStyle/>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GET /  (status)</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POST /predict</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POST /explain</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POST /recommend</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Validates the five input ranges</a:t>
            </a:r>
            <a:endParaRPr lang="en-US" sz="1250" dirty="0"/>
          </a:p>
        </p:txBody>
      </p:sp>
      <p:sp>
        <p:nvSpPr>
          <p:cNvPr id="21" name="Shape 19"/>
          <p:cNvSpPr/>
          <p:nvPr/>
        </p:nvSpPr>
        <p:spPr>
          <a:xfrm>
            <a:off x="8860536" y="2743200"/>
            <a:ext cx="521208" cy="0"/>
          </a:xfrm>
          <a:prstGeom prst="line">
            <a:avLst/>
          </a:prstGeom>
          <a:noFill/>
          <a:ln w="25400">
            <a:solidFill>
              <a:srgbClr val="2563EB"/>
            </a:solidFill>
            <a:prstDash val="solid"/>
            <a:tailEnd type="triangle"/>
          </a:ln>
        </p:spPr>
      </p:sp>
      <p:sp>
        <p:nvSpPr>
          <p:cNvPr id="22" name="Text 20"/>
          <p:cNvSpPr/>
          <p:nvPr/>
        </p:nvSpPr>
        <p:spPr>
          <a:xfrm>
            <a:off x="8823960" y="2816352"/>
            <a:ext cx="594360" cy="274320"/>
          </a:xfrm>
          <a:prstGeom prst="rect">
            <a:avLst/>
          </a:prstGeom>
          <a:noFill/>
          <a:ln/>
        </p:spPr>
        <p:txBody>
          <a:bodyPr wrap="square" lIns="0" tIns="0" rIns="0" bIns="0" rtlCol="0" anchor="t"/>
          <a:lstStyle/>
          <a:p>
            <a:pPr algn="ctr" indent="0" marL="0">
              <a:buNone/>
            </a:pPr>
            <a:r>
              <a:rPr lang="en-US" sz="1000" dirty="0">
                <a:solidFill>
                  <a:srgbClr val="64748B"/>
                </a:solidFill>
                <a:latin typeface="Segoe UI" pitchFamily="34" charset="0"/>
                <a:ea typeface="Segoe UI" pitchFamily="34" charset="-122"/>
                <a:cs typeface="Segoe UI" pitchFamily="34" charset="-120"/>
              </a:rPr>
              <a:t>calls</a:t>
            </a:r>
            <a:endParaRPr lang="en-US" sz="1000" dirty="0"/>
          </a:p>
        </p:txBody>
      </p:sp>
      <p:sp>
        <p:nvSpPr>
          <p:cNvPr id="23" name="Shape 21"/>
          <p:cNvSpPr/>
          <p:nvPr/>
        </p:nvSpPr>
        <p:spPr>
          <a:xfrm>
            <a:off x="9418320" y="1417320"/>
            <a:ext cx="2103120" cy="3017520"/>
          </a:xfrm>
          <a:prstGeom prst="roundRect">
            <a:avLst>
              <a:gd name="adj" fmla="val 3478"/>
            </a:avLst>
          </a:prstGeom>
          <a:solidFill>
            <a:srgbClr val="D1FAE5"/>
          </a:solidFill>
          <a:ln w="12700">
            <a:solidFill>
              <a:srgbClr val="A7F3D0"/>
            </a:solidFill>
            <a:prstDash val="solid"/>
          </a:ln>
        </p:spPr>
      </p:sp>
      <p:sp>
        <p:nvSpPr>
          <p:cNvPr id="24" name="Text 22"/>
          <p:cNvSpPr/>
          <p:nvPr/>
        </p:nvSpPr>
        <p:spPr>
          <a:xfrm>
            <a:off x="9555480" y="1554480"/>
            <a:ext cx="1828800" cy="411480"/>
          </a:xfrm>
          <a:prstGeom prst="rect">
            <a:avLst/>
          </a:prstGeom>
          <a:noFill/>
          <a:ln/>
        </p:spPr>
        <p:txBody>
          <a:bodyPr wrap="square" lIns="0" tIns="0" rIns="0" bIns="0" rtlCol="0" anchor="t"/>
          <a:lstStyle/>
          <a:p>
            <a:pPr algn="ctr" indent="0" marL="0">
              <a:buNone/>
            </a:pPr>
            <a:r>
              <a:rPr lang="en-US" sz="1550" dirty="0">
                <a:solidFill>
                  <a:srgbClr val="0F172A"/>
                </a:solidFill>
                <a:latin typeface="Segoe UI Semibold" pitchFamily="34" charset="0"/>
                <a:ea typeface="Segoe UI Semibold" pitchFamily="34" charset="-122"/>
                <a:cs typeface="Segoe UI Semibold" pitchFamily="34" charset="-120"/>
              </a:rPr>
              <a:t>Model and rules</a:t>
            </a:r>
            <a:endParaRPr lang="en-US" sz="1550" dirty="0"/>
          </a:p>
        </p:txBody>
      </p:sp>
      <p:sp>
        <p:nvSpPr>
          <p:cNvPr id="25" name="Text 23"/>
          <p:cNvSpPr/>
          <p:nvPr/>
        </p:nvSpPr>
        <p:spPr>
          <a:xfrm>
            <a:off x="9582912" y="2057400"/>
            <a:ext cx="1773936" cy="2240280"/>
          </a:xfrm>
          <a:prstGeom prst="rect">
            <a:avLst/>
          </a:prstGeom>
          <a:noFill/>
          <a:ln/>
        </p:spPr>
        <p:txBody>
          <a:bodyPr wrap="square" lIns="0" tIns="0" rIns="0" bIns="0" rtlCol="0" anchor="t"/>
          <a:lstStyle/>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scikit-learn pipeline: StandardScaler → LinearRegression (.pkl)</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SHAP explainer</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Early-warning rules</a:t>
            </a:r>
            <a:endParaRPr lang="en-US" sz="1250" dirty="0"/>
          </a:p>
          <a:p>
            <a:pPr algn="ctr" indent="0" marL="0">
              <a:spcAft>
                <a:spcPts val="600"/>
              </a:spcAft>
              <a:buNone/>
            </a:pPr>
            <a:r>
              <a:rPr lang="en-US" sz="1250" dirty="0">
                <a:solidFill>
                  <a:srgbClr val="334155"/>
                </a:solidFill>
                <a:latin typeface="Segoe UI" pitchFamily="34" charset="0"/>
                <a:ea typeface="Segoe UI" pitchFamily="34" charset="-122"/>
                <a:cs typeface="Segoe UI" pitchFamily="34" charset="-120"/>
              </a:rPr>
              <a:t>Recommendation rules</a:t>
            </a:r>
            <a:endParaRPr lang="en-US" sz="1250" dirty="0"/>
          </a:p>
        </p:txBody>
      </p:sp>
      <p:sp>
        <p:nvSpPr>
          <p:cNvPr id="26" name="Shape 24"/>
          <p:cNvSpPr/>
          <p:nvPr/>
        </p:nvSpPr>
        <p:spPr>
          <a:xfrm>
            <a:off x="502920" y="4663440"/>
            <a:ext cx="2480310" cy="658368"/>
          </a:xfrm>
          <a:prstGeom prst="roundRect">
            <a:avLst>
              <a:gd name="adj" fmla="val 11111"/>
            </a:avLst>
          </a:prstGeom>
          <a:solidFill>
            <a:srgbClr val="EFF6FF"/>
          </a:solidFill>
          <a:ln w="12700">
            <a:solidFill>
              <a:srgbClr val="DBEAFE"/>
            </a:solidFill>
            <a:prstDash val="solid"/>
          </a:ln>
        </p:spPr>
      </p:sp>
      <p:sp>
        <p:nvSpPr>
          <p:cNvPr id="27" name="Text 25"/>
          <p:cNvSpPr/>
          <p:nvPr/>
        </p:nvSpPr>
        <p:spPr>
          <a:xfrm>
            <a:off x="576072" y="4773168"/>
            <a:ext cx="2334006" cy="457200"/>
          </a:xfrm>
          <a:prstGeom prst="rect">
            <a:avLst/>
          </a:prstGeom>
          <a:noFill/>
          <a:ln/>
        </p:spPr>
        <p:txBody>
          <a:bodyPr wrap="square" lIns="0" tIns="0" rIns="0" bIns="0" rtlCol="0" anchor="ctr"/>
          <a:lstStyle/>
          <a:p>
            <a:pPr algn="ctr" indent="0" marL="0">
              <a:buNone/>
            </a:pPr>
            <a:r>
              <a:rPr lang="en-US" sz="1350" dirty="0">
                <a:solidFill>
                  <a:srgbClr val="0F172A"/>
                </a:solidFill>
                <a:latin typeface="Segoe UI Semibold" pitchFamily="34" charset="0"/>
                <a:ea typeface="Segoe UI Semibold" pitchFamily="34" charset="-122"/>
                <a:cs typeface="Segoe UI Semibold" pitchFamily="34" charset="-120"/>
              </a:rPr>
              <a:t>Prediction</a:t>
            </a:r>
            <a:endParaRPr lang="en-US" sz="1350" dirty="0"/>
          </a:p>
        </p:txBody>
      </p:sp>
      <p:sp>
        <p:nvSpPr>
          <p:cNvPr id="28" name="Shape 26"/>
          <p:cNvSpPr/>
          <p:nvPr/>
        </p:nvSpPr>
        <p:spPr>
          <a:xfrm>
            <a:off x="3019806" y="4992624"/>
            <a:ext cx="292608" cy="0"/>
          </a:xfrm>
          <a:prstGeom prst="line">
            <a:avLst/>
          </a:prstGeom>
          <a:noFill/>
          <a:ln w="25400">
            <a:solidFill>
              <a:srgbClr val="2563EB"/>
            </a:solidFill>
            <a:prstDash val="solid"/>
            <a:tailEnd type="triangle"/>
          </a:ln>
        </p:spPr>
      </p:sp>
      <p:sp>
        <p:nvSpPr>
          <p:cNvPr id="29" name="Shape 27"/>
          <p:cNvSpPr/>
          <p:nvPr/>
        </p:nvSpPr>
        <p:spPr>
          <a:xfrm>
            <a:off x="3348990" y="4663440"/>
            <a:ext cx="2480310" cy="658368"/>
          </a:xfrm>
          <a:prstGeom prst="roundRect">
            <a:avLst>
              <a:gd name="adj" fmla="val 11111"/>
            </a:avLst>
          </a:prstGeom>
          <a:solidFill>
            <a:srgbClr val="EFF6FF"/>
          </a:solidFill>
          <a:ln w="12700">
            <a:solidFill>
              <a:srgbClr val="DBEAFE"/>
            </a:solidFill>
            <a:prstDash val="solid"/>
          </a:ln>
        </p:spPr>
      </p:sp>
      <p:sp>
        <p:nvSpPr>
          <p:cNvPr id="30" name="Text 28"/>
          <p:cNvSpPr/>
          <p:nvPr/>
        </p:nvSpPr>
        <p:spPr>
          <a:xfrm>
            <a:off x="3422142" y="4773168"/>
            <a:ext cx="2334006" cy="457200"/>
          </a:xfrm>
          <a:prstGeom prst="rect">
            <a:avLst/>
          </a:prstGeom>
          <a:noFill/>
          <a:ln/>
        </p:spPr>
        <p:txBody>
          <a:bodyPr wrap="square" lIns="0" tIns="0" rIns="0" bIns="0" rtlCol="0" anchor="ctr"/>
          <a:lstStyle/>
          <a:p>
            <a:pPr algn="ctr" indent="0" marL="0">
              <a:buNone/>
            </a:pPr>
            <a:r>
              <a:rPr lang="en-US" sz="1350" dirty="0">
                <a:solidFill>
                  <a:srgbClr val="0F172A"/>
                </a:solidFill>
                <a:latin typeface="Segoe UI Semibold" pitchFamily="34" charset="0"/>
                <a:ea typeface="Segoe UI Semibold" pitchFamily="34" charset="-122"/>
                <a:cs typeface="Segoe UI Semibold" pitchFamily="34" charset="-120"/>
              </a:rPr>
              <a:t>SHAP contributions</a:t>
            </a:r>
            <a:endParaRPr lang="en-US" sz="1350" dirty="0"/>
          </a:p>
        </p:txBody>
      </p:sp>
      <p:sp>
        <p:nvSpPr>
          <p:cNvPr id="31" name="Shape 29"/>
          <p:cNvSpPr/>
          <p:nvPr/>
        </p:nvSpPr>
        <p:spPr>
          <a:xfrm>
            <a:off x="5865876" y="4992624"/>
            <a:ext cx="292608" cy="0"/>
          </a:xfrm>
          <a:prstGeom prst="line">
            <a:avLst/>
          </a:prstGeom>
          <a:noFill/>
          <a:ln w="25400">
            <a:solidFill>
              <a:srgbClr val="2563EB"/>
            </a:solidFill>
            <a:prstDash val="solid"/>
            <a:tailEnd type="triangle"/>
          </a:ln>
        </p:spPr>
      </p:sp>
      <p:sp>
        <p:nvSpPr>
          <p:cNvPr id="32" name="Shape 30"/>
          <p:cNvSpPr/>
          <p:nvPr/>
        </p:nvSpPr>
        <p:spPr>
          <a:xfrm>
            <a:off x="6195060" y="4663440"/>
            <a:ext cx="2480310" cy="658368"/>
          </a:xfrm>
          <a:prstGeom prst="roundRect">
            <a:avLst>
              <a:gd name="adj" fmla="val 11111"/>
            </a:avLst>
          </a:prstGeom>
          <a:solidFill>
            <a:srgbClr val="EFF6FF"/>
          </a:solidFill>
          <a:ln w="12700">
            <a:solidFill>
              <a:srgbClr val="DBEAFE"/>
            </a:solidFill>
            <a:prstDash val="solid"/>
          </a:ln>
        </p:spPr>
      </p:sp>
      <p:sp>
        <p:nvSpPr>
          <p:cNvPr id="33" name="Text 31"/>
          <p:cNvSpPr/>
          <p:nvPr/>
        </p:nvSpPr>
        <p:spPr>
          <a:xfrm>
            <a:off x="6268212" y="4773168"/>
            <a:ext cx="2334006" cy="457200"/>
          </a:xfrm>
          <a:prstGeom prst="rect">
            <a:avLst/>
          </a:prstGeom>
          <a:noFill/>
          <a:ln/>
        </p:spPr>
        <p:txBody>
          <a:bodyPr wrap="square" lIns="0" tIns="0" rIns="0" bIns="0" rtlCol="0" anchor="ctr"/>
          <a:lstStyle/>
          <a:p>
            <a:pPr algn="ctr" indent="0" marL="0">
              <a:buNone/>
            </a:pPr>
            <a:r>
              <a:rPr lang="en-US" sz="1350" dirty="0">
                <a:solidFill>
                  <a:srgbClr val="0F172A"/>
                </a:solidFill>
                <a:latin typeface="Segoe UI Semibold" pitchFamily="34" charset="0"/>
                <a:ea typeface="Segoe UI Semibold" pitchFamily="34" charset="-122"/>
                <a:cs typeface="Segoe UI Semibold" pitchFamily="34" charset="-120"/>
              </a:rPr>
              <a:t>Recommendation rules</a:t>
            </a:r>
            <a:endParaRPr lang="en-US" sz="1350" dirty="0"/>
          </a:p>
        </p:txBody>
      </p:sp>
      <p:sp>
        <p:nvSpPr>
          <p:cNvPr id="34" name="Shape 32"/>
          <p:cNvSpPr/>
          <p:nvPr/>
        </p:nvSpPr>
        <p:spPr>
          <a:xfrm>
            <a:off x="8711946" y="4992624"/>
            <a:ext cx="292608" cy="0"/>
          </a:xfrm>
          <a:prstGeom prst="line">
            <a:avLst/>
          </a:prstGeom>
          <a:noFill/>
          <a:ln w="25400">
            <a:solidFill>
              <a:srgbClr val="2563EB"/>
            </a:solidFill>
            <a:prstDash val="solid"/>
            <a:tailEnd type="triangle"/>
          </a:ln>
        </p:spPr>
      </p:sp>
      <p:sp>
        <p:nvSpPr>
          <p:cNvPr id="35" name="Shape 33"/>
          <p:cNvSpPr/>
          <p:nvPr/>
        </p:nvSpPr>
        <p:spPr>
          <a:xfrm>
            <a:off x="9041130" y="4663440"/>
            <a:ext cx="2480310" cy="658368"/>
          </a:xfrm>
          <a:prstGeom prst="roundRect">
            <a:avLst>
              <a:gd name="adj" fmla="val 11111"/>
            </a:avLst>
          </a:prstGeom>
          <a:solidFill>
            <a:srgbClr val="F0FDF4"/>
          </a:solidFill>
          <a:ln w="12700">
            <a:solidFill>
              <a:srgbClr val="BBF7D0"/>
            </a:solidFill>
            <a:prstDash val="solid"/>
          </a:ln>
        </p:spPr>
      </p:sp>
      <p:sp>
        <p:nvSpPr>
          <p:cNvPr id="36" name="Text 34"/>
          <p:cNvSpPr/>
          <p:nvPr/>
        </p:nvSpPr>
        <p:spPr>
          <a:xfrm>
            <a:off x="9114282" y="4773168"/>
            <a:ext cx="2334006" cy="457200"/>
          </a:xfrm>
          <a:prstGeom prst="rect">
            <a:avLst/>
          </a:prstGeom>
          <a:noFill/>
          <a:ln/>
        </p:spPr>
        <p:txBody>
          <a:bodyPr wrap="square" lIns="0" tIns="0" rIns="0" bIns="0" rtlCol="0" anchor="ctr"/>
          <a:lstStyle/>
          <a:p>
            <a:pPr algn="ctr" indent="0" marL="0">
              <a:buNone/>
            </a:pPr>
            <a:r>
              <a:rPr lang="en-US" sz="1350" dirty="0">
                <a:solidFill>
                  <a:srgbClr val="0F172A"/>
                </a:solidFill>
                <a:latin typeface="Segoe UI Semibold" pitchFamily="34" charset="0"/>
                <a:ea typeface="Segoe UI Semibold" pitchFamily="34" charset="-122"/>
                <a:cs typeface="Segoe UI Semibold" pitchFamily="34" charset="-120"/>
              </a:rPr>
              <a:t>Teacher intervention / report</a:t>
            </a:r>
            <a:endParaRPr lang="en-US" sz="1350" dirty="0"/>
          </a:p>
        </p:txBody>
      </p:sp>
      <p:sp>
        <p:nvSpPr>
          <p:cNvPr id="37" name="Shape 35"/>
          <p:cNvSpPr/>
          <p:nvPr/>
        </p:nvSpPr>
        <p:spPr>
          <a:xfrm>
            <a:off x="502920" y="5532120"/>
            <a:ext cx="11018520" cy="731520"/>
          </a:xfrm>
          <a:prstGeom prst="roundRect">
            <a:avLst>
              <a:gd name="adj" fmla="val 10000"/>
            </a:avLst>
          </a:prstGeom>
          <a:solidFill>
            <a:srgbClr val="FEF3C7"/>
          </a:solidFill>
          <a:ln w="12700">
            <a:solidFill>
              <a:srgbClr val="FDE68A"/>
            </a:solidFill>
            <a:prstDash val="solid"/>
          </a:ln>
        </p:spPr>
      </p:sp>
      <p:sp>
        <p:nvSpPr>
          <p:cNvPr id="38" name="Text 36"/>
          <p:cNvSpPr/>
          <p:nvPr/>
        </p:nvSpPr>
        <p:spPr>
          <a:xfrm>
            <a:off x="685800" y="5577840"/>
            <a:ext cx="10698480" cy="640080"/>
          </a:xfrm>
          <a:prstGeom prst="rect">
            <a:avLst/>
          </a:prstGeom>
          <a:noFill/>
          <a:ln/>
        </p:spPr>
        <p:txBody>
          <a:bodyPr wrap="square" lIns="0" tIns="0" rIns="0" bIns="0" rtlCol="0" anchor="ctr"/>
          <a:lstStyle/>
          <a:p>
            <a:pPr indent="0" marL="0">
              <a:buNone/>
            </a:pPr>
            <a:r>
              <a:rPr lang="en-US" sz="1300" dirty="0">
                <a:solidFill>
                  <a:srgbClr val="78350F"/>
                </a:solidFill>
                <a:latin typeface="Segoe UI" pitchFamily="34" charset="0"/>
                <a:ea typeface="Segoe UI" pitchFamily="34" charset="-122"/>
                <a:cs typeface="Segoe UI" pitchFamily="34" charset="-120"/>
              </a:rPr>
              <a:t>No database in the current implementation. Prediction results and intervention assignments for the five demo students are held in browser session state for the demonstration.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DATASET AND FEATURES</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Model training and evaluation data</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6 / 21</a:t>
            </a:r>
            <a:endParaRPr lang="en-US" sz="1000" dirty="0"/>
          </a:p>
        </p:txBody>
      </p:sp>
      <p:sp>
        <p:nvSpPr>
          <p:cNvPr id="8" name="Shape 6"/>
          <p:cNvSpPr/>
          <p:nvPr/>
        </p:nvSpPr>
        <p:spPr>
          <a:xfrm>
            <a:off x="502920" y="1325880"/>
            <a:ext cx="4754880" cy="292608"/>
          </a:xfrm>
          <a:prstGeom prst="roundRect">
            <a:avLst>
              <a:gd name="adj" fmla="val 50000"/>
            </a:avLst>
          </a:prstGeom>
          <a:solidFill>
            <a:srgbClr val="DBEAFE"/>
          </a:solidFill>
          <a:ln w="12700">
            <a:solidFill>
              <a:srgbClr val="DBEAFE"/>
            </a:solidFill>
            <a:prstDash val="solid"/>
          </a:ln>
        </p:spPr>
      </p:sp>
      <p:sp>
        <p:nvSpPr>
          <p:cNvPr id="9" name="Text 7"/>
          <p:cNvSpPr/>
          <p:nvPr/>
        </p:nvSpPr>
        <p:spPr>
          <a:xfrm>
            <a:off x="502920" y="1325880"/>
            <a:ext cx="4754880" cy="292608"/>
          </a:xfrm>
          <a:prstGeom prst="rect">
            <a:avLst/>
          </a:prstGeom>
          <a:noFill/>
          <a:ln/>
        </p:spPr>
        <p:txBody>
          <a:bodyPr wrap="square" lIns="0" tIns="0" rIns="0" bIns="0" rtlCol="0" anchor="ctr"/>
          <a:lstStyle/>
          <a:p>
            <a:pPr algn="ctr" indent="0" marL="0">
              <a:buNone/>
            </a:pPr>
            <a:r>
              <a:rPr lang="en-US" sz="1100" dirty="0">
                <a:solidFill>
                  <a:srgbClr val="2563EB"/>
                </a:solidFill>
                <a:latin typeface="Segoe UI Semibold" pitchFamily="34" charset="0"/>
                <a:ea typeface="Segoe UI Semibold" pitchFamily="34" charset="-122"/>
                <a:cs typeface="Segoe UI Semibold" pitchFamily="34" charset="-120"/>
              </a:rPr>
              <a:t>TRAINING / EVALUATION DATA — not the demo students</a:t>
            </a:r>
            <a:endParaRPr lang="en-US" sz="1100" dirty="0"/>
          </a:p>
        </p:txBody>
      </p:sp>
      <p:sp>
        <p:nvSpPr>
          <p:cNvPr id="10" name="Shape 8"/>
          <p:cNvSpPr/>
          <p:nvPr/>
        </p:nvSpPr>
        <p:spPr>
          <a:xfrm>
            <a:off x="502920" y="1828800"/>
            <a:ext cx="3291840" cy="1024128"/>
          </a:xfrm>
          <a:prstGeom prst="roundRect">
            <a:avLst>
              <a:gd name="adj" fmla="val 7143"/>
            </a:avLst>
          </a:prstGeom>
          <a:solidFill>
            <a:srgbClr val="EFF6FF"/>
          </a:solidFill>
          <a:ln w="12700">
            <a:solidFill>
              <a:srgbClr val="DBEAFE"/>
            </a:solidFill>
            <a:prstDash val="solid"/>
          </a:ln>
        </p:spPr>
      </p:sp>
      <p:sp>
        <p:nvSpPr>
          <p:cNvPr id="11" name="Text 9"/>
          <p:cNvSpPr/>
          <p:nvPr/>
        </p:nvSpPr>
        <p:spPr>
          <a:xfrm>
            <a:off x="731520" y="1920240"/>
            <a:ext cx="2926080" cy="502920"/>
          </a:xfrm>
          <a:prstGeom prst="rect">
            <a:avLst/>
          </a:prstGeom>
          <a:noFill/>
          <a:ln/>
        </p:spPr>
        <p:txBody>
          <a:bodyPr wrap="square" lIns="0" tIns="0" rIns="0" bIns="0" rtlCol="0" anchor="t"/>
          <a:lstStyle/>
          <a:p>
            <a:pPr indent="0" marL="0">
              <a:buNone/>
            </a:pPr>
            <a:r>
              <a:rPr lang="en-US" sz="2800" dirty="0">
                <a:solidFill>
                  <a:srgbClr val="2563EB"/>
                </a:solidFill>
                <a:latin typeface="Segoe UI Semibold" pitchFamily="34" charset="0"/>
                <a:ea typeface="Segoe UI Semibold" pitchFamily="34" charset="-122"/>
                <a:cs typeface="Segoe UI Semibold" pitchFamily="34" charset="-120"/>
              </a:rPr>
              <a:t>2,000</a:t>
            </a:r>
            <a:endParaRPr lang="en-US" sz="2800" dirty="0"/>
          </a:p>
        </p:txBody>
      </p:sp>
      <p:sp>
        <p:nvSpPr>
          <p:cNvPr id="12" name="Text 10"/>
          <p:cNvSpPr/>
          <p:nvPr/>
        </p:nvSpPr>
        <p:spPr>
          <a:xfrm>
            <a:off x="731520" y="2423160"/>
            <a:ext cx="2926080"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student records</a:t>
            </a:r>
            <a:endParaRPr lang="en-US" sz="1300" dirty="0"/>
          </a:p>
        </p:txBody>
      </p:sp>
      <p:sp>
        <p:nvSpPr>
          <p:cNvPr id="13" name="Shape 11"/>
          <p:cNvSpPr/>
          <p:nvPr/>
        </p:nvSpPr>
        <p:spPr>
          <a:xfrm>
            <a:off x="502920" y="3017520"/>
            <a:ext cx="3291840" cy="1024128"/>
          </a:xfrm>
          <a:prstGeom prst="roundRect">
            <a:avLst>
              <a:gd name="adj" fmla="val 7143"/>
            </a:avLst>
          </a:prstGeom>
          <a:solidFill>
            <a:srgbClr val="EFF6FF"/>
          </a:solidFill>
          <a:ln w="12700">
            <a:solidFill>
              <a:srgbClr val="DBEAFE"/>
            </a:solidFill>
            <a:prstDash val="solid"/>
          </a:ln>
        </p:spPr>
      </p:sp>
      <p:sp>
        <p:nvSpPr>
          <p:cNvPr id="14" name="Text 12"/>
          <p:cNvSpPr/>
          <p:nvPr/>
        </p:nvSpPr>
        <p:spPr>
          <a:xfrm>
            <a:off x="731520" y="3108960"/>
            <a:ext cx="2926080" cy="502920"/>
          </a:xfrm>
          <a:prstGeom prst="rect">
            <a:avLst/>
          </a:prstGeom>
          <a:noFill/>
          <a:ln/>
        </p:spPr>
        <p:txBody>
          <a:bodyPr wrap="square" lIns="0" tIns="0" rIns="0" bIns="0" rtlCol="0" anchor="t"/>
          <a:lstStyle/>
          <a:p>
            <a:pPr indent="0" marL="0">
              <a:buNone/>
            </a:pPr>
            <a:r>
              <a:rPr lang="en-US" sz="2800" dirty="0">
                <a:solidFill>
                  <a:srgbClr val="2563EB"/>
                </a:solidFill>
                <a:latin typeface="Segoe UI Semibold" pitchFamily="34" charset="0"/>
                <a:ea typeface="Segoe UI Semibold" pitchFamily="34" charset="-122"/>
                <a:cs typeface="Segoe UI Semibold" pitchFamily="34" charset="-120"/>
              </a:rPr>
              <a:t>5</a:t>
            </a:r>
            <a:endParaRPr lang="en-US" sz="2800" dirty="0"/>
          </a:p>
        </p:txBody>
      </p:sp>
      <p:sp>
        <p:nvSpPr>
          <p:cNvPr id="15" name="Text 13"/>
          <p:cNvSpPr/>
          <p:nvPr/>
        </p:nvSpPr>
        <p:spPr>
          <a:xfrm>
            <a:off x="731520" y="3611880"/>
            <a:ext cx="2926080"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input features</a:t>
            </a:r>
            <a:endParaRPr lang="en-US" sz="1300" dirty="0"/>
          </a:p>
        </p:txBody>
      </p:sp>
      <p:sp>
        <p:nvSpPr>
          <p:cNvPr id="16" name="Shape 14"/>
          <p:cNvSpPr/>
          <p:nvPr/>
        </p:nvSpPr>
        <p:spPr>
          <a:xfrm>
            <a:off x="502920" y="4206240"/>
            <a:ext cx="3291840" cy="1024128"/>
          </a:xfrm>
          <a:prstGeom prst="roundRect">
            <a:avLst>
              <a:gd name="adj" fmla="val 7143"/>
            </a:avLst>
          </a:prstGeom>
          <a:solidFill>
            <a:srgbClr val="EFF6FF"/>
          </a:solidFill>
          <a:ln w="12700">
            <a:solidFill>
              <a:srgbClr val="DBEAFE"/>
            </a:solidFill>
            <a:prstDash val="solid"/>
          </a:ln>
        </p:spPr>
      </p:sp>
      <p:sp>
        <p:nvSpPr>
          <p:cNvPr id="17" name="Text 15"/>
          <p:cNvSpPr/>
          <p:nvPr/>
        </p:nvSpPr>
        <p:spPr>
          <a:xfrm>
            <a:off x="731520" y="4297680"/>
            <a:ext cx="2926080" cy="502920"/>
          </a:xfrm>
          <a:prstGeom prst="rect">
            <a:avLst/>
          </a:prstGeom>
          <a:noFill/>
          <a:ln/>
        </p:spPr>
        <p:txBody>
          <a:bodyPr wrap="square" lIns="0" tIns="0" rIns="0" bIns="0" rtlCol="0" anchor="t"/>
          <a:lstStyle/>
          <a:p>
            <a:pPr indent="0" marL="0">
              <a:buNone/>
            </a:pPr>
            <a:r>
              <a:rPr lang="en-US" sz="2800" dirty="0">
                <a:solidFill>
                  <a:srgbClr val="2563EB"/>
                </a:solidFill>
                <a:latin typeface="Segoe UI Semibold" pitchFamily="34" charset="0"/>
                <a:ea typeface="Segoe UI Semibold" pitchFamily="34" charset="-122"/>
                <a:cs typeface="Segoe UI Semibold" pitchFamily="34" charset="-120"/>
              </a:rPr>
              <a:t>1</a:t>
            </a:r>
            <a:endParaRPr lang="en-US" sz="2800" dirty="0"/>
          </a:p>
        </p:txBody>
      </p:sp>
      <p:sp>
        <p:nvSpPr>
          <p:cNvPr id="18" name="Text 16"/>
          <p:cNvSpPr/>
          <p:nvPr/>
        </p:nvSpPr>
        <p:spPr>
          <a:xfrm>
            <a:off x="731520" y="4800600"/>
            <a:ext cx="2926080" cy="32004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target: Final Exam Marks (/100)</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0" y="1828800"/>
          <a:ext cx="7406640" cy="914400"/>
        </p:xfrm>
        <a:graphic>
          <a:graphicData uri="http://schemas.openxmlformats.org/drawingml/2006/table">
            <a:tbl>
              <a:tblPr/>
              <a:tblGrid>
                <a:gridCol w="2377440"/>
                <a:gridCol w="3566160"/>
                <a:gridCol w="1463040"/>
              </a:tblGrid>
              <a:tr h="475488">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Feature</a:t>
                      </a:r>
                      <a:endParaRPr lang="en-US" sz="14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Meaning</a:t>
                      </a:r>
                      <a:endParaRPr lang="en-US" sz="14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400" b="1" dirty="0">
                          <a:solidFill>
                            <a:srgbClr val="FFFFFF"/>
                          </a:solidFill>
                          <a:latin typeface="Segoe UI Semibold" pitchFamily="34" charset="0"/>
                          <a:ea typeface="Segoe UI Semibold" pitchFamily="34" charset="-122"/>
                          <a:cs typeface="Segoe UI Semibold" pitchFamily="34" charset="-120"/>
                        </a:rPr>
                        <a:t>Range in data</a:t>
                      </a:r>
                      <a:endParaRPr lang="en-US" sz="14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475488">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Attendance (%)</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Share of classes attended</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52 – 100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Internal Test 1</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First internal test, out of 40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18 – 40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Internal Test 2</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Second internal test, out of 40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16 – 40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Assignment Score</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Assignment marks, out of 10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4 – 10</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Daily Study Hours</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Self-reported daily study time</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dirty="0">
                          <a:solidFill>
                            <a:srgbClr val="334155"/>
                          </a:solidFill>
                          <a:latin typeface="Segoe UI" pitchFamily="34" charset="0"/>
                          <a:ea typeface="Segoe UI" pitchFamily="34" charset="-122"/>
                          <a:cs typeface="Segoe UI" pitchFamily="34" charset="-120"/>
                        </a:rPr>
                        <a:t>1 – 5</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400" b="1" dirty="0">
                          <a:solidFill>
                            <a:srgbClr val="334155"/>
                          </a:solidFill>
                          <a:latin typeface="Segoe UI" pitchFamily="34" charset="0"/>
                          <a:ea typeface="Segoe UI" pitchFamily="34" charset="-122"/>
                          <a:cs typeface="Segoe UI" pitchFamily="34" charset="-120"/>
                        </a:rPr>
                        <a:t>Target: Final Exam Marks</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b="1" dirty="0">
                          <a:solidFill>
                            <a:srgbClr val="334155"/>
                          </a:solidFill>
                          <a:latin typeface="Segoe UI" pitchFamily="34" charset="0"/>
                          <a:ea typeface="Segoe UI" pitchFamily="34" charset="-122"/>
                          <a:cs typeface="Segoe UI" pitchFamily="34" charset="-120"/>
                        </a:rPr>
                        <a:t>Final-exam result, out of 100 (25–100 in data)</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400" b="1" dirty="0">
                          <a:solidFill>
                            <a:srgbClr val="334155"/>
                          </a:solidFill>
                          <a:latin typeface="Segoe UI" pitchFamily="34" charset="0"/>
                          <a:ea typeface="Segoe UI" pitchFamily="34" charset="-122"/>
                          <a:cs typeface="Segoe UI" pitchFamily="34" charset="-120"/>
                        </a:rPr>
                        <a:t>predicted</a:t>
                      </a:r>
                      <a:endParaRPr lang="en-US" sz="14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20" name="Shape 17"/>
          <p:cNvSpPr/>
          <p:nvPr/>
        </p:nvSpPr>
        <p:spPr>
          <a:xfrm>
            <a:off x="4114800" y="5349240"/>
            <a:ext cx="7406640" cy="868680"/>
          </a:xfrm>
          <a:prstGeom prst="roundRect">
            <a:avLst>
              <a:gd name="adj" fmla="val 8421"/>
            </a:avLst>
          </a:prstGeom>
          <a:solidFill>
            <a:srgbClr val="FEF3C7"/>
          </a:solidFill>
          <a:ln w="12700">
            <a:solidFill>
              <a:srgbClr val="FDE68A"/>
            </a:solidFill>
            <a:prstDash val="solid"/>
          </a:ln>
        </p:spPr>
      </p:sp>
      <p:sp>
        <p:nvSpPr>
          <p:cNvPr id="21" name="Text 18"/>
          <p:cNvSpPr/>
          <p:nvPr/>
        </p:nvSpPr>
        <p:spPr>
          <a:xfrm>
            <a:off x="4297680" y="5422392"/>
            <a:ext cx="7040880" cy="731520"/>
          </a:xfrm>
          <a:prstGeom prst="rect">
            <a:avLst/>
          </a:prstGeom>
          <a:noFill/>
          <a:ln/>
        </p:spPr>
        <p:txBody>
          <a:bodyPr wrap="square" lIns="0" tIns="0" rIns="0" bIns="0" rtlCol="0" anchor="ctr"/>
          <a:lstStyle/>
          <a:p>
            <a:pPr indent="0" marL="0">
              <a:buNone/>
            </a:pPr>
            <a:r>
              <a:rPr lang="en-US" sz="1250" dirty="0">
                <a:solidFill>
                  <a:srgbClr val="78350F"/>
                </a:solidFill>
                <a:latin typeface="Segoe UI" pitchFamily="34" charset="0"/>
                <a:ea typeface="Segoe UI" pitchFamily="34" charset="-122"/>
                <a:cs typeface="Segoe UI" pitchFamily="34" charset="-120"/>
              </a:rPr>
              <a:t>The web application does not use these records. Its live demo uses five predefined demonstration profiles, whose inputs stay inside the same ranges (the API rejects values outside them).</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MACHINE-LEARNING METHODOLOGY</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How the model was built and validated</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7 / 21</a:t>
            </a:r>
            <a:endParaRPr lang="en-US" sz="1000" dirty="0"/>
          </a:p>
        </p:txBody>
      </p:sp>
      <p:sp>
        <p:nvSpPr>
          <p:cNvPr id="8" name="Shape 6"/>
          <p:cNvSpPr/>
          <p:nvPr/>
        </p:nvSpPr>
        <p:spPr>
          <a:xfrm>
            <a:off x="502920" y="1463040"/>
            <a:ext cx="1623060" cy="1965960"/>
          </a:xfrm>
          <a:prstGeom prst="roundRect">
            <a:avLst>
              <a:gd name="adj" fmla="val 4507"/>
            </a:avLst>
          </a:prstGeom>
          <a:solidFill>
            <a:srgbClr val="EFF6FF"/>
          </a:solidFill>
          <a:ln w="12700">
            <a:solidFill>
              <a:srgbClr val="DBEAFE"/>
            </a:solidFill>
            <a:prstDash val="solid"/>
          </a:ln>
        </p:spPr>
      </p:sp>
      <p:sp>
        <p:nvSpPr>
          <p:cNvPr id="9" name="Shape 7"/>
          <p:cNvSpPr/>
          <p:nvPr/>
        </p:nvSpPr>
        <p:spPr>
          <a:xfrm>
            <a:off x="1159002" y="1591056"/>
            <a:ext cx="310896" cy="310896"/>
          </a:xfrm>
          <a:prstGeom prst="ellipse">
            <a:avLst/>
          </a:prstGeom>
          <a:solidFill>
            <a:srgbClr val="2563EB"/>
          </a:solidFill>
          <a:ln w="12700">
            <a:solidFill>
              <a:srgbClr val="2563EB"/>
            </a:solidFill>
            <a:prstDash val="solid"/>
          </a:ln>
        </p:spPr>
      </p:sp>
      <p:sp>
        <p:nvSpPr>
          <p:cNvPr id="10" name="Text 8"/>
          <p:cNvSpPr/>
          <p:nvPr/>
        </p:nvSpPr>
        <p:spPr>
          <a:xfrm>
            <a:off x="1159002"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1" name="Text 9"/>
          <p:cNvSpPr/>
          <p:nvPr/>
        </p:nvSpPr>
        <p:spPr>
          <a:xfrm>
            <a:off x="576072"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Data preparation</a:t>
            </a:r>
            <a:endParaRPr lang="en-US" sz="1300" dirty="0"/>
          </a:p>
        </p:txBody>
      </p:sp>
      <p:sp>
        <p:nvSpPr>
          <p:cNvPr id="12" name="Text 10"/>
          <p:cNvSpPr/>
          <p:nvPr/>
        </p:nvSpPr>
        <p:spPr>
          <a:xfrm>
            <a:off x="576072"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Load CSV, 5 features + target, no missing values</a:t>
            </a:r>
            <a:endParaRPr lang="en-US" sz="1100" dirty="0"/>
          </a:p>
        </p:txBody>
      </p:sp>
      <p:sp>
        <p:nvSpPr>
          <p:cNvPr id="13" name="Shape 11"/>
          <p:cNvSpPr/>
          <p:nvPr/>
        </p:nvSpPr>
        <p:spPr>
          <a:xfrm>
            <a:off x="2162556" y="2446020"/>
            <a:ext cx="182880" cy="0"/>
          </a:xfrm>
          <a:prstGeom prst="line">
            <a:avLst/>
          </a:prstGeom>
          <a:noFill/>
          <a:ln w="25400">
            <a:solidFill>
              <a:srgbClr val="2563EB"/>
            </a:solidFill>
            <a:prstDash val="solid"/>
            <a:tailEnd type="triangle"/>
          </a:ln>
        </p:spPr>
      </p:sp>
      <p:sp>
        <p:nvSpPr>
          <p:cNvPr id="14" name="Shape 12"/>
          <p:cNvSpPr/>
          <p:nvPr/>
        </p:nvSpPr>
        <p:spPr>
          <a:xfrm>
            <a:off x="2382012" y="1463040"/>
            <a:ext cx="1623060" cy="1965960"/>
          </a:xfrm>
          <a:prstGeom prst="roundRect">
            <a:avLst>
              <a:gd name="adj" fmla="val 4507"/>
            </a:avLst>
          </a:prstGeom>
          <a:solidFill>
            <a:srgbClr val="EFF6FF"/>
          </a:solidFill>
          <a:ln w="12700">
            <a:solidFill>
              <a:srgbClr val="DBEAFE"/>
            </a:solidFill>
            <a:prstDash val="solid"/>
          </a:ln>
        </p:spPr>
      </p:sp>
      <p:sp>
        <p:nvSpPr>
          <p:cNvPr id="15" name="Shape 13"/>
          <p:cNvSpPr/>
          <p:nvPr/>
        </p:nvSpPr>
        <p:spPr>
          <a:xfrm>
            <a:off x="3038094" y="1591056"/>
            <a:ext cx="310896" cy="310896"/>
          </a:xfrm>
          <a:prstGeom prst="ellipse">
            <a:avLst/>
          </a:prstGeom>
          <a:solidFill>
            <a:srgbClr val="2563EB"/>
          </a:solidFill>
          <a:ln w="12700">
            <a:solidFill>
              <a:srgbClr val="2563EB"/>
            </a:solidFill>
            <a:prstDash val="solid"/>
          </a:ln>
        </p:spPr>
      </p:sp>
      <p:sp>
        <p:nvSpPr>
          <p:cNvPr id="16" name="Text 14"/>
          <p:cNvSpPr/>
          <p:nvPr/>
        </p:nvSpPr>
        <p:spPr>
          <a:xfrm>
            <a:off x="3038094"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7" name="Text 15"/>
          <p:cNvSpPr/>
          <p:nvPr/>
        </p:nvSpPr>
        <p:spPr>
          <a:xfrm>
            <a:off x="2455164"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Train/test split</a:t>
            </a:r>
            <a:endParaRPr lang="en-US" sz="1300" dirty="0"/>
          </a:p>
        </p:txBody>
      </p:sp>
      <p:sp>
        <p:nvSpPr>
          <p:cNvPr id="18" name="Text 16"/>
          <p:cNvSpPr/>
          <p:nvPr/>
        </p:nvSpPr>
        <p:spPr>
          <a:xfrm>
            <a:off x="2455164"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80/20 (1,600 / 400) in the per-model experiments</a:t>
            </a:r>
            <a:endParaRPr lang="en-US" sz="1100" dirty="0"/>
          </a:p>
        </p:txBody>
      </p:sp>
      <p:sp>
        <p:nvSpPr>
          <p:cNvPr id="19" name="Shape 17"/>
          <p:cNvSpPr/>
          <p:nvPr/>
        </p:nvSpPr>
        <p:spPr>
          <a:xfrm>
            <a:off x="4041648" y="2446020"/>
            <a:ext cx="182880" cy="0"/>
          </a:xfrm>
          <a:prstGeom prst="line">
            <a:avLst/>
          </a:prstGeom>
          <a:noFill/>
          <a:ln w="25400">
            <a:solidFill>
              <a:srgbClr val="2563EB"/>
            </a:solidFill>
            <a:prstDash val="solid"/>
            <a:tailEnd type="triangle"/>
          </a:ln>
        </p:spPr>
      </p:sp>
      <p:sp>
        <p:nvSpPr>
          <p:cNvPr id="20" name="Shape 18"/>
          <p:cNvSpPr/>
          <p:nvPr/>
        </p:nvSpPr>
        <p:spPr>
          <a:xfrm>
            <a:off x="4261104" y="1463040"/>
            <a:ext cx="1623060" cy="1965960"/>
          </a:xfrm>
          <a:prstGeom prst="roundRect">
            <a:avLst>
              <a:gd name="adj" fmla="val 4507"/>
            </a:avLst>
          </a:prstGeom>
          <a:solidFill>
            <a:srgbClr val="EFF6FF"/>
          </a:solidFill>
          <a:ln w="12700">
            <a:solidFill>
              <a:srgbClr val="DBEAFE"/>
            </a:solidFill>
            <a:prstDash val="solid"/>
          </a:ln>
        </p:spPr>
      </p:sp>
      <p:sp>
        <p:nvSpPr>
          <p:cNvPr id="21" name="Shape 19"/>
          <p:cNvSpPr/>
          <p:nvPr/>
        </p:nvSpPr>
        <p:spPr>
          <a:xfrm>
            <a:off x="4917186" y="1591056"/>
            <a:ext cx="310896" cy="310896"/>
          </a:xfrm>
          <a:prstGeom prst="ellipse">
            <a:avLst/>
          </a:prstGeom>
          <a:solidFill>
            <a:srgbClr val="2563EB"/>
          </a:solidFill>
          <a:ln w="12700">
            <a:solidFill>
              <a:srgbClr val="2563EB"/>
            </a:solidFill>
            <a:prstDash val="solid"/>
          </a:ln>
        </p:spPr>
      </p:sp>
      <p:sp>
        <p:nvSpPr>
          <p:cNvPr id="22" name="Text 20"/>
          <p:cNvSpPr/>
          <p:nvPr/>
        </p:nvSpPr>
        <p:spPr>
          <a:xfrm>
            <a:off x="4917186"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23" name="Text 21"/>
          <p:cNvSpPr/>
          <p:nvPr/>
        </p:nvSpPr>
        <p:spPr>
          <a:xfrm>
            <a:off x="4334256"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Model comparison</a:t>
            </a:r>
            <a:endParaRPr lang="en-US" sz="1300" dirty="0"/>
          </a:p>
        </p:txBody>
      </p:sp>
      <p:sp>
        <p:nvSpPr>
          <p:cNvPr id="24" name="Text 22"/>
          <p:cNvSpPr/>
          <p:nvPr/>
        </p:nvSpPr>
        <p:spPr>
          <a:xfrm>
            <a:off x="4334256"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Five regression models on identical folds</a:t>
            </a:r>
            <a:endParaRPr lang="en-US" sz="1100" dirty="0"/>
          </a:p>
        </p:txBody>
      </p:sp>
      <p:sp>
        <p:nvSpPr>
          <p:cNvPr id="25" name="Shape 23"/>
          <p:cNvSpPr/>
          <p:nvPr/>
        </p:nvSpPr>
        <p:spPr>
          <a:xfrm>
            <a:off x="5920740" y="2446020"/>
            <a:ext cx="182880" cy="0"/>
          </a:xfrm>
          <a:prstGeom prst="line">
            <a:avLst/>
          </a:prstGeom>
          <a:noFill/>
          <a:ln w="25400">
            <a:solidFill>
              <a:srgbClr val="2563EB"/>
            </a:solidFill>
            <a:prstDash val="solid"/>
            <a:tailEnd type="triangle"/>
          </a:ln>
        </p:spPr>
      </p:sp>
      <p:sp>
        <p:nvSpPr>
          <p:cNvPr id="26" name="Shape 24"/>
          <p:cNvSpPr/>
          <p:nvPr/>
        </p:nvSpPr>
        <p:spPr>
          <a:xfrm>
            <a:off x="6140196" y="1463040"/>
            <a:ext cx="1623060" cy="1965960"/>
          </a:xfrm>
          <a:prstGeom prst="roundRect">
            <a:avLst>
              <a:gd name="adj" fmla="val 4507"/>
            </a:avLst>
          </a:prstGeom>
          <a:solidFill>
            <a:srgbClr val="EFF6FF"/>
          </a:solidFill>
          <a:ln w="12700">
            <a:solidFill>
              <a:srgbClr val="DBEAFE"/>
            </a:solidFill>
            <a:prstDash val="solid"/>
          </a:ln>
        </p:spPr>
      </p:sp>
      <p:sp>
        <p:nvSpPr>
          <p:cNvPr id="27" name="Shape 25"/>
          <p:cNvSpPr/>
          <p:nvPr/>
        </p:nvSpPr>
        <p:spPr>
          <a:xfrm>
            <a:off x="6796278" y="1591056"/>
            <a:ext cx="310896" cy="310896"/>
          </a:xfrm>
          <a:prstGeom prst="ellipse">
            <a:avLst/>
          </a:prstGeom>
          <a:solidFill>
            <a:srgbClr val="2563EB"/>
          </a:solidFill>
          <a:ln w="12700">
            <a:solidFill>
              <a:srgbClr val="2563EB"/>
            </a:solidFill>
            <a:prstDash val="solid"/>
          </a:ln>
        </p:spPr>
      </p:sp>
      <p:sp>
        <p:nvSpPr>
          <p:cNvPr id="28" name="Text 26"/>
          <p:cNvSpPr/>
          <p:nvPr/>
        </p:nvSpPr>
        <p:spPr>
          <a:xfrm>
            <a:off x="6796278"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9" name="Text 27"/>
          <p:cNvSpPr/>
          <p:nvPr/>
        </p:nvSpPr>
        <p:spPr>
          <a:xfrm>
            <a:off x="6213348"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5-fold cross-validation</a:t>
            </a:r>
            <a:endParaRPr lang="en-US" sz="1300" dirty="0"/>
          </a:p>
        </p:txBody>
      </p:sp>
      <p:sp>
        <p:nvSpPr>
          <p:cNvPr id="30" name="Text 28"/>
          <p:cNvSpPr/>
          <p:nvPr/>
        </p:nvSpPr>
        <p:spPr>
          <a:xfrm>
            <a:off x="6213348"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KFold, shuffle, random_state = 42</a:t>
            </a:r>
            <a:endParaRPr lang="en-US" sz="1100" dirty="0"/>
          </a:p>
        </p:txBody>
      </p:sp>
      <p:sp>
        <p:nvSpPr>
          <p:cNvPr id="31" name="Shape 29"/>
          <p:cNvSpPr/>
          <p:nvPr/>
        </p:nvSpPr>
        <p:spPr>
          <a:xfrm>
            <a:off x="7799832" y="2446020"/>
            <a:ext cx="182880" cy="0"/>
          </a:xfrm>
          <a:prstGeom prst="line">
            <a:avLst/>
          </a:prstGeom>
          <a:noFill/>
          <a:ln w="25400">
            <a:solidFill>
              <a:srgbClr val="2563EB"/>
            </a:solidFill>
            <a:prstDash val="solid"/>
            <a:tailEnd type="triangle"/>
          </a:ln>
        </p:spPr>
      </p:sp>
      <p:sp>
        <p:nvSpPr>
          <p:cNvPr id="32" name="Shape 30"/>
          <p:cNvSpPr/>
          <p:nvPr/>
        </p:nvSpPr>
        <p:spPr>
          <a:xfrm>
            <a:off x="8019288" y="1463040"/>
            <a:ext cx="1623060" cy="1965960"/>
          </a:xfrm>
          <a:prstGeom prst="roundRect">
            <a:avLst>
              <a:gd name="adj" fmla="val 4507"/>
            </a:avLst>
          </a:prstGeom>
          <a:solidFill>
            <a:srgbClr val="EFF6FF"/>
          </a:solidFill>
          <a:ln w="12700">
            <a:solidFill>
              <a:srgbClr val="DBEAFE"/>
            </a:solidFill>
            <a:prstDash val="solid"/>
          </a:ln>
        </p:spPr>
      </p:sp>
      <p:sp>
        <p:nvSpPr>
          <p:cNvPr id="33" name="Shape 31"/>
          <p:cNvSpPr/>
          <p:nvPr/>
        </p:nvSpPr>
        <p:spPr>
          <a:xfrm>
            <a:off x="8675370" y="1591056"/>
            <a:ext cx="310896" cy="310896"/>
          </a:xfrm>
          <a:prstGeom prst="ellipse">
            <a:avLst/>
          </a:prstGeom>
          <a:solidFill>
            <a:srgbClr val="2563EB"/>
          </a:solidFill>
          <a:ln w="12700">
            <a:solidFill>
              <a:srgbClr val="2563EB"/>
            </a:solidFill>
            <a:prstDash val="solid"/>
          </a:ln>
        </p:spPr>
      </p:sp>
      <p:sp>
        <p:nvSpPr>
          <p:cNvPr id="34" name="Text 32"/>
          <p:cNvSpPr/>
          <p:nvPr/>
        </p:nvSpPr>
        <p:spPr>
          <a:xfrm>
            <a:off x="8675370"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35" name="Text 33"/>
          <p:cNvSpPr/>
          <p:nvPr/>
        </p:nvSpPr>
        <p:spPr>
          <a:xfrm>
            <a:off x="8092440"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Final model</a:t>
            </a:r>
            <a:endParaRPr lang="en-US" sz="1300" dirty="0"/>
          </a:p>
        </p:txBody>
      </p:sp>
      <p:sp>
        <p:nvSpPr>
          <p:cNvPr id="36" name="Text 34"/>
          <p:cNvSpPr/>
          <p:nvPr/>
        </p:nvSpPr>
        <p:spPr>
          <a:xfrm>
            <a:off x="8092440"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Lowest error on every metric</a:t>
            </a:r>
            <a:endParaRPr lang="en-US" sz="1100" dirty="0"/>
          </a:p>
        </p:txBody>
      </p:sp>
      <p:sp>
        <p:nvSpPr>
          <p:cNvPr id="37" name="Shape 35"/>
          <p:cNvSpPr/>
          <p:nvPr/>
        </p:nvSpPr>
        <p:spPr>
          <a:xfrm>
            <a:off x="9678924" y="2446020"/>
            <a:ext cx="182880" cy="0"/>
          </a:xfrm>
          <a:prstGeom prst="line">
            <a:avLst/>
          </a:prstGeom>
          <a:noFill/>
          <a:ln w="25400">
            <a:solidFill>
              <a:srgbClr val="2563EB"/>
            </a:solidFill>
            <a:prstDash val="solid"/>
            <a:tailEnd type="triangle"/>
          </a:ln>
        </p:spPr>
      </p:sp>
      <p:sp>
        <p:nvSpPr>
          <p:cNvPr id="38" name="Shape 36"/>
          <p:cNvSpPr/>
          <p:nvPr/>
        </p:nvSpPr>
        <p:spPr>
          <a:xfrm>
            <a:off x="9898380" y="1463040"/>
            <a:ext cx="1623060" cy="1965960"/>
          </a:xfrm>
          <a:prstGeom prst="roundRect">
            <a:avLst>
              <a:gd name="adj" fmla="val 4507"/>
            </a:avLst>
          </a:prstGeom>
          <a:solidFill>
            <a:srgbClr val="EFF6FF"/>
          </a:solidFill>
          <a:ln w="12700">
            <a:solidFill>
              <a:srgbClr val="DBEAFE"/>
            </a:solidFill>
            <a:prstDash val="solid"/>
          </a:ln>
        </p:spPr>
      </p:sp>
      <p:sp>
        <p:nvSpPr>
          <p:cNvPr id="39" name="Shape 37"/>
          <p:cNvSpPr/>
          <p:nvPr/>
        </p:nvSpPr>
        <p:spPr>
          <a:xfrm>
            <a:off x="10554462" y="1591056"/>
            <a:ext cx="310896" cy="310896"/>
          </a:xfrm>
          <a:prstGeom prst="ellipse">
            <a:avLst/>
          </a:prstGeom>
          <a:solidFill>
            <a:srgbClr val="2563EB"/>
          </a:solidFill>
          <a:ln w="12700">
            <a:solidFill>
              <a:srgbClr val="2563EB"/>
            </a:solidFill>
            <a:prstDash val="solid"/>
          </a:ln>
        </p:spPr>
      </p:sp>
      <p:sp>
        <p:nvSpPr>
          <p:cNvPr id="40" name="Text 38"/>
          <p:cNvSpPr/>
          <p:nvPr/>
        </p:nvSpPr>
        <p:spPr>
          <a:xfrm>
            <a:off x="10554462" y="1591056"/>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41" name="Text 39"/>
          <p:cNvSpPr/>
          <p:nvPr/>
        </p:nvSpPr>
        <p:spPr>
          <a:xfrm>
            <a:off x="9971532" y="1965960"/>
            <a:ext cx="1476756"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Prediction</a:t>
            </a:r>
            <a:endParaRPr lang="en-US" sz="1300" dirty="0"/>
          </a:p>
        </p:txBody>
      </p:sp>
      <p:sp>
        <p:nvSpPr>
          <p:cNvPr id="42" name="Text 40"/>
          <p:cNvSpPr/>
          <p:nvPr/>
        </p:nvSpPr>
        <p:spPr>
          <a:xfrm>
            <a:off x="9971532" y="2423160"/>
            <a:ext cx="1476756" cy="914400"/>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Served by Flask for new inputs</a:t>
            </a:r>
            <a:endParaRPr lang="en-US" sz="1100" dirty="0"/>
          </a:p>
        </p:txBody>
      </p:sp>
      <p:sp>
        <p:nvSpPr>
          <p:cNvPr id="43" name="Text 41"/>
          <p:cNvSpPr/>
          <p:nvPr/>
        </p:nvSpPr>
        <p:spPr>
          <a:xfrm>
            <a:off x="502920" y="3794760"/>
            <a:ext cx="10972800" cy="320040"/>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Final pipeline (saved as final_student_performance_model.pkl)</a:t>
            </a:r>
            <a:endParaRPr lang="en-US" sz="1400" dirty="0"/>
          </a:p>
        </p:txBody>
      </p:sp>
      <p:sp>
        <p:nvSpPr>
          <p:cNvPr id="44" name="Shape 42"/>
          <p:cNvSpPr/>
          <p:nvPr/>
        </p:nvSpPr>
        <p:spPr>
          <a:xfrm>
            <a:off x="502920" y="4251960"/>
            <a:ext cx="2377440" cy="777240"/>
          </a:xfrm>
          <a:prstGeom prst="roundRect">
            <a:avLst>
              <a:gd name="adj" fmla="val 9412"/>
            </a:avLst>
          </a:prstGeom>
          <a:solidFill>
            <a:srgbClr val="F8FAFC"/>
          </a:solidFill>
          <a:ln w="12700">
            <a:solidFill>
              <a:srgbClr val="E2E8F0"/>
            </a:solidFill>
            <a:prstDash val="solid"/>
          </a:ln>
        </p:spPr>
      </p:sp>
      <p:sp>
        <p:nvSpPr>
          <p:cNvPr id="45" name="Text 43"/>
          <p:cNvSpPr/>
          <p:nvPr/>
        </p:nvSpPr>
        <p:spPr>
          <a:xfrm>
            <a:off x="502920" y="4251960"/>
            <a:ext cx="2377440" cy="777240"/>
          </a:xfrm>
          <a:prstGeom prst="rect">
            <a:avLst/>
          </a:prstGeom>
          <a:noFill/>
          <a:ln/>
        </p:spPr>
        <p:txBody>
          <a:bodyPr wrap="square" lIns="0" tIns="0" rIns="0" bIns="0" rtlCol="0" anchor="ctr"/>
          <a:lstStyle/>
          <a:p>
            <a:pPr algn="ctr" indent="0" marL="0">
              <a:buNone/>
            </a:pPr>
            <a:r>
              <a:rPr lang="en-US" sz="1600" dirty="0">
                <a:solidFill>
                  <a:srgbClr val="0F172A"/>
                </a:solidFill>
                <a:latin typeface="Segoe UI Semibold" pitchFamily="34" charset="0"/>
                <a:ea typeface="Segoe UI Semibold" pitchFamily="34" charset="-122"/>
                <a:cs typeface="Segoe UI Semibold" pitchFamily="34" charset="-120"/>
              </a:rPr>
              <a:t>Five inputs</a:t>
            </a:r>
            <a:endParaRPr lang="en-US" sz="1600" dirty="0"/>
          </a:p>
        </p:txBody>
      </p:sp>
      <p:sp>
        <p:nvSpPr>
          <p:cNvPr id="46" name="Shape 44"/>
          <p:cNvSpPr/>
          <p:nvPr/>
        </p:nvSpPr>
        <p:spPr>
          <a:xfrm>
            <a:off x="2926080" y="4636008"/>
            <a:ext cx="365760" cy="0"/>
          </a:xfrm>
          <a:prstGeom prst="line">
            <a:avLst/>
          </a:prstGeom>
          <a:noFill/>
          <a:ln w="25400">
            <a:solidFill>
              <a:srgbClr val="2563EB"/>
            </a:solidFill>
            <a:prstDash val="solid"/>
            <a:tailEnd type="triangle"/>
          </a:ln>
        </p:spPr>
      </p:sp>
      <p:sp>
        <p:nvSpPr>
          <p:cNvPr id="47" name="Shape 45"/>
          <p:cNvSpPr/>
          <p:nvPr/>
        </p:nvSpPr>
        <p:spPr>
          <a:xfrm>
            <a:off x="3337560" y="4251960"/>
            <a:ext cx="2377440" cy="777240"/>
          </a:xfrm>
          <a:prstGeom prst="roundRect">
            <a:avLst>
              <a:gd name="adj" fmla="val 9412"/>
            </a:avLst>
          </a:prstGeom>
          <a:solidFill>
            <a:srgbClr val="EFF6FF"/>
          </a:solidFill>
          <a:ln w="12700">
            <a:solidFill>
              <a:srgbClr val="DBEAFE"/>
            </a:solidFill>
            <a:prstDash val="solid"/>
          </a:ln>
        </p:spPr>
      </p:sp>
      <p:sp>
        <p:nvSpPr>
          <p:cNvPr id="48" name="Text 46"/>
          <p:cNvSpPr/>
          <p:nvPr/>
        </p:nvSpPr>
        <p:spPr>
          <a:xfrm>
            <a:off x="3337560" y="4251960"/>
            <a:ext cx="2377440" cy="777240"/>
          </a:xfrm>
          <a:prstGeom prst="rect">
            <a:avLst/>
          </a:prstGeom>
          <a:noFill/>
          <a:ln/>
        </p:spPr>
        <p:txBody>
          <a:bodyPr wrap="square" lIns="0" tIns="0" rIns="0" bIns="0" rtlCol="0" anchor="ctr"/>
          <a:lstStyle/>
          <a:p>
            <a:pPr algn="ctr" indent="0" marL="0">
              <a:buNone/>
            </a:pPr>
            <a:r>
              <a:rPr lang="en-US" sz="1600" dirty="0">
                <a:solidFill>
                  <a:srgbClr val="0F172A"/>
                </a:solidFill>
                <a:latin typeface="Segoe UI Semibold" pitchFamily="34" charset="0"/>
                <a:ea typeface="Segoe UI Semibold" pitchFamily="34" charset="-122"/>
                <a:cs typeface="Segoe UI Semibold" pitchFamily="34" charset="-120"/>
              </a:rPr>
              <a:t>StandardScaler</a:t>
            </a:r>
            <a:endParaRPr lang="en-US" sz="1600" dirty="0"/>
          </a:p>
        </p:txBody>
      </p:sp>
      <p:sp>
        <p:nvSpPr>
          <p:cNvPr id="49" name="Shape 47"/>
          <p:cNvSpPr/>
          <p:nvPr/>
        </p:nvSpPr>
        <p:spPr>
          <a:xfrm>
            <a:off x="5760720" y="4636008"/>
            <a:ext cx="365760" cy="0"/>
          </a:xfrm>
          <a:prstGeom prst="line">
            <a:avLst/>
          </a:prstGeom>
          <a:noFill/>
          <a:ln w="25400">
            <a:solidFill>
              <a:srgbClr val="2563EB"/>
            </a:solidFill>
            <a:prstDash val="solid"/>
            <a:tailEnd type="triangle"/>
          </a:ln>
        </p:spPr>
      </p:sp>
      <p:sp>
        <p:nvSpPr>
          <p:cNvPr id="50" name="Shape 48"/>
          <p:cNvSpPr/>
          <p:nvPr/>
        </p:nvSpPr>
        <p:spPr>
          <a:xfrm>
            <a:off x="6172200" y="4251960"/>
            <a:ext cx="2377440" cy="777240"/>
          </a:xfrm>
          <a:prstGeom prst="roundRect">
            <a:avLst>
              <a:gd name="adj" fmla="val 9412"/>
            </a:avLst>
          </a:prstGeom>
          <a:solidFill>
            <a:srgbClr val="EFF6FF"/>
          </a:solidFill>
          <a:ln w="12700">
            <a:solidFill>
              <a:srgbClr val="DBEAFE"/>
            </a:solidFill>
            <a:prstDash val="solid"/>
          </a:ln>
        </p:spPr>
      </p:sp>
      <p:sp>
        <p:nvSpPr>
          <p:cNvPr id="51" name="Text 49"/>
          <p:cNvSpPr/>
          <p:nvPr/>
        </p:nvSpPr>
        <p:spPr>
          <a:xfrm>
            <a:off x="6172200" y="4251960"/>
            <a:ext cx="2377440" cy="777240"/>
          </a:xfrm>
          <a:prstGeom prst="rect">
            <a:avLst/>
          </a:prstGeom>
          <a:noFill/>
          <a:ln/>
        </p:spPr>
        <p:txBody>
          <a:bodyPr wrap="square" lIns="0" tIns="0" rIns="0" bIns="0" rtlCol="0" anchor="ctr"/>
          <a:lstStyle/>
          <a:p>
            <a:pPr algn="ctr" indent="0" marL="0">
              <a:buNone/>
            </a:pPr>
            <a:r>
              <a:rPr lang="en-US" sz="1600" dirty="0">
                <a:solidFill>
                  <a:srgbClr val="0F172A"/>
                </a:solidFill>
                <a:latin typeface="Segoe UI Semibold" pitchFamily="34" charset="0"/>
                <a:ea typeface="Segoe UI Semibold" pitchFamily="34" charset="-122"/>
                <a:cs typeface="Segoe UI Semibold" pitchFamily="34" charset="-120"/>
              </a:rPr>
              <a:t>Linear Regression</a:t>
            </a:r>
            <a:endParaRPr lang="en-US" sz="1600" dirty="0"/>
          </a:p>
        </p:txBody>
      </p:sp>
      <p:sp>
        <p:nvSpPr>
          <p:cNvPr id="52" name="Shape 50"/>
          <p:cNvSpPr/>
          <p:nvPr/>
        </p:nvSpPr>
        <p:spPr>
          <a:xfrm>
            <a:off x="8595360" y="4636008"/>
            <a:ext cx="365760" cy="0"/>
          </a:xfrm>
          <a:prstGeom prst="line">
            <a:avLst/>
          </a:prstGeom>
          <a:noFill/>
          <a:ln w="25400">
            <a:solidFill>
              <a:srgbClr val="2563EB"/>
            </a:solidFill>
            <a:prstDash val="solid"/>
            <a:tailEnd type="triangle"/>
          </a:ln>
        </p:spPr>
      </p:sp>
      <p:sp>
        <p:nvSpPr>
          <p:cNvPr id="53" name="Shape 51"/>
          <p:cNvSpPr/>
          <p:nvPr/>
        </p:nvSpPr>
        <p:spPr>
          <a:xfrm>
            <a:off x="9006840" y="4251960"/>
            <a:ext cx="2377440" cy="777240"/>
          </a:xfrm>
          <a:prstGeom prst="roundRect">
            <a:avLst>
              <a:gd name="adj" fmla="val 9412"/>
            </a:avLst>
          </a:prstGeom>
          <a:solidFill>
            <a:srgbClr val="D1FAE5"/>
          </a:solidFill>
          <a:ln w="12700">
            <a:solidFill>
              <a:srgbClr val="A7F3D0"/>
            </a:solidFill>
            <a:prstDash val="solid"/>
          </a:ln>
        </p:spPr>
      </p:sp>
      <p:sp>
        <p:nvSpPr>
          <p:cNvPr id="54" name="Text 52"/>
          <p:cNvSpPr/>
          <p:nvPr/>
        </p:nvSpPr>
        <p:spPr>
          <a:xfrm>
            <a:off x="9006840" y="4251960"/>
            <a:ext cx="2377440" cy="777240"/>
          </a:xfrm>
          <a:prstGeom prst="rect">
            <a:avLst/>
          </a:prstGeom>
          <a:noFill/>
          <a:ln/>
        </p:spPr>
        <p:txBody>
          <a:bodyPr wrap="square" lIns="0" tIns="0" rIns="0" bIns="0" rtlCol="0" anchor="ctr"/>
          <a:lstStyle/>
          <a:p>
            <a:pPr algn="ctr" indent="0" marL="0">
              <a:buNone/>
            </a:pPr>
            <a:r>
              <a:rPr lang="en-US" sz="1600" dirty="0">
                <a:solidFill>
                  <a:srgbClr val="0F172A"/>
                </a:solidFill>
                <a:latin typeface="Segoe UI Semibold" pitchFamily="34" charset="0"/>
                <a:ea typeface="Segoe UI Semibold" pitchFamily="34" charset="-122"/>
                <a:cs typeface="Segoe UI Semibold" pitchFamily="34" charset="-120"/>
              </a:rPr>
              <a:t>Predicted marks</a:t>
            </a:r>
            <a:endParaRPr lang="en-US" sz="1600" dirty="0"/>
          </a:p>
        </p:txBody>
      </p:sp>
      <p:sp>
        <p:nvSpPr>
          <p:cNvPr id="55" name="Shape 53"/>
          <p:cNvSpPr/>
          <p:nvPr/>
        </p:nvSpPr>
        <p:spPr>
          <a:xfrm>
            <a:off x="502920" y="5303520"/>
            <a:ext cx="11018520" cy="868680"/>
          </a:xfrm>
          <a:prstGeom prst="roundRect">
            <a:avLst>
              <a:gd name="adj" fmla="val 8421"/>
            </a:avLst>
          </a:prstGeom>
          <a:solidFill>
            <a:srgbClr val="F8FAFC"/>
          </a:solidFill>
          <a:ln w="12700">
            <a:solidFill>
              <a:srgbClr val="E2E8F0"/>
            </a:solidFill>
            <a:prstDash val="solid"/>
          </a:ln>
        </p:spPr>
      </p:sp>
      <p:sp>
        <p:nvSpPr>
          <p:cNvPr id="56" name="Text 54"/>
          <p:cNvSpPr/>
          <p:nvPr/>
        </p:nvSpPr>
        <p:spPr>
          <a:xfrm>
            <a:off x="685800" y="5376672"/>
            <a:ext cx="10698480" cy="731520"/>
          </a:xfrm>
          <a:prstGeom prst="rect">
            <a:avLst/>
          </a:prstGeom>
          <a:noFill/>
          <a:ln/>
        </p:spPr>
        <p:txBody>
          <a:bodyPr wrap="square" lIns="0" tIns="0" rIns="0" bIns="0" rtlCol="0" anchor="ctr"/>
          <a:lstStyle/>
          <a:p>
            <a:pPr indent="0" marL="0">
              <a:buNone/>
            </a:pPr>
            <a:r>
              <a:rPr lang="en-US" sz="1300" dirty="0">
                <a:solidFill>
                  <a:srgbClr val="334155"/>
                </a:solidFill>
                <a:latin typeface="Segoe UI" pitchFamily="34" charset="0"/>
                <a:ea typeface="Segoe UI" pitchFamily="34" charset="-122"/>
                <a:cs typeface="Segoe UI" pitchFamily="34" charset="-120"/>
              </a:rPr>
              <a:t>Scaling happens inside the pipeline, so in cross-validation it is fitted on the training folds only (no leakage). Each of the 2,000 students is predicted exactly once, out-of-fold.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MODEL COMPARISON</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Five regression models, same 5-fold cross-validation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8 / 21</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766560" cy="914400"/>
        </p:xfrm>
        <a:graphic>
          <a:graphicData uri="http://schemas.openxmlformats.org/drawingml/2006/table">
            <a:tbl>
              <a:tblPr/>
              <a:tblGrid>
                <a:gridCol w="2286000"/>
                <a:gridCol w="1325880"/>
                <a:gridCol w="1417320"/>
                <a:gridCol w="1737360"/>
              </a:tblGrid>
              <a:tr h="475488">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Model</a:t>
                      </a:r>
                      <a:endParaRPr lang="en-US" sz="13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MAE (marks)</a:t>
                      </a:r>
                      <a:endParaRPr lang="en-US" sz="13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RMSE (marks)</a:t>
                      </a:r>
                      <a:endParaRPr lang="en-US" sz="13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R²</a:t>
                      </a:r>
                      <a:endParaRPr lang="en-US" sz="130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475488">
                <a:tc>
                  <a:txBody>
                    <a:bodyPr/>
                    <a:lstStyle/>
                    <a:p>
                      <a:pPr indent="0" marL="0">
                        <a:buNone/>
                      </a:pPr>
                      <a:r>
                        <a:rPr lang="en-US" sz="1300" b="1" dirty="0">
                          <a:solidFill>
                            <a:srgbClr val="0F172A"/>
                          </a:solidFill>
                          <a:latin typeface="Segoe UI" pitchFamily="34" charset="0"/>
                          <a:ea typeface="Segoe UI" pitchFamily="34" charset="-122"/>
                          <a:cs typeface="Segoe UI" pitchFamily="34" charset="-120"/>
                        </a:rPr>
                        <a:t>Linear Regression  ✓ final</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indent="0" marL="0">
                        <a:buNone/>
                      </a:pPr>
                      <a:r>
                        <a:rPr lang="en-US" sz="1300" b="1" dirty="0">
                          <a:solidFill>
                            <a:srgbClr val="0F172A"/>
                          </a:solidFill>
                          <a:latin typeface="Segoe UI" pitchFamily="34" charset="0"/>
                          <a:ea typeface="Segoe UI" pitchFamily="34" charset="-122"/>
                          <a:cs typeface="Segoe UI" pitchFamily="34" charset="-120"/>
                        </a:rPr>
                        <a:t>3.62 ± 0.07</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indent="0" marL="0">
                        <a:buNone/>
                      </a:pPr>
                      <a:r>
                        <a:rPr lang="en-US" sz="1300" b="1" dirty="0">
                          <a:solidFill>
                            <a:srgbClr val="0F172A"/>
                          </a:solidFill>
                          <a:latin typeface="Segoe UI" pitchFamily="34" charset="0"/>
                          <a:ea typeface="Segoe UI" pitchFamily="34" charset="-122"/>
                          <a:cs typeface="Segoe UI" pitchFamily="34" charset="-120"/>
                        </a:rPr>
                        <a:t>4.59 ± 0.09</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c>
                  <a:txBody>
                    <a:bodyPr/>
                    <a:lstStyle/>
                    <a:p>
                      <a:pPr indent="0" marL="0">
                        <a:buNone/>
                      </a:pPr>
                      <a:r>
                        <a:rPr lang="en-US" sz="1300" b="1" dirty="0">
                          <a:solidFill>
                            <a:srgbClr val="0F172A"/>
                          </a:solidFill>
                          <a:latin typeface="Segoe UI" pitchFamily="34" charset="0"/>
                          <a:ea typeface="Segoe UI" pitchFamily="34" charset="-122"/>
                          <a:cs typeface="Segoe UI" pitchFamily="34" charset="-120"/>
                        </a:rPr>
                        <a:t>0.8357 ± 0.0084</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FF6FF"/>
                    </a:solidFill>
                  </a:tcPr>
                </a:tc>
              </a:tr>
              <a:tr h="475488">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Random Forest (tuned)</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3.85 ± 0.08</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4.88 ± 0.09</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0.8145 ± 0.0053</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SVR</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3.91 ± 0.11</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4.94 ± 0.11</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0.8099 ± 0.0069</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Random Forest</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3.99 ± 0.11</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5.05 ± 0.10</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0.8008 ± 0.0063</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75488">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Decision Tree</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4.85 ± 0.17</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6.07 ± 0.17</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latin typeface="Segoe UI" pitchFamily="34" charset="0"/>
                          <a:ea typeface="Segoe UI" pitchFamily="34" charset="-122"/>
                          <a:cs typeface="Segoe UI" pitchFamily="34" charset="-120"/>
                        </a:rPr>
                        <a:t>0.7123 ± 0.0158</a:t>
                      </a:r>
                      <a:endParaRPr lang="en-US" sz="13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graphicFrame>
        <p:nvGraphicFramePr>
          <p:cNvPr id="9" name="Chart 0" descr=""/>
          <p:cNvGraphicFramePr/>
          <p:nvPr/>
        </p:nvGraphicFramePr>
        <p:xfrm>
          <a:off x="7498080" y="1325880"/>
          <a:ext cx="4069080" cy="306324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502920" y="4617720"/>
            <a:ext cx="11018520" cy="1600200"/>
          </a:xfrm>
          <a:prstGeom prst="roundRect">
            <a:avLst>
              <a:gd name="adj" fmla="val 4571"/>
            </a:avLst>
          </a:prstGeom>
          <a:solidFill>
            <a:srgbClr val="F8FAFC"/>
          </a:solidFill>
          <a:ln w="12700">
            <a:solidFill>
              <a:srgbClr val="E2E8F0"/>
            </a:solidFill>
            <a:prstDash val="solid"/>
          </a:ln>
        </p:spPr>
      </p:sp>
      <p:sp>
        <p:nvSpPr>
          <p:cNvPr id="11" name="Text 7"/>
          <p:cNvSpPr/>
          <p:nvPr/>
        </p:nvSpPr>
        <p:spPr>
          <a:xfrm>
            <a:off x="685800" y="4709160"/>
            <a:ext cx="10698480" cy="1417320"/>
          </a:xfrm>
          <a:prstGeom prst="rect">
            <a:avLst/>
          </a:prstGeom>
          <a:noFill/>
          <a:ln/>
        </p:spPr>
        <p:txBody>
          <a:bodyPr wrap="square" lIns="0" tIns="0" rIns="0" bIns="0" rtlCol="0" anchor="ctr"/>
          <a:lstStyle/>
          <a:p>
            <a:pPr indent="0" marL="0">
              <a:lnSpc>
                <a:spcPct val="115000"/>
              </a:lnSpc>
              <a:buNone/>
            </a:pPr>
            <a:r>
              <a:rPr lang="en-US" sz="1300" b="1" dirty="0">
                <a:solidFill>
                  <a:srgbClr val="0F172A"/>
                </a:solidFill>
                <a:latin typeface="Segoe UI" pitchFamily="34" charset="0"/>
                <a:ea typeface="Segoe UI" pitchFamily="34" charset="-122"/>
                <a:cs typeface="Segoe UI" pitchFamily="34" charset="-120"/>
              </a:rPr>
              <a:t>How to read this. </a:t>
            </a:r>
            <a:pPr indent="0" marL="0">
              <a:lnSpc>
                <a:spcPct val="115000"/>
              </a:lnSpc>
              <a:buNone/>
            </a:pPr>
            <a:r>
              <a:rPr lang="en-US" sz="1300" dirty="0">
                <a:solidFill>
                  <a:srgbClr val="334155"/>
                </a:solidFill>
                <a:latin typeface="Segoe UI" pitchFamily="34" charset="0"/>
                <a:ea typeface="Segoe UI" pitchFamily="34" charset="-122"/>
                <a:cs typeface="Segoe UI" pitchFamily="34" charset="-120"/>
              </a:rPr>
              <a:t>Mean ± standard deviation over the same five folds (evaluate_models.py → results/evaluation.md). Linear Regression has the lowest error on every metric, so it is the final model.
</a:t>
            </a:r>
            <a:pPr indent="0" marL="0">
              <a:lnSpc>
                <a:spcPct val="115000"/>
              </a:lnSpc>
              <a:buNone/>
            </a:pPr>
            <a:r>
              <a:rPr lang="en-US" sz="1300" b="1" dirty="0">
                <a:solidFill>
                  <a:srgbClr val="0F172A"/>
                </a:solidFill>
                <a:latin typeface="Segoe UI" pitchFamily="34" charset="0"/>
                <a:ea typeface="Segoe UI" pitchFamily="34" charset="-122"/>
                <a:cs typeface="Segoe UI" pitchFamily="34" charset="-120"/>
              </a:rPr>
              <a:t>XGBoost: </a:t>
            </a:r>
            <a:pPr indent="0" marL="0">
              <a:lnSpc>
                <a:spcPct val="115000"/>
              </a:lnSpc>
              <a:buNone/>
            </a:pPr>
            <a:r>
              <a:rPr lang="en-US" sz="1300" dirty="0">
                <a:solidFill>
                  <a:srgbClr val="334155"/>
                </a:solidFill>
                <a:latin typeface="Segoe UI" pitchFamily="34" charset="0"/>
                <a:ea typeface="Segoe UI" pitchFamily="34" charset="-122"/>
                <a:cs typeface="Segoe UI" pitchFamily="34" charset="-120"/>
              </a:rPr>
              <a:t>experiment scripts exist, but the xgboost package is not installed or listed in requirements.txt, so it could not be re-evaluated and is not part of this verified comparison.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FINAL MODEL PERFORMANCE</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Linear Regression · 5-fold cross-validation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9 / 21</a:t>
            </a:r>
            <a:endParaRPr lang="en-US" sz="1000" dirty="0"/>
          </a:p>
        </p:txBody>
      </p:sp>
      <p:sp>
        <p:nvSpPr>
          <p:cNvPr id="8" name="Shape 6"/>
          <p:cNvSpPr/>
          <p:nvPr/>
        </p:nvSpPr>
        <p:spPr>
          <a:xfrm>
            <a:off x="502920" y="1463040"/>
            <a:ext cx="3520440" cy="3063240"/>
          </a:xfrm>
          <a:prstGeom prst="roundRect">
            <a:avLst>
              <a:gd name="adj" fmla="val 2388"/>
            </a:avLst>
          </a:prstGeom>
          <a:solidFill>
            <a:srgbClr val="EFF6FF"/>
          </a:solidFill>
          <a:ln w="12700">
            <a:solidFill>
              <a:srgbClr val="DBEAFE"/>
            </a:solidFill>
            <a:prstDash val="solid"/>
          </a:ln>
        </p:spPr>
      </p:sp>
      <p:sp>
        <p:nvSpPr>
          <p:cNvPr id="9" name="Text 7"/>
          <p:cNvSpPr/>
          <p:nvPr/>
        </p:nvSpPr>
        <p:spPr>
          <a:xfrm>
            <a:off x="731520" y="1645920"/>
            <a:ext cx="3108960" cy="365760"/>
          </a:xfrm>
          <a:prstGeom prst="rect">
            <a:avLst/>
          </a:prstGeom>
          <a:noFill/>
          <a:ln/>
        </p:spPr>
        <p:txBody>
          <a:bodyPr wrap="square" lIns="0" tIns="0" rIns="0" bIns="0" rtlCol="0" anchor="t"/>
          <a:lstStyle/>
          <a:p>
            <a:pPr indent="0" marL="0">
              <a:buNone/>
            </a:pPr>
            <a:r>
              <a:rPr lang="en-US" sz="1800" dirty="0">
                <a:solidFill>
                  <a:srgbClr val="2563EB"/>
                </a:solidFill>
                <a:latin typeface="Segoe UI Semibold" pitchFamily="34" charset="0"/>
                <a:ea typeface="Segoe UI Semibold" pitchFamily="34" charset="-122"/>
                <a:cs typeface="Segoe UI Semibold" pitchFamily="34" charset="-120"/>
              </a:rPr>
              <a:t>MAE</a:t>
            </a:r>
            <a:endParaRPr lang="en-US" sz="1800" dirty="0"/>
          </a:p>
        </p:txBody>
      </p:sp>
      <p:sp>
        <p:nvSpPr>
          <p:cNvPr id="10" name="Text 8"/>
          <p:cNvSpPr/>
          <p:nvPr/>
        </p:nvSpPr>
        <p:spPr>
          <a:xfrm>
            <a:off x="731520" y="2057400"/>
            <a:ext cx="3108960" cy="685800"/>
          </a:xfrm>
          <a:prstGeom prst="rect">
            <a:avLst/>
          </a:prstGeom>
          <a:noFill/>
          <a:ln/>
        </p:spPr>
        <p:txBody>
          <a:bodyPr wrap="square" lIns="0" tIns="0" rIns="0" bIns="0" rtlCol="0" anchor="t"/>
          <a:lstStyle/>
          <a:p>
            <a:pPr indent="0" marL="0">
              <a:buNone/>
            </a:pPr>
            <a:r>
              <a:rPr lang="en-US" sz="3200" dirty="0">
                <a:solidFill>
                  <a:srgbClr val="0F172A"/>
                </a:solidFill>
                <a:latin typeface="Segoe UI Semibold" pitchFamily="34" charset="0"/>
                <a:ea typeface="Segoe UI Semibold" pitchFamily="34" charset="-122"/>
                <a:cs typeface="Segoe UI Semibold" pitchFamily="34" charset="-120"/>
              </a:rPr>
              <a:t>3.62 ± 0.07</a:t>
            </a:r>
            <a:endParaRPr lang="en-US" sz="3200" dirty="0"/>
          </a:p>
        </p:txBody>
      </p:sp>
      <p:sp>
        <p:nvSpPr>
          <p:cNvPr id="11" name="Text 9"/>
          <p:cNvSpPr/>
          <p:nvPr/>
        </p:nvSpPr>
        <p:spPr>
          <a:xfrm>
            <a:off x="731520" y="2743200"/>
            <a:ext cx="3108960" cy="27432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marks</a:t>
            </a:r>
            <a:endParaRPr lang="en-US" sz="1200" dirty="0"/>
          </a:p>
        </p:txBody>
      </p:sp>
      <p:sp>
        <p:nvSpPr>
          <p:cNvPr id="12" name="Text 10"/>
          <p:cNvSpPr/>
          <p:nvPr/>
        </p:nvSpPr>
        <p:spPr>
          <a:xfrm>
            <a:off x="731520" y="3108960"/>
            <a:ext cx="3063240" cy="1325880"/>
          </a:xfrm>
          <a:prstGeom prst="rect">
            <a:avLst/>
          </a:prstGeom>
          <a:noFill/>
          <a:ln/>
        </p:spPr>
        <p:txBody>
          <a:bodyPr wrap="square" lIns="0" tIns="0" rIns="0" bIns="0" rtlCol="0" anchor="t"/>
          <a:lstStyle/>
          <a:p>
            <a:pPr indent="0" marL="0">
              <a:buNone/>
            </a:pPr>
            <a:r>
              <a:rPr lang="en-US" sz="1500" dirty="0">
                <a:solidFill>
                  <a:srgbClr val="334155"/>
                </a:solidFill>
                <a:latin typeface="Segoe UI" pitchFamily="34" charset="0"/>
                <a:ea typeface="Segoe UI" pitchFamily="34" charset="-122"/>
                <a:cs typeface="Segoe UI" pitchFamily="34" charset="-120"/>
              </a:rPr>
              <a:t>Mean absolute error: on average, a prediction is about 3.6 final-exam marks away from the actual mark.</a:t>
            </a:r>
            <a:endParaRPr lang="en-US" sz="1500" dirty="0"/>
          </a:p>
        </p:txBody>
      </p:sp>
      <p:sp>
        <p:nvSpPr>
          <p:cNvPr id="13" name="Shape 11"/>
          <p:cNvSpPr/>
          <p:nvPr/>
        </p:nvSpPr>
        <p:spPr>
          <a:xfrm>
            <a:off x="4251960" y="1463040"/>
            <a:ext cx="3520440" cy="3063240"/>
          </a:xfrm>
          <a:prstGeom prst="roundRect">
            <a:avLst>
              <a:gd name="adj" fmla="val 2388"/>
            </a:avLst>
          </a:prstGeom>
          <a:solidFill>
            <a:srgbClr val="EFF6FF"/>
          </a:solidFill>
          <a:ln w="12700">
            <a:solidFill>
              <a:srgbClr val="DBEAFE"/>
            </a:solidFill>
            <a:prstDash val="solid"/>
          </a:ln>
        </p:spPr>
      </p:sp>
      <p:sp>
        <p:nvSpPr>
          <p:cNvPr id="14" name="Text 12"/>
          <p:cNvSpPr/>
          <p:nvPr/>
        </p:nvSpPr>
        <p:spPr>
          <a:xfrm>
            <a:off x="4480560" y="1645920"/>
            <a:ext cx="3108960" cy="365760"/>
          </a:xfrm>
          <a:prstGeom prst="rect">
            <a:avLst/>
          </a:prstGeom>
          <a:noFill/>
          <a:ln/>
        </p:spPr>
        <p:txBody>
          <a:bodyPr wrap="square" lIns="0" tIns="0" rIns="0" bIns="0" rtlCol="0" anchor="t"/>
          <a:lstStyle/>
          <a:p>
            <a:pPr indent="0" marL="0">
              <a:buNone/>
            </a:pPr>
            <a:r>
              <a:rPr lang="en-US" sz="1800" dirty="0">
                <a:solidFill>
                  <a:srgbClr val="2563EB"/>
                </a:solidFill>
                <a:latin typeface="Segoe UI Semibold" pitchFamily="34" charset="0"/>
                <a:ea typeface="Segoe UI Semibold" pitchFamily="34" charset="-122"/>
                <a:cs typeface="Segoe UI Semibold" pitchFamily="34" charset="-120"/>
              </a:rPr>
              <a:t>RMSE</a:t>
            </a:r>
            <a:endParaRPr lang="en-US" sz="1800" dirty="0"/>
          </a:p>
        </p:txBody>
      </p:sp>
      <p:sp>
        <p:nvSpPr>
          <p:cNvPr id="15" name="Text 13"/>
          <p:cNvSpPr/>
          <p:nvPr/>
        </p:nvSpPr>
        <p:spPr>
          <a:xfrm>
            <a:off x="4480560" y="2057400"/>
            <a:ext cx="3108960" cy="685800"/>
          </a:xfrm>
          <a:prstGeom prst="rect">
            <a:avLst/>
          </a:prstGeom>
          <a:noFill/>
          <a:ln/>
        </p:spPr>
        <p:txBody>
          <a:bodyPr wrap="square" lIns="0" tIns="0" rIns="0" bIns="0" rtlCol="0" anchor="t"/>
          <a:lstStyle/>
          <a:p>
            <a:pPr indent="0" marL="0">
              <a:buNone/>
            </a:pPr>
            <a:r>
              <a:rPr lang="en-US" sz="3200" dirty="0">
                <a:solidFill>
                  <a:srgbClr val="0F172A"/>
                </a:solidFill>
                <a:latin typeface="Segoe UI Semibold" pitchFamily="34" charset="0"/>
                <a:ea typeface="Segoe UI Semibold" pitchFamily="34" charset="-122"/>
                <a:cs typeface="Segoe UI Semibold" pitchFamily="34" charset="-120"/>
              </a:rPr>
              <a:t>4.59 ± 0.09</a:t>
            </a:r>
            <a:endParaRPr lang="en-US" sz="3200" dirty="0"/>
          </a:p>
        </p:txBody>
      </p:sp>
      <p:sp>
        <p:nvSpPr>
          <p:cNvPr id="16" name="Text 14"/>
          <p:cNvSpPr/>
          <p:nvPr/>
        </p:nvSpPr>
        <p:spPr>
          <a:xfrm>
            <a:off x="4480560" y="2743200"/>
            <a:ext cx="3108960" cy="27432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marks</a:t>
            </a:r>
            <a:endParaRPr lang="en-US" sz="1200" dirty="0"/>
          </a:p>
        </p:txBody>
      </p:sp>
      <p:sp>
        <p:nvSpPr>
          <p:cNvPr id="17" name="Text 15"/>
          <p:cNvSpPr/>
          <p:nvPr/>
        </p:nvSpPr>
        <p:spPr>
          <a:xfrm>
            <a:off x="4480560" y="3108960"/>
            <a:ext cx="3063240" cy="1325880"/>
          </a:xfrm>
          <a:prstGeom prst="rect">
            <a:avLst/>
          </a:prstGeom>
          <a:noFill/>
          <a:ln/>
        </p:spPr>
        <p:txBody>
          <a:bodyPr wrap="square" lIns="0" tIns="0" rIns="0" bIns="0" rtlCol="0" anchor="t"/>
          <a:lstStyle/>
          <a:p>
            <a:pPr indent="0" marL="0">
              <a:buNone/>
            </a:pPr>
            <a:r>
              <a:rPr lang="en-US" sz="1500" dirty="0">
                <a:solidFill>
                  <a:srgbClr val="334155"/>
                </a:solidFill>
                <a:latin typeface="Segoe UI" pitchFamily="34" charset="0"/>
                <a:ea typeface="Segoe UI" pitchFamily="34" charset="-122"/>
                <a:cs typeface="Segoe UI" pitchFamily="34" charset="-120"/>
              </a:rPr>
              <a:t>Root mean squared error: like MAE, but larger mistakes count more. Also in marks.</a:t>
            </a:r>
            <a:endParaRPr lang="en-US" sz="1500" dirty="0"/>
          </a:p>
        </p:txBody>
      </p:sp>
      <p:sp>
        <p:nvSpPr>
          <p:cNvPr id="18" name="Shape 16"/>
          <p:cNvSpPr/>
          <p:nvPr/>
        </p:nvSpPr>
        <p:spPr>
          <a:xfrm>
            <a:off x="8001000" y="1463040"/>
            <a:ext cx="3520440" cy="3063240"/>
          </a:xfrm>
          <a:prstGeom prst="roundRect">
            <a:avLst>
              <a:gd name="adj" fmla="val 2388"/>
            </a:avLst>
          </a:prstGeom>
          <a:solidFill>
            <a:srgbClr val="EFF6FF"/>
          </a:solidFill>
          <a:ln w="12700">
            <a:solidFill>
              <a:srgbClr val="DBEAFE"/>
            </a:solidFill>
            <a:prstDash val="solid"/>
          </a:ln>
        </p:spPr>
      </p:sp>
      <p:sp>
        <p:nvSpPr>
          <p:cNvPr id="19" name="Text 17"/>
          <p:cNvSpPr/>
          <p:nvPr/>
        </p:nvSpPr>
        <p:spPr>
          <a:xfrm>
            <a:off x="8229600" y="1645920"/>
            <a:ext cx="3108960" cy="365760"/>
          </a:xfrm>
          <a:prstGeom prst="rect">
            <a:avLst/>
          </a:prstGeom>
          <a:noFill/>
          <a:ln/>
        </p:spPr>
        <p:txBody>
          <a:bodyPr wrap="square" lIns="0" tIns="0" rIns="0" bIns="0" rtlCol="0" anchor="t"/>
          <a:lstStyle/>
          <a:p>
            <a:pPr indent="0" marL="0">
              <a:buNone/>
            </a:pPr>
            <a:r>
              <a:rPr lang="en-US" sz="1800" dirty="0">
                <a:solidFill>
                  <a:srgbClr val="2563EB"/>
                </a:solidFill>
                <a:latin typeface="Segoe UI Semibold" pitchFamily="34" charset="0"/>
                <a:ea typeface="Segoe UI Semibold" pitchFamily="34" charset="-122"/>
                <a:cs typeface="Segoe UI Semibold" pitchFamily="34" charset="-120"/>
              </a:rPr>
              <a:t>R²</a:t>
            </a:r>
            <a:endParaRPr lang="en-US" sz="1800" dirty="0"/>
          </a:p>
        </p:txBody>
      </p:sp>
      <p:sp>
        <p:nvSpPr>
          <p:cNvPr id="20" name="Text 18"/>
          <p:cNvSpPr/>
          <p:nvPr/>
        </p:nvSpPr>
        <p:spPr>
          <a:xfrm>
            <a:off x="8229600" y="2057400"/>
            <a:ext cx="3108960" cy="685800"/>
          </a:xfrm>
          <a:prstGeom prst="rect">
            <a:avLst/>
          </a:prstGeom>
          <a:noFill/>
          <a:ln/>
        </p:spPr>
        <p:txBody>
          <a:bodyPr wrap="square" lIns="0" tIns="0" rIns="0" bIns="0" rtlCol="0" anchor="t"/>
          <a:lstStyle/>
          <a:p>
            <a:pPr indent="0" marL="0">
              <a:buNone/>
            </a:pPr>
            <a:r>
              <a:rPr lang="en-US" sz="3200" dirty="0">
                <a:solidFill>
                  <a:srgbClr val="0F172A"/>
                </a:solidFill>
                <a:latin typeface="Segoe UI Semibold" pitchFamily="34" charset="0"/>
                <a:ea typeface="Segoe UI Semibold" pitchFamily="34" charset="-122"/>
                <a:cs typeface="Segoe UI Semibold" pitchFamily="34" charset="-120"/>
              </a:rPr>
              <a:t>0.8357 ± 0.0084</a:t>
            </a:r>
            <a:endParaRPr lang="en-US" sz="3200" dirty="0"/>
          </a:p>
        </p:txBody>
      </p:sp>
      <p:sp>
        <p:nvSpPr>
          <p:cNvPr id="21" name="Text 19"/>
          <p:cNvSpPr/>
          <p:nvPr/>
        </p:nvSpPr>
        <p:spPr>
          <a:xfrm>
            <a:off x="8229600" y="2743200"/>
            <a:ext cx="3108960" cy="274320"/>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no unit</a:t>
            </a:r>
            <a:endParaRPr lang="en-US" sz="1200" dirty="0"/>
          </a:p>
        </p:txBody>
      </p:sp>
      <p:sp>
        <p:nvSpPr>
          <p:cNvPr id="22" name="Text 20"/>
          <p:cNvSpPr/>
          <p:nvPr/>
        </p:nvSpPr>
        <p:spPr>
          <a:xfrm>
            <a:off x="8229600" y="3108960"/>
            <a:ext cx="3063240" cy="1325880"/>
          </a:xfrm>
          <a:prstGeom prst="rect">
            <a:avLst/>
          </a:prstGeom>
          <a:noFill/>
          <a:ln/>
        </p:spPr>
        <p:txBody>
          <a:bodyPr wrap="square" lIns="0" tIns="0" rIns="0" bIns="0" rtlCol="0" anchor="t"/>
          <a:lstStyle/>
          <a:p>
            <a:pPr indent="0" marL="0">
              <a:buNone/>
            </a:pPr>
            <a:r>
              <a:rPr lang="en-US" sz="1500" dirty="0">
                <a:solidFill>
                  <a:srgbClr val="334155"/>
                </a:solidFill>
                <a:latin typeface="Segoe UI" pitchFamily="34" charset="0"/>
                <a:ea typeface="Segoe UI" pitchFamily="34" charset="-122"/>
                <a:cs typeface="Segoe UI" pitchFamily="34" charset="-120"/>
              </a:rPr>
              <a:t>Coefficient of determination: the model explains about 84% of the variation in final-exam marks.</a:t>
            </a:r>
            <a:endParaRPr lang="en-US" sz="1500" dirty="0"/>
          </a:p>
        </p:txBody>
      </p:sp>
      <p:sp>
        <p:nvSpPr>
          <p:cNvPr id="23" name="Shape 21"/>
          <p:cNvSpPr/>
          <p:nvPr/>
        </p:nvSpPr>
        <p:spPr>
          <a:xfrm>
            <a:off x="502920" y="4846320"/>
            <a:ext cx="11018520" cy="1325880"/>
          </a:xfrm>
          <a:prstGeom prst="roundRect">
            <a:avLst>
              <a:gd name="adj" fmla="val 5517"/>
            </a:avLst>
          </a:prstGeom>
          <a:solidFill>
            <a:srgbClr val="FEF3C7"/>
          </a:solidFill>
          <a:ln w="12700">
            <a:solidFill>
              <a:srgbClr val="FDE68A"/>
            </a:solidFill>
            <a:prstDash val="solid"/>
          </a:ln>
        </p:spPr>
      </p:sp>
      <p:sp>
        <p:nvSpPr>
          <p:cNvPr id="24" name="Text 22"/>
          <p:cNvSpPr/>
          <p:nvPr/>
        </p:nvSpPr>
        <p:spPr>
          <a:xfrm>
            <a:off x="685800" y="4919472"/>
            <a:ext cx="10698480" cy="1188720"/>
          </a:xfrm>
          <a:prstGeom prst="rect">
            <a:avLst/>
          </a:prstGeom>
          <a:noFill/>
          <a:ln/>
        </p:spPr>
        <p:txBody>
          <a:bodyPr wrap="square" lIns="0" tIns="0" rIns="0" bIns="0" rtlCol="0" anchor="ctr"/>
          <a:lstStyle/>
          <a:p>
            <a:pPr indent="0" marL="0">
              <a:buNone/>
            </a:pPr>
            <a:r>
              <a:rPr lang="en-US" sz="1400" b="1" dirty="0">
                <a:solidFill>
                  <a:srgbClr val="78350F"/>
                </a:solidFill>
                <a:latin typeface="Segoe UI" pitchFamily="34" charset="0"/>
                <a:ea typeface="Segoe UI" pitchFamily="34" charset="-122"/>
                <a:cs typeface="Segoe UI" pitchFamily="34" charset="-120"/>
              </a:rPr>
              <a:t>These are regression errors, not "accuracy". </a:t>
            </a:r>
            <a:pPr indent="0" marL="0">
              <a:buNone/>
            </a:pPr>
            <a:r>
              <a:rPr lang="en-US" sz="1400" dirty="0">
                <a:solidFill>
                  <a:srgbClr val="78350F"/>
                </a:solidFill>
                <a:latin typeface="Segoe UI" pitchFamily="34" charset="0"/>
                <a:ea typeface="Segoe UI" pitchFamily="34" charset="-122"/>
                <a:cs typeface="Segoe UI" pitchFamily="34" charset="-120"/>
              </a:rPr>
              <a:t>The model predicts a number (marks), so there is no single percentage of correct answers. R² is the share of variance explained, not the share of correct predictions. The model gives no probability or confidence score.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EARLY-WARNING CLASSIFICATION</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Project-defined rules applied to the predicted marks</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10 / 21</a:t>
            </a:r>
            <a:endParaRPr lang="en-US" sz="1000" dirty="0"/>
          </a:p>
        </p:txBody>
      </p:sp>
      <p:sp>
        <p:nvSpPr>
          <p:cNvPr id="8" name="Shape 6"/>
          <p:cNvSpPr/>
          <p:nvPr/>
        </p:nvSpPr>
        <p:spPr>
          <a:xfrm>
            <a:off x="502920" y="1600200"/>
            <a:ext cx="2377440" cy="914400"/>
          </a:xfrm>
          <a:prstGeom prst="roundRect">
            <a:avLst>
              <a:gd name="adj" fmla="val 8000"/>
            </a:avLst>
          </a:prstGeom>
          <a:solidFill>
            <a:srgbClr val="F8FAFC"/>
          </a:solidFill>
          <a:ln w="12700">
            <a:solidFill>
              <a:srgbClr val="E2E8F0"/>
            </a:solidFill>
            <a:prstDash val="solid"/>
          </a:ln>
        </p:spPr>
      </p:sp>
      <p:sp>
        <p:nvSpPr>
          <p:cNvPr id="9" name="Text 7"/>
          <p:cNvSpPr/>
          <p:nvPr/>
        </p:nvSpPr>
        <p:spPr>
          <a:xfrm>
            <a:off x="502920" y="1600200"/>
            <a:ext cx="2377440" cy="91440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Student inputs</a:t>
            </a:r>
            <a:endParaRPr lang="en-US" sz="1500" dirty="0"/>
          </a:p>
        </p:txBody>
      </p:sp>
      <p:sp>
        <p:nvSpPr>
          <p:cNvPr id="10" name="Shape 8"/>
          <p:cNvSpPr/>
          <p:nvPr/>
        </p:nvSpPr>
        <p:spPr>
          <a:xfrm>
            <a:off x="2926080" y="2057400"/>
            <a:ext cx="457200" cy="0"/>
          </a:xfrm>
          <a:prstGeom prst="line">
            <a:avLst/>
          </a:prstGeom>
          <a:noFill/>
          <a:ln w="25400">
            <a:solidFill>
              <a:srgbClr val="2563EB"/>
            </a:solidFill>
            <a:prstDash val="solid"/>
            <a:tailEnd type="triangle"/>
          </a:ln>
        </p:spPr>
      </p:sp>
      <p:sp>
        <p:nvSpPr>
          <p:cNvPr id="11" name="Shape 9"/>
          <p:cNvSpPr/>
          <p:nvPr/>
        </p:nvSpPr>
        <p:spPr>
          <a:xfrm>
            <a:off x="3429000" y="1600200"/>
            <a:ext cx="2651760" cy="914400"/>
          </a:xfrm>
          <a:prstGeom prst="roundRect">
            <a:avLst>
              <a:gd name="adj" fmla="val 8000"/>
            </a:avLst>
          </a:prstGeom>
          <a:solidFill>
            <a:srgbClr val="EFF6FF"/>
          </a:solidFill>
          <a:ln w="12700">
            <a:solidFill>
              <a:srgbClr val="DBEAFE"/>
            </a:solidFill>
            <a:prstDash val="solid"/>
          </a:ln>
        </p:spPr>
      </p:sp>
      <p:sp>
        <p:nvSpPr>
          <p:cNvPr id="12" name="Text 10"/>
          <p:cNvSpPr/>
          <p:nvPr/>
        </p:nvSpPr>
        <p:spPr>
          <a:xfrm>
            <a:off x="3429000" y="1600200"/>
            <a:ext cx="2651760" cy="914400"/>
          </a:xfrm>
          <a:prstGeom prst="rect">
            <a:avLst/>
          </a:prstGeom>
          <a:noFill/>
          <a:ln/>
        </p:spPr>
        <p:txBody>
          <a:bodyPr wrap="square" lIns="0" tIns="0" rIns="0" bIns="0" rtlCol="0" anchor="ctr"/>
          <a:lstStyle/>
          <a:p>
            <a:pPr algn="ctr" indent="0" marL="0">
              <a:buNone/>
            </a:pPr>
            <a:r>
              <a:rPr lang="en-US" sz="1400" dirty="0">
                <a:solidFill>
                  <a:srgbClr val="0F172A"/>
                </a:solidFill>
                <a:latin typeface="Segoe UI Semibold" pitchFamily="34" charset="0"/>
                <a:ea typeface="Segoe UI Semibold" pitchFamily="34" charset="-122"/>
                <a:cs typeface="Segoe UI Semibold" pitchFamily="34" charset="-120"/>
              </a:rPr>
              <a:t>Regression prediction</a:t>
            </a:r>
            <a:endParaRPr lang="en-US" sz="1400" dirty="0"/>
          </a:p>
          <a:p>
            <a:pPr algn="ctr" indent="0" marL="0">
              <a:buNone/>
            </a:pPr>
            <a:r>
              <a:rPr lang="en-US" sz="1400" dirty="0">
                <a:solidFill>
                  <a:srgbClr val="0F172A"/>
                </a:solidFill>
                <a:latin typeface="Segoe UI Semibold" pitchFamily="34" charset="0"/>
                <a:ea typeface="Segoe UI Semibold" pitchFamily="34" charset="-122"/>
                <a:cs typeface="Segoe UI Semibold" pitchFamily="34" charset="-120"/>
              </a:rPr>
              <a:t>(final-exam marks)</a:t>
            </a:r>
            <a:endParaRPr lang="en-US" sz="1400" dirty="0"/>
          </a:p>
        </p:txBody>
      </p:sp>
      <p:sp>
        <p:nvSpPr>
          <p:cNvPr id="13" name="Shape 11"/>
          <p:cNvSpPr/>
          <p:nvPr/>
        </p:nvSpPr>
        <p:spPr>
          <a:xfrm>
            <a:off x="6126480" y="2057400"/>
            <a:ext cx="457200" cy="0"/>
          </a:xfrm>
          <a:prstGeom prst="line">
            <a:avLst/>
          </a:prstGeom>
          <a:noFill/>
          <a:ln w="25400">
            <a:solidFill>
              <a:srgbClr val="2563EB"/>
            </a:solidFill>
            <a:prstDash val="solid"/>
            <a:tailEnd type="triangle"/>
          </a:ln>
        </p:spPr>
      </p:sp>
      <p:sp>
        <p:nvSpPr>
          <p:cNvPr id="14" name="Shape 12"/>
          <p:cNvSpPr/>
          <p:nvPr/>
        </p:nvSpPr>
        <p:spPr>
          <a:xfrm>
            <a:off x="6629400" y="1371600"/>
            <a:ext cx="4892040" cy="438912"/>
          </a:xfrm>
          <a:prstGeom prst="roundRect">
            <a:avLst>
              <a:gd name="adj" fmla="val 16667"/>
            </a:avLst>
          </a:prstGeom>
          <a:solidFill>
            <a:srgbClr val="FFE4E6"/>
          </a:solidFill>
          <a:ln w="12700">
            <a:solidFill>
              <a:srgbClr val="FFE4E6"/>
            </a:solidFill>
            <a:prstDash val="solid"/>
          </a:ln>
        </p:spPr>
      </p:sp>
      <p:sp>
        <p:nvSpPr>
          <p:cNvPr id="15" name="Text 13"/>
          <p:cNvSpPr/>
          <p:nvPr/>
        </p:nvSpPr>
        <p:spPr>
          <a:xfrm>
            <a:off x="6812280" y="1371600"/>
            <a:ext cx="2377440" cy="438912"/>
          </a:xfrm>
          <a:prstGeom prst="rect">
            <a:avLst/>
          </a:prstGeom>
          <a:noFill/>
          <a:ln/>
        </p:spPr>
        <p:txBody>
          <a:bodyPr wrap="square" lIns="0" tIns="0" rIns="0" bIns="0" rtlCol="0" anchor="ctr"/>
          <a:lstStyle/>
          <a:p>
            <a:pPr indent="0" marL="0">
              <a:buNone/>
            </a:pPr>
            <a:r>
              <a:rPr lang="en-US" sz="1400" dirty="0">
                <a:solidFill>
                  <a:srgbClr val="BE123C"/>
                </a:solidFill>
                <a:latin typeface="Segoe UI Semibold" pitchFamily="34" charset="0"/>
                <a:ea typeface="Segoe UI Semibold" pitchFamily="34" charset="-122"/>
                <a:cs typeface="Segoe UI Semibold" pitchFamily="34" charset="-120"/>
              </a:rPr>
              <a:t>High Concern</a:t>
            </a:r>
            <a:endParaRPr lang="en-US" sz="1400" dirty="0"/>
          </a:p>
        </p:txBody>
      </p:sp>
      <p:sp>
        <p:nvSpPr>
          <p:cNvPr id="16" name="Text 14"/>
          <p:cNvSpPr/>
          <p:nvPr/>
        </p:nvSpPr>
        <p:spPr>
          <a:xfrm>
            <a:off x="9144000" y="1371600"/>
            <a:ext cx="2286000" cy="438912"/>
          </a:xfrm>
          <a:prstGeom prst="rect">
            <a:avLst/>
          </a:prstGeom>
          <a:noFill/>
          <a:ln/>
        </p:spPr>
        <p:txBody>
          <a:bodyPr wrap="square" lIns="0" tIns="0" rIns="0" bIns="0" rtlCol="0" anchor="ctr"/>
          <a:lstStyle/>
          <a:p>
            <a:pPr indent="0" marL="0">
              <a:buNone/>
            </a:pPr>
            <a:r>
              <a:rPr lang="en-US" sz="1400" dirty="0">
                <a:solidFill>
                  <a:srgbClr val="1E293B"/>
                </a:solidFill>
                <a:latin typeface="Segoe UI" pitchFamily="34" charset="0"/>
                <a:ea typeface="Segoe UI" pitchFamily="34" charset="-122"/>
                <a:cs typeface="Segoe UI" pitchFamily="34" charset="-120"/>
              </a:rPr>
              <a:t>predicted &lt; 40</a:t>
            </a:r>
            <a:endParaRPr lang="en-US" sz="1400" dirty="0"/>
          </a:p>
        </p:txBody>
      </p:sp>
      <p:sp>
        <p:nvSpPr>
          <p:cNvPr id="17" name="Shape 15"/>
          <p:cNvSpPr/>
          <p:nvPr/>
        </p:nvSpPr>
        <p:spPr>
          <a:xfrm>
            <a:off x="6629400" y="1874520"/>
            <a:ext cx="4892040" cy="438912"/>
          </a:xfrm>
          <a:prstGeom prst="roundRect">
            <a:avLst>
              <a:gd name="adj" fmla="val 16667"/>
            </a:avLst>
          </a:prstGeom>
          <a:solidFill>
            <a:srgbClr val="FEF3C7"/>
          </a:solidFill>
          <a:ln w="12700">
            <a:solidFill>
              <a:srgbClr val="FEF3C7"/>
            </a:solidFill>
            <a:prstDash val="solid"/>
          </a:ln>
        </p:spPr>
      </p:sp>
      <p:sp>
        <p:nvSpPr>
          <p:cNvPr id="18" name="Text 16"/>
          <p:cNvSpPr/>
          <p:nvPr/>
        </p:nvSpPr>
        <p:spPr>
          <a:xfrm>
            <a:off x="6812280" y="1874520"/>
            <a:ext cx="2377440" cy="438912"/>
          </a:xfrm>
          <a:prstGeom prst="rect">
            <a:avLst/>
          </a:prstGeom>
          <a:noFill/>
          <a:ln/>
        </p:spPr>
        <p:txBody>
          <a:bodyPr wrap="square" lIns="0" tIns="0" rIns="0" bIns="0" rtlCol="0" anchor="ctr"/>
          <a:lstStyle/>
          <a:p>
            <a:pPr indent="0" marL="0">
              <a:buNone/>
            </a:pPr>
            <a:r>
              <a:rPr lang="en-US" sz="1400" dirty="0">
                <a:solidFill>
                  <a:srgbClr val="B45309"/>
                </a:solidFill>
                <a:latin typeface="Segoe UI Semibold" pitchFamily="34" charset="0"/>
                <a:ea typeface="Segoe UI Semibold" pitchFamily="34" charset="-122"/>
                <a:cs typeface="Segoe UI Semibold" pitchFamily="34" charset="-120"/>
              </a:rPr>
              <a:t>Borderline</a:t>
            </a:r>
            <a:endParaRPr lang="en-US" sz="1400" dirty="0"/>
          </a:p>
        </p:txBody>
      </p:sp>
      <p:sp>
        <p:nvSpPr>
          <p:cNvPr id="19" name="Text 17"/>
          <p:cNvSpPr/>
          <p:nvPr/>
        </p:nvSpPr>
        <p:spPr>
          <a:xfrm>
            <a:off x="9144000" y="1874520"/>
            <a:ext cx="2286000" cy="438912"/>
          </a:xfrm>
          <a:prstGeom prst="rect">
            <a:avLst/>
          </a:prstGeom>
          <a:noFill/>
          <a:ln/>
        </p:spPr>
        <p:txBody>
          <a:bodyPr wrap="square" lIns="0" tIns="0" rIns="0" bIns="0" rtlCol="0" anchor="ctr"/>
          <a:lstStyle/>
          <a:p>
            <a:pPr indent="0" marL="0">
              <a:buNone/>
            </a:pPr>
            <a:r>
              <a:rPr lang="en-US" sz="1400" dirty="0">
                <a:solidFill>
                  <a:srgbClr val="1E293B"/>
                </a:solidFill>
                <a:latin typeface="Segoe UI" pitchFamily="34" charset="0"/>
                <a:ea typeface="Segoe UI" pitchFamily="34" charset="-122"/>
                <a:cs typeface="Segoe UI" pitchFamily="34" charset="-120"/>
              </a:rPr>
              <a:t>predicted 40 – 44</a:t>
            </a:r>
            <a:endParaRPr lang="en-US" sz="1400" dirty="0"/>
          </a:p>
        </p:txBody>
      </p:sp>
      <p:sp>
        <p:nvSpPr>
          <p:cNvPr id="20" name="Shape 18"/>
          <p:cNvSpPr/>
          <p:nvPr/>
        </p:nvSpPr>
        <p:spPr>
          <a:xfrm>
            <a:off x="6629400" y="2377440"/>
            <a:ext cx="4892040" cy="438912"/>
          </a:xfrm>
          <a:prstGeom prst="roundRect">
            <a:avLst>
              <a:gd name="adj" fmla="val 16667"/>
            </a:avLst>
          </a:prstGeom>
          <a:solidFill>
            <a:srgbClr val="D1FAE5"/>
          </a:solidFill>
          <a:ln w="12700">
            <a:solidFill>
              <a:srgbClr val="D1FAE5"/>
            </a:solidFill>
            <a:prstDash val="solid"/>
          </a:ln>
        </p:spPr>
      </p:sp>
      <p:sp>
        <p:nvSpPr>
          <p:cNvPr id="21" name="Text 19"/>
          <p:cNvSpPr/>
          <p:nvPr/>
        </p:nvSpPr>
        <p:spPr>
          <a:xfrm>
            <a:off x="6812280" y="2377440"/>
            <a:ext cx="2377440" cy="438912"/>
          </a:xfrm>
          <a:prstGeom prst="rect">
            <a:avLst/>
          </a:prstGeom>
          <a:noFill/>
          <a:ln/>
        </p:spPr>
        <p:txBody>
          <a:bodyPr wrap="square" lIns="0" tIns="0" rIns="0" bIns="0" rtlCol="0" anchor="ctr"/>
          <a:lstStyle/>
          <a:p>
            <a:pPr indent="0" marL="0">
              <a:buNone/>
            </a:pPr>
            <a:r>
              <a:rPr lang="en-US" sz="1400" dirty="0">
                <a:solidFill>
                  <a:srgbClr val="047857"/>
                </a:solidFill>
                <a:latin typeface="Segoe UI Semibold" pitchFamily="34" charset="0"/>
                <a:ea typeface="Segoe UI Semibold" pitchFamily="34" charset="-122"/>
                <a:cs typeface="Segoe UI Semibold" pitchFamily="34" charset="-120"/>
              </a:rPr>
              <a:t>Lower Concern</a:t>
            </a:r>
            <a:endParaRPr lang="en-US" sz="1400" dirty="0"/>
          </a:p>
        </p:txBody>
      </p:sp>
      <p:sp>
        <p:nvSpPr>
          <p:cNvPr id="22" name="Text 20"/>
          <p:cNvSpPr/>
          <p:nvPr/>
        </p:nvSpPr>
        <p:spPr>
          <a:xfrm>
            <a:off x="9144000" y="2377440"/>
            <a:ext cx="2286000" cy="438912"/>
          </a:xfrm>
          <a:prstGeom prst="rect">
            <a:avLst/>
          </a:prstGeom>
          <a:noFill/>
          <a:ln/>
        </p:spPr>
        <p:txBody>
          <a:bodyPr wrap="square" lIns="0" tIns="0" rIns="0" bIns="0" rtlCol="0" anchor="ctr"/>
          <a:lstStyle/>
          <a:p>
            <a:pPr indent="0" marL="0">
              <a:buNone/>
            </a:pPr>
            <a:r>
              <a:rPr lang="en-US" sz="1400" dirty="0">
                <a:solidFill>
                  <a:srgbClr val="1E293B"/>
                </a:solidFill>
                <a:latin typeface="Segoe UI" pitchFamily="34" charset="0"/>
                <a:ea typeface="Segoe UI" pitchFamily="34" charset="-122"/>
                <a:cs typeface="Segoe UI" pitchFamily="34" charset="-120"/>
              </a:rPr>
              <a:t>predicted &gt; 44</a:t>
            </a:r>
            <a:endParaRPr lang="en-US" sz="1400" dirty="0"/>
          </a:p>
        </p:txBody>
      </p:sp>
      <p:sp>
        <p:nvSpPr>
          <p:cNvPr id="23" name="Shape 21"/>
          <p:cNvSpPr/>
          <p:nvPr/>
        </p:nvSpPr>
        <p:spPr>
          <a:xfrm>
            <a:off x="502920" y="3063240"/>
            <a:ext cx="5394960" cy="3154680"/>
          </a:xfrm>
          <a:prstGeom prst="roundRect">
            <a:avLst>
              <a:gd name="adj" fmla="val 2319"/>
            </a:avLst>
          </a:prstGeom>
          <a:solidFill>
            <a:srgbClr val="FFFFFF"/>
          </a:solidFill>
          <a:ln w="12700">
            <a:solidFill>
              <a:srgbClr val="E2E8F0"/>
            </a:solidFill>
            <a:prstDash val="solid"/>
          </a:ln>
        </p:spPr>
      </p:sp>
      <p:sp>
        <p:nvSpPr>
          <p:cNvPr id="24" name="Text 22"/>
          <p:cNvSpPr/>
          <p:nvPr/>
        </p:nvSpPr>
        <p:spPr>
          <a:xfrm>
            <a:off x="685800" y="3209544"/>
            <a:ext cx="5029200" cy="365760"/>
          </a:xfrm>
          <a:prstGeom prst="rect">
            <a:avLst/>
          </a:prstGeom>
          <a:noFill/>
          <a:ln/>
        </p:spPr>
        <p:txBody>
          <a:bodyPr wrap="square" lIns="0" tIns="0" rIns="0" bIns="0" rtlCol="0" anchor="t"/>
          <a:lstStyle/>
          <a:p>
            <a:pPr indent="0" marL="0">
              <a:buNone/>
            </a:pPr>
            <a:r>
              <a:rPr lang="en-US" sz="1600" dirty="0">
                <a:solidFill>
                  <a:srgbClr val="0F172A"/>
                </a:solidFill>
                <a:latin typeface="Segoe UI Semibold" pitchFamily="34" charset="0"/>
                <a:ea typeface="Segoe UI Semibold" pitchFamily="34" charset="-122"/>
                <a:cs typeface="Segoe UI Semibold" pitchFamily="34" charset="-120"/>
              </a:rPr>
              <a:t>How it works</a:t>
            </a:r>
            <a:endParaRPr lang="en-US" sz="1600" dirty="0"/>
          </a:p>
        </p:txBody>
      </p:sp>
      <p:sp>
        <p:nvSpPr>
          <p:cNvPr id="25" name="Text 23"/>
          <p:cNvSpPr/>
          <p:nvPr/>
        </p:nvSpPr>
        <p:spPr>
          <a:xfrm>
            <a:off x="685800" y="3611880"/>
            <a:ext cx="5029200" cy="2468880"/>
          </a:xfrm>
          <a:prstGeom prst="rect">
            <a:avLst/>
          </a:prstGeom>
          <a:noFill/>
          <a:ln/>
        </p:spPr>
        <p:txBody>
          <a:bodyPr wrap="square" lIns="0" tIns="0" rIns="0" bIns="0" rtlCol="0" anchor="t"/>
          <a:lstStyle/>
          <a:p>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The ML model is a regressor — it is not a three-class classifier.
</a:t>
            </a:r>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The three bands are fixed, project-defined decision rules applied to each predicted mark (HIGH_CONCERN_BELOW = 40, BORDERLINE_UP_TO = 44 in app.py).
</a:t>
            </a:r>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The app shows the band with its basis and a note that it is not an official pass/fail decision.</a:t>
            </a:r>
            <a:endParaRPr lang="en-US" sz="1350" dirty="0"/>
          </a:p>
        </p:txBody>
      </p:sp>
      <p:sp>
        <p:nvSpPr>
          <p:cNvPr id="26" name="Shape 24"/>
          <p:cNvSpPr/>
          <p:nvPr/>
        </p:nvSpPr>
        <p:spPr>
          <a:xfrm>
            <a:off x="6126480" y="3063240"/>
            <a:ext cx="5394960" cy="3154680"/>
          </a:xfrm>
          <a:prstGeom prst="roundRect">
            <a:avLst>
              <a:gd name="adj" fmla="val 2319"/>
            </a:avLst>
          </a:prstGeom>
          <a:solidFill>
            <a:srgbClr val="F8FAFC"/>
          </a:solidFill>
          <a:ln w="12700">
            <a:solidFill>
              <a:srgbClr val="E2E8F0"/>
            </a:solidFill>
            <a:prstDash val="solid"/>
          </a:ln>
        </p:spPr>
      </p:sp>
      <p:sp>
        <p:nvSpPr>
          <p:cNvPr id="27" name="Text 25"/>
          <p:cNvSpPr/>
          <p:nvPr/>
        </p:nvSpPr>
        <p:spPr>
          <a:xfrm>
            <a:off x="6309360" y="3209544"/>
            <a:ext cx="5029200" cy="365760"/>
          </a:xfrm>
          <a:prstGeom prst="rect">
            <a:avLst/>
          </a:prstGeom>
          <a:noFill/>
          <a:ln/>
        </p:spPr>
        <p:txBody>
          <a:bodyPr wrap="square" lIns="0" tIns="0" rIns="0" bIns="0" rtlCol="0" anchor="t"/>
          <a:lstStyle/>
          <a:p>
            <a:pPr indent="0" marL="0">
              <a:buNone/>
            </a:pPr>
            <a:r>
              <a:rPr lang="en-US" sz="1600" dirty="0">
                <a:solidFill>
                  <a:srgbClr val="0F172A"/>
                </a:solidFill>
                <a:latin typeface="Segoe UI Semibold" pitchFamily="34" charset="0"/>
                <a:ea typeface="Segoe UI Semibold" pitchFamily="34" charset="-122"/>
                <a:cs typeface="Segoe UI Semibold" pitchFamily="34" charset="-120"/>
              </a:rPr>
              <a:t>Honest evaluation (out-of-fold)</a:t>
            </a:r>
            <a:endParaRPr lang="en-US" sz="1600" dirty="0"/>
          </a:p>
        </p:txBody>
      </p:sp>
      <p:sp>
        <p:nvSpPr>
          <p:cNvPr id="28" name="Text 26"/>
          <p:cNvSpPr/>
          <p:nvPr/>
        </p:nvSpPr>
        <p:spPr>
          <a:xfrm>
            <a:off x="6309360" y="3611880"/>
            <a:ext cx="5029200" cy="2468880"/>
          </a:xfrm>
          <a:prstGeom prst="rect">
            <a:avLst/>
          </a:prstGeom>
          <a:noFill/>
          <a:ln/>
        </p:spPr>
        <p:txBody>
          <a:bodyPr wrap="square" lIns="0" tIns="0" rIns="0" bIns="0" rtlCol="0" anchor="t"/>
          <a:lstStyle/>
          <a:p>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Only 25 of 2,000 students actually scored below 40 (1.25%).
</a:t>
            </a:r>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High Concern flagged 13 of those 25 (recall 0.52, precision 0.77). High Concern or Borderline flagged 21 of 25.
</a:t>
            </a:r>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Low scores are predicted slightly high (about +3 marks), so thresholds were kept, not tuned, and this limitation is reported.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EXPLAINABLE AI WITH SHAP</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Which inputs contributed to this prediction?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11 / 21</a:t>
            </a:r>
            <a:endParaRPr lang="en-US" sz="1000" dirty="0"/>
          </a:p>
        </p:txBody>
      </p:sp>
      <p:sp>
        <p:nvSpPr>
          <p:cNvPr id="8" name="Shape 6"/>
          <p:cNvSpPr/>
          <p:nvPr/>
        </p:nvSpPr>
        <p:spPr>
          <a:xfrm>
            <a:off x="502920" y="1371600"/>
            <a:ext cx="4297680" cy="914400"/>
          </a:xfrm>
          <a:prstGeom prst="roundRect">
            <a:avLst>
              <a:gd name="adj" fmla="val 8000"/>
            </a:avLst>
          </a:prstGeom>
          <a:solidFill>
            <a:srgbClr val="FFFFFF"/>
          </a:solidFill>
          <a:ln w="12700">
            <a:solidFill>
              <a:srgbClr val="E2E8F0"/>
            </a:solidFill>
            <a:prstDash val="solid"/>
          </a:ln>
        </p:spPr>
      </p:sp>
      <p:sp>
        <p:nvSpPr>
          <p:cNvPr id="9" name="Text 7"/>
          <p:cNvSpPr/>
          <p:nvPr/>
        </p:nvSpPr>
        <p:spPr>
          <a:xfrm>
            <a:off x="685800" y="1517904"/>
            <a:ext cx="3931920" cy="365760"/>
          </a:xfrm>
          <a:prstGeom prst="rect">
            <a:avLst/>
          </a:prstGeom>
          <a:noFill/>
          <a:ln/>
        </p:spPr>
        <p:txBody>
          <a:bodyPr wrap="square" lIns="0" tIns="0" rIns="0" bIns="0" rtlCol="0" anchor="t"/>
          <a:lstStyle/>
          <a:p>
            <a:pPr indent="0" marL="0">
              <a:buNone/>
            </a:pPr>
            <a:r>
              <a:rPr lang="en-US" sz="1600" dirty="0">
                <a:solidFill>
                  <a:srgbClr val="64748B"/>
                </a:solidFill>
                <a:latin typeface="Segoe UI Semibold" pitchFamily="34" charset="0"/>
                <a:ea typeface="Segoe UI Semibold" pitchFamily="34" charset="-122"/>
                <a:cs typeface="Segoe UI Semibold" pitchFamily="34" charset="-120"/>
              </a:rPr>
              <a:t>Prediction alone</a:t>
            </a:r>
            <a:endParaRPr lang="en-US" sz="1600" dirty="0"/>
          </a:p>
        </p:txBody>
      </p:sp>
      <p:sp>
        <p:nvSpPr>
          <p:cNvPr id="10" name="Text 8"/>
          <p:cNvSpPr/>
          <p:nvPr/>
        </p:nvSpPr>
        <p:spPr>
          <a:xfrm>
            <a:off x="685800" y="1920240"/>
            <a:ext cx="3931920" cy="228600"/>
          </a:xfrm>
          <a:prstGeom prst="rect">
            <a:avLst/>
          </a:prstGeom>
          <a:noFill/>
          <a:ln/>
        </p:spPr>
        <p:txBody>
          <a:bodyPr wrap="square" lIns="0" tIns="0" rIns="0" bIns="0" rtlCol="0" anchor="t"/>
          <a:lstStyle/>
          <a:p>
            <a:pPr indent="0" marL="0">
              <a:lnSpc>
                <a:spcPct val="110000"/>
              </a:lnSpc>
              <a:buNone/>
            </a:pPr>
            <a:r>
              <a:rPr lang="en-US" sz="1400" dirty="0">
                <a:solidFill>
                  <a:srgbClr val="334155"/>
                </a:solidFill>
                <a:latin typeface="Segoe UI" pitchFamily="34" charset="0"/>
                <a:ea typeface="Segoe UI" pitchFamily="34" charset="-122"/>
                <a:cs typeface="Segoe UI" pitchFamily="34" charset="-120"/>
              </a:rPr>
              <a:t>"What did the model predict?"  → 42.12 marks</a:t>
            </a:r>
            <a:endParaRPr lang="en-US" sz="1400" dirty="0"/>
          </a:p>
        </p:txBody>
      </p:sp>
      <p:sp>
        <p:nvSpPr>
          <p:cNvPr id="11" name="Shape 9"/>
          <p:cNvSpPr/>
          <p:nvPr/>
        </p:nvSpPr>
        <p:spPr>
          <a:xfrm>
            <a:off x="502920" y="2423160"/>
            <a:ext cx="4297680" cy="1143000"/>
          </a:xfrm>
          <a:prstGeom prst="roundRect">
            <a:avLst>
              <a:gd name="adj" fmla="val 6400"/>
            </a:avLst>
          </a:prstGeom>
          <a:solidFill>
            <a:srgbClr val="EFF6FF"/>
          </a:solidFill>
          <a:ln w="12700">
            <a:solidFill>
              <a:srgbClr val="DBEAFE"/>
            </a:solidFill>
            <a:prstDash val="solid"/>
          </a:ln>
        </p:spPr>
      </p:sp>
      <p:sp>
        <p:nvSpPr>
          <p:cNvPr id="12" name="Text 10"/>
          <p:cNvSpPr/>
          <p:nvPr/>
        </p:nvSpPr>
        <p:spPr>
          <a:xfrm>
            <a:off x="685800" y="2569464"/>
            <a:ext cx="3931920" cy="365760"/>
          </a:xfrm>
          <a:prstGeom prst="rect">
            <a:avLst/>
          </a:prstGeom>
          <a:noFill/>
          <a:ln/>
        </p:spPr>
        <p:txBody>
          <a:bodyPr wrap="square" lIns="0" tIns="0" rIns="0" bIns="0" rtlCol="0" anchor="t"/>
          <a:lstStyle/>
          <a:p>
            <a:pPr indent="0" marL="0">
              <a:buNone/>
            </a:pPr>
            <a:r>
              <a:rPr lang="en-US" sz="1600" dirty="0">
                <a:solidFill>
                  <a:srgbClr val="2563EB"/>
                </a:solidFill>
                <a:latin typeface="Segoe UI Semibold" pitchFamily="34" charset="0"/>
                <a:ea typeface="Segoe UI Semibold" pitchFamily="34" charset="-122"/>
                <a:cs typeface="Segoe UI Semibold" pitchFamily="34" charset="-120"/>
              </a:rPr>
              <a:t>With SHAP</a:t>
            </a:r>
            <a:endParaRPr lang="en-US" sz="1600" dirty="0"/>
          </a:p>
        </p:txBody>
      </p:sp>
      <p:sp>
        <p:nvSpPr>
          <p:cNvPr id="13" name="Text 11"/>
          <p:cNvSpPr/>
          <p:nvPr/>
        </p:nvSpPr>
        <p:spPr>
          <a:xfrm>
            <a:off x="685800" y="2971800"/>
            <a:ext cx="3931920" cy="457200"/>
          </a:xfrm>
          <a:prstGeom prst="rect">
            <a:avLst/>
          </a:prstGeom>
          <a:noFill/>
          <a:ln/>
        </p:spPr>
        <p:txBody>
          <a:bodyPr wrap="square" lIns="0" tIns="0" rIns="0" bIns="0" rtlCol="0" anchor="t"/>
          <a:lstStyle/>
          <a:p>
            <a:pPr indent="0" marL="0">
              <a:lnSpc>
                <a:spcPct val="110000"/>
              </a:lnSpc>
              <a:buNone/>
            </a:pPr>
            <a:r>
              <a:rPr lang="en-US" sz="1350" dirty="0">
                <a:solidFill>
                  <a:srgbClr val="334155"/>
                </a:solidFill>
                <a:latin typeface="Segoe UI" pitchFamily="34" charset="0"/>
                <a:ea typeface="Segoe UI" pitchFamily="34" charset="-122"/>
                <a:cs typeface="Segoe UI" pitchFamily="34" charset="-120"/>
              </a:rPr>
              <a:t>"Which inputs pushed it up or down — and by how much?"</a:t>
            </a:r>
            <a:endParaRPr lang="en-US" sz="1350" dirty="0"/>
          </a:p>
        </p:txBody>
      </p:sp>
      <p:sp>
        <p:nvSpPr>
          <p:cNvPr id="14" name="Shape 12"/>
          <p:cNvSpPr/>
          <p:nvPr/>
        </p:nvSpPr>
        <p:spPr>
          <a:xfrm>
            <a:off x="502920" y="3703320"/>
            <a:ext cx="4297680" cy="1325880"/>
          </a:xfrm>
          <a:prstGeom prst="roundRect">
            <a:avLst>
              <a:gd name="adj" fmla="val 5517"/>
            </a:avLst>
          </a:prstGeom>
          <a:solidFill>
            <a:srgbClr val="F8FAFC"/>
          </a:solidFill>
          <a:ln w="12700">
            <a:solidFill>
              <a:srgbClr val="E2E8F0"/>
            </a:solidFill>
            <a:prstDash val="solid"/>
          </a:ln>
        </p:spPr>
      </p:sp>
      <p:sp>
        <p:nvSpPr>
          <p:cNvPr id="15" name="Text 13"/>
          <p:cNvSpPr/>
          <p:nvPr/>
        </p:nvSpPr>
        <p:spPr>
          <a:xfrm>
            <a:off x="685800" y="3776472"/>
            <a:ext cx="3931920" cy="320040"/>
          </a:xfrm>
          <a:prstGeom prst="rect">
            <a:avLst/>
          </a:prstGeom>
          <a:noFill/>
          <a:ln/>
        </p:spPr>
        <p:txBody>
          <a:bodyPr wrap="square" lIns="0" tIns="0" rIns="0" bIns="0" rtlCol="0" anchor="t"/>
          <a:lstStyle/>
          <a:p>
            <a:pPr indent="0" marL="0">
              <a:buNone/>
            </a:pPr>
            <a:r>
              <a:rPr lang="en-US" sz="1250" dirty="0">
                <a:solidFill>
                  <a:srgbClr val="0F172A"/>
                </a:solidFill>
                <a:latin typeface="Segoe UI Semibold" pitchFamily="34" charset="0"/>
                <a:ea typeface="Segoe UI Semibold" pitchFamily="34" charset="-122"/>
                <a:cs typeface="Segoe UI Semibold" pitchFamily="34" charset="-120"/>
              </a:rPr>
              <a:t>Verified in the API for all five demo students:</a:t>
            </a:r>
            <a:endParaRPr lang="en-US" sz="1250" dirty="0"/>
          </a:p>
        </p:txBody>
      </p:sp>
      <p:sp>
        <p:nvSpPr>
          <p:cNvPr id="16" name="Text 14"/>
          <p:cNvSpPr/>
          <p:nvPr/>
        </p:nvSpPr>
        <p:spPr>
          <a:xfrm>
            <a:off x="685800" y="4114800"/>
            <a:ext cx="3931920" cy="365760"/>
          </a:xfrm>
          <a:prstGeom prst="rect">
            <a:avLst/>
          </a:prstGeom>
          <a:noFill/>
          <a:ln/>
        </p:spPr>
        <p:txBody>
          <a:bodyPr wrap="square" lIns="0" tIns="0" rIns="0" bIns="0" rtlCol="0" anchor="t"/>
          <a:lstStyle/>
          <a:p>
            <a:pPr indent="0" marL="0">
              <a:buNone/>
            </a:pPr>
            <a:r>
              <a:rPr lang="en-US" sz="1600" dirty="0">
                <a:solidFill>
                  <a:srgbClr val="2563EB"/>
                </a:solidFill>
                <a:latin typeface="Segoe UI Semibold" pitchFamily="34" charset="0"/>
                <a:ea typeface="Segoe UI Semibold" pitchFamily="34" charset="-122"/>
                <a:cs typeface="Segoe UI Semibold" pitchFamily="34" charset="-120"/>
              </a:rPr>
              <a:t>base value + Σ SHAP = prediction</a:t>
            </a:r>
            <a:endParaRPr lang="en-US" sz="1600" dirty="0"/>
          </a:p>
        </p:txBody>
      </p:sp>
      <p:sp>
        <p:nvSpPr>
          <p:cNvPr id="17" name="Text 15"/>
          <p:cNvSpPr/>
          <p:nvPr/>
        </p:nvSpPr>
        <p:spPr>
          <a:xfrm>
            <a:off x="685800" y="4526280"/>
            <a:ext cx="3931920" cy="365760"/>
          </a:xfrm>
          <a:prstGeom prst="rect">
            <a:avLst/>
          </a:prstGeom>
          <a:noFill/>
          <a:ln/>
        </p:spPr>
        <p:txBody>
          <a:bodyPr wrap="square" lIns="0" tIns="0" rIns="0" bIns="0" rtlCol="0" anchor="t"/>
          <a:lstStyle/>
          <a:p>
            <a:pPr indent="0" marL="0">
              <a:buNone/>
            </a:pPr>
            <a:r>
              <a:rPr lang="en-US" sz="1400" dirty="0">
                <a:solidFill>
                  <a:srgbClr val="1E293B"/>
                </a:solidFill>
                <a:latin typeface="Segoe UI" pitchFamily="34" charset="0"/>
                <a:ea typeface="Segoe UI" pitchFamily="34" charset="-122"/>
                <a:cs typeface="Segoe UI" pitchFamily="34" charset="-120"/>
              </a:rPr>
              <a:t>Demo Student 3:  64.855 + (−22.73) = 42.12</a:t>
            </a:r>
            <a:endParaRPr lang="en-US" sz="1400" dirty="0"/>
          </a:p>
        </p:txBody>
      </p:sp>
      <p:sp>
        <p:nvSpPr>
          <p:cNvPr id="18" name="Text 16"/>
          <p:cNvSpPr/>
          <p:nvPr/>
        </p:nvSpPr>
        <p:spPr>
          <a:xfrm>
            <a:off x="502920" y="5138928"/>
            <a:ext cx="4297680" cy="1143000"/>
          </a:xfrm>
          <a:prstGeom prst="rect">
            <a:avLst/>
          </a:prstGeom>
          <a:noFill/>
          <a:ln/>
        </p:spPr>
        <p:txBody>
          <a:bodyPr wrap="square" lIns="0" tIns="0" rIns="0" bIns="0" rtlCol="0" anchor="t"/>
          <a:lstStyle/>
          <a:p>
            <a:pPr indent="0" marL="0">
              <a:lnSpc>
                <a:spcPct val="120000"/>
              </a:lnSpc>
              <a:buNone/>
            </a:pPr>
            <a:r>
              <a:rPr lang="en-US" sz="1300" b="1" dirty="0">
                <a:solidFill>
                  <a:srgbClr val="047857"/>
                </a:solidFill>
                <a:latin typeface="Segoe UI" pitchFamily="34" charset="0"/>
                <a:ea typeface="Segoe UI" pitchFamily="34" charset="-122"/>
                <a:cs typeface="Segoe UI" pitchFamily="34" charset="-120"/>
              </a:rPr>
              <a:t>▲ Positive</a:t>
            </a:r>
            <a:pPr indent="0" marL="0">
              <a:lnSpc>
                <a:spcPct val="120000"/>
              </a:lnSpc>
              <a:buNone/>
            </a:pPr>
            <a:r>
              <a:rPr lang="en-US" sz="1300" dirty="0">
                <a:solidFill>
                  <a:srgbClr val="334155"/>
                </a:solidFill>
                <a:latin typeface="Segoe UI" pitchFamily="34" charset="0"/>
                <a:ea typeface="Segoe UI" pitchFamily="34" charset="-122"/>
                <a:cs typeface="Segoe UI" pitchFamily="34" charset="-120"/>
              </a:rPr>
              <a:t> — pushes the predicted marks up
</a:t>
            </a:r>
            <a:pPr indent="0" marL="0">
              <a:lnSpc>
                <a:spcPct val="120000"/>
              </a:lnSpc>
              <a:buNone/>
            </a:pPr>
            <a:r>
              <a:rPr lang="en-US" sz="1300" b="1" dirty="0">
                <a:solidFill>
                  <a:srgbClr val="B45309"/>
                </a:solidFill>
                <a:latin typeface="Segoe UI" pitchFamily="34" charset="0"/>
                <a:ea typeface="Segoe UI" pitchFamily="34" charset="-122"/>
                <a:cs typeface="Segoe UI" pitchFamily="34" charset="-120"/>
              </a:rPr>
              <a:t>▼ Negative</a:t>
            </a:r>
            <a:pPr indent="0" marL="0">
              <a:lnSpc>
                <a:spcPct val="120000"/>
              </a:lnSpc>
              <a:buNone/>
            </a:pPr>
            <a:r>
              <a:rPr lang="en-US" sz="1300" dirty="0">
                <a:solidFill>
                  <a:srgbClr val="334155"/>
                </a:solidFill>
                <a:latin typeface="Segoe UI" pitchFamily="34" charset="0"/>
                <a:ea typeface="Segoe UI" pitchFamily="34" charset="-122"/>
                <a:cs typeface="Segoe UI" pitchFamily="34" charset="-120"/>
              </a:rPr>
              <a:t> — pushes the predicted marks down
</a:t>
            </a:r>
            <a:pPr indent="0" marL="0">
              <a:lnSpc>
                <a:spcPct val="120000"/>
              </a:lnSpc>
              <a:buNone/>
            </a:pPr>
            <a:r>
              <a:rPr lang="en-US" sz="1300" i="1" dirty="0">
                <a:solidFill>
                  <a:srgbClr val="64748B"/>
                </a:solidFill>
                <a:latin typeface="Segoe UI" pitchFamily="34" charset="0"/>
                <a:ea typeface="Segoe UI" pitchFamily="34" charset="-122"/>
                <a:cs typeface="Segoe UI" pitchFamily="34" charset="-120"/>
              </a:rPr>
              <a:t>Feature contribution to the model prediction — not proof of cause and effect.</a:t>
            </a:r>
            <a:endParaRPr lang="en-US" sz="1300" dirty="0"/>
          </a:p>
        </p:txBody>
      </p:sp>
      <p:sp>
        <p:nvSpPr>
          <p:cNvPr id="19" name="Shape 17"/>
          <p:cNvSpPr/>
          <p:nvPr/>
        </p:nvSpPr>
        <p:spPr>
          <a:xfrm>
            <a:off x="5047488" y="1691344"/>
            <a:ext cx="6547104" cy="3978232"/>
          </a:xfrm>
          <a:prstGeom prst="rect">
            <a:avLst/>
          </a:prstGeom>
          <a:solidFill>
            <a:srgbClr val="E2E8F0"/>
          </a:solidFill>
          <a:ln w="12700">
            <a:solidFill>
              <a:srgbClr val="E2E8F0"/>
            </a:solidFill>
            <a:prstDash val="solid"/>
          </a:ln>
        </p:spPr>
      </p:sp>
      <p:pic>
        <p:nvPicPr>
          <p:cNvPr id="20" name="Image 0" descr="C:\Users\NEMMI\AppData\Local\Temp\claude\d--Documents-Sharda-University-Semester-5-PBL-fontend-student-prediction\d6ce81b2-62cd-4b95-adc5-3e24f53e42a1\scratchpad\deck2\shots\05-prediction-shap.png">    </p:cNvPr>
          <p:cNvPicPr>
            <a:picLocks noChangeAspect="1"/>
          </p:cNvPicPr>
          <p:nvPr/>
        </p:nvPicPr>
        <p:blipFill>
          <a:blip r:embed="rId1"/>
          <a:stretch>
            <a:fillRect/>
          </a:stretch>
        </p:blipFill>
        <p:spPr>
          <a:xfrm>
            <a:off x="5074920" y="1718776"/>
            <a:ext cx="6492240" cy="3923368"/>
          </a:xfrm>
          <a:prstGeom prst="rect">
            <a:avLst/>
          </a:prstGeom>
        </p:spPr>
      </p:pic>
      <p:sp>
        <p:nvSpPr>
          <p:cNvPr id="21" name="Text 18"/>
          <p:cNvSpPr/>
          <p:nvPr/>
        </p:nvSpPr>
        <p:spPr>
          <a:xfrm>
            <a:off x="5074920" y="5715296"/>
            <a:ext cx="649224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Actual /explain output in the app — Demo Student 3 (inputs 70 / 24 / 25 / 7 / 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RECOMMENDATION ENGINE</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SHAP contributions → prioritised, feature-level guidance</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12 / 21</a:t>
            </a:r>
            <a:endParaRPr lang="en-US" sz="1000" dirty="0"/>
          </a:p>
        </p:txBody>
      </p:sp>
      <p:sp>
        <p:nvSpPr>
          <p:cNvPr id="8" name="Shape 6"/>
          <p:cNvSpPr/>
          <p:nvPr/>
        </p:nvSpPr>
        <p:spPr>
          <a:xfrm>
            <a:off x="502920" y="1417320"/>
            <a:ext cx="1291590" cy="1143000"/>
          </a:xfrm>
          <a:prstGeom prst="roundRect">
            <a:avLst>
              <a:gd name="adj" fmla="val 6400"/>
            </a:avLst>
          </a:prstGeom>
          <a:solidFill>
            <a:srgbClr val="EFF6FF"/>
          </a:solidFill>
          <a:ln w="12700">
            <a:solidFill>
              <a:srgbClr val="DBEAFE"/>
            </a:solidFill>
            <a:prstDash val="solid"/>
          </a:ln>
        </p:spPr>
      </p:sp>
      <p:sp>
        <p:nvSpPr>
          <p:cNvPr id="9" name="Text 7"/>
          <p:cNvSpPr/>
          <p:nvPr/>
        </p:nvSpPr>
        <p:spPr>
          <a:xfrm>
            <a:off x="576072" y="1527048"/>
            <a:ext cx="1145286" cy="457200"/>
          </a:xfrm>
          <a:prstGeom prst="rect">
            <a:avLst/>
          </a:prstGeom>
          <a:noFill/>
          <a:ln/>
        </p:spPr>
        <p:txBody>
          <a:bodyPr wrap="square" lIns="0" tIns="0" rIns="0" bIns="0" rtlCol="0" anchor="t"/>
          <a:lstStyle/>
          <a:p>
            <a:pPr algn="ctr" indent="0" marL="0">
              <a:buNone/>
            </a:pPr>
            <a:r>
              <a:rPr lang="en-US" sz="1150" dirty="0">
                <a:solidFill>
                  <a:srgbClr val="0F172A"/>
                </a:solidFill>
                <a:latin typeface="Segoe UI Semibold" pitchFamily="34" charset="0"/>
                <a:ea typeface="Segoe UI Semibold" pitchFamily="34" charset="-122"/>
                <a:cs typeface="Segoe UI Semibold" pitchFamily="34" charset="-120"/>
              </a:rPr>
              <a:t>SHAP contribution</a:t>
            </a:r>
            <a:endParaRPr lang="en-US" sz="1150" dirty="0"/>
          </a:p>
        </p:txBody>
      </p:sp>
      <p:sp>
        <p:nvSpPr>
          <p:cNvPr id="10" name="Text 8"/>
          <p:cNvSpPr/>
          <p:nvPr/>
        </p:nvSpPr>
        <p:spPr>
          <a:xfrm>
            <a:off x="576072" y="1984248"/>
            <a:ext cx="1145286" cy="48463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per feature, in marks</a:t>
            </a:r>
            <a:endParaRPr lang="en-US" sz="1100" dirty="0"/>
          </a:p>
        </p:txBody>
      </p:sp>
      <p:sp>
        <p:nvSpPr>
          <p:cNvPr id="11" name="Shape 9"/>
          <p:cNvSpPr/>
          <p:nvPr/>
        </p:nvSpPr>
        <p:spPr>
          <a:xfrm>
            <a:off x="1831086" y="1988820"/>
            <a:ext cx="201168" cy="0"/>
          </a:xfrm>
          <a:prstGeom prst="line">
            <a:avLst/>
          </a:prstGeom>
          <a:noFill/>
          <a:ln w="25400">
            <a:solidFill>
              <a:srgbClr val="2563EB"/>
            </a:solidFill>
            <a:prstDash val="solid"/>
            <a:tailEnd type="triangle"/>
          </a:ln>
        </p:spPr>
      </p:sp>
      <p:sp>
        <p:nvSpPr>
          <p:cNvPr id="12" name="Shape 10"/>
          <p:cNvSpPr/>
          <p:nvPr/>
        </p:nvSpPr>
        <p:spPr>
          <a:xfrm>
            <a:off x="2068830" y="1417320"/>
            <a:ext cx="1291590" cy="1143000"/>
          </a:xfrm>
          <a:prstGeom prst="roundRect">
            <a:avLst>
              <a:gd name="adj" fmla="val 6400"/>
            </a:avLst>
          </a:prstGeom>
          <a:solidFill>
            <a:srgbClr val="EFF6FF"/>
          </a:solidFill>
          <a:ln w="12700">
            <a:solidFill>
              <a:srgbClr val="DBEAFE"/>
            </a:solidFill>
            <a:prstDash val="solid"/>
          </a:ln>
        </p:spPr>
      </p:sp>
      <p:sp>
        <p:nvSpPr>
          <p:cNvPr id="13" name="Text 11"/>
          <p:cNvSpPr/>
          <p:nvPr/>
        </p:nvSpPr>
        <p:spPr>
          <a:xfrm>
            <a:off x="2141982" y="1527048"/>
            <a:ext cx="1145286" cy="457200"/>
          </a:xfrm>
          <a:prstGeom prst="rect">
            <a:avLst/>
          </a:prstGeom>
          <a:noFill/>
          <a:ln/>
        </p:spPr>
        <p:txBody>
          <a:bodyPr wrap="square" lIns="0" tIns="0" rIns="0" bIns="0" rtlCol="0" anchor="t"/>
          <a:lstStyle/>
          <a:p>
            <a:pPr algn="ctr" indent="0" marL="0">
              <a:buNone/>
            </a:pPr>
            <a:r>
              <a:rPr lang="en-US" sz="1150" dirty="0">
                <a:solidFill>
                  <a:srgbClr val="0F172A"/>
                </a:solidFill>
                <a:latin typeface="Segoe UI Semibold" pitchFamily="34" charset="0"/>
                <a:ea typeface="Segoe UI Semibold" pitchFamily="34" charset="-122"/>
                <a:cs typeface="Segoe UI Semibold" pitchFamily="34" charset="-120"/>
              </a:rPr>
              <a:t>Priority rule</a:t>
            </a:r>
            <a:endParaRPr lang="en-US" sz="1150" dirty="0"/>
          </a:p>
        </p:txBody>
      </p:sp>
      <p:sp>
        <p:nvSpPr>
          <p:cNvPr id="14" name="Text 12"/>
          <p:cNvSpPr/>
          <p:nvPr/>
        </p:nvSpPr>
        <p:spPr>
          <a:xfrm>
            <a:off x="2141982" y="1984248"/>
            <a:ext cx="1145286" cy="48463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fixed thresholds</a:t>
            </a:r>
            <a:endParaRPr lang="en-US" sz="1100" dirty="0"/>
          </a:p>
        </p:txBody>
      </p:sp>
      <p:sp>
        <p:nvSpPr>
          <p:cNvPr id="15" name="Shape 13"/>
          <p:cNvSpPr/>
          <p:nvPr/>
        </p:nvSpPr>
        <p:spPr>
          <a:xfrm>
            <a:off x="3396996" y="1988820"/>
            <a:ext cx="201168" cy="0"/>
          </a:xfrm>
          <a:prstGeom prst="line">
            <a:avLst/>
          </a:prstGeom>
          <a:noFill/>
          <a:ln w="25400">
            <a:solidFill>
              <a:srgbClr val="2563EB"/>
            </a:solidFill>
            <a:prstDash val="solid"/>
            <a:tailEnd type="triangle"/>
          </a:ln>
        </p:spPr>
      </p:sp>
      <p:sp>
        <p:nvSpPr>
          <p:cNvPr id="16" name="Shape 14"/>
          <p:cNvSpPr/>
          <p:nvPr/>
        </p:nvSpPr>
        <p:spPr>
          <a:xfrm>
            <a:off x="3634740" y="1417320"/>
            <a:ext cx="1291590" cy="1143000"/>
          </a:xfrm>
          <a:prstGeom prst="roundRect">
            <a:avLst>
              <a:gd name="adj" fmla="val 6400"/>
            </a:avLst>
          </a:prstGeom>
          <a:solidFill>
            <a:srgbClr val="EFF6FF"/>
          </a:solidFill>
          <a:ln w="12700">
            <a:solidFill>
              <a:srgbClr val="DBEAFE"/>
            </a:solidFill>
            <a:prstDash val="solid"/>
          </a:ln>
        </p:spPr>
      </p:sp>
      <p:sp>
        <p:nvSpPr>
          <p:cNvPr id="17" name="Text 15"/>
          <p:cNvSpPr/>
          <p:nvPr/>
        </p:nvSpPr>
        <p:spPr>
          <a:xfrm>
            <a:off x="3707892" y="1527048"/>
            <a:ext cx="1145286" cy="457200"/>
          </a:xfrm>
          <a:prstGeom prst="rect">
            <a:avLst/>
          </a:prstGeom>
          <a:noFill/>
          <a:ln/>
        </p:spPr>
        <p:txBody>
          <a:bodyPr wrap="square" lIns="0" tIns="0" rIns="0" bIns="0" rtlCol="0" anchor="t"/>
          <a:lstStyle/>
          <a:p>
            <a:pPr algn="ctr" indent="0" marL="0">
              <a:buNone/>
            </a:pPr>
            <a:r>
              <a:rPr lang="en-US" sz="1150" dirty="0">
                <a:solidFill>
                  <a:srgbClr val="0F172A"/>
                </a:solidFill>
                <a:latin typeface="Segoe UI Semibold" pitchFamily="34" charset="0"/>
                <a:ea typeface="Segoe UI Semibold" pitchFamily="34" charset="-122"/>
                <a:cs typeface="Segoe UI Semibold" pitchFamily="34" charset="-120"/>
              </a:rPr>
              <a:t>Recommend</a:t>
            </a:r>
            <a:endParaRPr lang="en-US" sz="1150" dirty="0"/>
          </a:p>
        </p:txBody>
      </p:sp>
      <p:sp>
        <p:nvSpPr>
          <p:cNvPr id="18" name="Text 16"/>
          <p:cNvSpPr/>
          <p:nvPr/>
        </p:nvSpPr>
        <p:spPr>
          <a:xfrm>
            <a:off x="3707892" y="1984248"/>
            <a:ext cx="1145286" cy="48463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message + action</a:t>
            </a:r>
            <a:endParaRPr lang="en-US" sz="1100" dirty="0"/>
          </a:p>
        </p:txBody>
      </p:sp>
      <p:sp>
        <p:nvSpPr>
          <p:cNvPr id="19" name="Shape 17"/>
          <p:cNvSpPr/>
          <p:nvPr/>
        </p:nvSpPr>
        <p:spPr>
          <a:xfrm>
            <a:off x="4962906" y="1988820"/>
            <a:ext cx="201168" cy="0"/>
          </a:xfrm>
          <a:prstGeom prst="line">
            <a:avLst/>
          </a:prstGeom>
          <a:noFill/>
          <a:ln w="25400">
            <a:solidFill>
              <a:srgbClr val="2563EB"/>
            </a:solidFill>
            <a:prstDash val="solid"/>
            <a:tailEnd type="triangle"/>
          </a:ln>
        </p:spPr>
      </p:sp>
      <p:sp>
        <p:nvSpPr>
          <p:cNvPr id="20" name="Shape 18"/>
          <p:cNvSpPr/>
          <p:nvPr/>
        </p:nvSpPr>
        <p:spPr>
          <a:xfrm>
            <a:off x="5200650" y="1417320"/>
            <a:ext cx="1291590" cy="1143000"/>
          </a:xfrm>
          <a:prstGeom prst="roundRect">
            <a:avLst>
              <a:gd name="adj" fmla="val 6400"/>
            </a:avLst>
          </a:prstGeom>
          <a:solidFill>
            <a:srgbClr val="EFF6FF"/>
          </a:solidFill>
          <a:ln w="12700">
            <a:solidFill>
              <a:srgbClr val="DBEAFE"/>
            </a:solidFill>
            <a:prstDash val="solid"/>
          </a:ln>
        </p:spPr>
      </p:sp>
      <p:sp>
        <p:nvSpPr>
          <p:cNvPr id="21" name="Text 19"/>
          <p:cNvSpPr/>
          <p:nvPr/>
        </p:nvSpPr>
        <p:spPr>
          <a:xfrm>
            <a:off x="5273802" y="1527048"/>
            <a:ext cx="1145286" cy="457200"/>
          </a:xfrm>
          <a:prstGeom prst="rect">
            <a:avLst/>
          </a:prstGeom>
          <a:noFill/>
          <a:ln/>
        </p:spPr>
        <p:txBody>
          <a:bodyPr wrap="square" lIns="0" tIns="0" rIns="0" bIns="0" rtlCol="0" anchor="t"/>
          <a:lstStyle/>
          <a:p>
            <a:pPr algn="ctr" indent="0" marL="0">
              <a:buNone/>
            </a:pPr>
            <a:r>
              <a:rPr lang="en-US" sz="1150" dirty="0">
                <a:solidFill>
                  <a:srgbClr val="0F172A"/>
                </a:solidFill>
                <a:latin typeface="Segoe UI Semibold" pitchFamily="34" charset="0"/>
                <a:ea typeface="Segoe UI Semibold" pitchFamily="34" charset="-122"/>
                <a:cs typeface="Segoe UI Semibold" pitchFamily="34" charset="-120"/>
              </a:rPr>
              <a:t>Teacher / student</a:t>
            </a:r>
            <a:endParaRPr lang="en-US" sz="1150" dirty="0"/>
          </a:p>
        </p:txBody>
      </p:sp>
      <p:sp>
        <p:nvSpPr>
          <p:cNvPr id="22" name="Text 20"/>
          <p:cNvSpPr/>
          <p:nvPr/>
        </p:nvSpPr>
        <p:spPr>
          <a:xfrm>
            <a:off x="5273802" y="1984248"/>
            <a:ext cx="1145286" cy="48463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assign · act</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788920"/>
          <a:ext cx="5989320" cy="914400"/>
        </p:xfrm>
        <a:graphic>
          <a:graphicData uri="http://schemas.openxmlformats.org/drawingml/2006/table">
            <a:tbl>
              <a:tblPr/>
              <a:tblGrid>
                <a:gridCol w="2651760"/>
                <a:gridCol w="3337560"/>
              </a:tblGrid>
              <a:tr h="420624">
                <a:tc>
                  <a:txBody>
                    <a:bodyPr/>
                    <a:lstStyle/>
                    <a:p>
                      <a:pPr indent="0" marL="0">
                        <a:buNone/>
                      </a:pPr>
                      <a:r>
                        <a:rPr lang="en-US" sz="1350" b="1" dirty="0">
                          <a:solidFill>
                            <a:srgbClr val="FFFFFF"/>
                          </a:solidFill>
                          <a:latin typeface="Segoe UI Semibold" pitchFamily="34" charset="0"/>
                          <a:ea typeface="Segoe UI Semibold" pitchFamily="34" charset="-122"/>
                          <a:cs typeface="Segoe UI Semibold" pitchFamily="34" charset="-120"/>
                        </a:rPr>
                        <a:t>SHAP contribution</a:t>
                      </a:r>
                      <a:endParaRPr lang="en-US" sz="135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indent="0" marL="0">
                        <a:buNone/>
                      </a:pPr>
                      <a:r>
                        <a:rPr lang="en-US" sz="1350" b="1" dirty="0">
                          <a:solidFill>
                            <a:srgbClr val="FFFFFF"/>
                          </a:solidFill>
                          <a:latin typeface="Segoe UI Semibold" pitchFamily="34" charset="0"/>
                          <a:ea typeface="Segoe UI Semibold" pitchFamily="34" charset="-122"/>
                          <a:cs typeface="Segoe UI Semibold" pitchFamily="34" charset="-120"/>
                        </a:rPr>
                        <a:t>Result</a:t>
                      </a:r>
                      <a:endParaRPr lang="en-US" sz="1350" dirty="0">
                        <a:latin typeface="Segoe UI Semibold" charset="0"/>
                        <a:ea typeface="Segoe UI Semibold" charset="0"/>
                        <a:cs typeface="Segoe UI Semibold"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r h="420624">
                <a:tc>
                  <a:txBody>
                    <a:bodyPr/>
                    <a:lstStyle/>
                    <a:p>
                      <a:pPr indent="0" marL="0">
                        <a:buNone/>
                      </a:pPr>
                      <a:r>
                        <a:rPr lang="en-US" sz="1350" dirty="0">
                          <a:solidFill>
                            <a:srgbClr val="334155"/>
                          </a:solidFill>
                          <a:latin typeface="Segoe UI" pitchFamily="34" charset="0"/>
                          <a:ea typeface="Segoe UI" pitchFamily="34" charset="-122"/>
                          <a:cs typeface="Segoe UI" pitchFamily="34" charset="-120"/>
                        </a:rPr>
                        <a:t>below −1.0 marks</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BE123C"/>
                          </a:solidFill>
                          <a:latin typeface="Segoe UI" pitchFamily="34" charset="0"/>
                          <a:ea typeface="Segoe UI" pitchFamily="34" charset="-122"/>
                          <a:cs typeface="Segoe UI" pitchFamily="34" charset="-120"/>
                        </a:rPr>
                        <a:t>HIGH priority</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350" dirty="0">
                          <a:solidFill>
                            <a:srgbClr val="334155"/>
                          </a:solidFill>
                          <a:latin typeface="Segoe UI" pitchFamily="34" charset="0"/>
                          <a:ea typeface="Segoe UI" pitchFamily="34" charset="-122"/>
                          <a:cs typeface="Segoe UI" pitchFamily="34" charset="-120"/>
                        </a:rPr>
                        <a:t>−1.0 to −0.5 marks</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B45309"/>
                          </a:solidFill>
                          <a:latin typeface="Segoe UI" pitchFamily="34" charset="0"/>
                          <a:ea typeface="Segoe UI" pitchFamily="34" charset="-122"/>
                          <a:cs typeface="Segoe UI" pitchFamily="34" charset="-120"/>
                        </a:rPr>
                        <a:t>MEDIUM priority</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350" dirty="0">
                          <a:solidFill>
                            <a:srgbClr val="334155"/>
                          </a:solidFill>
                          <a:latin typeface="Segoe UI" pitchFamily="34" charset="0"/>
                          <a:ea typeface="Segoe UI" pitchFamily="34" charset="-122"/>
                          <a:cs typeface="Segoe UI" pitchFamily="34" charset="-120"/>
                        </a:rPr>
                        <a:t>−0.5 to +0.5 marks</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50" dirty="0">
                          <a:solidFill>
                            <a:srgbClr val="334155"/>
                          </a:solidFill>
                          <a:latin typeface="Segoe UI" pitchFamily="34" charset="0"/>
                          <a:ea typeface="Segoe UI" pitchFamily="34" charset="-122"/>
                          <a:cs typeface="Segoe UI" pitchFamily="34" charset="-120"/>
                        </a:rPr>
                        <a:t>no recommendation</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20624">
                <a:tc>
                  <a:txBody>
                    <a:bodyPr/>
                    <a:lstStyle/>
                    <a:p>
                      <a:pPr indent="0" marL="0">
                        <a:buNone/>
                      </a:pPr>
                      <a:r>
                        <a:rPr lang="en-US" sz="1350" dirty="0">
                          <a:solidFill>
                            <a:srgbClr val="334155"/>
                          </a:solidFill>
                          <a:latin typeface="Segoe UI" pitchFamily="34" charset="0"/>
                          <a:ea typeface="Segoe UI" pitchFamily="34" charset="-122"/>
                          <a:cs typeface="Segoe UI" pitchFamily="34" charset="-120"/>
                        </a:rPr>
                        <a:t>above +0.5 marks</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350" b="1" dirty="0">
                          <a:solidFill>
                            <a:srgbClr val="047857"/>
                          </a:solidFill>
                          <a:latin typeface="Segoe UI" pitchFamily="34" charset="0"/>
                          <a:ea typeface="Segoe UI" pitchFamily="34" charset="-122"/>
                          <a:cs typeface="Segoe UI" pitchFamily="34" charset="-120"/>
                        </a:rPr>
                        <a:t>POSITIVE (maintenance guidance)</a:t>
                      </a:r>
                      <a:endParaRPr lang="en-US" sz="13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24" name="Shape 21"/>
          <p:cNvSpPr/>
          <p:nvPr/>
        </p:nvSpPr>
        <p:spPr>
          <a:xfrm>
            <a:off x="502920" y="5074920"/>
            <a:ext cx="5989320" cy="1188720"/>
          </a:xfrm>
          <a:prstGeom prst="roundRect">
            <a:avLst>
              <a:gd name="adj" fmla="val 6154"/>
            </a:avLst>
          </a:prstGeom>
          <a:solidFill>
            <a:srgbClr val="F8FAFC"/>
          </a:solidFill>
          <a:ln w="12700">
            <a:solidFill>
              <a:srgbClr val="E2E8F0"/>
            </a:solidFill>
            <a:prstDash val="solid"/>
          </a:ln>
        </p:spPr>
      </p:sp>
      <p:sp>
        <p:nvSpPr>
          <p:cNvPr id="25" name="Text 22"/>
          <p:cNvSpPr/>
          <p:nvPr/>
        </p:nvSpPr>
        <p:spPr>
          <a:xfrm>
            <a:off x="685800" y="5138928"/>
            <a:ext cx="5669280" cy="1060704"/>
          </a:xfrm>
          <a:prstGeom prst="rect">
            <a:avLst/>
          </a:prstGeom>
          <a:noFill/>
          <a:ln/>
        </p:spPr>
        <p:txBody>
          <a:bodyPr wrap="square" lIns="0" tIns="0" rIns="0" bIns="0" rtlCol="0" anchor="ctr"/>
          <a:lstStyle/>
          <a:p>
            <a:pPr indent="0" marL="0">
              <a:buNone/>
            </a:pPr>
            <a:r>
              <a:rPr lang="en-US" sz="1250" dirty="0">
                <a:solidFill>
                  <a:srgbClr val="334155"/>
                </a:solidFill>
                <a:latin typeface="Segoe UI" pitchFamily="34" charset="0"/>
                <a:ea typeface="Segoe UI" pitchFamily="34" charset="-122"/>
                <a:cs typeface="Segoe UI" pitchFamily="34" charset="-120"/>
              </a:rPr>
              <a:t>Rules live in app.py (classify_shap_priority). Negative contributors come first, strongest first. Recommendations are academic guidance — they are not guaranteed to raise marks and are not causal claims.</a:t>
            </a:r>
            <a:endParaRPr lang="en-US" sz="1250" dirty="0"/>
          </a:p>
        </p:txBody>
      </p:sp>
      <p:sp>
        <p:nvSpPr>
          <p:cNvPr id="26" name="Shape 23"/>
          <p:cNvSpPr/>
          <p:nvPr/>
        </p:nvSpPr>
        <p:spPr>
          <a:xfrm>
            <a:off x="6784848" y="2014341"/>
            <a:ext cx="4809744" cy="3332239"/>
          </a:xfrm>
          <a:prstGeom prst="rect">
            <a:avLst/>
          </a:prstGeom>
          <a:solidFill>
            <a:srgbClr val="E2E8F0"/>
          </a:solidFill>
          <a:ln w="12700">
            <a:solidFill>
              <a:srgbClr val="E2E8F0"/>
            </a:solidFill>
            <a:prstDash val="solid"/>
          </a:ln>
        </p:spPr>
      </p:sp>
      <p:pic>
        <p:nvPicPr>
          <p:cNvPr id="27" name="Image 0" descr="C:\Users\NEMMI\AppData\Local\Temp\claude\d--Documents-Sharda-University-Semester-5-PBL-fontend-student-prediction\d6ce81b2-62cd-4b95-adc5-3e24f53e42a1\scratchpad\deck2\shots\06b-rec-card.png">    </p:cNvPr>
          <p:cNvPicPr>
            <a:picLocks noChangeAspect="1"/>
          </p:cNvPicPr>
          <p:nvPr/>
        </p:nvPicPr>
        <p:blipFill>
          <a:blip r:embed="rId1"/>
          <a:stretch>
            <a:fillRect/>
          </a:stretch>
        </p:blipFill>
        <p:spPr>
          <a:xfrm>
            <a:off x="6812280" y="2041773"/>
            <a:ext cx="4754880" cy="3277375"/>
          </a:xfrm>
          <a:prstGeom prst="rect">
            <a:avLst/>
          </a:prstGeom>
        </p:spPr>
      </p:pic>
      <p:sp>
        <p:nvSpPr>
          <p:cNvPr id="28" name="Text 24"/>
          <p:cNvSpPr/>
          <p:nvPr/>
        </p:nvSpPr>
        <p:spPr>
          <a:xfrm>
            <a:off x="6812280" y="5392299"/>
            <a:ext cx="475488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Actual /recommend output — Demo Student 3, strongest negative contributor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WHAT-IF SCENARIO SIMULATOR</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How does the model's prediction change for a different scenario?</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13 / 21</a:t>
            </a:r>
            <a:endParaRPr lang="en-US" sz="1000" dirty="0"/>
          </a:p>
        </p:txBody>
      </p:sp>
      <p:sp>
        <p:nvSpPr>
          <p:cNvPr id="8" name="Shape 6"/>
          <p:cNvSpPr/>
          <p:nvPr/>
        </p:nvSpPr>
        <p:spPr>
          <a:xfrm>
            <a:off x="548640" y="1536192"/>
            <a:ext cx="402336" cy="402336"/>
          </a:xfrm>
          <a:prstGeom prst="ellipse">
            <a:avLst/>
          </a:prstGeom>
          <a:solidFill>
            <a:srgbClr val="2563EB"/>
          </a:solidFill>
          <a:ln w="12700">
            <a:solidFill>
              <a:srgbClr val="2563EB"/>
            </a:solidFill>
            <a:prstDash val="solid"/>
          </a:ln>
        </p:spPr>
      </p:sp>
      <p:sp>
        <p:nvSpPr>
          <p:cNvPr id="9" name="Text 7"/>
          <p:cNvSpPr/>
          <p:nvPr/>
        </p:nvSpPr>
        <p:spPr>
          <a:xfrm>
            <a:off x="548640" y="1536192"/>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8"/>
          <p:cNvSpPr/>
          <p:nvPr/>
        </p:nvSpPr>
        <p:spPr>
          <a:xfrm>
            <a:off x="1143000" y="1463040"/>
            <a:ext cx="4023360" cy="56692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Start from the selected demo student's current inputs.</a:t>
            </a:r>
            <a:endParaRPr lang="en-US" sz="1450" dirty="0"/>
          </a:p>
        </p:txBody>
      </p:sp>
      <p:sp>
        <p:nvSpPr>
          <p:cNvPr id="11" name="Shape 9"/>
          <p:cNvSpPr/>
          <p:nvPr/>
        </p:nvSpPr>
        <p:spPr>
          <a:xfrm>
            <a:off x="548640" y="2286000"/>
            <a:ext cx="402336" cy="402336"/>
          </a:xfrm>
          <a:prstGeom prst="ellipse">
            <a:avLst/>
          </a:prstGeom>
          <a:solidFill>
            <a:srgbClr val="2563EB"/>
          </a:solidFill>
          <a:ln w="12700">
            <a:solidFill>
              <a:srgbClr val="2563EB"/>
            </a:solidFill>
            <a:prstDash val="solid"/>
          </a:ln>
        </p:spPr>
      </p:sp>
      <p:sp>
        <p:nvSpPr>
          <p:cNvPr id="12" name="Text 10"/>
          <p:cNvSpPr/>
          <p:nvPr/>
        </p:nvSpPr>
        <p:spPr>
          <a:xfrm>
            <a:off x="548640" y="2286000"/>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3" name="Text 11"/>
          <p:cNvSpPr/>
          <p:nvPr/>
        </p:nvSpPr>
        <p:spPr>
          <a:xfrm>
            <a:off x="1143000" y="2212848"/>
            <a:ext cx="4023360" cy="56692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Move one or more sliders — changed inputs are marked.</a:t>
            </a:r>
            <a:endParaRPr lang="en-US" sz="1450" dirty="0"/>
          </a:p>
        </p:txBody>
      </p:sp>
      <p:sp>
        <p:nvSpPr>
          <p:cNvPr id="14" name="Shape 12"/>
          <p:cNvSpPr/>
          <p:nvPr/>
        </p:nvSpPr>
        <p:spPr>
          <a:xfrm>
            <a:off x="548640" y="3035808"/>
            <a:ext cx="402336" cy="402336"/>
          </a:xfrm>
          <a:prstGeom prst="ellipse">
            <a:avLst/>
          </a:prstGeom>
          <a:solidFill>
            <a:srgbClr val="2563EB"/>
          </a:solidFill>
          <a:ln w="12700">
            <a:solidFill>
              <a:srgbClr val="2563EB"/>
            </a:solidFill>
            <a:prstDash val="solid"/>
          </a:ln>
        </p:spPr>
      </p:sp>
      <p:sp>
        <p:nvSpPr>
          <p:cNvPr id="15" name="Text 13"/>
          <p:cNvSpPr/>
          <p:nvPr/>
        </p:nvSpPr>
        <p:spPr>
          <a:xfrm>
            <a:off x="548640" y="3035808"/>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6" name="Text 14"/>
          <p:cNvSpPr/>
          <p:nvPr/>
        </p:nvSpPr>
        <p:spPr>
          <a:xfrm>
            <a:off x="1143000" y="2962656"/>
            <a:ext cx="4023360" cy="56692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The app calls the real /predict endpoint for the scenario.</a:t>
            </a:r>
            <a:endParaRPr lang="en-US" sz="1450" dirty="0"/>
          </a:p>
        </p:txBody>
      </p:sp>
      <p:sp>
        <p:nvSpPr>
          <p:cNvPr id="17" name="Shape 15"/>
          <p:cNvSpPr/>
          <p:nvPr/>
        </p:nvSpPr>
        <p:spPr>
          <a:xfrm>
            <a:off x="548640" y="3785616"/>
            <a:ext cx="402336" cy="402336"/>
          </a:xfrm>
          <a:prstGeom prst="ellipse">
            <a:avLst/>
          </a:prstGeom>
          <a:solidFill>
            <a:srgbClr val="2563EB"/>
          </a:solidFill>
          <a:ln w="12700">
            <a:solidFill>
              <a:srgbClr val="2563EB"/>
            </a:solidFill>
            <a:prstDash val="solid"/>
          </a:ln>
        </p:spPr>
      </p:sp>
      <p:sp>
        <p:nvSpPr>
          <p:cNvPr id="18" name="Text 16"/>
          <p:cNvSpPr/>
          <p:nvPr/>
        </p:nvSpPr>
        <p:spPr>
          <a:xfrm>
            <a:off x="548640" y="3785616"/>
            <a:ext cx="402336" cy="402336"/>
          </a:xfrm>
          <a:prstGeom prst="rect">
            <a:avLst/>
          </a:prstGeom>
          <a:noFill/>
          <a:ln/>
        </p:spPr>
        <p:txBody>
          <a:bodyPr wrap="square" lIns="0" tIns="0" rIns="0" bIns="0" rtlCol="0" anchor="ctr"/>
          <a:lstStyle/>
          <a:p>
            <a:pPr algn="ctr" indent="0" marL="0">
              <a:buNone/>
            </a:pPr>
            <a:r>
              <a:rPr lang="en-US" sz="1400"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19" name="Text 17"/>
          <p:cNvSpPr/>
          <p:nvPr/>
        </p:nvSpPr>
        <p:spPr>
          <a:xfrm>
            <a:off x="1143000" y="3712464"/>
            <a:ext cx="4023360" cy="566928"/>
          </a:xfrm>
          <a:prstGeom prst="rect">
            <a:avLst/>
          </a:prstGeom>
          <a:noFill/>
          <a:ln/>
        </p:spPr>
        <p:txBody>
          <a:bodyPr wrap="square" lIns="0" tIns="0" rIns="0" bIns="0" rtlCol="0" anchor="ctr"/>
          <a:lstStyle/>
          <a:p>
            <a:pPr indent="0" marL="0">
              <a:buNone/>
            </a:pPr>
            <a:r>
              <a:rPr lang="en-US" sz="1450" dirty="0">
                <a:solidFill>
                  <a:srgbClr val="334155"/>
                </a:solidFill>
                <a:latin typeface="Segoe UI" pitchFamily="34" charset="0"/>
                <a:ea typeface="Segoe UI" pitchFamily="34" charset="-122"/>
                <a:cs typeface="Segoe UI" pitchFamily="34" charset="-120"/>
              </a:rPr>
              <a:t>It shows current vs What-If prediction and the difference.</a:t>
            </a:r>
            <a:endParaRPr lang="en-US" sz="1450" dirty="0"/>
          </a:p>
        </p:txBody>
      </p:sp>
      <p:sp>
        <p:nvSpPr>
          <p:cNvPr id="20" name="Shape 18"/>
          <p:cNvSpPr/>
          <p:nvPr/>
        </p:nvSpPr>
        <p:spPr>
          <a:xfrm>
            <a:off x="502920" y="4572000"/>
            <a:ext cx="4754880" cy="1645920"/>
          </a:xfrm>
          <a:prstGeom prst="roundRect">
            <a:avLst>
              <a:gd name="adj" fmla="val 4444"/>
            </a:avLst>
          </a:prstGeom>
          <a:solidFill>
            <a:srgbClr val="FEF3C7"/>
          </a:solidFill>
          <a:ln w="12700">
            <a:solidFill>
              <a:srgbClr val="FDE68A"/>
            </a:solidFill>
            <a:prstDash val="solid"/>
          </a:ln>
        </p:spPr>
      </p:sp>
      <p:sp>
        <p:nvSpPr>
          <p:cNvPr id="21" name="Text 19"/>
          <p:cNvSpPr/>
          <p:nvPr/>
        </p:nvSpPr>
        <p:spPr>
          <a:xfrm>
            <a:off x="685800" y="4645152"/>
            <a:ext cx="4434840" cy="1508760"/>
          </a:xfrm>
          <a:prstGeom prst="rect">
            <a:avLst/>
          </a:prstGeom>
          <a:noFill/>
          <a:ln/>
        </p:spPr>
        <p:txBody>
          <a:bodyPr wrap="square" lIns="0" tIns="0" rIns="0" bIns="0" rtlCol="0" anchor="ctr"/>
          <a:lstStyle/>
          <a:p>
            <a:pPr indent="0" marL="0">
              <a:buNone/>
            </a:pPr>
            <a:r>
              <a:rPr lang="en-US" sz="1300" b="1" dirty="0">
                <a:solidFill>
                  <a:srgbClr val="78350F"/>
                </a:solidFill>
                <a:latin typeface="Segoe UI" pitchFamily="34" charset="0"/>
                <a:ea typeface="Segoe UI" pitchFamily="34" charset="-122"/>
                <a:cs typeface="Segoe UI" pitchFamily="34" charset="-120"/>
              </a:rPr>
              <a:t>Model scenario comparison, not a causal guarantee.
</a:t>
            </a:r>
            <a:pPr indent="0" marL="0">
              <a:buNone/>
            </a:pPr>
            <a:r>
              <a:rPr lang="en-US" sz="1300" dirty="0">
                <a:solidFill>
                  <a:srgbClr val="78350F"/>
                </a:solidFill>
                <a:latin typeface="Segoe UI" pitchFamily="34" charset="0"/>
                <a:ea typeface="Segoe UI" pitchFamily="34" charset="-122"/>
                <a:cs typeface="Segoe UI" pitchFamily="34" charset="-120"/>
              </a:rPr>
              <a:t>Example on screen: attendance 70 → 85 changes the model's prediction from 42.12 to 47.97 (+5.85 marks). It does not mean the student will gain 5.85 marks.</a:t>
            </a:r>
            <a:endParaRPr lang="en-US" sz="1300" dirty="0"/>
          </a:p>
        </p:txBody>
      </p:sp>
      <p:sp>
        <p:nvSpPr>
          <p:cNvPr id="22" name="Shape 20"/>
          <p:cNvSpPr/>
          <p:nvPr/>
        </p:nvSpPr>
        <p:spPr>
          <a:xfrm>
            <a:off x="5647177" y="1298448"/>
            <a:ext cx="5759206" cy="4764024"/>
          </a:xfrm>
          <a:prstGeom prst="rect">
            <a:avLst/>
          </a:prstGeom>
          <a:solidFill>
            <a:srgbClr val="E2E8F0"/>
          </a:solidFill>
          <a:ln w="12700">
            <a:solidFill>
              <a:srgbClr val="E2E8F0"/>
            </a:solidFill>
            <a:prstDash val="solid"/>
          </a:ln>
        </p:spPr>
      </p:sp>
      <p:pic>
        <p:nvPicPr>
          <p:cNvPr id="23" name="Image 0" descr="C:\Users\NEMMI\AppData\Local\Temp\claude\d--Documents-Sharda-University-Semester-5-PBL-fontend-student-prediction\d6ce81b2-62cd-4b95-adc5-3e24f53e42a1\scratchpad\deck2\shots\08-whatif.png">    </p:cNvPr>
          <p:cNvPicPr>
            <a:picLocks noChangeAspect="1"/>
          </p:cNvPicPr>
          <p:nvPr/>
        </p:nvPicPr>
        <p:blipFill>
          <a:blip r:embed="rId1"/>
          <a:stretch>
            <a:fillRect/>
          </a:stretch>
        </p:blipFill>
        <p:spPr>
          <a:xfrm>
            <a:off x="5674609" y="1325880"/>
            <a:ext cx="5704342" cy="4709160"/>
          </a:xfrm>
          <a:prstGeom prst="rect">
            <a:avLst/>
          </a:prstGeom>
        </p:spPr>
      </p:pic>
      <p:sp>
        <p:nvSpPr>
          <p:cNvPr id="24" name="Text 21"/>
          <p:cNvSpPr/>
          <p:nvPr/>
        </p:nvSpPr>
        <p:spPr>
          <a:xfrm>
            <a:off x="5674609" y="6108192"/>
            <a:ext cx="5704342"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Actual What-If page — Demo Student 3, attendance changed from 70 to 85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STUDENT PORTAL</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One demo student, from inputs to explanation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14 / 21</a:t>
            </a:r>
            <a:endParaRPr lang="en-US" sz="1000" dirty="0"/>
          </a:p>
        </p:txBody>
      </p:sp>
      <p:sp>
        <p:nvSpPr>
          <p:cNvPr id="8" name="Shape 6"/>
          <p:cNvSpPr/>
          <p:nvPr/>
        </p:nvSpPr>
        <p:spPr>
          <a:xfrm>
            <a:off x="8732520" y="274320"/>
            <a:ext cx="2971800" cy="292608"/>
          </a:xfrm>
          <a:prstGeom prst="roundRect">
            <a:avLst>
              <a:gd name="adj" fmla="val 50000"/>
            </a:avLst>
          </a:prstGeom>
          <a:solidFill>
            <a:srgbClr val="FEF3C7"/>
          </a:solidFill>
          <a:ln w="12700">
            <a:solidFill>
              <a:srgbClr val="FEF3C7"/>
            </a:solidFill>
            <a:prstDash val="solid"/>
          </a:ln>
        </p:spPr>
      </p:sp>
      <p:sp>
        <p:nvSpPr>
          <p:cNvPr id="9" name="Text 7"/>
          <p:cNvSpPr/>
          <p:nvPr/>
        </p:nvSpPr>
        <p:spPr>
          <a:xfrm>
            <a:off x="8732520" y="274320"/>
            <a:ext cx="2971800" cy="292608"/>
          </a:xfrm>
          <a:prstGeom prst="rect">
            <a:avLst/>
          </a:prstGeom>
          <a:noFill/>
          <a:ln/>
        </p:spPr>
        <p:txBody>
          <a:bodyPr wrap="square" lIns="0" tIns="0" rIns="0" bIns="0" rtlCol="0" anchor="ctr"/>
          <a:lstStyle/>
          <a:p>
            <a:pPr algn="ctr" indent="0" marL="0">
              <a:buNone/>
            </a:pPr>
            <a:r>
              <a:rPr lang="en-US" sz="1000" dirty="0">
                <a:solidFill>
                  <a:srgbClr val="B45309"/>
                </a:solidFill>
                <a:latin typeface="Segoe UI Semibold" pitchFamily="34" charset="0"/>
                <a:ea typeface="Segoe UI Semibold" pitchFamily="34" charset="-122"/>
                <a:cs typeface="Segoe UI Semibold" pitchFamily="34" charset="-120"/>
              </a:rPr>
              <a:t>LIVE DEMO · predefined demo students</a:t>
            </a:r>
            <a:endParaRPr lang="en-US" sz="1000" dirty="0"/>
          </a:p>
        </p:txBody>
      </p:sp>
      <p:sp>
        <p:nvSpPr>
          <p:cNvPr id="10" name="Shape 8"/>
          <p:cNvSpPr/>
          <p:nvPr/>
        </p:nvSpPr>
        <p:spPr>
          <a:xfrm>
            <a:off x="475488" y="1312736"/>
            <a:ext cx="7690104" cy="4826889"/>
          </a:xfrm>
          <a:prstGeom prst="rect">
            <a:avLst/>
          </a:prstGeom>
          <a:solidFill>
            <a:srgbClr val="E2E8F0"/>
          </a:solidFill>
          <a:ln w="12700">
            <a:solidFill>
              <a:srgbClr val="E2E8F0"/>
            </a:solidFill>
            <a:prstDash val="solid"/>
          </a:ln>
        </p:spPr>
      </p:sp>
      <p:pic>
        <p:nvPicPr>
          <p:cNvPr id="11" name="Image 0" descr="C:\Users\NEMMI\AppData\Local\Temp\claude\d--Documents-Sharda-University-Semester-5-PBL-fontend-student-prediction\d6ce81b2-62cd-4b95-adc5-3e24f53e42a1\scratchpad\deck2\shots\07-student-dashboard.png">    </p:cNvPr>
          <p:cNvPicPr>
            <a:picLocks noChangeAspect="1"/>
          </p:cNvPicPr>
          <p:nvPr/>
        </p:nvPicPr>
        <p:blipFill>
          <a:blip r:embed="rId1"/>
          <a:stretch>
            <a:fillRect/>
          </a:stretch>
        </p:blipFill>
        <p:spPr>
          <a:xfrm>
            <a:off x="502920" y="1340168"/>
            <a:ext cx="7635240" cy="4772025"/>
          </a:xfrm>
          <a:prstGeom prst="rect">
            <a:avLst/>
          </a:prstGeom>
        </p:spPr>
      </p:pic>
      <p:sp>
        <p:nvSpPr>
          <p:cNvPr id="12" name="Text 9"/>
          <p:cNvSpPr/>
          <p:nvPr/>
        </p:nvSpPr>
        <p:spPr>
          <a:xfrm>
            <a:off x="502920" y="6185345"/>
            <a:ext cx="763524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Actual Student Dashboard after predicting Demo Student 3</a:t>
            </a:r>
            <a:endParaRPr lang="en-US" sz="1100" dirty="0"/>
          </a:p>
        </p:txBody>
      </p:sp>
      <p:sp>
        <p:nvSpPr>
          <p:cNvPr id="13" name="Shape 10"/>
          <p:cNvSpPr/>
          <p:nvPr/>
        </p:nvSpPr>
        <p:spPr>
          <a:xfrm>
            <a:off x="3210687" y="3173063"/>
            <a:ext cx="310896" cy="310896"/>
          </a:xfrm>
          <a:prstGeom prst="ellipse">
            <a:avLst/>
          </a:prstGeom>
          <a:solidFill>
            <a:srgbClr val="BE123C"/>
          </a:solidFill>
          <a:ln w="19050">
            <a:solidFill>
              <a:srgbClr val="FFFFFF"/>
            </a:solidFill>
            <a:prstDash val="solid"/>
          </a:ln>
        </p:spPr>
      </p:sp>
      <p:sp>
        <p:nvSpPr>
          <p:cNvPr id="14" name="Text 11"/>
          <p:cNvSpPr/>
          <p:nvPr/>
        </p:nvSpPr>
        <p:spPr>
          <a:xfrm>
            <a:off x="3210687" y="3173063"/>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15" name="Shape 12"/>
          <p:cNvSpPr/>
          <p:nvPr/>
        </p:nvSpPr>
        <p:spPr>
          <a:xfrm>
            <a:off x="1922240" y="4625880"/>
            <a:ext cx="310896" cy="310896"/>
          </a:xfrm>
          <a:prstGeom prst="ellipse">
            <a:avLst/>
          </a:prstGeom>
          <a:solidFill>
            <a:srgbClr val="BE123C"/>
          </a:solidFill>
          <a:ln w="19050">
            <a:solidFill>
              <a:srgbClr val="FFFFFF"/>
            </a:solidFill>
            <a:prstDash val="solid"/>
          </a:ln>
        </p:spPr>
      </p:sp>
      <p:sp>
        <p:nvSpPr>
          <p:cNvPr id="16" name="Text 13"/>
          <p:cNvSpPr/>
          <p:nvPr/>
        </p:nvSpPr>
        <p:spPr>
          <a:xfrm>
            <a:off x="1922240" y="4625880"/>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7" name="Shape 14"/>
          <p:cNvSpPr/>
          <p:nvPr/>
        </p:nvSpPr>
        <p:spPr>
          <a:xfrm>
            <a:off x="4313555" y="4625880"/>
            <a:ext cx="310896" cy="310896"/>
          </a:xfrm>
          <a:prstGeom prst="ellipse">
            <a:avLst/>
          </a:prstGeom>
          <a:solidFill>
            <a:srgbClr val="BE123C"/>
          </a:solidFill>
          <a:ln w="19050">
            <a:solidFill>
              <a:srgbClr val="FFFFFF"/>
            </a:solidFill>
            <a:prstDash val="solid"/>
          </a:ln>
        </p:spPr>
      </p:sp>
      <p:sp>
        <p:nvSpPr>
          <p:cNvPr id="18" name="Text 15"/>
          <p:cNvSpPr/>
          <p:nvPr/>
        </p:nvSpPr>
        <p:spPr>
          <a:xfrm>
            <a:off x="4313555" y="4625880"/>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9" name="Shape 16"/>
          <p:cNvSpPr/>
          <p:nvPr/>
        </p:nvSpPr>
        <p:spPr>
          <a:xfrm>
            <a:off x="3592449" y="4965224"/>
            <a:ext cx="310896" cy="310896"/>
          </a:xfrm>
          <a:prstGeom prst="ellipse">
            <a:avLst/>
          </a:prstGeom>
          <a:solidFill>
            <a:srgbClr val="BE123C"/>
          </a:solidFill>
          <a:ln w="19050">
            <a:solidFill>
              <a:srgbClr val="FFFFFF"/>
            </a:solidFill>
            <a:prstDash val="solid"/>
          </a:ln>
        </p:spPr>
      </p:sp>
      <p:sp>
        <p:nvSpPr>
          <p:cNvPr id="20" name="Text 17"/>
          <p:cNvSpPr/>
          <p:nvPr/>
        </p:nvSpPr>
        <p:spPr>
          <a:xfrm>
            <a:off x="3592449" y="4965224"/>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1" name="Shape 18"/>
          <p:cNvSpPr/>
          <p:nvPr/>
        </p:nvSpPr>
        <p:spPr>
          <a:xfrm>
            <a:off x="6195854" y="4244118"/>
            <a:ext cx="310896" cy="310896"/>
          </a:xfrm>
          <a:prstGeom prst="ellipse">
            <a:avLst/>
          </a:prstGeom>
          <a:solidFill>
            <a:srgbClr val="BE123C"/>
          </a:solidFill>
          <a:ln w="19050">
            <a:solidFill>
              <a:srgbClr val="FFFFFF"/>
            </a:solidFill>
            <a:prstDash val="solid"/>
          </a:ln>
        </p:spPr>
      </p:sp>
      <p:sp>
        <p:nvSpPr>
          <p:cNvPr id="22" name="Text 19"/>
          <p:cNvSpPr/>
          <p:nvPr/>
        </p:nvSpPr>
        <p:spPr>
          <a:xfrm>
            <a:off x="6195854" y="4244118"/>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3" name="Shape 20"/>
          <p:cNvSpPr/>
          <p:nvPr/>
        </p:nvSpPr>
        <p:spPr>
          <a:xfrm>
            <a:off x="1678337" y="3157157"/>
            <a:ext cx="310896" cy="310896"/>
          </a:xfrm>
          <a:prstGeom prst="ellipse">
            <a:avLst/>
          </a:prstGeom>
          <a:solidFill>
            <a:srgbClr val="BE123C"/>
          </a:solidFill>
          <a:ln w="19050">
            <a:solidFill>
              <a:srgbClr val="FFFFFF"/>
            </a:solidFill>
            <a:prstDash val="solid"/>
          </a:ln>
        </p:spPr>
      </p:sp>
      <p:sp>
        <p:nvSpPr>
          <p:cNvPr id="24" name="Text 21"/>
          <p:cNvSpPr/>
          <p:nvPr/>
        </p:nvSpPr>
        <p:spPr>
          <a:xfrm>
            <a:off x="1678337" y="3157157"/>
            <a:ext cx="310896" cy="310896"/>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25" name="Shape 22"/>
          <p:cNvSpPr/>
          <p:nvPr/>
        </p:nvSpPr>
        <p:spPr>
          <a:xfrm>
            <a:off x="8412480" y="1417320"/>
            <a:ext cx="329184" cy="329184"/>
          </a:xfrm>
          <a:prstGeom prst="ellipse">
            <a:avLst/>
          </a:prstGeom>
          <a:solidFill>
            <a:srgbClr val="BE123C"/>
          </a:solidFill>
          <a:ln w="12700">
            <a:solidFill>
              <a:srgbClr val="BE123C"/>
            </a:solidFill>
            <a:prstDash val="solid"/>
          </a:ln>
        </p:spPr>
      </p:sp>
      <p:sp>
        <p:nvSpPr>
          <p:cNvPr id="26" name="Text 23"/>
          <p:cNvSpPr/>
          <p:nvPr/>
        </p:nvSpPr>
        <p:spPr>
          <a:xfrm>
            <a:off x="8412480" y="141732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27" name="Text 24"/>
          <p:cNvSpPr/>
          <p:nvPr/>
        </p:nvSpPr>
        <p:spPr>
          <a:xfrm>
            <a:off x="8869680" y="1371600"/>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Demo student selector</a:t>
            </a:r>
            <a:endParaRPr lang="en-US" sz="1400" dirty="0"/>
          </a:p>
        </p:txBody>
      </p:sp>
      <p:sp>
        <p:nvSpPr>
          <p:cNvPr id="28" name="Text 25"/>
          <p:cNvSpPr/>
          <p:nvPr/>
        </p:nvSpPr>
        <p:spPr>
          <a:xfrm>
            <a:off x="8869680" y="1700784"/>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five predefined profiles</a:t>
            </a:r>
            <a:endParaRPr lang="en-US" sz="1200" dirty="0"/>
          </a:p>
        </p:txBody>
      </p:sp>
      <p:sp>
        <p:nvSpPr>
          <p:cNvPr id="29" name="Shape 26"/>
          <p:cNvSpPr/>
          <p:nvPr/>
        </p:nvSpPr>
        <p:spPr>
          <a:xfrm>
            <a:off x="8412480" y="2203704"/>
            <a:ext cx="329184" cy="329184"/>
          </a:xfrm>
          <a:prstGeom prst="ellipse">
            <a:avLst/>
          </a:prstGeom>
          <a:solidFill>
            <a:srgbClr val="BE123C"/>
          </a:solidFill>
          <a:ln w="12700">
            <a:solidFill>
              <a:srgbClr val="BE123C"/>
            </a:solidFill>
            <a:prstDash val="solid"/>
          </a:ln>
        </p:spPr>
      </p:sp>
      <p:sp>
        <p:nvSpPr>
          <p:cNvPr id="30" name="Text 27"/>
          <p:cNvSpPr/>
          <p:nvPr/>
        </p:nvSpPr>
        <p:spPr>
          <a:xfrm>
            <a:off x="8412480" y="2203704"/>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31" name="Text 28"/>
          <p:cNvSpPr/>
          <p:nvPr/>
        </p:nvSpPr>
        <p:spPr>
          <a:xfrm>
            <a:off x="8869680" y="2157984"/>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Predicted final marks</a:t>
            </a:r>
            <a:endParaRPr lang="en-US" sz="1400" dirty="0"/>
          </a:p>
        </p:txBody>
      </p:sp>
      <p:sp>
        <p:nvSpPr>
          <p:cNvPr id="32" name="Text 29"/>
          <p:cNvSpPr/>
          <p:nvPr/>
        </p:nvSpPr>
        <p:spPr>
          <a:xfrm>
            <a:off x="8869680" y="2487168"/>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from /predict</a:t>
            </a:r>
            <a:endParaRPr lang="en-US" sz="1200" dirty="0"/>
          </a:p>
        </p:txBody>
      </p:sp>
      <p:sp>
        <p:nvSpPr>
          <p:cNvPr id="33" name="Shape 30"/>
          <p:cNvSpPr/>
          <p:nvPr/>
        </p:nvSpPr>
        <p:spPr>
          <a:xfrm>
            <a:off x="8412480" y="2990088"/>
            <a:ext cx="329184" cy="329184"/>
          </a:xfrm>
          <a:prstGeom prst="ellipse">
            <a:avLst/>
          </a:prstGeom>
          <a:solidFill>
            <a:srgbClr val="BE123C"/>
          </a:solidFill>
          <a:ln w="12700">
            <a:solidFill>
              <a:srgbClr val="BE123C"/>
            </a:solidFill>
            <a:prstDash val="solid"/>
          </a:ln>
        </p:spPr>
      </p:sp>
      <p:sp>
        <p:nvSpPr>
          <p:cNvPr id="34" name="Text 31"/>
          <p:cNvSpPr/>
          <p:nvPr/>
        </p:nvSpPr>
        <p:spPr>
          <a:xfrm>
            <a:off x="8412480" y="2990088"/>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35" name="Text 32"/>
          <p:cNvSpPr/>
          <p:nvPr/>
        </p:nvSpPr>
        <p:spPr>
          <a:xfrm>
            <a:off x="8869680" y="2944368"/>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Early-warning status</a:t>
            </a:r>
            <a:endParaRPr lang="en-US" sz="1400" dirty="0"/>
          </a:p>
        </p:txBody>
      </p:sp>
      <p:sp>
        <p:nvSpPr>
          <p:cNvPr id="36" name="Text 33"/>
          <p:cNvSpPr/>
          <p:nvPr/>
        </p:nvSpPr>
        <p:spPr>
          <a:xfrm>
            <a:off x="8869680" y="3273552"/>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band + basis</a:t>
            </a:r>
            <a:endParaRPr lang="en-US" sz="1200" dirty="0"/>
          </a:p>
        </p:txBody>
      </p:sp>
      <p:sp>
        <p:nvSpPr>
          <p:cNvPr id="37" name="Shape 34"/>
          <p:cNvSpPr/>
          <p:nvPr/>
        </p:nvSpPr>
        <p:spPr>
          <a:xfrm>
            <a:off x="8412480" y="3776472"/>
            <a:ext cx="329184" cy="329184"/>
          </a:xfrm>
          <a:prstGeom prst="ellipse">
            <a:avLst/>
          </a:prstGeom>
          <a:solidFill>
            <a:srgbClr val="BE123C"/>
          </a:solidFill>
          <a:ln w="12700">
            <a:solidFill>
              <a:srgbClr val="BE123C"/>
            </a:solidFill>
            <a:prstDash val="solid"/>
          </a:ln>
        </p:spPr>
      </p:sp>
      <p:sp>
        <p:nvSpPr>
          <p:cNvPr id="38" name="Text 35"/>
          <p:cNvSpPr/>
          <p:nvPr/>
        </p:nvSpPr>
        <p:spPr>
          <a:xfrm>
            <a:off x="8412480" y="3776472"/>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39" name="Text 36"/>
          <p:cNvSpPr/>
          <p:nvPr/>
        </p:nvSpPr>
        <p:spPr>
          <a:xfrm>
            <a:off x="8869680" y="3730752"/>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Academic inputs</a:t>
            </a:r>
            <a:endParaRPr lang="en-US" sz="1400" dirty="0"/>
          </a:p>
        </p:txBody>
      </p:sp>
      <p:sp>
        <p:nvSpPr>
          <p:cNvPr id="40" name="Text 37"/>
          <p:cNvSpPr/>
          <p:nvPr/>
        </p:nvSpPr>
        <p:spPr>
          <a:xfrm>
            <a:off x="8869680" y="4059936"/>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as submitted</a:t>
            </a:r>
            <a:endParaRPr lang="en-US" sz="1200" dirty="0"/>
          </a:p>
        </p:txBody>
      </p:sp>
      <p:sp>
        <p:nvSpPr>
          <p:cNvPr id="41" name="Shape 38"/>
          <p:cNvSpPr/>
          <p:nvPr/>
        </p:nvSpPr>
        <p:spPr>
          <a:xfrm>
            <a:off x="8412480" y="4562856"/>
            <a:ext cx="329184" cy="329184"/>
          </a:xfrm>
          <a:prstGeom prst="ellipse">
            <a:avLst/>
          </a:prstGeom>
          <a:solidFill>
            <a:srgbClr val="BE123C"/>
          </a:solidFill>
          <a:ln w="12700">
            <a:solidFill>
              <a:srgbClr val="BE123C"/>
            </a:solidFill>
            <a:prstDash val="solid"/>
          </a:ln>
        </p:spPr>
      </p:sp>
      <p:sp>
        <p:nvSpPr>
          <p:cNvPr id="42" name="Text 39"/>
          <p:cNvSpPr/>
          <p:nvPr/>
        </p:nvSpPr>
        <p:spPr>
          <a:xfrm>
            <a:off x="8412480" y="4562856"/>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43" name="Text 40"/>
          <p:cNvSpPr/>
          <p:nvPr/>
        </p:nvSpPr>
        <p:spPr>
          <a:xfrm>
            <a:off x="8869680" y="4517136"/>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What-If simulator</a:t>
            </a:r>
            <a:endParaRPr lang="en-US" sz="1400" dirty="0"/>
          </a:p>
        </p:txBody>
      </p:sp>
      <p:sp>
        <p:nvSpPr>
          <p:cNvPr id="44" name="Text 41"/>
          <p:cNvSpPr/>
          <p:nvPr/>
        </p:nvSpPr>
        <p:spPr>
          <a:xfrm>
            <a:off x="8869680" y="4846320"/>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scenario comparison</a:t>
            </a:r>
            <a:endParaRPr lang="en-US" sz="1200" dirty="0"/>
          </a:p>
        </p:txBody>
      </p:sp>
      <p:sp>
        <p:nvSpPr>
          <p:cNvPr id="45" name="Shape 42"/>
          <p:cNvSpPr/>
          <p:nvPr/>
        </p:nvSpPr>
        <p:spPr>
          <a:xfrm>
            <a:off x="8412480" y="5349240"/>
            <a:ext cx="329184" cy="329184"/>
          </a:xfrm>
          <a:prstGeom prst="ellipse">
            <a:avLst/>
          </a:prstGeom>
          <a:solidFill>
            <a:srgbClr val="BE123C"/>
          </a:solidFill>
          <a:ln w="12700">
            <a:solidFill>
              <a:srgbClr val="BE123C"/>
            </a:solidFill>
            <a:prstDash val="solid"/>
          </a:ln>
        </p:spPr>
      </p:sp>
      <p:sp>
        <p:nvSpPr>
          <p:cNvPr id="46" name="Text 43"/>
          <p:cNvSpPr/>
          <p:nvPr/>
        </p:nvSpPr>
        <p:spPr>
          <a:xfrm>
            <a:off x="8412480" y="5349240"/>
            <a:ext cx="329184" cy="329184"/>
          </a:xfrm>
          <a:prstGeom prst="rect">
            <a:avLst/>
          </a:prstGeom>
          <a:noFill/>
          <a:ln/>
        </p:spPr>
        <p:txBody>
          <a:bodyPr wrap="square" lIns="0" tIns="0" rIns="0" bIns="0" rtlCol="0" anchor="ctr"/>
          <a:lstStyle/>
          <a:p>
            <a:pPr algn="ctr" indent="0" marL="0">
              <a:buNone/>
            </a:pPr>
            <a:r>
              <a:rPr lang="en-US" sz="1200"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47" name="Text 44"/>
          <p:cNvSpPr/>
          <p:nvPr/>
        </p:nvSpPr>
        <p:spPr>
          <a:xfrm>
            <a:off x="8869680" y="5303520"/>
            <a:ext cx="2743200" cy="329184"/>
          </a:xfrm>
          <a:prstGeom prst="rect">
            <a:avLst/>
          </a:prstGeom>
          <a:noFill/>
          <a:ln/>
        </p:spPr>
        <p:txBody>
          <a:bodyPr wrap="square" lIns="0" tIns="0" rIns="0" bIns="0" rtlCol="0" anchor="t"/>
          <a:lstStyle/>
          <a:p>
            <a:pPr indent="0" marL="0">
              <a:buNone/>
            </a:pPr>
            <a:r>
              <a:rPr lang="en-US" sz="1400" dirty="0">
                <a:solidFill>
                  <a:srgbClr val="0F172A"/>
                </a:solidFill>
                <a:latin typeface="Segoe UI Semibold" pitchFamily="34" charset="0"/>
                <a:ea typeface="Segoe UI Semibold" pitchFamily="34" charset="-122"/>
                <a:cs typeface="Segoe UI Semibold" pitchFamily="34" charset="-120"/>
              </a:rPr>
              <a:t>Navigation</a:t>
            </a:r>
            <a:endParaRPr lang="en-US" sz="1400" dirty="0"/>
          </a:p>
        </p:txBody>
      </p:sp>
      <p:sp>
        <p:nvSpPr>
          <p:cNvPr id="48" name="Text 45"/>
          <p:cNvSpPr/>
          <p:nvPr/>
        </p:nvSpPr>
        <p:spPr>
          <a:xfrm>
            <a:off x="8869680" y="5632704"/>
            <a:ext cx="274320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Prediction · SHAP · Tasks · Reports</a:t>
            </a:r>
            <a:endParaRPr lang="en-US" sz="1200" dirty="0"/>
          </a:p>
        </p:txBody>
      </p:sp>
      <p:sp>
        <p:nvSpPr>
          <p:cNvPr id="49" name="Text 46"/>
          <p:cNvSpPr/>
          <p:nvPr/>
        </p:nvSpPr>
        <p:spPr>
          <a:xfrm>
            <a:off x="8412480" y="5897880"/>
            <a:ext cx="3154680" cy="457200"/>
          </a:xfrm>
          <a:prstGeom prst="rect">
            <a:avLst/>
          </a:prstGeom>
          <a:noFill/>
          <a:ln/>
        </p:spPr>
        <p:txBody>
          <a:bodyPr wrap="square" lIns="0" tIns="0" rIns="0" bIns="0" rtlCol="0" anchor="t"/>
          <a:lstStyle/>
          <a:p>
            <a:pPr indent="0" marL="0">
              <a:buNone/>
            </a:pPr>
            <a:r>
              <a:rPr lang="en-US" sz="1100" i="1" dirty="0">
                <a:solidFill>
                  <a:srgbClr val="64748B"/>
                </a:solidFill>
                <a:latin typeface="Segoe UI" pitchFamily="34" charset="0"/>
                <a:ea typeface="Segoe UI" pitchFamily="34" charset="-122"/>
                <a:cs typeface="Segoe UI" pitchFamily="34" charset="-120"/>
              </a:rPr>
              <a:t>The Prediction page adds the full SHAP explanation and recommendation cards (slides 11–12).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TEACHER PORTAL</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The same live results, seen by a teacher</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15 / 21</a:t>
            </a:r>
            <a:endParaRPr lang="en-US" sz="1000" dirty="0"/>
          </a:p>
        </p:txBody>
      </p:sp>
      <p:sp>
        <p:nvSpPr>
          <p:cNvPr id="8" name="Shape 6"/>
          <p:cNvSpPr/>
          <p:nvPr/>
        </p:nvSpPr>
        <p:spPr>
          <a:xfrm>
            <a:off x="8732520" y="274320"/>
            <a:ext cx="2971800" cy="292608"/>
          </a:xfrm>
          <a:prstGeom prst="roundRect">
            <a:avLst>
              <a:gd name="adj" fmla="val 50000"/>
            </a:avLst>
          </a:prstGeom>
          <a:solidFill>
            <a:srgbClr val="FEF3C7"/>
          </a:solidFill>
          <a:ln w="12700">
            <a:solidFill>
              <a:srgbClr val="FEF3C7"/>
            </a:solidFill>
            <a:prstDash val="solid"/>
          </a:ln>
        </p:spPr>
      </p:sp>
      <p:sp>
        <p:nvSpPr>
          <p:cNvPr id="9" name="Text 7"/>
          <p:cNvSpPr/>
          <p:nvPr/>
        </p:nvSpPr>
        <p:spPr>
          <a:xfrm>
            <a:off x="8732520" y="274320"/>
            <a:ext cx="2971800" cy="292608"/>
          </a:xfrm>
          <a:prstGeom prst="rect">
            <a:avLst/>
          </a:prstGeom>
          <a:noFill/>
          <a:ln/>
        </p:spPr>
        <p:txBody>
          <a:bodyPr wrap="square" lIns="0" tIns="0" rIns="0" bIns="0" rtlCol="0" anchor="ctr"/>
          <a:lstStyle/>
          <a:p>
            <a:pPr algn="ctr" indent="0" marL="0">
              <a:buNone/>
            </a:pPr>
            <a:r>
              <a:rPr lang="en-US" sz="1000" dirty="0">
                <a:solidFill>
                  <a:srgbClr val="B45309"/>
                </a:solidFill>
                <a:latin typeface="Segoe UI Semibold" pitchFamily="34" charset="0"/>
                <a:ea typeface="Segoe UI Semibold" pitchFamily="34" charset="-122"/>
                <a:cs typeface="Segoe UI Semibold" pitchFamily="34" charset="-120"/>
              </a:rPr>
              <a:t>LIVE DEMO · predefined demo students</a:t>
            </a:r>
            <a:endParaRPr lang="en-US" sz="1000" dirty="0"/>
          </a:p>
        </p:txBody>
      </p:sp>
      <p:sp>
        <p:nvSpPr>
          <p:cNvPr id="10" name="Shape 8"/>
          <p:cNvSpPr/>
          <p:nvPr/>
        </p:nvSpPr>
        <p:spPr>
          <a:xfrm>
            <a:off x="475488" y="1481328"/>
            <a:ext cx="5907024" cy="3712464"/>
          </a:xfrm>
          <a:prstGeom prst="rect">
            <a:avLst/>
          </a:prstGeom>
          <a:solidFill>
            <a:srgbClr val="E2E8F0"/>
          </a:solidFill>
          <a:ln w="12700">
            <a:solidFill>
              <a:srgbClr val="E2E8F0"/>
            </a:solidFill>
            <a:prstDash val="solid"/>
          </a:ln>
        </p:spPr>
      </p:sp>
      <p:pic>
        <p:nvPicPr>
          <p:cNvPr id="11" name="Image 0" descr="C:\Users\NEMMI\AppData\Local\Temp\claude\d--Documents-Sharda-University-Semester-5-PBL-fontend-student-prediction\d6ce81b2-62cd-4b95-adc5-3e24f53e42a1\scratchpad\deck2\shots\09-teacher-dashboard.png">    </p:cNvPr>
          <p:cNvPicPr>
            <a:picLocks noChangeAspect="1"/>
          </p:cNvPicPr>
          <p:nvPr/>
        </p:nvPicPr>
        <p:blipFill>
          <a:blip r:embed="rId1"/>
          <a:stretch>
            <a:fillRect/>
          </a:stretch>
        </p:blipFill>
        <p:spPr>
          <a:xfrm>
            <a:off x="502920" y="1508760"/>
            <a:ext cx="5852160" cy="3657600"/>
          </a:xfrm>
          <a:prstGeom prst="rect">
            <a:avLst/>
          </a:prstGeom>
        </p:spPr>
      </p:pic>
      <p:sp>
        <p:nvSpPr>
          <p:cNvPr id="12" name="Text 9"/>
          <p:cNvSpPr/>
          <p:nvPr/>
        </p:nvSpPr>
        <p:spPr>
          <a:xfrm>
            <a:off x="502920" y="5239512"/>
            <a:ext cx="585216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Dashboard — "What needs attention?"</a:t>
            </a:r>
            <a:endParaRPr lang="en-US" sz="1100" dirty="0"/>
          </a:p>
        </p:txBody>
      </p:sp>
      <p:sp>
        <p:nvSpPr>
          <p:cNvPr id="13" name="Shape 10"/>
          <p:cNvSpPr/>
          <p:nvPr/>
        </p:nvSpPr>
        <p:spPr>
          <a:xfrm>
            <a:off x="6570928" y="1298448"/>
            <a:ext cx="5008984" cy="2843784"/>
          </a:xfrm>
          <a:prstGeom prst="rect">
            <a:avLst/>
          </a:prstGeom>
          <a:solidFill>
            <a:srgbClr val="E2E8F0"/>
          </a:solidFill>
          <a:ln w="12700">
            <a:solidFill>
              <a:srgbClr val="E2E8F0"/>
            </a:solidFill>
            <a:prstDash val="solid"/>
          </a:ln>
        </p:spPr>
      </p:sp>
      <p:pic>
        <p:nvPicPr>
          <p:cNvPr id="14" name="Image 1" descr="C:\Users\NEMMI\AppData\Local\Temp\claude\d--Documents-Sharda-University-Semester-5-PBL-fontend-student-prediction\d6ce81b2-62cd-4b95-adc5-3e24f53e42a1\scratchpad\deck2\shots\10-analysis-top.png">    </p:cNvPr>
          <p:cNvPicPr>
            <a:picLocks noChangeAspect="1"/>
          </p:cNvPicPr>
          <p:nvPr/>
        </p:nvPicPr>
        <p:blipFill>
          <a:blip r:embed="rId2"/>
          <a:stretch>
            <a:fillRect/>
          </a:stretch>
        </p:blipFill>
        <p:spPr>
          <a:xfrm>
            <a:off x="6598360" y="1325880"/>
            <a:ext cx="4954120" cy="2788920"/>
          </a:xfrm>
          <a:prstGeom prst="rect">
            <a:avLst/>
          </a:prstGeom>
        </p:spPr>
      </p:pic>
      <p:sp>
        <p:nvSpPr>
          <p:cNvPr id="15" name="Text 11"/>
          <p:cNvSpPr/>
          <p:nvPr/>
        </p:nvSpPr>
        <p:spPr>
          <a:xfrm>
            <a:off x="6598360" y="4187952"/>
            <a:ext cx="495412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Student AI Analysis — Demo Student 3</a:t>
            </a:r>
            <a:endParaRPr lang="en-US" sz="1100" dirty="0"/>
          </a:p>
        </p:txBody>
      </p:sp>
      <p:sp>
        <p:nvSpPr>
          <p:cNvPr id="16" name="Shape 12"/>
          <p:cNvSpPr/>
          <p:nvPr/>
        </p:nvSpPr>
        <p:spPr>
          <a:xfrm>
            <a:off x="6556248" y="4619027"/>
            <a:ext cx="5038344" cy="637465"/>
          </a:xfrm>
          <a:prstGeom prst="rect">
            <a:avLst/>
          </a:prstGeom>
          <a:solidFill>
            <a:srgbClr val="E2E8F0"/>
          </a:solidFill>
          <a:ln w="12700">
            <a:solidFill>
              <a:srgbClr val="E2E8F0"/>
            </a:solidFill>
            <a:prstDash val="solid"/>
          </a:ln>
        </p:spPr>
      </p:sp>
      <p:pic>
        <p:nvPicPr>
          <p:cNvPr id="17" name="Image 2" descr="C:\Users\NEMMI\AppData\Local\Temp\claude\d--Documents-Sharda-University-Semester-5-PBL-fontend-student-prediction\d6ce81b2-62cd-4b95-adc5-3e24f53e42a1\scratchpad\deck2\shots\13-mgmt-tiles.png">    </p:cNvPr>
          <p:cNvPicPr>
            <a:picLocks noChangeAspect="1"/>
          </p:cNvPicPr>
          <p:nvPr/>
        </p:nvPicPr>
        <p:blipFill>
          <a:blip r:embed="rId3"/>
          <a:stretch>
            <a:fillRect/>
          </a:stretch>
        </p:blipFill>
        <p:spPr>
          <a:xfrm>
            <a:off x="6583680" y="4646459"/>
            <a:ext cx="4983480" cy="582601"/>
          </a:xfrm>
          <a:prstGeom prst="rect">
            <a:avLst/>
          </a:prstGeom>
        </p:spPr>
      </p:pic>
      <p:sp>
        <p:nvSpPr>
          <p:cNvPr id="18" name="Text 13"/>
          <p:cNvSpPr/>
          <p:nvPr/>
        </p:nvSpPr>
        <p:spPr>
          <a:xfrm>
            <a:off x="6583680" y="5302213"/>
            <a:ext cx="498348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Intervention Management — session summary</a:t>
            </a:r>
            <a:endParaRPr lang="en-US" sz="1100" dirty="0"/>
          </a:p>
        </p:txBody>
      </p:sp>
      <p:sp>
        <p:nvSpPr>
          <p:cNvPr id="19" name="Shape 14"/>
          <p:cNvSpPr/>
          <p:nvPr/>
        </p:nvSpPr>
        <p:spPr>
          <a:xfrm>
            <a:off x="502920" y="5715000"/>
            <a:ext cx="11018520" cy="566928"/>
          </a:xfrm>
          <a:prstGeom prst="roundRect">
            <a:avLst>
              <a:gd name="adj" fmla="val 12903"/>
            </a:avLst>
          </a:prstGeom>
          <a:solidFill>
            <a:srgbClr val="F8FAFC"/>
          </a:solidFill>
          <a:ln w="12700">
            <a:solidFill>
              <a:srgbClr val="E2E8F0"/>
            </a:solidFill>
            <a:prstDash val="solid"/>
          </a:ln>
        </p:spPr>
      </p:sp>
      <p:sp>
        <p:nvSpPr>
          <p:cNvPr id="20" name="Text 15"/>
          <p:cNvSpPr/>
          <p:nvPr/>
        </p:nvSpPr>
        <p:spPr>
          <a:xfrm>
            <a:off x="685800" y="5760720"/>
            <a:ext cx="10698480" cy="475488"/>
          </a:xfrm>
          <a:prstGeom prst="rect">
            <a:avLst/>
          </a:prstGeom>
          <a:noFill/>
          <a:ln/>
        </p:spPr>
        <p:txBody>
          <a:bodyPr wrap="square" lIns="0" tIns="0" rIns="0" bIns="0" rtlCol="0" anchor="ctr"/>
          <a:lstStyle/>
          <a:p>
            <a:pPr indent="0" marL="0">
              <a:buNone/>
            </a:pPr>
            <a:r>
              <a:rPr lang="en-US" sz="1250" dirty="0">
                <a:solidFill>
                  <a:srgbClr val="334155"/>
                </a:solidFill>
                <a:latin typeface="Segoe UI" pitchFamily="34" charset="0"/>
                <a:ea typeface="Segoe UI" pitchFamily="34" charset="-122"/>
                <a:cs typeface="Segoe UI" pitchFamily="34" charset="-120"/>
              </a:rPr>
              <a:t>Views: Dashboard · Student Intervention Center · Student AI Analysis · Intervention Management · Analytics · Reports · Profile — a demonstration teacher workflow over the five demo students.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INTERVENTION WORKFLOW</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From a recommendation to a completed task</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16 / 21</a:t>
            </a:r>
            <a:endParaRPr lang="en-US" sz="1000" dirty="0"/>
          </a:p>
        </p:txBody>
      </p:sp>
      <p:sp>
        <p:nvSpPr>
          <p:cNvPr id="8" name="Shape 6"/>
          <p:cNvSpPr/>
          <p:nvPr/>
        </p:nvSpPr>
        <p:spPr>
          <a:xfrm>
            <a:off x="8732520" y="274320"/>
            <a:ext cx="2971800" cy="292608"/>
          </a:xfrm>
          <a:prstGeom prst="roundRect">
            <a:avLst>
              <a:gd name="adj" fmla="val 50000"/>
            </a:avLst>
          </a:prstGeom>
          <a:solidFill>
            <a:srgbClr val="FEF3C7"/>
          </a:solidFill>
          <a:ln w="12700">
            <a:solidFill>
              <a:srgbClr val="FEF3C7"/>
            </a:solidFill>
            <a:prstDash val="solid"/>
          </a:ln>
        </p:spPr>
      </p:sp>
      <p:sp>
        <p:nvSpPr>
          <p:cNvPr id="9" name="Text 7"/>
          <p:cNvSpPr/>
          <p:nvPr/>
        </p:nvSpPr>
        <p:spPr>
          <a:xfrm>
            <a:off x="8732520" y="274320"/>
            <a:ext cx="2971800" cy="292608"/>
          </a:xfrm>
          <a:prstGeom prst="rect">
            <a:avLst/>
          </a:prstGeom>
          <a:noFill/>
          <a:ln/>
        </p:spPr>
        <p:txBody>
          <a:bodyPr wrap="square" lIns="0" tIns="0" rIns="0" bIns="0" rtlCol="0" anchor="ctr"/>
          <a:lstStyle/>
          <a:p>
            <a:pPr algn="ctr" indent="0" marL="0">
              <a:buNone/>
            </a:pPr>
            <a:r>
              <a:rPr lang="en-US" sz="1000" dirty="0">
                <a:solidFill>
                  <a:srgbClr val="B45309"/>
                </a:solidFill>
                <a:latin typeface="Segoe UI Semibold" pitchFamily="34" charset="0"/>
                <a:ea typeface="Segoe UI Semibold" pitchFamily="34" charset="-122"/>
                <a:cs typeface="Segoe UI Semibold" pitchFamily="34" charset="-120"/>
              </a:rPr>
              <a:t>LIVE DEMO · predefined demo students</a:t>
            </a:r>
            <a:endParaRPr lang="en-US" sz="1000" dirty="0"/>
          </a:p>
        </p:txBody>
      </p:sp>
      <p:sp>
        <p:nvSpPr>
          <p:cNvPr id="10" name="Shape 8"/>
          <p:cNvSpPr/>
          <p:nvPr/>
        </p:nvSpPr>
        <p:spPr>
          <a:xfrm>
            <a:off x="502920" y="1325880"/>
            <a:ext cx="1998878" cy="960120"/>
          </a:xfrm>
          <a:prstGeom prst="roundRect">
            <a:avLst>
              <a:gd name="adj" fmla="val 7619"/>
            </a:avLst>
          </a:prstGeom>
          <a:solidFill>
            <a:srgbClr val="EFF6FF"/>
          </a:solidFill>
          <a:ln w="12700">
            <a:solidFill>
              <a:srgbClr val="DBEAFE"/>
            </a:solidFill>
            <a:prstDash val="solid"/>
          </a:ln>
        </p:spPr>
      </p:sp>
      <p:sp>
        <p:nvSpPr>
          <p:cNvPr id="11" name="Text 9"/>
          <p:cNvSpPr/>
          <p:nvPr/>
        </p:nvSpPr>
        <p:spPr>
          <a:xfrm>
            <a:off x="576072" y="1435608"/>
            <a:ext cx="1852574"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Risk identified</a:t>
            </a:r>
            <a:endParaRPr lang="en-US" sz="1300" dirty="0"/>
          </a:p>
        </p:txBody>
      </p:sp>
      <p:sp>
        <p:nvSpPr>
          <p:cNvPr id="12" name="Text 10"/>
          <p:cNvSpPr/>
          <p:nvPr/>
        </p:nvSpPr>
        <p:spPr>
          <a:xfrm>
            <a:off x="576072" y="1892808"/>
            <a:ext cx="1852574" cy="30175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HIGH / MEDIUM item</a:t>
            </a:r>
            <a:endParaRPr lang="en-US" sz="1100" dirty="0"/>
          </a:p>
        </p:txBody>
      </p:sp>
      <p:sp>
        <p:nvSpPr>
          <p:cNvPr id="13" name="Shape 11"/>
          <p:cNvSpPr/>
          <p:nvPr/>
        </p:nvSpPr>
        <p:spPr>
          <a:xfrm>
            <a:off x="2538374" y="1805940"/>
            <a:ext cx="182880" cy="0"/>
          </a:xfrm>
          <a:prstGeom prst="line">
            <a:avLst/>
          </a:prstGeom>
          <a:noFill/>
          <a:ln w="25400">
            <a:solidFill>
              <a:srgbClr val="2563EB"/>
            </a:solidFill>
            <a:prstDash val="solid"/>
            <a:tailEnd type="triangle"/>
          </a:ln>
        </p:spPr>
      </p:sp>
      <p:sp>
        <p:nvSpPr>
          <p:cNvPr id="14" name="Shape 12"/>
          <p:cNvSpPr/>
          <p:nvPr/>
        </p:nvSpPr>
        <p:spPr>
          <a:xfrm>
            <a:off x="2757830" y="1325880"/>
            <a:ext cx="1998878" cy="960120"/>
          </a:xfrm>
          <a:prstGeom prst="roundRect">
            <a:avLst>
              <a:gd name="adj" fmla="val 7619"/>
            </a:avLst>
          </a:prstGeom>
          <a:solidFill>
            <a:srgbClr val="EFF6FF"/>
          </a:solidFill>
          <a:ln w="12700">
            <a:solidFill>
              <a:srgbClr val="DBEAFE"/>
            </a:solidFill>
            <a:prstDash val="solid"/>
          </a:ln>
        </p:spPr>
      </p:sp>
      <p:sp>
        <p:nvSpPr>
          <p:cNvPr id="15" name="Text 13"/>
          <p:cNvSpPr/>
          <p:nvPr/>
        </p:nvSpPr>
        <p:spPr>
          <a:xfrm>
            <a:off x="2830982" y="1435608"/>
            <a:ext cx="1852574"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Recommendation</a:t>
            </a:r>
            <a:endParaRPr lang="en-US" sz="1300" dirty="0"/>
          </a:p>
        </p:txBody>
      </p:sp>
      <p:sp>
        <p:nvSpPr>
          <p:cNvPr id="16" name="Text 14"/>
          <p:cNvSpPr/>
          <p:nvPr/>
        </p:nvSpPr>
        <p:spPr>
          <a:xfrm>
            <a:off x="2830982" y="1892808"/>
            <a:ext cx="1852574" cy="30175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from /recommend</a:t>
            </a:r>
            <a:endParaRPr lang="en-US" sz="1100" dirty="0"/>
          </a:p>
        </p:txBody>
      </p:sp>
      <p:sp>
        <p:nvSpPr>
          <p:cNvPr id="17" name="Shape 15"/>
          <p:cNvSpPr/>
          <p:nvPr/>
        </p:nvSpPr>
        <p:spPr>
          <a:xfrm>
            <a:off x="4793285" y="1805940"/>
            <a:ext cx="182880" cy="0"/>
          </a:xfrm>
          <a:prstGeom prst="line">
            <a:avLst/>
          </a:prstGeom>
          <a:noFill/>
          <a:ln w="25400">
            <a:solidFill>
              <a:srgbClr val="2563EB"/>
            </a:solidFill>
            <a:prstDash val="solid"/>
            <a:tailEnd type="triangle"/>
          </a:ln>
        </p:spPr>
      </p:sp>
      <p:sp>
        <p:nvSpPr>
          <p:cNvPr id="18" name="Shape 16"/>
          <p:cNvSpPr/>
          <p:nvPr/>
        </p:nvSpPr>
        <p:spPr>
          <a:xfrm>
            <a:off x="5012741" y="1325880"/>
            <a:ext cx="1998878" cy="960120"/>
          </a:xfrm>
          <a:prstGeom prst="roundRect">
            <a:avLst>
              <a:gd name="adj" fmla="val 7619"/>
            </a:avLst>
          </a:prstGeom>
          <a:solidFill>
            <a:srgbClr val="EFF6FF"/>
          </a:solidFill>
          <a:ln w="12700">
            <a:solidFill>
              <a:srgbClr val="DBEAFE"/>
            </a:solidFill>
            <a:prstDash val="solid"/>
          </a:ln>
        </p:spPr>
      </p:sp>
      <p:sp>
        <p:nvSpPr>
          <p:cNvPr id="19" name="Text 17"/>
          <p:cNvSpPr/>
          <p:nvPr/>
        </p:nvSpPr>
        <p:spPr>
          <a:xfrm>
            <a:off x="5085893" y="1435608"/>
            <a:ext cx="1852574"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Teacher assigns</a:t>
            </a:r>
            <a:endParaRPr lang="en-US" sz="1300" dirty="0"/>
          </a:p>
        </p:txBody>
      </p:sp>
      <p:sp>
        <p:nvSpPr>
          <p:cNvPr id="20" name="Text 18"/>
          <p:cNvSpPr/>
          <p:nvPr/>
        </p:nvSpPr>
        <p:spPr>
          <a:xfrm>
            <a:off x="5085893" y="1892808"/>
            <a:ext cx="1852574" cy="30175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optional note</a:t>
            </a:r>
            <a:endParaRPr lang="en-US" sz="1100" dirty="0"/>
          </a:p>
        </p:txBody>
      </p:sp>
      <p:sp>
        <p:nvSpPr>
          <p:cNvPr id="21" name="Shape 19"/>
          <p:cNvSpPr/>
          <p:nvPr/>
        </p:nvSpPr>
        <p:spPr>
          <a:xfrm>
            <a:off x="7048195" y="1805940"/>
            <a:ext cx="182880" cy="0"/>
          </a:xfrm>
          <a:prstGeom prst="line">
            <a:avLst/>
          </a:prstGeom>
          <a:noFill/>
          <a:ln w="25400">
            <a:solidFill>
              <a:srgbClr val="2563EB"/>
            </a:solidFill>
            <a:prstDash val="solid"/>
            <a:tailEnd type="triangle"/>
          </a:ln>
        </p:spPr>
      </p:sp>
      <p:sp>
        <p:nvSpPr>
          <p:cNvPr id="22" name="Shape 20"/>
          <p:cNvSpPr/>
          <p:nvPr/>
        </p:nvSpPr>
        <p:spPr>
          <a:xfrm>
            <a:off x="7267651" y="1325880"/>
            <a:ext cx="1998878" cy="960120"/>
          </a:xfrm>
          <a:prstGeom prst="roundRect">
            <a:avLst>
              <a:gd name="adj" fmla="val 7619"/>
            </a:avLst>
          </a:prstGeom>
          <a:solidFill>
            <a:srgbClr val="EFF6FF"/>
          </a:solidFill>
          <a:ln w="12700">
            <a:solidFill>
              <a:srgbClr val="DBEAFE"/>
            </a:solidFill>
            <a:prstDash val="solid"/>
          </a:ln>
        </p:spPr>
      </p:sp>
      <p:sp>
        <p:nvSpPr>
          <p:cNvPr id="23" name="Text 21"/>
          <p:cNvSpPr/>
          <p:nvPr/>
        </p:nvSpPr>
        <p:spPr>
          <a:xfrm>
            <a:off x="7340803" y="1435608"/>
            <a:ext cx="1852574"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Student sees task</a:t>
            </a:r>
            <a:endParaRPr lang="en-US" sz="1300" dirty="0"/>
          </a:p>
        </p:txBody>
      </p:sp>
      <p:sp>
        <p:nvSpPr>
          <p:cNvPr id="24" name="Text 22"/>
          <p:cNvSpPr/>
          <p:nvPr/>
        </p:nvSpPr>
        <p:spPr>
          <a:xfrm>
            <a:off x="7340803" y="1892808"/>
            <a:ext cx="1852574" cy="30175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My Improvement Tasks</a:t>
            </a:r>
            <a:endParaRPr lang="en-US" sz="1100" dirty="0"/>
          </a:p>
        </p:txBody>
      </p:sp>
      <p:sp>
        <p:nvSpPr>
          <p:cNvPr id="25" name="Shape 23"/>
          <p:cNvSpPr/>
          <p:nvPr/>
        </p:nvSpPr>
        <p:spPr>
          <a:xfrm>
            <a:off x="9303106" y="1805940"/>
            <a:ext cx="182880" cy="0"/>
          </a:xfrm>
          <a:prstGeom prst="line">
            <a:avLst/>
          </a:prstGeom>
          <a:noFill/>
          <a:ln w="25400">
            <a:solidFill>
              <a:srgbClr val="2563EB"/>
            </a:solidFill>
            <a:prstDash val="solid"/>
            <a:tailEnd type="triangle"/>
          </a:ln>
        </p:spPr>
      </p:sp>
      <p:sp>
        <p:nvSpPr>
          <p:cNvPr id="26" name="Shape 24"/>
          <p:cNvSpPr/>
          <p:nvPr/>
        </p:nvSpPr>
        <p:spPr>
          <a:xfrm>
            <a:off x="9522562" y="1325880"/>
            <a:ext cx="1998878" cy="960120"/>
          </a:xfrm>
          <a:prstGeom prst="roundRect">
            <a:avLst>
              <a:gd name="adj" fmla="val 7619"/>
            </a:avLst>
          </a:prstGeom>
          <a:solidFill>
            <a:srgbClr val="D1FAE5"/>
          </a:solidFill>
          <a:ln w="12700">
            <a:solidFill>
              <a:srgbClr val="A7F3D0"/>
            </a:solidFill>
            <a:prstDash val="solid"/>
          </a:ln>
        </p:spPr>
      </p:sp>
      <p:sp>
        <p:nvSpPr>
          <p:cNvPr id="27" name="Text 25"/>
          <p:cNvSpPr/>
          <p:nvPr/>
        </p:nvSpPr>
        <p:spPr>
          <a:xfrm>
            <a:off x="9595714" y="1435608"/>
            <a:ext cx="1852574" cy="457200"/>
          </a:xfrm>
          <a:prstGeom prst="rect">
            <a:avLst/>
          </a:prstGeom>
          <a:noFill/>
          <a:ln/>
        </p:spPr>
        <p:txBody>
          <a:bodyPr wrap="square" lIns="0" tIns="0" rIns="0" bIns="0" rtlCol="0" anchor="t"/>
          <a:lstStyle/>
          <a:p>
            <a:pPr algn="ctr" indent="0" marL="0">
              <a:buNone/>
            </a:pPr>
            <a:r>
              <a:rPr lang="en-US" sz="1300" dirty="0">
                <a:solidFill>
                  <a:srgbClr val="0F172A"/>
                </a:solidFill>
                <a:latin typeface="Segoe UI Semibold" pitchFamily="34" charset="0"/>
                <a:ea typeface="Segoe UI Semibold" pitchFamily="34" charset="-122"/>
                <a:cs typeface="Segoe UI Semibold" pitchFamily="34" charset="-120"/>
              </a:rPr>
              <a:t>Assigned → Completed</a:t>
            </a:r>
            <a:endParaRPr lang="en-US" sz="1300" dirty="0"/>
          </a:p>
        </p:txBody>
      </p:sp>
      <p:sp>
        <p:nvSpPr>
          <p:cNvPr id="28" name="Text 26"/>
          <p:cNvSpPr/>
          <p:nvPr/>
        </p:nvSpPr>
        <p:spPr>
          <a:xfrm>
            <a:off x="9595714" y="1892808"/>
            <a:ext cx="1852574" cy="301752"/>
          </a:xfrm>
          <a:prstGeom prst="rect">
            <a:avLst/>
          </a:prstGeom>
          <a:noFill/>
          <a:ln/>
        </p:spPr>
        <p:txBody>
          <a:bodyPr wrap="square" lIns="0" tIns="0" rIns="0" bIns="0" rtlCol="0" anchor="t"/>
          <a:lstStyle/>
          <a:p>
            <a:pPr algn="ctr" indent="0" marL="0">
              <a:buNone/>
            </a:pPr>
            <a:r>
              <a:rPr lang="en-US" sz="1100" dirty="0">
                <a:solidFill>
                  <a:srgbClr val="64748B"/>
                </a:solidFill>
                <a:latin typeface="Segoe UI" pitchFamily="34" charset="0"/>
                <a:ea typeface="Segoe UI" pitchFamily="34" charset="-122"/>
                <a:cs typeface="Segoe UI" pitchFamily="34" charset="-120"/>
              </a:rPr>
              <a:t>visible to teacher</a:t>
            </a:r>
            <a:endParaRPr lang="en-US" sz="1100" dirty="0"/>
          </a:p>
        </p:txBody>
      </p:sp>
      <p:sp>
        <p:nvSpPr>
          <p:cNvPr id="29" name="Shape 27"/>
          <p:cNvSpPr/>
          <p:nvPr/>
        </p:nvSpPr>
        <p:spPr>
          <a:xfrm>
            <a:off x="926896" y="2441448"/>
            <a:ext cx="2169568" cy="3072384"/>
          </a:xfrm>
          <a:prstGeom prst="rect">
            <a:avLst/>
          </a:prstGeom>
          <a:solidFill>
            <a:srgbClr val="E2E8F0"/>
          </a:solidFill>
          <a:ln w="12700">
            <a:solidFill>
              <a:srgbClr val="E2E8F0"/>
            </a:solidFill>
            <a:prstDash val="solid"/>
          </a:ln>
        </p:spPr>
      </p:sp>
      <p:pic>
        <p:nvPicPr>
          <p:cNvPr id="30" name="Image 0" descr="C:\Users\NEMMI\AppData\Local\Temp\claude\d--Documents-Sharda-University-Semester-5-PBL-fontend-student-prediction\d6ce81b2-62cd-4b95-adc5-3e24f53e42a1\scratchpad\deck2\shots\12-assign-dialog.png">    </p:cNvPr>
          <p:cNvPicPr>
            <a:picLocks noChangeAspect="1"/>
          </p:cNvPicPr>
          <p:nvPr/>
        </p:nvPicPr>
        <p:blipFill>
          <a:blip r:embed="rId1"/>
          <a:stretch>
            <a:fillRect/>
          </a:stretch>
        </p:blipFill>
        <p:spPr>
          <a:xfrm>
            <a:off x="954328" y="2468880"/>
            <a:ext cx="2114704" cy="3017520"/>
          </a:xfrm>
          <a:prstGeom prst="rect">
            <a:avLst/>
          </a:prstGeom>
        </p:spPr>
      </p:pic>
      <p:sp>
        <p:nvSpPr>
          <p:cNvPr id="31" name="Text 28"/>
          <p:cNvSpPr/>
          <p:nvPr/>
        </p:nvSpPr>
        <p:spPr>
          <a:xfrm>
            <a:off x="954328" y="5559552"/>
            <a:ext cx="2114704"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1 · Teacher assigns</a:t>
            </a:r>
            <a:endParaRPr lang="en-US" sz="1100" dirty="0"/>
          </a:p>
        </p:txBody>
      </p:sp>
      <p:sp>
        <p:nvSpPr>
          <p:cNvPr id="32" name="Shape 29"/>
          <p:cNvSpPr/>
          <p:nvPr/>
        </p:nvSpPr>
        <p:spPr>
          <a:xfrm>
            <a:off x="4000933" y="2441448"/>
            <a:ext cx="3428134" cy="3072384"/>
          </a:xfrm>
          <a:prstGeom prst="rect">
            <a:avLst/>
          </a:prstGeom>
          <a:solidFill>
            <a:srgbClr val="E2E8F0"/>
          </a:solidFill>
          <a:ln w="12700">
            <a:solidFill>
              <a:srgbClr val="E2E8F0"/>
            </a:solidFill>
            <a:prstDash val="solid"/>
          </a:ln>
        </p:spPr>
      </p:sp>
      <p:pic>
        <p:nvPicPr>
          <p:cNvPr id="33" name="Image 1" descr="C:\Users\NEMMI\AppData\Local\Temp\claude\d--Documents-Sharda-University-Semester-5-PBL-fontend-student-prediction\d6ce81b2-62cd-4b95-adc5-3e24f53e42a1\scratchpad\deck2\shots\14-student-task-assigned.png">    </p:cNvPr>
          <p:cNvPicPr>
            <a:picLocks noChangeAspect="1"/>
          </p:cNvPicPr>
          <p:nvPr/>
        </p:nvPicPr>
        <p:blipFill>
          <a:blip r:embed="rId2"/>
          <a:stretch>
            <a:fillRect/>
          </a:stretch>
        </p:blipFill>
        <p:spPr>
          <a:xfrm>
            <a:off x="4028365" y="2468880"/>
            <a:ext cx="3373270" cy="3017520"/>
          </a:xfrm>
          <a:prstGeom prst="rect">
            <a:avLst/>
          </a:prstGeom>
        </p:spPr>
      </p:pic>
      <p:sp>
        <p:nvSpPr>
          <p:cNvPr id="34" name="Text 30"/>
          <p:cNvSpPr/>
          <p:nvPr/>
        </p:nvSpPr>
        <p:spPr>
          <a:xfrm>
            <a:off x="4028365" y="5559552"/>
            <a:ext cx="337327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2 · Student marks it completed</a:t>
            </a:r>
            <a:endParaRPr lang="en-US" sz="1100" dirty="0"/>
          </a:p>
        </p:txBody>
      </p:sp>
      <p:sp>
        <p:nvSpPr>
          <p:cNvPr id="35" name="Shape 31"/>
          <p:cNvSpPr/>
          <p:nvPr/>
        </p:nvSpPr>
        <p:spPr>
          <a:xfrm>
            <a:off x="8002716" y="2441448"/>
            <a:ext cx="3471289" cy="3072384"/>
          </a:xfrm>
          <a:prstGeom prst="rect">
            <a:avLst/>
          </a:prstGeom>
          <a:solidFill>
            <a:srgbClr val="E2E8F0"/>
          </a:solidFill>
          <a:ln w="12700">
            <a:solidFill>
              <a:srgbClr val="E2E8F0"/>
            </a:solidFill>
            <a:prstDash val="solid"/>
          </a:ln>
        </p:spPr>
      </p:sp>
      <p:pic>
        <p:nvPicPr>
          <p:cNvPr id="36" name="Image 2" descr="C:\Users\NEMMI\AppData\Local\Temp\claude\d--Documents-Sharda-University-Semester-5-PBL-fontend-student-prediction\d6ce81b2-62cd-4b95-adc5-3e24f53e42a1\scratchpad\deck2\shots\16-mgmt-completed.png">    </p:cNvPr>
          <p:cNvPicPr>
            <a:picLocks noChangeAspect="1"/>
          </p:cNvPicPr>
          <p:nvPr/>
        </p:nvPicPr>
        <p:blipFill>
          <a:blip r:embed="rId3"/>
          <a:stretch>
            <a:fillRect/>
          </a:stretch>
        </p:blipFill>
        <p:spPr>
          <a:xfrm>
            <a:off x="8030148" y="2468880"/>
            <a:ext cx="3416425" cy="3017520"/>
          </a:xfrm>
          <a:prstGeom prst="rect">
            <a:avLst/>
          </a:prstGeom>
        </p:spPr>
      </p:pic>
      <p:sp>
        <p:nvSpPr>
          <p:cNvPr id="37" name="Text 32"/>
          <p:cNvSpPr/>
          <p:nvPr/>
        </p:nvSpPr>
        <p:spPr>
          <a:xfrm>
            <a:off x="8030148" y="5559552"/>
            <a:ext cx="3416425"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3 · Teacher sees ✓ Completed</a:t>
            </a:r>
            <a:endParaRPr lang="en-US" sz="1100" dirty="0"/>
          </a:p>
        </p:txBody>
      </p:sp>
      <p:sp>
        <p:nvSpPr>
          <p:cNvPr id="38" name="Shape 33"/>
          <p:cNvSpPr/>
          <p:nvPr/>
        </p:nvSpPr>
        <p:spPr>
          <a:xfrm>
            <a:off x="502920" y="5943600"/>
            <a:ext cx="11018520" cy="384048"/>
          </a:xfrm>
          <a:prstGeom prst="roundRect">
            <a:avLst>
              <a:gd name="adj" fmla="val 19048"/>
            </a:avLst>
          </a:prstGeom>
          <a:solidFill>
            <a:srgbClr val="FEF3C7"/>
          </a:solidFill>
          <a:ln w="12700">
            <a:solidFill>
              <a:srgbClr val="FDE68A"/>
            </a:solidFill>
            <a:prstDash val="solid"/>
          </a:ln>
        </p:spPr>
      </p:sp>
      <p:sp>
        <p:nvSpPr>
          <p:cNvPr id="39" name="Text 34"/>
          <p:cNvSpPr/>
          <p:nvPr/>
        </p:nvSpPr>
        <p:spPr>
          <a:xfrm>
            <a:off x="685800" y="5943600"/>
            <a:ext cx="10698480" cy="384048"/>
          </a:xfrm>
          <a:prstGeom prst="rect">
            <a:avLst/>
          </a:prstGeom>
          <a:noFill/>
          <a:ln/>
        </p:spPr>
        <p:txBody>
          <a:bodyPr wrap="square" lIns="0" tIns="0" rIns="0" bIns="0" rtlCol="0" anchor="ctr"/>
          <a:lstStyle/>
          <a:p>
            <a:pPr indent="0" marL="0">
              <a:buNone/>
            </a:pPr>
            <a:r>
              <a:rPr lang="en-US" sz="1250" dirty="0">
                <a:solidFill>
                  <a:srgbClr val="78350F"/>
                </a:solidFill>
                <a:latin typeface="Segoe UI" pitchFamily="34" charset="0"/>
                <a:ea typeface="Segoe UI" pitchFamily="34" charset="-122"/>
                <a:cs typeface="Segoe UI" pitchFamily="34" charset="-120"/>
              </a:rPr>
              <a:t>Session-only state (no database). Intervention effectiveness is not measured — no outcome data is stored.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REPORTS</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Consolidated demo reports from live results and session state</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17 / 21</a:t>
            </a:r>
            <a:endParaRPr lang="en-US" sz="1000" dirty="0"/>
          </a:p>
        </p:txBody>
      </p:sp>
      <p:sp>
        <p:nvSpPr>
          <p:cNvPr id="8" name="Shape 6"/>
          <p:cNvSpPr/>
          <p:nvPr/>
        </p:nvSpPr>
        <p:spPr>
          <a:xfrm>
            <a:off x="8732520" y="274320"/>
            <a:ext cx="2971800" cy="292608"/>
          </a:xfrm>
          <a:prstGeom prst="roundRect">
            <a:avLst>
              <a:gd name="adj" fmla="val 50000"/>
            </a:avLst>
          </a:prstGeom>
          <a:solidFill>
            <a:srgbClr val="FEF3C7"/>
          </a:solidFill>
          <a:ln w="12700">
            <a:solidFill>
              <a:srgbClr val="FEF3C7"/>
            </a:solidFill>
            <a:prstDash val="solid"/>
          </a:ln>
        </p:spPr>
      </p:sp>
      <p:sp>
        <p:nvSpPr>
          <p:cNvPr id="9" name="Text 7"/>
          <p:cNvSpPr/>
          <p:nvPr/>
        </p:nvSpPr>
        <p:spPr>
          <a:xfrm>
            <a:off x="8732520" y="274320"/>
            <a:ext cx="2971800" cy="292608"/>
          </a:xfrm>
          <a:prstGeom prst="rect">
            <a:avLst/>
          </a:prstGeom>
          <a:noFill/>
          <a:ln/>
        </p:spPr>
        <p:txBody>
          <a:bodyPr wrap="square" lIns="0" tIns="0" rIns="0" bIns="0" rtlCol="0" anchor="ctr"/>
          <a:lstStyle/>
          <a:p>
            <a:pPr algn="ctr" indent="0" marL="0">
              <a:buNone/>
            </a:pPr>
            <a:r>
              <a:rPr lang="en-US" sz="1000" dirty="0">
                <a:solidFill>
                  <a:srgbClr val="B45309"/>
                </a:solidFill>
                <a:latin typeface="Segoe UI Semibold" pitchFamily="34" charset="0"/>
                <a:ea typeface="Segoe UI Semibold" pitchFamily="34" charset="-122"/>
                <a:cs typeface="Segoe UI Semibold" pitchFamily="34" charset="-120"/>
              </a:rPr>
              <a:t>LIVE DEMO · predefined demo students</a:t>
            </a:r>
            <a:endParaRPr lang="en-US" sz="1000" dirty="0"/>
          </a:p>
        </p:txBody>
      </p:sp>
      <p:sp>
        <p:nvSpPr>
          <p:cNvPr id="10" name="Shape 8"/>
          <p:cNvSpPr/>
          <p:nvPr/>
        </p:nvSpPr>
        <p:spPr>
          <a:xfrm>
            <a:off x="475488" y="1325420"/>
            <a:ext cx="5175504" cy="4664361"/>
          </a:xfrm>
          <a:prstGeom prst="rect">
            <a:avLst/>
          </a:prstGeom>
          <a:solidFill>
            <a:srgbClr val="E2E8F0"/>
          </a:solidFill>
          <a:ln w="12700">
            <a:solidFill>
              <a:srgbClr val="E2E8F0"/>
            </a:solidFill>
            <a:prstDash val="solid"/>
          </a:ln>
        </p:spPr>
      </p:sp>
      <p:pic>
        <p:nvPicPr>
          <p:cNvPr id="11" name="Image 0" descr="C:\Users\NEMMI\AppData\Local\Temp\claude\d--Documents-Sharda-University-Semester-5-PBL-fontend-student-prediction\d6ce81b2-62cd-4b95-adc5-3e24f53e42a1\scratchpad\deck2\shots\18-reports-student.png">    </p:cNvPr>
          <p:cNvPicPr>
            <a:picLocks noChangeAspect="1"/>
          </p:cNvPicPr>
          <p:nvPr/>
        </p:nvPicPr>
        <p:blipFill>
          <a:blip r:embed="rId1"/>
          <a:stretch>
            <a:fillRect/>
          </a:stretch>
        </p:blipFill>
        <p:spPr>
          <a:xfrm>
            <a:off x="502920" y="1352852"/>
            <a:ext cx="5120640" cy="4609497"/>
          </a:xfrm>
          <a:prstGeom prst="rect">
            <a:avLst/>
          </a:prstGeom>
        </p:spPr>
      </p:pic>
      <p:sp>
        <p:nvSpPr>
          <p:cNvPr id="12" name="Text 9"/>
          <p:cNvSpPr/>
          <p:nvPr/>
        </p:nvSpPr>
        <p:spPr>
          <a:xfrm>
            <a:off x="502920" y="6035500"/>
            <a:ext cx="512064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Student Report — Demo Student 3</a:t>
            </a:r>
            <a:endParaRPr lang="en-US" sz="1100" dirty="0"/>
          </a:p>
        </p:txBody>
      </p:sp>
      <p:sp>
        <p:nvSpPr>
          <p:cNvPr id="13" name="Shape 10"/>
          <p:cNvSpPr/>
          <p:nvPr/>
        </p:nvSpPr>
        <p:spPr>
          <a:xfrm>
            <a:off x="5870448" y="1316210"/>
            <a:ext cx="5724144" cy="2899701"/>
          </a:xfrm>
          <a:prstGeom prst="rect">
            <a:avLst/>
          </a:prstGeom>
          <a:solidFill>
            <a:srgbClr val="E2E8F0"/>
          </a:solidFill>
          <a:ln w="12700">
            <a:solidFill>
              <a:srgbClr val="E2E8F0"/>
            </a:solidFill>
            <a:prstDash val="solid"/>
          </a:ln>
        </p:spPr>
      </p:sp>
      <p:pic>
        <p:nvPicPr>
          <p:cNvPr id="14" name="Image 1" descr="C:\Users\NEMMI\AppData\Local\Temp\claude\d--Documents-Sharda-University-Semester-5-PBL-fontend-student-prediction\d6ce81b2-62cd-4b95-adc5-3e24f53e42a1\scratchpad\deck2\shots\20-reports-intervention.png">    </p:cNvPr>
          <p:cNvPicPr>
            <a:picLocks noChangeAspect="1"/>
          </p:cNvPicPr>
          <p:nvPr/>
        </p:nvPicPr>
        <p:blipFill>
          <a:blip r:embed="rId2"/>
          <a:stretch>
            <a:fillRect/>
          </a:stretch>
        </p:blipFill>
        <p:spPr>
          <a:xfrm>
            <a:off x="5897880" y="1343642"/>
            <a:ext cx="5669280" cy="2844837"/>
          </a:xfrm>
          <a:prstGeom prst="rect">
            <a:avLst/>
          </a:prstGeom>
        </p:spPr>
      </p:pic>
      <p:sp>
        <p:nvSpPr>
          <p:cNvPr id="15" name="Text 11"/>
          <p:cNvSpPr/>
          <p:nvPr/>
        </p:nvSpPr>
        <p:spPr>
          <a:xfrm>
            <a:off x="5897880" y="4261630"/>
            <a:ext cx="5669280" cy="274320"/>
          </a:xfrm>
          <a:prstGeom prst="rect">
            <a:avLst/>
          </a:prstGeom>
          <a:noFill/>
          <a:ln/>
        </p:spPr>
        <p:txBody>
          <a:bodyPr wrap="square" lIns="0" tIns="0" rIns="0" bIns="0" rtlCol="0" anchor="t"/>
          <a:lstStyle/>
          <a:p>
            <a:pPr algn="ctr" indent="0" marL="0">
              <a:buNone/>
            </a:pPr>
            <a:r>
              <a:rPr lang="en-US" sz="1100" i="1" dirty="0">
                <a:solidFill>
                  <a:srgbClr val="64748B"/>
                </a:solidFill>
                <a:latin typeface="Segoe UI" pitchFamily="34" charset="0"/>
                <a:ea typeface="Segoe UI" pitchFamily="34" charset="-122"/>
                <a:cs typeface="Segoe UI" pitchFamily="34" charset="-120"/>
              </a:rPr>
              <a:t>Intervention Report + Department Reports (unavailable by design)</a:t>
            </a:r>
            <a:endParaRPr lang="en-US" sz="1100" dirty="0"/>
          </a:p>
        </p:txBody>
      </p:sp>
      <p:sp>
        <p:nvSpPr>
          <p:cNvPr id="16" name="Text 12"/>
          <p:cNvSpPr/>
          <p:nvPr/>
        </p:nvSpPr>
        <p:spPr>
          <a:xfrm>
            <a:off x="5897880" y="4526280"/>
            <a:ext cx="1920240" cy="384048"/>
          </a:xfrm>
          <a:prstGeom prst="rect">
            <a:avLst/>
          </a:prstGeom>
          <a:noFill/>
          <a:ln/>
        </p:spPr>
        <p:txBody>
          <a:bodyPr wrap="square" lIns="0" tIns="0" rIns="0" bIns="0" rtlCol="0" anchor="ctr"/>
          <a:lstStyle/>
          <a:p>
            <a:pPr indent="0" marL="0">
              <a:buNone/>
            </a:pPr>
            <a:r>
              <a:rPr lang="en-US" sz="1250" dirty="0">
                <a:solidFill>
                  <a:srgbClr val="0F172A"/>
                </a:solidFill>
                <a:latin typeface="Segoe UI Semibold" pitchFamily="34" charset="0"/>
                <a:ea typeface="Segoe UI Semibold" pitchFamily="34" charset="-122"/>
                <a:cs typeface="Segoe UI Semibold" pitchFamily="34" charset="-120"/>
              </a:rPr>
              <a:t>Student Report</a:t>
            </a:r>
            <a:endParaRPr lang="en-US" sz="1250" dirty="0"/>
          </a:p>
        </p:txBody>
      </p:sp>
      <p:sp>
        <p:nvSpPr>
          <p:cNvPr id="17" name="Text 13"/>
          <p:cNvSpPr/>
          <p:nvPr/>
        </p:nvSpPr>
        <p:spPr>
          <a:xfrm>
            <a:off x="7818120" y="4526280"/>
            <a:ext cx="3749040" cy="384048"/>
          </a:xfrm>
          <a:prstGeom prst="rect">
            <a:avLst/>
          </a:prstGeom>
          <a:noFill/>
          <a:ln/>
        </p:spPr>
        <p:txBody>
          <a:bodyPr wrap="square" lIns="0" tIns="0" rIns="0" bIns="0" rtlCol="0" anchor="ctr"/>
          <a:lstStyle/>
          <a:p>
            <a:pPr indent="0" marL="0">
              <a:buNone/>
            </a:pPr>
            <a:r>
              <a:rPr lang="en-US" sz="1150" dirty="0">
                <a:solidFill>
                  <a:srgbClr val="334155"/>
                </a:solidFill>
                <a:latin typeface="Segoe UI" pitchFamily="34" charset="0"/>
                <a:ea typeface="Segoe UI" pitchFamily="34" charset="-122"/>
                <a:cs typeface="Segoe UI" pitchFamily="34" charset="-120"/>
              </a:rPr>
              <a:t>inputs, predicted marks, band, explanation, recommendations, interventions</a:t>
            </a:r>
            <a:endParaRPr lang="en-US" sz="1150" dirty="0"/>
          </a:p>
        </p:txBody>
      </p:sp>
      <p:sp>
        <p:nvSpPr>
          <p:cNvPr id="18" name="Text 14"/>
          <p:cNvSpPr/>
          <p:nvPr/>
        </p:nvSpPr>
        <p:spPr>
          <a:xfrm>
            <a:off x="5897880" y="4956048"/>
            <a:ext cx="1920240" cy="384048"/>
          </a:xfrm>
          <a:prstGeom prst="rect">
            <a:avLst/>
          </a:prstGeom>
          <a:noFill/>
          <a:ln/>
        </p:spPr>
        <p:txBody>
          <a:bodyPr wrap="square" lIns="0" tIns="0" rIns="0" bIns="0" rtlCol="0" anchor="ctr"/>
          <a:lstStyle/>
          <a:p>
            <a:pPr indent="0" marL="0">
              <a:buNone/>
            </a:pPr>
            <a:r>
              <a:rPr lang="en-US" sz="1250" dirty="0">
                <a:solidFill>
                  <a:srgbClr val="0F172A"/>
                </a:solidFill>
                <a:latin typeface="Segoe UI Semibold" pitchFamily="34" charset="0"/>
                <a:ea typeface="Segoe UI Semibold" pitchFamily="34" charset="-122"/>
                <a:cs typeface="Segoe UI Semibold" pitchFamily="34" charset="-120"/>
              </a:rPr>
              <a:t>Prediction Report</a:t>
            </a:r>
            <a:endParaRPr lang="en-US" sz="1250" dirty="0"/>
          </a:p>
        </p:txBody>
      </p:sp>
      <p:sp>
        <p:nvSpPr>
          <p:cNvPr id="19" name="Text 15"/>
          <p:cNvSpPr/>
          <p:nvPr/>
        </p:nvSpPr>
        <p:spPr>
          <a:xfrm>
            <a:off x="7818120" y="4956048"/>
            <a:ext cx="3749040" cy="384048"/>
          </a:xfrm>
          <a:prstGeom prst="rect">
            <a:avLst/>
          </a:prstGeom>
          <a:noFill/>
          <a:ln/>
        </p:spPr>
        <p:txBody>
          <a:bodyPr wrap="square" lIns="0" tIns="0" rIns="0" bIns="0" rtlCol="0" anchor="ctr"/>
          <a:lstStyle/>
          <a:p>
            <a:pPr indent="0" marL="0">
              <a:buNone/>
            </a:pPr>
            <a:r>
              <a:rPr lang="en-US" sz="1150" dirty="0">
                <a:solidFill>
                  <a:srgbClr val="334155"/>
                </a:solidFill>
                <a:latin typeface="Segoe UI" pitchFamily="34" charset="0"/>
                <a:ea typeface="Segoe UI" pitchFamily="34" charset="-122"/>
                <a:cs typeface="Segoe UI" pitchFamily="34" charset="-120"/>
              </a:rPr>
              <a:t>SHAP contributions, positive / risk contributors, recommendations</a:t>
            </a:r>
            <a:endParaRPr lang="en-US" sz="1150" dirty="0"/>
          </a:p>
        </p:txBody>
      </p:sp>
      <p:sp>
        <p:nvSpPr>
          <p:cNvPr id="20" name="Text 16"/>
          <p:cNvSpPr/>
          <p:nvPr/>
        </p:nvSpPr>
        <p:spPr>
          <a:xfrm>
            <a:off x="5897880" y="5385816"/>
            <a:ext cx="1920240" cy="384048"/>
          </a:xfrm>
          <a:prstGeom prst="rect">
            <a:avLst/>
          </a:prstGeom>
          <a:noFill/>
          <a:ln/>
        </p:spPr>
        <p:txBody>
          <a:bodyPr wrap="square" lIns="0" tIns="0" rIns="0" bIns="0" rtlCol="0" anchor="ctr"/>
          <a:lstStyle/>
          <a:p>
            <a:pPr indent="0" marL="0">
              <a:buNone/>
            </a:pPr>
            <a:r>
              <a:rPr lang="en-US" sz="1250" dirty="0">
                <a:solidFill>
                  <a:srgbClr val="0F172A"/>
                </a:solidFill>
                <a:latin typeface="Segoe UI Semibold" pitchFamily="34" charset="0"/>
                <a:ea typeface="Segoe UI Semibold" pitchFamily="34" charset="-122"/>
                <a:cs typeface="Segoe UI Semibold" pitchFamily="34" charset="-120"/>
              </a:rPr>
              <a:t>Intervention Report</a:t>
            </a:r>
            <a:endParaRPr lang="en-US" sz="1250" dirty="0"/>
          </a:p>
        </p:txBody>
      </p:sp>
      <p:sp>
        <p:nvSpPr>
          <p:cNvPr id="21" name="Text 17"/>
          <p:cNvSpPr/>
          <p:nvPr/>
        </p:nvSpPr>
        <p:spPr>
          <a:xfrm>
            <a:off x="7818120" y="5385816"/>
            <a:ext cx="3749040" cy="384048"/>
          </a:xfrm>
          <a:prstGeom prst="rect">
            <a:avLst/>
          </a:prstGeom>
          <a:noFill/>
          <a:ln/>
        </p:spPr>
        <p:txBody>
          <a:bodyPr wrap="square" lIns="0" tIns="0" rIns="0" bIns="0" rtlCol="0" anchor="ctr"/>
          <a:lstStyle/>
          <a:p>
            <a:pPr indent="0" marL="0">
              <a:buNone/>
            </a:pPr>
            <a:r>
              <a:rPr lang="en-US" sz="1150" dirty="0">
                <a:solidFill>
                  <a:srgbClr val="334155"/>
                </a:solidFill>
                <a:latin typeface="Segoe UI" pitchFamily="34" charset="0"/>
                <a:ea typeface="Segoe UI" pitchFamily="34" charset="-122"/>
                <a:cs typeface="Segoe UI" pitchFamily="34" charset="-120"/>
              </a:rPr>
              <a:t>priority, risk area, action, teacher note, status, assignment time</a:t>
            </a:r>
            <a:endParaRPr lang="en-US" sz="1150" dirty="0"/>
          </a:p>
        </p:txBody>
      </p:sp>
      <p:sp>
        <p:nvSpPr>
          <p:cNvPr id="22" name="Text 18"/>
          <p:cNvSpPr/>
          <p:nvPr/>
        </p:nvSpPr>
        <p:spPr>
          <a:xfrm>
            <a:off x="5897880" y="5815584"/>
            <a:ext cx="1920240" cy="384048"/>
          </a:xfrm>
          <a:prstGeom prst="rect">
            <a:avLst/>
          </a:prstGeom>
          <a:noFill/>
          <a:ln/>
        </p:spPr>
        <p:txBody>
          <a:bodyPr wrap="square" lIns="0" tIns="0" rIns="0" bIns="0" rtlCol="0" anchor="ctr"/>
          <a:lstStyle/>
          <a:p>
            <a:pPr indent="0" marL="0">
              <a:buNone/>
            </a:pPr>
            <a:r>
              <a:rPr lang="en-US" sz="1250" dirty="0">
                <a:solidFill>
                  <a:srgbClr val="64748B"/>
                </a:solidFill>
                <a:latin typeface="Segoe UI Semibold" pitchFamily="34" charset="0"/>
                <a:ea typeface="Segoe UI Semibold" pitchFamily="34" charset="-122"/>
                <a:cs typeface="Segoe UI Semibold" pitchFamily="34" charset="-120"/>
              </a:rPr>
              <a:t>Department Report</a:t>
            </a:r>
            <a:endParaRPr lang="en-US" sz="1250" dirty="0"/>
          </a:p>
        </p:txBody>
      </p:sp>
      <p:sp>
        <p:nvSpPr>
          <p:cNvPr id="23" name="Text 19"/>
          <p:cNvSpPr/>
          <p:nvPr/>
        </p:nvSpPr>
        <p:spPr>
          <a:xfrm>
            <a:off x="7818120" y="5815584"/>
            <a:ext cx="3749040" cy="384048"/>
          </a:xfrm>
          <a:prstGeom prst="rect">
            <a:avLst/>
          </a:prstGeom>
          <a:noFill/>
          <a:ln/>
        </p:spPr>
        <p:txBody>
          <a:bodyPr wrap="square" lIns="0" tIns="0" rIns="0" bIns="0" rtlCol="0" anchor="ctr"/>
          <a:lstStyle/>
          <a:p>
            <a:pPr indent="0" marL="0">
              <a:buNone/>
            </a:pPr>
            <a:r>
              <a:rPr lang="en-US" sz="1150" dirty="0">
                <a:solidFill>
                  <a:srgbClr val="334155"/>
                </a:solidFill>
                <a:latin typeface="Segoe UI" pitchFamily="34" charset="0"/>
                <a:ea typeface="Segoe UI" pitchFamily="34" charset="-122"/>
                <a:cs typeface="Segoe UI" pitchFamily="34" charset="-120"/>
              </a:rPr>
              <a:t>unavailable — needs connected student and department records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END-TO-END DEMONSTRATION</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Live demo script</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18 / 21</a:t>
            </a:r>
            <a:endParaRPr lang="en-US" sz="1000" dirty="0"/>
          </a:p>
        </p:txBody>
      </p:sp>
      <p:sp>
        <p:nvSpPr>
          <p:cNvPr id="8" name="Shape 6"/>
          <p:cNvSpPr/>
          <p:nvPr/>
        </p:nvSpPr>
        <p:spPr>
          <a:xfrm>
            <a:off x="8732520" y="274320"/>
            <a:ext cx="2971800" cy="292608"/>
          </a:xfrm>
          <a:prstGeom prst="roundRect">
            <a:avLst>
              <a:gd name="adj" fmla="val 50000"/>
            </a:avLst>
          </a:prstGeom>
          <a:solidFill>
            <a:srgbClr val="FEF3C7"/>
          </a:solidFill>
          <a:ln w="12700">
            <a:solidFill>
              <a:srgbClr val="FEF3C7"/>
            </a:solidFill>
            <a:prstDash val="solid"/>
          </a:ln>
        </p:spPr>
      </p:sp>
      <p:sp>
        <p:nvSpPr>
          <p:cNvPr id="9" name="Text 7"/>
          <p:cNvSpPr/>
          <p:nvPr/>
        </p:nvSpPr>
        <p:spPr>
          <a:xfrm>
            <a:off x="8732520" y="274320"/>
            <a:ext cx="2971800" cy="292608"/>
          </a:xfrm>
          <a:prstGeom prst="rect">
            <a:avLst/>
          </a:prstGeom>
          <a:noFill/>
          <a:ln/>
        </p:spPr>
        <p:txBody>
          <a:bodyPr wrap="square" lIns="0" tIns="0" rIns="0" bIns="0" rtlCol="0" anchor="ctr"/>
          <a:lstStyle/>
          <a:p>
            <a:pPr algn="ctr" indent="0" marL="0">
              <a:buNone/>
            </a:pPr>
            <a:r>
              <a:rPr lang="en-US" sz="1000" dirty="0">
                <a:solidFill>
                  <a:srgbClr val="B45309"/>
                </a:solidFill>
                <a:latin typeface="Segoe UI Semibold" pitchFamily="34" charset="0"/>
                <a:ea typeface="Segoe UI Semibold" pitchFamily="34" charset="-122"/>
                <a:cs typeface="Segoe UI Semibold" pitchFamily="34" charset="-120"/>
              </a:rPr>
              <a:t>LIVE DEMO · predefined demo students</a:t>
            </a:r>
            <a:endParaRPr lang="en-US" sz="1000" dirty="0"/>
          </a:p>
        </p:txBody>
      </p:sp>
      <p:sp>
        <p:nvSpPr>
          <p:cNvPr id="10" name="Shape 8"/>
          <p:cNvSpPr/>
          <p:nvPr/>
        </p:nvSpPr>
        <p:spPr>
          <a:xfrm>
            <a:off x="502920" y="1371600"/>
            <a:ext cx="5394960" cy="786384"/>
          </a:xfrm>
          <a:prstGeom prst="roundRect">
            <a:avLst>
              <a:gd name="adj" fmla="val 9302"/>
            </a:avLst>
          </a:prstGeom>
          <a:solidFill>
            <a:srgbClr val="EFF6FF"/>
          </a:solidFill>
          <a:ln w="12700">
            <a:solidFill>
              <a:srgbClr val="DBEAFE"/>
            </a:solidFill>
            <a:prstDash val="solid"/>
          </a:ln>
        </p:spPr>
      </p:sp>
      <p:sp>
        <p:nvSpPr>
          <p:cNvPr id="11" name="Shape 9"/>
          <p:cNvSpPr/>
          <p:nvPr/>
        </p:nvSpPr>
        <p:spPr>
          <a:xfrm>
            <a:off x="685800" y="1536192"/>
            <a:ext cx="457200" cy="457200"/>
          </a:xfrm>
          <a:prstGeom prst="ellipse">
            <a:avLst/>
          </a:prstGeom>
          <a:solidFill>
            <a:srgbClr val="2563EB"/>
          </a:solidFill>
          <a:ln w="12700">
            <a:solidFill>
              <a:srgbClr val="2563EB"/>
            </a:solidFill>
            <a:prstDash val="solid"/>
          </a:ln>
        </p:spPr>
      </p:sp>
      <p:sp>
        <p:nvSpPr>
          <p:cNvPr id="12" name="Text 10"/>
          <p:cNvSpPr/>
          <p:nvPr/>
        </p:nvSpPr>
        <p:spPr>
          <a:xfrm>
            <a:off x="685800" y="15361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3" name="Text 11"/>
          <p:cNvSpPr/>
          <p:nvPr/>
        </p:nvSpPr>
        <p:spPr>
          <a:xfrm>
            <a:off x="1325880" y="14447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Select Demo Student 3</a:t>
            </a:r>
            <a:endParaRPr lang="en-US" sz="1500" dirty="0"/>
          </a:p>
        </p:txBody>
      </p:sp>
      <p:sp>
        <p:nvSpPr>
          <p:cNvPr id="14" name="Text 12"/>
          <p:cNvSpPr/>
          <p:nvPr/>
        </p:nvSpPr>
        <p:spPr>
          <a:xfrm>
            <a:off x="1325880" y="17922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Student Portal → Dashboard</a:t>
            </a:r>
            <a:endParaRPr lang="en-US" sz="1200" dirty="0"/>
          </a:p>
        </p:txBody>
      </p:sp>
      <p:sp>
        <p:nvSpPr>
          <p:cNvPr id="15" name="Shape 13"/>
          <p:cNvSpPr/>
          <p:nvPr/>
        </p:nvSpPr>
        <p:spPr>
          <a:xfrm>
            <a:off x="502920" y="2286000"/>
            <a:ext cx="5394960" cy="786384"/>
          </a:xfrm>
          <a:prstGeom prst="roundRect">
            <a:avLst>
              <a:gd name="adj" fmla="val 9302"/>
            </a:avLst>
          </a:prstGeom>
          <a:solidFill>
            <a:srgbClr val="EFF6FF"/>
          </a:solidFill>
          <a:ln w="12700">
            <a:solidFill>
              <a:srgbClr val="DBEAFE"/>
            </a:solidFill>
            <a:prstDash val="solid"/>
          </a:ln>
        </p:spPr>
      </p:sp>
      <p:sp>
        <p:nvSpPr>
          <p:cNvPr id="16" name="Shape 14"/>
          <p:cNvSpPr/>
          <p:nvPr/>
        </p:nvSpPr>
        <p:spPr>
          <a:xfrm>
            <a:off x="685800" y="2450592"/>
            <a:ext cx="457200" cy="457200"/>
          </a:xfrm>
          <a:prstGeom prst="ellipse">
            <a:avLst/>
          </a:prstGeom>
          <a:solidFill>
            <a:srgbClr val="2563EB"/>
          </a:solidFill>
          <a:ln w="12700">
            <a:solidFill>
              <a:srgbClr val="2563EB"/>
            </a:solidFill>
            <a:prstDash val="solid"/>
          </a:ln>
        </p:spPr>
      </p:sp>
      <p:sp>
        <p:nvSpPr>
          <p:cNvPr id="17" name="Text 15"/>
          <p:cNvSpPr/>
          <p:nvPr/>
        </p:nvSpPr>
        <p:spPr>
          <a:xfrm>
            <a:off x="685800" y="24505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8" name="Text 16"/>
          <p:cNvSpPr/>
          <p:nvPr/>
        </p:nvSpPr>
        <p:spPr>
          <a:xfrm>
            <a:off x="1325880" y="23591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View academic inputs</a:t>
            </a:r>
            <a:endParaRPr lang="en-US" sz="1500" dirty="0"/>
          </a:p>
        </p:txBody>
      </p:sp>
      <p:sp>
        <p:nvSpPr>
          <p:cNvPr id="19" name="Text 17"/>
          <p:cNvSpPr/>
          <p:nvPr/>
        </p:nvSpPr>
        <p:spPr>
          <a:xfrm>
            <a:off x="1325880" y="27066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70 · 24 · 25 · 7 · 2</a:t>
            </a:r>
            <a:endParaRPr lang="en-US" sz="1200" dirty="0"/>
          </a:p>
        </p:txBody>
      </p:sp>
      <p:sp>
        <p:nvSpPr>
          <p:cNvPr id="20" name="Shape 18"/>
          <p:cNvSpPr/>
          <p:nvPr/>
        </p:nvSpPr>
        <p:spPr>
          <a:xfrm>
            <a:off x="502920" y="3200400"/>
            <a:ext cx="5394960" cy="786384"/>
          </a:xfrm>
          <a:prstGeom prst="roundRect">
            <a:avLst>
              <a:gd name="adj" fmla="val 9302"/>
            </a:avLst>
          </a:prstGeom>
          <a:solidFill>
            <a:srgbClr val="EFF6FF"/>
          </a:solidFill>
          <a:ln w="12700">
            <a:solidFill>
              <a:srgbClr val="DBEAFE"/>
            </a:solidFill>
            <a:prstDash val="solid"/>
          </a:ln>
        </p:spPr>
      </p:sp>
      <p:sp>
        <p:nvSpPr>
          <p:cNvPr id="21" name="Shape 19"/>
          <p:cNvSpPr/>
          <p:nvPr/>
        </p:nvSpPr>
        <p:spPr>
          <a:xfrm>
            <a:off x="685800" y="3364992"/>
            <a:ext cx="457200" cy="457200"/>
          </a:xfrm>
          <a:prstGeom prst="ellipse">
            <a:avLst/>
          </a:prstGeom>
          <a:solidFill>
            <a:srgbClr val="2563EB"/>
          </a:solidFill>
          <a:ln w="12700">
            <a:solidFill>
              <a:srgbClr val="2563EB"/>
            </a:solidFill>
            <a:prstDash val="solid"/>
          </a:ln>
        </p:spPr>
      </p:sp>
      <p:sp>
        <p:nvSpPr>
          <p:cNvPr id="22" name="Text 20"/>
          <p:cNvSpPr/>
          <p:nvPr/>
        </p:nvSpPr>
        <p:spPr>
          <a:xfrm>
            <a:off x="685800" y="33649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23" name="Text 21"/>
          <p:cNvSpPr/>
          <p:nvPr/>
        </p:nvSpPr>
        <p:spPr>
          <a:xfrm>
            <a:off x="1325880" y="32735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Generate prediction</a:t>
            </a:r>
            <a:endParaRPr lang="en-US" sz="1500" dirty="0"/>
          </a:p>
        </p:txBody>
      </p:sp>
      <p:sp>
        <p:nvSpPr>
          <p:cNvPr id="24" name="Text 22"/>
          <p:cNvSpPr/>
          <p:nvPr/>
        </p:nvSpPr>
        <p:spPr>
          <a:xfrm>
            <a:off x="1325880" y="36210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Prediction → Predict Performance</a:t>
            </a:r>
            <a:endParaRPr lang="en-US" sz="1200" dirty="0"/>
          </a:p>
        </p:txBody>
      </p:sp>
      <p:sp>
        <p:nvSpPr>
          <p:cNvPr id="25" name="Shape 23"/>
          <p:cNvSpPr/>
          <p:nvPr/>
        </p:nvSpPr>
        <p:spPr>
          <a:xfrm>
            <a:off x="502920" y="4114800"/>
            <a:ext cx="5394960" cy="786384"/>
          </a:xfrm>
          <a:prstGeom prst="roundRect">
            <a:avLst>
              <a:gd name="adj" fmla="val 9302"/>
            </a:avLst>
          </a:prstGeom>
          <a:solidFill>
            <a:srgbClr val="EFF6FF"/>
          </a:solidFill>
          <a:ln w="12700">
            <a:solidFill>
              <a:srgbClr val="DBEAFE"/>
            </a:solidFill>
            <a:prstDash val="solid"/>
          </a:ln>
        </p:spPr>
      </p:sp>
      <p:sp>
        <p:nvSpPr>
          <p:cNvPr id="26" name="Shape 24"/>
          <p:cNvSpPr/>
          <p:nvPr/>
        </p:nvSpPr>
        <p:spPr>
          <a:xfrm>
            <a:off x="685800" y="4279392"/>
            <a:ext cx="457200" cy="457200"/>
          </a:xfrm>
          <a:prstGeom prst="ellipse">
            <a:avLst/>
          </a:prstGeom>
          <a:solidFill>
            <a:srgbClr val="2563EB"/>
          </a:solidFill>
          <a:ln w="12700">
            <a:solidFill>
              <a:srgbClr val="2563EB"/>
            </a:solidFill>
            <a:prstDash val="solid"/>
          </a:ln>
        </p:spPr>
      </p:sp>
      <p:sp>
        <p:nvSpPr>
          <p:cNvPr id="27" name="Text 25"/>
          <p:cNvSpPr/>
          <p:nvPr/>
        </p:nvSpPr>
        <p:spPr>
          <a:xfrm>
            <a:off x="685800" y="42793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8" name="Text 26"/>
          <p:cNvSpPr/>
          <p:nvPr/>
        </p:nvSpPr>
        <p:spPr>
          <a:xfrm>
            <a:off x="1325880" y="41879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View early-warning status</a:t>
            </a:r>
            <a:endParaRPr lang="en-US" sz="1500" dirty="0"/>
          </a:p>
        </p:txBody>
      </p:sp>
      <p:sp>
        <p:nvSpPr>
          <p:cNvPr id="29" name="Text 27"/>
          <p:cNvSpPr/>
          <p:nvPr/>
        </p:nvSpPr>
        <p:spPr>
          <a:xfrm>
            <a:off x="1325880" y="45354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42.12 marks → Borderline</a:t>
            </a:r>
            <a:endParaRPr lang="en-US" sz="1200" dirty="0"/>
          </a:p>
        </p:txBody>
      </p:sp>
      <p:sp>
        <p:nvSpPr>
          <p:cNvPr id="30" name="Shape 28"/>
          <p:cNvSpPr/>
          <p:nvPr/>
        </p:nvSpPr>
        <p:spPr>
          <a:xfrm>
            <a:off x="502920" y="5029200"/>
            <a:ext cx="5394960" cy="786384"/>
          </a:xfrm>
          <a:prstGeom prst="roundRect">
            <a:avLst>
              <a:gd name="adj" fmla="val 9302"/>
            </a:avLst>
          </a:prstGeom>
          <a:solidFill>
            <a:srgbClr val="EFF6FF"/>
          </a:solidFill>
          <a:ln w="12700">
            <a:solidFill>
              <a:srgbClr val="DBEAFE"/>
            </a:solidFill>
            <a:prstDash val="solid"/>
          </a:ln>
        </p:spPr>
      </p:sp>
      <p:sp>
        <p:nvSpPr>
          <p:cNvPr id="31" name="Shape 29"/>
          <p:cNvSpPr/>
          <p:nvPr/>
        </p:nvSpPr>
        <p:spPr>
          <a:xfrm>
            <a:off x="685800" y="5193792"/>
            <a:ext cx="457200" cy="457200"/>
          </a:xfrm>
          <a:prstGeom prst="ellipse">
            <a:avLst/>
          </a:prstGeom>
          <a:solidFill>
            <a:srgbClr val="2563EB"/>
          </a:solidFill>
          <a:ln w="12700">
            <a:solidFill>
              <a:srgbClr val="2563EB"/>
            </a:solidFill>
            <a:prstDash val="solid"/>
          </a:ln>
        </p:spPr>
      </p:sp>
      <p:sp>
        <p:nvSpPr>
          <p:cNvPr id="32" name="Text 30"/>
          <p:cNvSpPr/>
          <p:nvPr/>
        </p:nvSpPr>
        <p:spPr>
          <a:xfrm>
            <a:off x="685800" y="51937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5</a:t>
            </a:r>
            <a:endParaRPr lang="en-US" sz="1500" dirty="0"/>
          </a:p>
        </p:txBody>
      </p:sp>
      <p:sp>
        <p:nvSpPr>
          <p:cNvPr id="33" name="Text 31"/>
          <p:cNvSpPr/>
          <p:nvPr/>
        </p:nvSpPr>
        <p:spPr>
          <a:xfrm>
            <a:off x="1325880" y="51023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Inspect SHAP explanation</a:t>
            </a:r>
            <a:endParaRPr lang="en-US" sz="1500" dirty="0"/>
          </a:p>
        </p:txBody>
      </p:sp>
      <p:sp>
        <p:nvSpPr>
          <p:cNvPr id="34" name="Text 32"/>
          <p:cNvSpPr/>
          <p:nvPr/>
        </p:nvSpPr>
        <p:spPr>
          <a:xfrm>
            <a:off x="1325880" y="54498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What contributed to this prediction?</a:t>
            </a:r>
            <a:endParaRPr lang="en-US" sz="1200" dirty="0"/>
          </a:p>
        </p:txBody>
      </p:sp>
      <p:sp>
        <p:nvSpPr>
          <p:cNvPr id="35" name="Shape 33"/>
          <p:cNvSpPr/>
          <p:nvPr/>
        </p:nvSpPr>
        <p:spPr>
          <a:xfrm>
            <a:off x="6126480" y="1371600"/>
            <a:ext cx="5394960" cy="786384"/>
          </a:xfrm>
          <a:prstGeom prst="roundRect">
            <a:avLst>
              <a:gd name="adj" fmla="val 9302"/>
            </a:avLst>
          </a:prstGeom>
          <a:solidFill>
            <a:srgbClr val="F0FDF4"/>
          </a:solidFill>
          <a:ln w="12700">
            <a:solidFill>
              <a:srgbClr val="BBF7D0"/>
            </a:solidFill>
            <a:prstDash val="solid"/>
          </a:ln>
        </p:spPr>
      </p:sp>
      <p:sp>
        <p:nvSpPr>
          <p:cNvPr id="36" name="Shape 34"/>
          <p:cNvSpPr/>
          <p:nvPr/>
        </p:nvSpPr>
        <p:spPr>
          <a:xfrm>
            <a:off x="6309360" y="1536192"/>
            <a:ext cx="457200" cy="457200"/>
          </a:xfrm>
          <a:prstGeom prst="ellipse">
            <a:avLst/>
          </a:prstGeom>
          <a:solidFill>
            <a:srgbClr val="047857"/>
          </a:solidFill>
          <a:ln w="12700">
            <a:solidFill>
              <a:srgbClr val="047857"/>
            </a:solidFill>
            <a:prstDash val="solid"/>
          </a:ln>
        </p:spPr>
      </p:sp>
      <p:sp>
        <p:nvSpPr>
          <p:cNvPr id="37" name="Text 35"/>
          <p:cNvSpPr/>
          <p:nvPr/>
        </p:nvSpPr>
        <p:spPr>
          <a:xfrm>
            <a:off x="6309360" y="15361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6</a:t>
            </a:r>
            <a:endParaRPr lang="en-US" sz="1500" dirty="0"/>
          </a:p>
        </p:txBody>
      </p:sp>
      <p:sp>
        <p:nvSpPr>
          <p:cNvPr id="38" name="Text 36"/>
          <p:cNvSpPr/>
          <p:nvPr/>
        </p:nvSpPr>
        <p:spPr>
          <a:xfrm>
            <a:off x="6949440" y="14447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View recommendations</a:t>
            </a:r>
            <a:endParaRPr lang="en-US" sz="1500" dirty="0"/>
          </a:p>
        </p:txBody>
      </p:sp>
      <p:sp>
        <p:nvSpPr>
          <p:cNvPr id="39" name="Text 37"/>
          <p:cNvSpPr/>
          <p:nvPr/>
        </p:nvSpPr>
        <p:spPr>
          <a:xfrm>
            <a:off x="6949440" y="17922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HIGH / MEDIUM / POSITIVE cards</a:t>
            </a:r>
            <a:endParaRPr lang="en-US" sz="1200" dirty="0"/>
          </a:p>
        </p:txBody>
      </p:sp>
      <p:sp>
        <p:nvSpPr>
          <p:cNvPr id="40" name="Shape 38"/>
          <p:cNvSpPr/>
          <p:nvPr/>
        </p:nvSpPr>
        <p:spPr>
          <a:xfrm>
            <a:off x="6126480" y="2286000"/>
            <a:ext cx="5394960" cy="786384"/>
          </a:xfrm>
          <a:prstGeom prst="roundRect">
            <a:avLst>
              <a:gd name="adj" fmla="val 9302"/>
            </a:avLst>
          </a:prstGeom>
          <a:solidFill>
            <a:srgbClr val="F0FDF4"/>
          </a:solidFill>
          <a:ln w="12700">
            <a:solidFill>
              <a:srgbClr val="BBF7D0"/>
            </a:solidFill>
            <a:prstDash val="solid"/>
          </a:ln>
        </p:spPr>
      </p:sp>
      <p:sp>
        <p:nvSpPr>
          <p:cNvPr id="41" name="Shape 39"/>
          <p:cNvSpPr/>
          <p:nvPr/>
        </p:nvSpPr>
        <p:spPr>
          <a:xfrm>
            <a:off x="6309360" y="2450592"/>
            <a:ext cx="457200" cy="457200"/>
          </a:xfrm>
          <a:prstGeom prst="ellipse">
            <a:avLst/>
          </a:prstGeom>
          <a:solidFill>
            <a:srgbClr val="047857"/>
          </a:solidFill>
          <a:ln w="12700">
            <a:solidFill>
              <a:srgbClr val="047857"/>
            </a:solidFill>
            <a:prstDash val="solid"/>
          </a:ln>
        </p:spPr>
      </p:sp>
      <p:sp>
        <p:nvSpPr>
          <p:cNvPr id="42" name="Text 40"/>
          <p:cNvSpPr/>
          <p:nvPr/>
        </p:nvSpPr>
        <p:spPr>
          <a:xfrm>
            <a:off x="6309360" y="24505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7</a:t>
            </a:r>
            <a:endParaRPr lang="en-US" sz="1500" dirty="0"/>
          </a:p>
        </p:txBody>
      </p:sp>
      <p:sp>
        <p:nvSpPr>
          <p:cNvPr id="43" name="Text 41"/>
          <p:cNvSpPr/>
          <p:nvPr/>
        </p:nvSpPr>
        <p:spPr>
          <a:xfrm>
            <a:off x="6949440" y="23591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Assign intervention</a:t>
            </a:r>
            <a:endParaRPr lang="en-US" sz="1500" dirty="0"/>
          </a:p>
        </p:txBody>
      </p:sp>
      <p:sp>
        <p:nvSpPr>
          <p:cNvPr id="44" name="Text 42"/>
          <p:cNvSpPr/>
          <p:nvPr/>
        </p:nvSpPr>
        <p:spPr>
          <a:xfrm>
            <a:off x="6949440" y="27066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Teacher Portal → Intervention Management</a:t>
            </a:r>
            <a:endParaRPr lang="en-US" sz="1200" dirty="0"/>
          </a:p>
        </p:txBody>
      </p:sp>
      <p:sp>
        <p:nvSpPr>
          <p:cNvPr id="45" name="Shape 43"/>
          <p:cNvSpPr/>
          <p:nvPr/>
        </p:nvSpPr>
        <p:spPr>
          <a:xfrm>
            <a:off x="6126480" y="3200400"/>
            <a:ext cx="5394960" cy="786384"/>
          </a:xfrm>
          <a:prstGeom prst="roundRect">
            <a:avLst>
              <a:gd name="adj" fmla="val 9302"/>
            </a:avLst>
          </a:prstGeom>
          <a:solidFill>
            <a:srgbClr val="F0FDF4"/>
          </a:solidFill>
          <a:ln w="12700">
            <a:solidFill>
              <a:srgbClr val="BBF7D0"/>
            </a:solidFill>
            <a:prstDash val="solid"/>
          </a:ln>
        </p:spPr>
      </p:sp>
      <p:sp>
        <p:nvSpPr>
          <p:cNvPr id="46" name="Shape 44"/>
          <p:cNvSpPr/>
          <p:nvPr/>
        </p:nvSpPr>
        <p:spPr>
          <a:xfrm>
            <a:off x="6309360" y="3364992"/>
            <a:ext cx="457200" cy="457200"/>
          </a:xfrm>
          <a:prstGeom prst="ellipse">
            <a:avLst/>
          </a:prstGeom>
          <a:solidFill>
            <a:srgbClr val="047857"/>
          </a:solidFill>
          <a:ln w="12700">
            <a:solidFill>
              <a:srgbClr val="047857"/>
            </a:solidFill>
            <a:prstDash val="solid"/>
          </a:ln>
        </p:spPr>
      </p:sp>
      <p:sp>
        <p:nvSpPr>
          <p:cNvPr id="47" name="Text 45"/>
          <p:cNvSpPr/>
          <p:nvPr/>
        </p:nvSpPr>
        <p:spPr>
          <a:xfrm>
            <a:off x="6309360" y="33649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8</a:t>
            </a:r>
            <a:endParaRPr lang="en-US" sz="1500" dirty="0"/>
          </a:p>
        </p:txBody>
      </p:sp>
      <p:sp>
        <p:nvSpPr>
          <p:cNvPr id="48" name="Text 46"/>
          <p:cNvSpPr/>
          <p:nvPr/>
        </p:nvSpPr>
        <p:spPr>
          <a:xfrm>
            <a:off x="6949440" y="32735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Mark intervention completed</a:t>
            </a:r>
            <a:endParaRPr lang="en-US" sz="1500" dirty="0"/>
          </a:p>
        </p:txBody>
      </p:sp>
      <p:sp>
        <p:nvSpPr>
          <p:cNvPr id="49" name="Text 47"/>
          <p:cNvSpPr/>
          <p:nvPr/>
        </p:nvSpPr>
        <p:spPr>
          <a:xfrm>
            <a:off x="6949440" y="36210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Student Portal → My Improvement Tasks</a:t>
            </a:r>
            <a:endParaRPr lang="en-US" sz="1200" dirty="0"/>
          </a:p>
        </p:txBody>
      </p:sp>
      <p:sp>
        <p:nvSpPr>
          <p:cNvPr id="50" name="Shape 48"/>
          <p:cNvSpPr/>
          <p:nvPr/>
        </p:nvSpPr>
        <p:spPr>
          <a:xfrm>
            <a:off x="6126480" y="4114800"/>
            <a:ext cx="5394960" cy="786384"/>
          </a:xfrm>
          <a:prstGeom prst="roundRect">
            <a:avLst>
              <a:gd name="adj" fmla="val 9302"/>
            </a:avLst>
          </a:prstGeom>
          <a:solidFill>
            <a:srgbClr val="F0FDF4"/>
          </a:solidFill>
          <a:ln w="12700">
            <a:solidFill>
              <a:srgbClr val="BBF7D0"/>
            </a:solidFill>
            <a:prstDash val="solid"/>
          </a:ln>
        </p:spPr>
      </p:sp>
      <p:sp>
        <p:nvSpPr>
          <p:cNvPr id="51" name="Shape 49"/>
          <p:cNvSpPr/>
          <p:nvPr/>
        </p:nvSpPr>
        <p:spPr>
          <a:xfrm>
            <a:off x="6309360" y="4279392"/>
            <a:ext cx="457200" cy="457200"/>
          </a:xfrm>
          <a:prstGeom prst="ellipse">
            <a:avLst/>
          </a:prstGeom>
          <a:solidFill>
            <a:srgbClr val="047857"/>
          </a:solidFill>
          <a:ln w="12700">
            <a:solidFill>
              <a:srgbClr val="047857"/>
            </a:solidFill>
            <a:prstDash val="solid"/>
          </a:ln>
        </p:spPr>
      </p:sp>
      <p:sp>
        <p:nvSpPr>
          <p:cNvPr id="52" name="Text 50"/>
          <p:cNvSpPr/>
          <p:nvPr/>
        </p:nvSpPr>
        <p:spPr>
          <a:xfrm>
            <a:off x="6309360" y="42793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9</a:t>
            </a:r>
            <a:endParaRPr lang="en-US" sz="1500" dirty="0"/>
          </a:p>
        </p:txBody>
      </p:sp>
      <p:sp>
        <p:nvSpPr>
          <p:cNvPr id="53" name="Text 51"/>
          <p:cNvSpPr/>
          <p:nvPr/>
        </p:nvSpPr>
        <p:spPr>
          <a:xfrm>
            <a:off x="6949440" y="41879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Open Reports</a:t>
            </a:r>
            <a:endParaRPr lang="en-US" sz="1500" dirty="0"/>
          </a:p>
        </p:txBody>
      </p:sp>
      <p:sp>
        <p:nvSpPr>
          <p:cNvPr id="54" name="Text 52"/>
          <p:cNvSpPr/>
          <p:nvPr/>
        </p:nvSpPr>
        <p:spPr>
          <a:xfrm>
            <a:off x="6949440" y="45354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Teacher Portal → Reports</a:t>
            </a:r>
            <a:endParaRPr lang="en-US" sz="1200" dirty="0"/>
          </a:p>
        </p:txBody>
      </p:sp>
      <p:sp>
        <p:nvSpPr>
          <p:cNvPr id="55" name="Shape 53"/>
          <p:cNvSpPr/>
          <p:nvPr/>
        </p:nvSpPr>
        <p:spPr>
          <a:xfrm>
            <a:off x="6126480" y="5029200"/>
            <a:ext cx="5394960" cy="786384"/>
          </a:xfrm>
          <a:prstGeom prst="roundRect">
            <a:avLst>
              <a:gd name="adj" fmla="val 9302"/>
            </a:avLst>
          </a:prstGeom>
          <a:solidFill>
            <a:srgbClr val="F0FDF4"/>
          </a:solidFill>
          <a:ln w="12700">
            <a:solidFill>
              <a:srgbClr val="BBF7D0"/>
            </a:solidFill>
            <a:prstDash val="solid"/>
          </a:ln>
        </p:spPr>
      </p:sp>
      <p:sp>
        <p:nvSpPr>
          <p:cNvPr id="56" name="Shape 54"/>
          <p:cNvSpPr/>
          <p:nvPr/>
        </p:nvSpPr>
        <p:spPr>
          <a:xfrm>
            <a:off x="6309360" y="5193792"/>
            <a:ext cx="457200" cy="457200"/>
          </a:xfrm>
          <a:prstGeom prst="ellipse">
            <a:avLst/>
          </a:prstGeom>
          <a:solidFill>
            <a:srgbClr val="047857"/>
          </a:solidFill>
          <a:ln w="12700">
            <a:solidFill>
              <a:srgbClr val="047857"/>
            </a:solidFill>
            <a:prstDash val="solid"/>
          </a:ln>
        </p:spPr>
      </p:sp>
      <p:sp>
        <p:nvSpPr>
          <p:cNvPr id="57" name="Text 55"/>
          <p:cNvSpPr/>
          <p:nvPr/>
        </p:nvSpPr>
        <p:spPr>
          <a:xfrm>
            <a:off x="6309360" y="5193792"/>
            <a:ext cx="45720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Semibold" pitchFamily="34" charset="0"/>
                <a:ea typeface="Segoe UI Semibold" pitchFamily="34" charset="-122"/>
                <a:cs typeface="Segoe UI Semibold" pitchFamily="34" charset="-120"/>
              </a:rPr>
              <a:t>10</a:t>
            </a:r>
            <a:endParaRPr lang="en-US" sz="1500" dirty="0"/>
          </a:p>
        </p:txBody>
      </p:sp>
      <p:sp>
        <p:nvSpPr>
          <p:cNvPr id="58" name="Text 56"/>
          <p:cNvSpPr/>
          <p:nvPr/>
        </p:nvSpPr>
        <p:spPr>
          <a:xfrm>
            <a:off x="6949440" y="5102352"/>
            <a:ext cx="4480560" cy="365760"/>
          </a:xfrm>
          <a:prstGeom prst="rect">
            <a:avLst/>
          </a:prstGeom>
          <a:noFill/>
          <a:ln/>
        </p:spPr>
        <p:txBody>
          <a:bodyPr wrap="square" lIns="0" tIns="0" rIns="0" bIns="0" rtlCol="0" anchor="t"/>
          <a:lstStyle/>
          <a:p>
            <a:pPr indent="0" marL="0">
              <a:buNone/>
            </a:pPr>
            <a:r>
              <a:rPr lang="en-US" sz="1500" dirty="0">
                <a:solidFill>
                  <a:srgbClr val="0F172A"/>
                </a:solidFill>
                <a:latin typeface="Segoe UI Semibold" pitchFamily="34" charset="0"/>
                <a:ea typeface="Segoe UI Semibold" pitchFamily="34" charset="-122"/>
                <a:cs typeface="Segoe UI Semibold" pitchFamily="34" charset="-120"/>
              </a:rPr>
              <a:t>View consolidated report</a:t>
            </a:r>
            <a:endParaRPr lang="en-US" sz="1500" dirty="0"/>
          </a:p>
        </p:txBody>
      </p:sp>
      <p:sp>
        <p:nvSpPr>
          <p:cNvPr id="59" name="Text 57"/>
          <p:cNvSpPr/>
          <p:nvPr/>
        </p:nvSpPr>
        <p:spPr>
          <a:xfrm>
            <a:off x="6949440" y="5449824"/>
            <a:ext cx="4480560" cy="310896"/>
          </a:xfrm>
          <a:prstGeom prst="rect">
            <a:avLst/>
          </a:prstGeom>
          <a:noFill/>
          <a:ln/>
        </p:spPr>
        <p:txBody>
          <a:bodyPr wrap="square" lIns="0" tIns="0" rIns="0" bIns="0" rtlCol="0" anchor="t"/>
          <a:lstStyle/>
          <a:p>
            <a:pPr indent="0" marL="0">
              <a:buNone/>
            </a:pPr>
            <a:r>
              <a:rPr lang="en-US" sz="1200" dirty="0">
                <a:solidFill>
                  <a:srgbClr val="64748B"/>
                </a:solidFill>
                <a:latin typeface="Segoe UI" pitchFamily="34" charset="0"/>
                <a:ea typeface="Segoe UI" pitchFamily="34" charset="-122"/>
                <a:cs typeface="Segoe UI" pitchFamily="34" charset="-120"/>
              </a:rPr>
              <a:t>Student · Prediction · Intervention</a:t>
            </a:r>
            <a:endParaRPr lang="en-US" sz="1200" dirty="0"/>
          </a:p>
        </p:txBody>
      </p:sp>
      <p:sp>
        <p:nvSpPr>
          <p:cNvPr id="60" name="Text 58"/>
          <p:cNvSpPr/>
          <p:nvPr/>
        </p:nvSpPr>
        <p:spPr>
          <a:xfrm>
            <a:off x="502920" y="5989320"/>
            <a:ext cx="11018520" cy="320040"/>
          </a:xfrm>
          <a:prstGeom prst="rect">
            <a:avLst/>
          </a:prstGeom>
          <a:noFill/>
          <a:ln/>
        </p:spPr>
        <p:txBody>
          <a:bodyPr wrap="square" lIns="0" tIns="0" rIns="0" bIns="0" rtlCol="0" anchor="t"/>
          <a:lstStyle/>
          <a:p>
            <a:pPr indent="0" marL="0">
              <a:buNone/>
            </a:pPr>
            <a:r>
              <a:rPr lang="en-US" sz="1200" i="1" dirty="0">
                <a:solidFill>
                  <a:srgbClr val="64748B"/>
                </a:solidFill>
                <a:latin typeface="Segoe UI" pitchFamily="34" charset="0"/>
                <a:ea typeface="Segoe UI" pitchFamily="34" charset="-122"/>
                <a:cs typeface="Segoe UI" pitchFamily="34" charset="-120"/>
              </a:rPr>
              <a:t>Optional: What-If (attendance 70 → 85) between steps 6 and 7. Before class: start the Flask backend and the frontend.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LIMITATIONS</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The scope of the current prototype</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19 / 21</a:t>
            </a:r>
            <a:endParaRPr lang="en-US" sz="1000" dirty="0"/>
          </a:p>
        </p:txBody>
      </p:sp>
      <p:sp>
        <p:nvSpPr>
          <p:cNvPr id="8" name="Shape 6"/>
          <p:cNvSpPr/>
          <p:nvPr/>
        </p:nvSpPr>
        <p:spPr>
          <a:xfrm>
            <a:off x="502920" y="1371600"/>
            <a:ext cx="3520440" cy="1417320"/>
          </a:xfrm>
          <a:prstGeom prst="roundRect">
            <a:avLst>
              <a:gd name="adj" fmla="val 5161"/>
            </a:avLst>
          </a:prstGeom>
          <a:solidFill>
            <a:srgbClr val="F8FAFC"/>
          </a:solidFill>
          <a:ln w="12700">
            <a:solidFill>
              <a:srgbClr val="E2E8F0"/>
            </a:solidFill>
            <a:prstDash val="solid"/>
          </a:ln>
        </p:spPr>
      </p:sp>
      <p:sp>
        <p:nvSpPr>
          <p:cNvPr id="9" name="Text 7"/>
          <p:cNvSpPr/>
          <p:nvPr/>
        </p:nvSpPr>
        <p:spPr>
          <a:xfrm>
            <a:off x="685800" y="1517904"/>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Five predefined demo students</a:t>
            </a:r>
            <a:endParaRPr lang="en-US" sz="1450" dirty="0"/>
          </a:p>
        </p:txBody>
      </p:sp>
      <p:sp>
        <p:nvSpPr>
          <p:cNvPr id="10" name="Text 8"/>
          <p:cNvSpPr/>
          <p:nvPr/>
        </p:nvSpPr>
        <p:spPr>
          <a:xfrm>
            <a:off x="685800" y="1920240"/>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The live demo uses demonstration profiles, not real students.</a:t>
            </a:r>
            <a:endParaRPr lang="en-US" sz="1250" dirty="0"/>
          </a:p>
        </p:txBody>
      </p:sp>
      <p:sp>
        <p:nvSpPr>
          <p:cNvPr id="11" name="Shape 9"/>
          <p:cNvSpPr/>
          <p:nvPr/>
        </p:nvSpPr>
        <p:spPr>
          <a:xfrm>
            <a:off x="4251960" y="1371600"/>
            <a:ext cx="3520440" cy="1417320"/>
          </a:xfrm>
          <a:prstGeom prst="roundRect">
            <a:avLst>
              <a:gd name="adj" fmla="val 5161"/>
            </a:avLst>
          </a:prstGeom>
          <a:solidFill>
            <a:srgbClr val="F8FAFC"/>
          </a:solidFill>
          <a:ln w="12700">
            <a:solidFill>
              <a:srgbClr val="E2E8F0"/>
            </a:solidFill>
            <a:prstDash val="solid"/>
          </a:ln>
        </p:spPr>
      </p:sp>
      <p:sp>
        <p:nvSpPr>
          <p:cNvPr id="12" name="Text 10"/>
          <p:cNvSpPr/>
          <p:nvPr/>
        </p:nvSpPr>
        <p:spPr>
          <a:xfrm>
            <a:off x="4434840" y="1517904"/>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persistent database</a:t>
            </a:r>
            <a:endParaRPr lang="en-US" sz="1450" dirty="0"/>
          </a:p>
        </p:txBody>
      </p:sp>
      <p:sp>
        <p:nvSpPr>
          <p:cNvPr id="13" name="Text 11"/>
          <p:cNvSpPr/>
          <p:nvPr/>
        </p:nvSpPr>
        <p:spPr>
          <a:xfrm>
            <a:off x="4434840" y="1920240"/>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Predictions and interventions live in browser session state.</a:t>
            </a:r>
            <a:endParaRPr lang="en-US" sz="1250" dirty="0"/>
          </a:p>
        </p:txBody>
      </p:sp>
      <p:sp>
        <p:nvSpPr>
          <p:cNvPr id="14" name="Shape 12"/>
          <p:cNvSpPr/>
          <p:nvPr/>
        </p:nvSpPr>
        <p:spPr>
          <a:xfrm>
            <a:off x="8001000" y="1371600"/>
            <a:ext cx="3520440" cy="1417320"/>
          </a:xfrm>
          <a:prstGeom prst="roundRect">
            <a:avLst>
              <a:gd name="adj" fmla="val 5161"/>
            </a:avLst>
          </a:prstGeom>
          <a:solidFill>
            <a:srgbClr val="F8FAFC"/>
          </a:solidFill>
          <a:ln w="12700">
            <a:solidFill>
              <a:srgbClr val="E2E8F0"/>
            </a:solidFill>
            <a:prstDash val="solid"/>
          </a:ln>
        </p:spPr>
      </p:sp>
      <p:sp>
        <p:nvSpPr>
          <p:cNvPr id="15" name="Text 13"/>
          <p:cNvSpPr/>
          <p:nvPr/>
        </p:nvSpPr>
        <p:spPr>
          <a:xfrm>
            <a:off x="8183880" y="1517904"/>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Session-based workflow</a:t>
            </a:r>
            <a:endParaRPr lang="en-US" sz="1450" dirty="0"/>
          </a:p>
        </p:txBody>
      </p:sp>
      <p:sp>
        <p:nvSpPr>
          <p:cNvPr id="16" name="Text 14"/>
          <p:cNvSpPr/>
          <p:nvPr/>
        </p:nvSpPr>
        <p:spPr>
          <a:xfrm>
            <a:off x="8183880" y="1920240"/>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A page refresh resets the demo.</a:t>
            </a:r>
            <a:endParaRPr lang="en-US" sz="1250" dirty="0"/>
          </a:p>
        </p:txBody>
      </p:sp>
      <p:sp>
        <p:nvSpPr>
          <p:cNvPr id="17" name="Shape 15"/>
          <p:cNvSpPr/>
          <p:nvPr/>
        </p:nvSpPr>
        <p:spPr>
          <a:xfrm>
            <a:off x="502920" y="2944368"/>
            <a:ext cx="3520440" cy="1417320"/>
          </a:xfrm>
          <a:prstGeom prst="roundRect">
            <a:avLst>
              <a:gd name="adj" fmla="val 5161"/>
            </a:avLst>
          </a:prstGeom>
          <a:solidFill>
            <a:srgbClr val="F8FAFC"/>
          </a:solidFill>
          <a:ln w="12700">
            <a:solidFill>
              <a:srgbClr val="E2E8F0"/>
            </a:solidFill>
            <a:prstDash val="solid"/>
          </a:ln>
        </p:spPr>
      </p:sp>
      <p:sp>
        <p:nvSpPr>
          <p:cNvPr id="18" name="Text 16"/>
          <p:cNvSpPr/>
          <p:nvPr/>
        </p:nvSpPr>
        <p:spPr>
          <a:xfrm>
            <a:off x="685800" y="3090672"/>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real university records</a:t>
            </a:r>
            <a:endParaRPr lang="en-US" sz="1450" dirty="0"/>
          </a:p>
        </p:txBody>
      </p:sp>
      <p:sp>
        <p:nvSpPr>
          <p:cNvPr id="19" name="Text 17"/>
          <p:cNvSpPr/>
          <p:nvPr/>
        </p:nvSpPr>
        <p:spPr>
          <a:xfrm>
            <a:off x="685800" y="3493008"/>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Training data is a project dataset of 2,000 records.</a:t>
            </a:r>
            <a:endParaRPr lang="en-US" sz="1250" dirty="0"/>
          </a:p>
        </p:txBody>
      </p:sp>
      <p:sp>
        <p:nvSpPr>
          <p:cNvPr id="20" name="Shape 18"/>
          <p:cNvSpPr/>
          <p:nvPr/>
        </p:nvSpPr>
        <p:spPr>
          <a:xfrm>
            <a:off x="4251960" y="2944368"/>
            <a:ext cx="3520440" cy="1417320"/>
          </a:xfrm>
          <a:prstGeom prst="roundRect">
            <a:avLst>
              <a:gd name="adj" fmla="val 5161"/>
            </a:avLst>
          </a:prstGeom>
          <a:solidFill>
            <a:srgbClr val="F8FAFC"/>
          </a:solidFill>
          <a:ln w="12700">
            <a:solidFill>
              <a:srgbClr val="E2E8F0"/>
            </a:solidFill>
            <a:prstDash val="solid"/>
          </a:ln>
        </p:spPr>
      </p:sp>
      <p:sp>
        <p:nvSpPr>
          <p:cNvPr id="21" name="Text 19"/>
          <p:cNvSpPr/>
          <p:nvPr/>
        </p:nvSpPr>
        <p:spPr>
          <a:xfrm>
            <a:off x="4434840" y="3090672"/>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department analytics</a:t>
            </a:r>
            <a:endParaRPr lang="en-US" sz="1450" dirty="0"/>
          </a:p>
        </p:txBody>
      </p:sp>
      <p:sp>
        <p:nvSpPr>
          <p:cNvPr id="22" name="Text 20"/>
          <p:cNvSpPr/>
          <p:nvPr/>
        </p:nvSpPr>
        <p:spPr>
          <a:xfrm>
            <a:off x="4434840" y="3493008"/>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No department or cohort data exists, so none is shown.</a:t>
            </a:r>
            <a:endParaRPr lang="en-US" sz="1250" dirty="0"/>
          </a:p>
        </p:txBody>
      </p:sp>
      <p:sp>
        <p:nvSpPr>
          <p:cNvPr id="23" name="Shape 21"/>
          <p:cNvSpPr/>
          <p:nvPr/>
        </p:nvSpPr>
        <p:spPr>
          <a:xfrm>
            <a:off x="8001000" y="2944368"/>
            <a:ext cx="3520440" cy="1417320"/>
          </a:xfrm>
          <a:prstGeom prst="roundRect">
            <a:avLst>
              <a:gd name="adj" fmla="val 5161"/>
            </a:avLst>
          </a:prstGeom>
          <a:solidFill>
            <a:srgbClr val="F8FAFC"/>
          </a:solidFill>
          <a:ln w="12700">
            <a:solidFill>
              <a:srgbClr val="E2E8F0"/>
            </a:solidFill>
            <a:prstDash val="solid"/>
          </a:ln>
        </p:spPr>
      </p:sp>
      <p:sp>
        <p:nvSpPr>
          <p:cNvPr id="24" name="Text 22"/>
          <p:cNvSpPr/>
          <p:nvPr/>
        </p:nvSpPr>
        <p:spPr>
          <a:xfrm>
            <a:off x="8183880" y="3090672"/>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historical trends</a:t>
            </a:r>
            <a:endParaRPr lang="en-US" sz="1450" dirty="0"/>
          </a:p>
        </p:txBody>
      </p:sp>
      <p:sp>
        <p:nvSpPr>
          <p:cNvPr id="25" name="Text 23"/>
          <p:cNvSpPr/>
          <p:nvPr/>
        </p:nvSpPr>
        <p:spPr>
          <a:xfrm>
            <a:off x="8183880" y="3493008"/>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No attendance or performance history over time.</a:t>
            </a:r>
            <a:endParaRPr lang="en-US" sz="1250" dirty="0"/>
          </a:p>
        </p:txBody>
      </p:sp>
      <p:sp>
        <p:nvSpPr>
          <p:cNvPr id="26" name="Shape 24"/>
          <p:cNvSpPr/>
          <p:nvPr/>
        </p:nvSpPr>
        <p:spPr>
          <a:xfrm>
            <a:off x="502920" y="4517136"/>
            <a:ext cx="3520440" cy="1417320"/>
          </a:xfrm>
          <a:prstGeom prst="roundRect">
            <a:avLst>
              <a:gd name="adj" fmla="val 5161"/>
            </a:avLst>
          </a:prstGeom>
          <a:solidFill>
            <a:srgbClr val="F8FAFC"/>
          </a:solidFill>
          <a:ln w="12700">
            <a:solidFill>
              <a:srgbClr val="E2E8F0"/>
            </a:solidFill>
            <a:prstDash val="solid"/>
          </a:ln>
        </p:spPr>
      </p:sp>
      <p:sp>
        <p:nvSpPr>
          <p:cNvPr id="27" name="Text 25"/>
          <p:cNvSpPr/>
          <p:nvPr/>
        </p:nvSpPr>
        <p:spPr>
          <a:xfrm>
            <a:off x="685800" y="4663440"/>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measured effectiveness</a:t>
            </a:r>
            <a:endParaRPr lang="en-US" sz="1450" dirty="0"/>
          </a:p>
        </p:txBody>
      </p:sp>
      <p:sp>
        <p:nvSpPr>
          <p:cNvPr id="28" name="Text 26"/>
          <p:cNvSpPr/>
          <p:nvPr/>
        </p:nvSpPr>
        <p:spPr>
          <a:xfrm>
            <a:off x="685800" y="5065776"/>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Intervention outcomes are not recorded.</a:t>
            </a:r>
            <a:endParaRPr lang="en-US" sz="1250" dirty="0"/>
          </a:p>
        </p:txBody>
      </p:sp>
      <p:sp>
        <p:nvSpPr>
          <p:cNvPr id="29" name="Shape 27"/>
          <p:cNvSpPr/>
          <p:nvPr/>
        </p:nvSpPr>
        <p:spPr>
          <a:xfrm>
            <a:off x="4251960" y="4517136"/>
            <a:ext cx="3520440" cy="1417320"/>
          </a:xfrm>
          <a:prstGeom prst="roundRect">
            <a:avLst>
              <a:gd name="adj" fmla="val 5161"/>
            </a:avLst>
          </a:prstGeom>
          <a:solidFill>
            <a:srgbClr val="F8FAFC"/>
          </a:solidFill>
          <a:ln w="12700">
            <a:solidFill>
              <a:srgbClr val="E2E8F0"/>
            </a:solidFill>
            <a:prstDash val="solid"/>
          </a:ln>
        </p:spPr>
      </p:sp>
      <p:sp>
        <p:nvSpPr>
          <p:cNvPr id="30" name="Text 28"/>
          <p:cNvSpPr/>
          <p:nvPr/>
        </p:nvSpPr>
        <p:spPr>
          <a:xfrm>
            <a:off x="4434840" y="4663440"/>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No institutional login</a:t>
            </a:r>
            <a:endParaRPr lang="en-US" sz="1450" dirty="0"/>
          </a:p>
        </p:txBody>
      </p:sp>
      <p:sp>
        <p:nvSpPr>
          <p:cNvPr id="31" name="Text 29"/>
          <p:cNvSpPr/>
          <p:nvPr/>
        </p:nvSpPr>
        <p:spPr>
          <a:xfrm>
            <a:off x="4434840" y="5065776"/>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No authentication or faculty accounts.</a:t>
            </a:r>
            <a:endParaRPr lang="en-US" sz="1250" dirty="0"/>
          </a:p>
        </p:txBody>
      </p:sp>
      <p:sp>
        <p:nvSpPr>
          <p:cNvPr id="32" name="Shape 30"/>
          <p:cNvSpPr/>
          <p:nvPr/>
        </p:nvSpPr>
        <p:spPr>
          <a:xfrm>
            <a:off x="8001000" y="4517136"/>
            <a:ext cx="3520440" cy="1417320"/>
          </a:xfrm>
          <a:prstGeom prst="roundRect">
            <a:avLst>
              <a:gd name="adj" fmla="val 5161"/>
            </a:avLst>
          </a:prstGeom>
          <a:solidFill>
            <a:srgbClr val="F8FAFC"/>
          </a:solidFill>
          <a:ln w="12700">
            <a:solidFill>
              <a:srgbClr val="E2E8F0"/>
            </a:solidFill>
            <a:prstDash val="solid"/>
          </a:ln>
        </p:spPr>
      </p:sp>
      <p:sp>
        <p:nvSpPr>
          <p:cNvPr id="33" name="Text 31"/>
          <p:cNvSpPr/>
          <p:nvPr/>
        </p:nvSpPr>
        <p:spPr>
          <a:xfrm>
            <a:off x="8183880" y="4663440"/>
            <a:ext cx="3154680" cy="365760"/>
          </a:xfrm>
          <a:prstGeom prst="rect">
            <a:avLst/>
          </a:prstGeom>
          <a:noFill/>
          <a:ln/>
        </p:spPr>
        <p:txBody>
          <a:bodyPr wrap="square" lIns="0" tIns="0" rIns="0" bIns="0" rtlCol="0" anchor="t"/>
          <a:lstStyle/>
          <a:p>
            <a:pPr indent="0" marL="0">
              <a:buNone/>
            </a:pPr>
            <a:r>
              <a:rPr lang="en-US" sz="1450" dirty="0">
                <a:solidFill>
                  <a:srgbClr val="0F172A"/>
                </a:solidFill>
                <a:latin typeface="Segoe UI Semibold" pitchFamily="34" charset="0"/>
                <a:ea typeface="Segoe UI Semibold" pitchFamily="34" charset="-122"/>
                <a:cs typeface="Segoe UI Semibold" pitchFamily="34" charset="-120"/>
              </a:rPr>
              <a:t>Early-warning recall</a:t>
            </a:r>
            <a:endParaRPr lang="en-US" sz="1450" dirty="0"/>
          </a:p>
        </p:txBody>
      </p:sp>
      <p:sp>
        <p:nvSpPr>
          <p:cNvPr id="34" name="Text 32"/>
          <p:cNvSpPr/>
          <p:nvPr/>
        </p:nvSpPr>
        <p:spPr>
          <a:xfrm>
            <a:off x="8183880" y="5065776"/>
            <a:ext cx="3154680" cy="731520"/>
          </a:xfrm>
          <a:prstGeom prst="rect">
            <a:avLst/>
          </a:prstGeom>
          <a:noFill/>
          <a:ln/>
        </p:spPr>
        <p:txBody>
          <a:bodyPr wrap="square" lIns="0" tIns="0" rIns="0" bIns="0" rtlCol="0" anchor="t"/>
          <a:lstStyle/>
          <a:p>
            <a:pPr indent="0" marL="0">
              <a:lnSpc>
                <a:spcPct val="110000"/>
              </a:lnSpc>
              <a:buNone/>
            </a:pPr>
            <a:r>
              <a:rPr lang="en-US" sz="1250" dirty="0">
                <a:solidFill>
                  <a:srgbClr val="334155"/>
                </a:solidFill>
                <a:latin typeface="Segoe UI" pitchFamily="34" charset="0"/>
                <a:ea typeface="Segoe UI" pitchFamily="34" charset="-122"/>
                <a:cs typeface="Segoe UI" pitchFamily="34" charset="-120"/>
              </a:rPr>
              <a:t>High Concern found 13 of 25 low scorers; thresholds not tuned.</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FUTURE SCOPE</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Possible next steps</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20 / 21</a:t>
            </a:r>
            <a:endParaRPr lang="en-US" sz="1000" dirty="0"/>
          </a:p>
        </p:txBody>
      </p:sp>
      <p:sp>
        <p:nvSpPr>
          <p:cNvPr id="8" name="Shape 6"/>
          <p:cNvSpPr/>
          <p:nvPr/>
        </p:nvSpPr>
        <p:spPr>
          <a:xfrm>
            <a:off x="8549640" y="292608"/>
            <a:ext cx="3017520" cy="292608"/>
          </a:xfrm>
          <a:prstGeom prst="roundRect">
            <a:avLst>
              <a:gd name="adj" fmla="val 50000"/>
            </a:avLst>
          </a:prstGeom>
          <a:solidFill>
            <a:srgbClr val="FFE4E6"/>
          </a:solidFill>
          <a:ln w="12700">
            <a:solidFill>
              <a:srgbClr val="FFE4E6"/>
            </a:solidFill>
            <a:prstDash val="solid"/>
          </a:ln>
        </p:spPr>
      </p:sp>
      <p:sp>
        <p:nvSpPr>
          <p:cNvPr id="9" name="Text 7"/>
          <p:cNvSpPr/>
          <p:nvPr/>
        </p:nvSpPr>
        <p:spPr>
          <a:xfrm>
            <a:off x="8549640" y="292608"/>
            <a:ext cx="3017520" cy="292608"/>
          </a:xfrm>
          <a:prstGeom prst="rect">
            <a:avLst/>
          </a:prstGeom>
          <a:noFill/>
          <a:ln/>
        </p:spPr>
        <p:txBody>
          <a:bodyPr wrap="square" lIns="0" tIns="0" rIns="0" bIns="0" rtlCol="0" anchor="ctr"/>
          <a:lstStyle/>
          <a:p>
            <a:pPr algn="ctr" indent="0" marL="0">
              <a:buNone/>
            </a:pPr>
            <a:r>
              <a:rPr lang="en-US" sz="1100" dirty="0">
                <a:solidFill>
                  <a:srgbClr val="BE123C"/>
                </a:solidFill>
                <a:latin typeface="Segoe UI Semibold" pitchFamily="34" charset="0"/>
                <a:ea typeface="Segoe UI Semibold" pitchFamily="34" charset="-122"/>
                <a:cs typeface="Segoe UI Semibold" pitchFamily="34" charset="-120"/>
              </a:rPr>
              <a:t>NOT CURRENTLY IMPLEMENTED</a:t>
            </a:r>
            <a:endParaRPr lang="en-US" sz="1100" dirty="0"/>
          </a:p>
        </p:txBody>
      </p:sp>
      <p:sp>
        <p:nvSpPr>
          <p:cNvPr id="10" name="Shape 8"/>
          <p:cNvSpPr/>
          <p:nvPr/>
        </p:nvSpPr>
        <p:spPr>
          <a:xfrm>
            <a:off x="502920" y="1417320"/>
            <a:ext cx="5394960" cy="1024128"/>
          </a:xfrm>
          <a:prstGeom prst="roundRect">
            <a:avLst>
              <a:gd name="adj" fmla="val 7143"/>
            </a:avLst>
          </a:prstGeom>
          <a:solidFill>
            <a:srgbClr val="FFFFFF"/>
          </a:solidFill>
          <a:ln w="12700">
            <a:solidFill>
              <a:srgbClr val="E2E8F0"/>
            </a:solidFill>
            <a:prstDash val="solid"/>
          </a:ln>
        </p:spPr>
      </p:sp>
      <p:sp>
        <p:nvSpPr>
          <p:cNvPr id="11" name="Text 9"/>
          <p:cNvSpPr/>
          <p:nvPr/>
        </p:nvSpPr>
        <p:spPr>
          <a:xfrm>
            <a:off x="731520" y="154533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Database integration</a:t>
            </a:r>
            <a:endParaRPr lang="en-US" sz="1550" dirty="0"/>
          </a:p>
        </p:txBody>
      </p:sp>
      <p:sp>
        <p:nvSpPr>
          <p:cNvPr id="12" name="Text 10"/>
          <p:cNvSpPr/>
          <p:nvPr/>
        </p:nvSpPr>
        <p:spPr>
          <a:xfrm>
            <a:off x="731520" y="192938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Persist predictions, interventions and reports.</a:t>
            </a:r>
            <a:endParaRPr lang="en-US" sz="1300" dirty="0"/>
          </a:p>
        </p:txBody>
      </p:sp>
      <p:sp>
        <p:nvSpPr>
          <p:cNvPr id="13" name="Shape 11"/>
          <p:cNvSpPr/>
          <p:nvPr/>
        </p:nvSpPr>
        <p:spPr>
          <a:xfrm>
            <a:off x="6126480" y="1417320"/>
            <a:ext cx="5394960" cy="1024128"/>
          </a:xfrm>
          <a:prstGeom prst="roundRect">
            <a:avLst>
              <a:gd name="adj" fmla="val 7143"/>
            </a:avLst>
          </a:prstGeom>
          <a:solidFill>
            <a:srgbClr val="FFFFFF"/>
          </a:solidFill>
          <a:ln w="12700">
            <a:solidFill>
              <a:srgbClr val="E2E8F0"/>
            </a:solidFill>
            <a:prstDash val="solid"/>
          </a:ln>
        </p:spPr>
      </p:sp>
      <p:sp>
        <p:nvSpPr>
          <p:cNvPr id="14" name="Text 12"/>
          <p:cNvSpPr/>
          <p:nvPr/>
        </p:nvSpPr>
        <p:spPr>
          <a:xfrm>
            <a:off x="6355080" y="154533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Real student records</a:t>
            </a:r>
            <a:endParaRPr lang="en-US" sz="1550" dirty="0"/>
          </a:p>
        </p:txBody>
      </p:sp>
      <p:sp>
        <p:nvSpPr>
          <p:cNvPr id="15" name="Text 13"/>
          <p:cNvSpPr/>
          <p:nvPr/>
        </p:nvSpPr>
        <p:spPr>
          <a:xfrm>
            <a:off x="6355080" y="192938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With consent and proper data governance.</a:t>
            </a:r>
            <a:endParaRPr lang="en-US" sz="1300" dirty="0"/>
          </a:p>
        </p:txBody>
      </p:sp>
      <p:sp>
        <p:nvSpPr>
          <p:cNvPr id="16" name="Shape 14"/>
          <p:cNvSpPr/>
          <p:nvPr/>
        </p:nvSpPr>
        <p:spPr>
          <a:xfrm>
            <a:off x="502920" y="2606040"/>
            <a:ext cx="5394960" cy="1024128"/>
          </a:xfrm>
          <a:prstGeom prst="roundRect">
            <a:avLst>
              <a:gd name="adj" fmla="val 7143"/>
            </a:avLst>
          </a:prstGeom>
          <a:solidFill>
            <a:srgbClr val="FFFFFF"/>
          </a:solidFill>
          <a:ln w="12700">
            <a:solidFill>
              <a:srgbClr val="E2E8F0"/>
            </a:solidFill>
            <a:prstDash val="solid"/>
          </a:ln>
        </p:spPr>
      </p:sp>
      <p:sp>
        <p:nvSpPr>
          <p:cNvPr id="17" name="Text 15"/>
          <p:cNvSpPr/>
          <p:nvPr/>
        </p:nvSpPr>
        <p:spPr>
          <a:xfrm>
            <a:off x="731520" y="273405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Institutional authentication</a:t>
            </a:r>
            <a:endParaRPr lang="en-US" sz="1550" dirty="0"/>
          </a:p>
        </p:txBody>
      </p:sp>
      <p:sp>
        <p:nvSpPr>
          <p:cNvPr id="18" name="Text 16"/>
          <p:cNvSpPr/>
          <p:nvPr/>
        </p:nvSpPr>
        <p:spPr>
          <a:xfrm>
            <a:off x="731520" y="311810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Separate student, faculty and admin roles.</a:t>
            </a:r>
            <a:endParaRPr lang="en-US" sz="1300" dirty="0"/>
          </a:p>
        </p:txBody>
      </p:sp>
      <p:sp>
        <p:nvSpPr>
          <p:cNvPr id="19" name="Shape 17"/>
          <p:cNvSpPr/>
          <p:nvPr/>
        </p:nvSpPr>
        <p:spPr>
          <a:xfrm>
            <a:off x="6126480" y="2606040"/>
            <a:ext cx="5394960" cy="1024128"/>
          </a:xfrm>
          <a:prstGeom prst="roundRect">
            <a:avLst>
              <a:gd name="adj" fmla="val 7143"/>
            </a:avLst>
          </a:prstGeom>
          <a:solidFill>
            <a:srgbClr val="FFFFFF"/>
          </a:solidFill>
          <a:ln w="12700">
            <a:solidFill>
              <a:srgbClr val="E2E8F0"/>
            </a:solidFill>
            <a:prstDash val="solid"/>
          </a:ln>
        </p:spPr>
      </p:sp>
      <p:sp>
        <p:nvSpPr>
          <p:cNvPr id="20" name="Text 18"/>
          <p:cNvSpPr/>
          <p:nvPr/>
        </p:nvSpPr>
        <p:spPr>
          <a:xfrm>
            <a:off x="6355080" y="273405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Historical tracking</a:t>
            </a:r>
            <a:endParaRPr lang="en-US" sz="1550" dirty="0"/>
          </a:p>
        </p:txBody>
      </p:sp>
      <p:sp>
        <p:nvSpPr>
          <p:cNvPr id="21" name="Text 19"/>
          <p:cNvSpPr/>
          <p:nvPr/>
        </p:nvSpPr>
        <p:spPr>
          <a:xfrm>
            <a:off x="6355080" y="311810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Performance and attendance over time.</a:t>
            </a:r>
            <a:endParaRPr lang="en-US" sz="1300" dirty="0"/>
          </a:p>
        </p:txBody>
      </p:sp>
      <p:sp>
        <p:nvSpPr>
          <p:cNvPr id="22" name="Shape 20"/>
          <p:cNvSpPr/>
          <p:nvPr/>
        </p:nvSpPr>
        <p:spPr>
          <a:xfrm>
            <a:off x="502920" y="3794760"/>
            <a:ext cx="5394960" cy="1024128"/>
          </a:xfrm>
          <a:prstGeom prst="roundRect">
            <a:avLst>
              <a:gd name="adj" fmla="val 7143"/>
            </a:avLst>
          </a:prstGeom>
          <a:solidFill>
            <a:srgbClr val="FFFFFF"/>
          </a:solidFill>
          <a:ln w="12700">
            <a:solidFill>
              <a:srgbClr val="E2E8F0"/>
            </a:solidFill>
            <a:prstDash val="solid"/>
          </a:ln>
        </p:spPr>
      </p:sp>
      <p:sp>
        <p:nvSpPr>
          <p:cNvPr id="23" name="Text 21"/>
          <p:cNvSpPr/>
          <p:nvPr/>
        </p:nvSpPr>
        <p:spPr>
          <a:xfrm>
            <a:off x="731520" y="392277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Department-level analytics</a:t>
            </a:r>
            <a:endParaRPr lang="en-US" sz="1550" dirty="0"/>
          </a:p>
        </p:txBody>
      </p:sp>
      <p:sp>
        <p:nvSpPr>
          <p:cNvPr id="24" name="Text 22"/>
          <p:cNvSpPr/>
          <p:nvPr/>
        </p:nvSpPr>
        <p:spPr>
          <a:xfrm>
            <a:off x="731520" y="430682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Cohort and department views once data exists.</a:t>
            </a:r>
            <a:endParaRPr lang="en-US" sz="1300" dirty="0"/>
          </a:p>
        </p:txBody>
      </p:sp>
      <p:sp>
        <p:nvSpPr>
          <p:cNvPr id="25" name="Shape 23"/>
          <p:cNvSpPr/>
          <p:nvPr/>
        </p:nvSpPr>
        <p:spPr>
          <a:xfrm>
            <a:off x="6126480" y="3794760"/>
            <a:ext cx="5394960" cy="1024128"/>
          </a:xfrm>
          <a:prstGeom prst="roundRect">
            <a:avLst>
              <a:gd name="adj" fmla="val 7143"/>
            </a:avLst>
          </a:prstGeom>
          <a:solidFill>
            <a:srgbClr val="FFFFFF"/>
          </a:solidFill>
          <a:ln w="12700">
            <a:solidFill>
              <a:srgbClr val="E2E8F0"/>
            </a:solidFill>
            <a:prstDash val="solid"/>
          </a:ln>
        </p:spPr>
      </p:sp>
      <p:sp>
        <p:nvSpPr>
          <p:cNvPr id="26" name="Text 24"/>
          <p:cNvSpPr/>
          <p:nvPr/>
        </p:nvSpPr>
        <p:spPr>
          <a:xfrm>
            <a:off x="6355080" y="392277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Intervention outcomes</a:t>
            </a:r>
            <a:endParaRPr lang="en-US" sz="1550" dirty="0"/>
          </a:p>
        </p:txBody>
      </p:sp>
      <p:sp>
        <p:nvSpPr>
          <p:cNvPr id="27" name="Text 25"/>
          <p:cNvSpPr/>
          <p:nvPr/>
        </p:nvSpPr>
        <p:spPr>
          <a:xfrm>
            <a:off x="6355080" y="430682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Record results to study effectiveness.</a:t>
            </a:r>
            <a:endParaRPr lang="en-US" sz="1300" dirty="0"/>
          </a:p>
        </p:txBody>
      </p:sp>
      <p:sp>
        <p:nvSpPr>
          <p:cNvPr id="28" name="Shape 26"/>
          <p:cNvSpPr/>
          <p:nvPr/>
        </p:nvSpPr>
        <p:spPr>
          <a:xfrm>
            <a:off x="502920" y="4983480"/>
            <a:ext cx="5394960" cy="1024128"/>
          </a:xfrm>
          <a:prstGeom prst="roundRect">
            <a:avLst>
              <a:gd name="adj" fmla="val 7143"/>
            </a:avLst>
          </a:prstGeom>
          <a:solidFill>
            <a:srgbClr val="FFFFFF"/>
          </a:solidFill>
          <a:ln w="12700">
            <a:solidFill>
              <a:srgbClr val="E2E8F0"/>
            </a:solidFill>
            <a:prstDash val="solid"/>
          </a:ln>
        </p:spPr>
      </p:sp>
      <p:sp>
        <p:nvSpPr>
          <p:cNvPr id="29" name="Text 27"/>
          <p:cNvSpPr/>
          <p:nvPr/>
        </p:nvSpPr>
        <p:spPr>
          <a:xfrm>
            <a:off x="731520" y="511149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Longitudinal evaluation</a:t>
            </a:r>
            <a:endParaRPr lang="en-US" sz="1550" dirty="0"/>
          </a:p>
        </p:txBody>
      </p:sp>
      <p:sp>
        <p:nvSpPr>
          <p:cNvPr id="30" name="Text 28"/>
          <p:cNvSpPr/>
          <p:nvPr/>
        </p:nvSpPr>
        <p:spPr>
          <a:xfrm>
            <a:off x="731520" y="549554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Re-validate the model and thresholds on new cohorts.</a:t>
            </a:r>
            <a:endParaRPr lang="en-US" sz="1300" dirty="0"/>
          </a:p>
        </p:txBody>
      </p:sp>
      <p:sp>
        <p:nvSpPr>
          <p:cNvPr id="31" name="Shape 29"/>
          <p:cNvSpPr/>
          <p:nvPr/>
        </p:nvSpPr>
        <p:spPr>
          <a:xfrm>
            <a:off x="6126480" y="4983480"/>
            <a:ext cx="5394960" cy="1024128"/>
          </a:xfrm>
          <a:prstGeom prst="roundRect">
            <a:avLst>
              <a:gd name="adj" fmla="val 7143"/>
            </a:avLst>
          </a:prstGeom>
          <a:solidFill>
            <a:srgbClr val="FFFFFF"/>
          </a:solidFill>
          <a:ln w="12700">
            <a:solidFill>
              <a:srgbClr val="E2E8F0"/>
            </a:solidFill>
            <a:prstDash val="solid"/>
          </a:ln>
        </p:spPr>
      </p:sp>
      <p:sp>
        <p:nvSpPr>
          <p:cNvPr id="32" name="Text 30"/>
          <p:cNvSpPr/>
          <p:nvPr/>
        </p:nvSpPr>
        <p:spPr>
          <a:xfrm>
            <a:off x="6355080" y="5111496"/>
            <a:ext cx="4937760" cy="365760"/>
          </a:xfrm>
          <a:prstGeom prst="rect">
            <a:avLst/>
          </a:prstGeom>
          <a:noFill/>
          <a:ln/>
        </p:spPr>
        <p:txBody>
          <a:bodyPr wrap="square" lIns="0" tIns="0" rIns="0" bIns="0" rtlCol="0" anchor="t"/>
          <a:lstStyle/>
          <a:p>
            <a:pPr indent="0" marL="0">
              <a:buNone/>
            </a:pPr>
            <a:r>
              <a:rPr lang="en-US" sz="1550" dirty="0">
                <a:solidFill>
                  <a:srgbClr val="0F172A"/>
                </a:solidFill>
                <a:latin typeface="Segoe UI Semibold" pitchFamily="34" charset="0"/>
                <a:ea typeface="Segoe UI Semibold" pitchFamily="34" charset="-122"/>
                <a:cs typeface="Segoe UI Semibold" pitchFamily="34" charset="-120"/>
              </a:rPr>
              <a:t>Institutional deployment</a:t>
            </a:r>
            <a:endParaRPr lang="en-US" sz="1550" dirty="0"/>
          </a:p>
        </p:txBody>
      </p:sp>
      <p:sp>
        <p:nvSpPr>
          <p:cNvPr id="33" name="Text 31"/>
          <p:cNvSpPr/>
          <p:nvPr/>
        </p:nvSpPr>
        <p:spPr>
          <a:xfrm>
            <a:off x="6355080" y="5495544"/>
            <a:ext cx="4937760" cy="411480"/>
          </a:xfrm>
          <a:prstGeom prst="rect">
            <a:avLst/>
          </a:prstGeom>
          <a:noFill/>
          <a:ln/>
        </p:spPr>
        <p:txBody>
          <a:bodyPr wrap="square" lIns="0" tIns="0" rIns="0" bIns="0" rtlCol="0" anchor="t"/>
          <a:lstStyle/>
          <a:p>
            <a:pPr indent="0" marL="0">
              <a:buNone/>
            </a:pPr>
            <a:r>
              <a:rPr lang="en-US" sz="1300" dirty="0">
                <a:solidFill>
                  <a:srgbClr val="334155"/>
                </a:solidFill>
                <a:latin typeface="Segoe UI" pitchFamily="34" charset="0"/>
                <a:ea typeface="Segoe UI" pitchFamily="34" charset="-122"/>
                <a:cs typeface="Segoe UI" pitchFamily="34" charset="-120"/>
              </a:rPr>
              <a:t>Hosting, monitoring and security review.</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292608"/>
            <a:ext cx="8229600" cy="274320"/>
          </a:xfrm>
          <a:prstGeom prst="rect">
            <a:avLst/>
          </a:prstGeom>
          <a:noFill/>
          <a:ln/>
        </p:spPr>
        <p:txBody>
          <a:bodyPr wrap="square" lIns="0" tIns="0" rIns="0" bIns="0" rtlCol="0" anchor="ctr"/>
          <a:lstStyle/>
          <a:p>
            <a:pPr indent="0" marL="0">
              <a:buNone/>
            </a:pPr>
            <a:r>
              <a:rPr lang="en-US" sz="1100" spc="300" kern="0" dirty="0">
                <a:solidFill>
                  <a:srgbClr val="2563EB"/>
                </a:solidFill>
                <a:latin typeface="Segoe UI Semibold" pitchFamily="34" charset="0"/>
                <a:ea typeface="Segoe UI Semibold" pitchFamily="34" charset="-122"/>
                <a:cs typeface="Segoe UI Semibold" pitchFamily="34" charset="-120"/>
              </a:rPr>
              <a:t>CONCLUSION</a:t>
            </a:r>
            <a:endParaRPr lang="en-US" sz="1100" dirty="0"/>
          </a:p>
        </p:txBody>
      </p:sp>
      <p:sp>
        <p:nvSpPr>
          <p:cNvPr id="4" name="Text 2"/>
          <p:cNvSpPr/>
          <p:nvPr/>
        </p:nvSpPr>
        <p:spPr>
          <a:xfrm>
            <a:off x="502920" y="548640"/>
            <a:ext cx="11155680" cy="640080"/>
          </a:xfrm>
          <a:prstGeom prst="rect">
            <a:avLst/>
          </a:prstGeom>
          <a:noFill/>
          <a:ln/>
        </p:spPr>
        <p:txBody>
          <a:bodyPr wrap="square" lIns="0" tIns="0" rIns="0" bIns="0" rtlCol="0" anchor="ctr"/>
          <a:lstStyle/>
          <a:p>
            <a:pPr indent="0" marL="0">
              <a:buNone/>
            </a:pPr>
            <a:r>
              <a:rPr lang="en-US" sz="2800" dirty="0">
                <a:solidFill>
                  <a:srgbClr val="0F172A"/>
                </a:solidFill>
                <a:latin typeface="Segoe UI Semibold" pitchFamily="34" charset="0"/>
                <a:ea typeface="Segoe UI Semibold" pitchFamily="34" charset="-122"/>
                <a:cs typeface="Segoe UI Semibold" pitchFamily="34" charset="-120"/>
              </a:rPr>
              <a:t>From prediction to explanation to action</a:t>
            </a:r>
            <a:endParaRPr lang="en-US" sz="2800" dirty="0"/>
          </a:p>
        </p:txBody>
      </p:sp>
      <p:sp>
        <p:nvSpPr>
          <p:cNvPr id="5" name="Shape 3"/>
          <p:cNvSpPr/>
          <p:nvPr/>
        </p:nvSpPr>
        <p:spPr>
          <a:xfrm>
            <a:off x="502920" y="6419088"/>
            <a:ext cx="11201400" cy="0"/>
          </a:xfrm>
          <a:prstGeom prst="line">
            <a:avLst/>
          </a:prstGeom>
          <a:noFill/>
          <a:ln w="12700">
            <a:solidFill>
              <a:srgbClr val="E2E8F0"/>
            </a:solidFill>
            <a:prstDash val="solid"/>
          </a:ln>
        </p:spPr>
      </p:sp>
      <p:sp>
        <p:nvSpPr>
          <p:cNvPr id="6" name="Text 4"/>
          <p:cNvSpPr/>
          <p:nvPr/>
        </p:nvSpPr>
        <p:spPr>
          <a:xfrm>
            <a:off x="502920" y="6473952"/>
            <a:ext cx="8229600" cy="256032"/>
          </a:xfrm>
          <a:prstGeom prst="rect">
            <a:avLst/>
          </a:prstGeom>
          <a:noFill/>
          <a:ln/>
        </p:spPr>
        <p:txBody>
          <a:bodyPr wrap="square" lIns="0" tIns="0" rIns="0" bIns="0"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AI-Based Student Performance Prediction · Explainable AI · PBL Semester 5</a:t>
            </a:r>
            <a:endParaRPr lang="en-US" sz="1000" dirty="0"/>
          </a:p>
        </p:txBody>
      </p:sp>
      <p:sp>
        <p:nvSpPr>
          <p:cNvPr id="7" name="Text 5"/>
          <p:cNvSpPr/>
          <p:nvPr/>
        </p:nvSpPr>
        <p:spPr>
          <a:xfrm>
            <a:off x="10332720" y="6473952"/>
            <a:ext cx="1371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21 / 21</a:t>
            </a:r>
            <a:endParaRPr lang="en-US" sz="1000" dirty="0"/>
          </a:p>
        </p:txBody>
      </p:sp>
      <p:sp>
        <p:nvSpPr>
          <p:cNvPr id="8" name="Shape 6"/>
          <p:cNvSpPr/>
          <p:nvPr/>
        </p:nvSpPr>
        <p:spPr>
          <a:xfrm>
            <a:off x="502920" y="1554480"/>
            <a:ext cx="1874520" cy="1188720"/>
          </a:xfrm>
          <a:prstGeom prst="roundRect">
            <a:avLst>
              <a:gd name="adj" fmla="val 6154"/>
            </a:avLst>
          </a:prstGeom>
          <a:solidFill>
            <a:srgbClr val="EFF6FF"/>
          </a:solidFill>
          <a:ln w="12700">
            <a:solidFill>
              <a:srgbClr val="DBEAFE"/>
            </a:solidFill>
            <a:prstDash val="solid"/>
          </a:ln>
        </p:spPr>
      </p:sp>
      <p:sp>
        <p:nvSpPr>
          <p:cNvPr id="9" name="Text 7"/>
          <p:cNvSpPr/>
          <p:nvPr/>
        </p:nvSpPr>
        <p:spPr>
          <a:xfrm>
            <a:off x="594360" y="1554480"/>
            <a:ext cx="1691640" cy="118872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Machine Learning</a:t>
            </a:r>
            <a:endParaRPr lang="en-US" sz="1500" dirty="0"/>
          </a:p>
        </p:txBody>
      </p:sp>
      <p:sp>
        <p:nvSpPr>
          <p:cNvPr id="10" name="Text 8"/>
          <p:cNvSpPr/>
          <p:nvPr/>
        </p:nvSpPr>
        <p:spPr>
          <a:xfrm>
            <a:off x="2377440" y="1554480"/>
            <a:ext cx="411480" cy="1188720"/>
          </a:xfrm>
          <a:prstGeom prst="rect">
            <a:avLst/>
          </a:prstGeom>
          <a:noFill/>
          <a:ln/>
        </p:spPr>
        <p:txBody>
          <a:bodyPr wrap="square" lIns="0" tIns="0" rIns="0" bIns="0" rtlCol="0" anchor="ctr"/>
          <a:lstStyle/>
          <a:p>
            <a:pPr algn="ctr" indent="0" marL="0">
              <a:buNone/>
            </a:pPr>
            <a:r>
              <a:rPr lang="en-US" sz="2600" dirty="0">
                <a:solidFill>
                  <a:srgbClr val="2563EB"/>
                </a:solidFill>
                <a:latin typeface="Segoe UI Semibold" pitchFamily="34" charset="0"/>
                <a:ea typeface="Segoe UI Semibold" pitchFamily="34" charset="-122"/>
                <a:cs typeface="Segoe UI Semibold" pitchFamily="34" charset="-120"/>
              </a:rPr>
              <a:t>+</a:t>
            </a:r>
            <a:endParaRPr lang="en-US" sz="2600" dirty="0"/>
          </a:p>
        </p:txBody>
      </p:sp>
      <p:sp>
        <p:nvSpPr>
          <p:cNvPr id="11" name="Shape 9"/>
          <p:cNvSpPr/>
          <p:nvPr/>
        </p:nvSpPr>
        <p:spPr>
          <a:xfrm>
            <a:off x="2788920" y="1554480"/>
            <a:ext cx="1874520" cy="1188720"/>
          </a:xfrm>
          <a:prstGeom prst="roundRect">
            <a:avLst>
              <a:gd name="adj" fmla="val 6154"/>
            </a:avLst>
          </a:prstGeom>
          <a:solidFill>
            <a:srgbClr val="EFF6FF"/>
          </a:solidFill>
          <a:ln w="12700">
            <a:solidFill>
              <a:srgbClr val="DBEAFE"/>
            </a:solidFill>
            <a:prstDash val="solid"/>
          </a:ln>
        </p:spPr>
      </p:sp>
      <p:sp>
        <p:nvSpPr>
          <p:cNvPr id="12" name="Text 10"/>
          <p:cNvSpPr/>
          <p:nvPr/>
        </p:nvSpPr>
        <p:spPr>
          <a:xfrm>
            <a:off x="2880360" y="1554480"/>
            <a:ext cx="1691640" cy="118872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Early-Warning Rules</a:t>
            </a:r>
            <a:endParaRPr lang="en-US" sz="1500" dirty="0"/>
          </a:p>
        </p:txBody>
      </p:sp>
      <p:sp>
        <p:nvSpPr>
          <p:cNvPr id="13" name="Text 11"/>
          <p:cNvSpPr/>
          <p:nvPr/>
        </p:nvSpPr>
        <p:spPr>
          <a:xfrm>
            <a:off x="4663440" y="1554480"/>
            <a:ext cx="411480" cy="1188720"/>
          </a:xfrm>
          <a:prstGeom prst="rect">
            <a:avLst/>
          </a:prstGeom>
          <a:noFill/>
          <a:ln/>
        </p:spPr>
        <p:txBody>
          <a:bodyPr wrap="square" lIns="0" tIns="0" rIns="0" bIns="0" rtlCol="0" anchor="ctr"/>
          <a:lstStyle/>
          <a:p>
            <a:pPr algn="ctr" indent="0" marL="0">
              <a:buNone/>
            </a:pPr>
            <a:r>
              <a:rPr lang="en-US" sz="2600" dirty="0">
                <a:solidFill>
                  <a:srgbClr val="2563EB"/>
                </a:solidFill>
                <a:latin typeface="Segoe UI Semibold" pitchFamily="34" charset="0"/>
                <a:ea typeface="Segoe UI Semibold" pitchFamily="34" charset="-122"/>
                <a:cs typeface="Segoe UI Semibold" pitchFamily="34" charset="-120"/>
              </a:rPr>
              <a:t>+</a:t>
            </a:r>
            <a:endParaRPr lang="en-US" sz="2600" dirty="0"/>
          </a:p>
        </p:txBody>
      </p:sp>
      <p:sp>
        <p:nvSpPr>
          <p:cNvPr id="14" name="Shape 12"/>
          <p:cNvSpPr/>
          <p:nvPr/>
        </p:nvSpPr>
        <p:spPr>
          <a:xfrm>
            <a:off x="5074920" y="1554480"/>
            <a:ext cx="1874520" cy="1188720"/>
          </a:xfrm>
          <a:prstGeom prst="roundRect">
            <a:avLst>
              <a:gd name="adj" fmla="val 6154"/>
            </a:avLst>
          </a:prstGeom>
          <a:solidFill>
            <a:srgbClr val="EFF6FF"/>
          </a:solidFill>
          <a:ln w="12700">
            <a:solidFill>
              <a:srgbClr val="DBEAFE"/>
            </a:solidFill>
            <a:prstDash val="solid"/>
          </a:ln>
        </p:spPr>
      </p:sp>
      <p:sp>
        <p:nvSpPr>
          <p:cNvPr id="15" name="Text 13"/>
          <p:cNvSpPr/>
          <p:nvPr/>
        </p:nvSpPr>
        <p:spPr>
          <a:xfrm>
            <a:off x="5166360" y="1554480"/>
            <a:ext cx="1691640" cy="118872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SHAP Explainability</a:t>
            </a:r>
            <a:endParaRPr lang="en-US" sz="1500" dirty="0"/>
          </a:p>
        </p:txBody>
      </p:sp>
      <p:sp>
        <p:nvSpPr>
          <p:cNvPr id="16" name="Text 14"/>
          <p:cNvSpPr/>
          <p:nvPr/>
        </p:nvSpPr>
        <p:spPr>
          <a:xfrm>
            <a:off x="6949440" y="1554480"/>
            <a:ext cx="411480" cy="1188720"/>
          </a:xfrm>
          <a:prstGeom prst="rect">
            <a:avLst/>
          </a:prstGeom>
          <a:noFill/>
          <a:ln/>
        </p:spPr>
        <p:txBody>
          <a:bodyPr wrap="square" lIns="0" tIns="0" rIns="0" bIns="0" rtlCol="0" anchor="ctr"/>
          <a:lstStyle/>
          <a:p>
            <a:pPr algn="ctr" indent="0" marL="0">
              <a:buNone/>
            </a:pPr>
            <a:r>
              <a:rPr lang="en-US" sz="2600" dirty="0">
                <a:solidFill>
                  <a:srgbClr val="2563EB"/>
                </a:solidFill>
                <a:latin typeface="Segoe UI Semibold" pitchFamily="34" charset="0"/>
                <a:ea typeface="Segoe UI Semibold" pitchFamily="34" charset="-122"/>
                <a:cs typeface="Segoe UI Semibold" pitchFamily="34" charset="-120"/>
              </a:rPr>
              <a:t>+</a:t>
            </a:r>
            <a:endParaRPr lang="en-US" sz="2600" dirty="0"/>
          </a:p>
        </p:txBody>
      </p:sp>
      <p:sp>
        <p:nvSpPr>
          <p:cNvPr id="17" name="Shape 15"/>
          <p:cNvSpPr/>
          <p:nvPr/>
        </p:nvSpPr>
        <p:spPr>
          <a:xfrm>
            <a:off x="7360920" y="1554480"/>
            <a:ext cx="1874520" cy="1188720"/>
          </a:xfrm>
          <a:prstGeom prst="roundRect">
            <a:avLst>
              <a:gd name="adj" fmla="val 6154"/>
            </a:avLst>
          </a:prstGeom>
          <a:solidFill>
            <a:srgbClr val="EFF6FF"/>
          </a:solidFill>
          <a:ln w="12700">
            <a:solidFill>
              <a:srgbClr val="DBEAFE"/>
            </a:solidFill>
            <a:prstDash val="solid"/>
          </a:ln>
        </p:spPr>
      </p:sp>
      <p:sp>
        <p:nvSpPr>
          <p:cNvPr id="18" name="Text 16"/>
          <p:cNvSpPr/>
          <p:nvPr/>
        </p:nvSpPr>
        <p:spPr>
          <a:xfrm>
            <a:off x="7452360" y="1554480"/>
            <a:ext cx="1691640" cy="118872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Recommendations</a:t>
            </a:r>
            <a:endParaRPr lang="en-US" sz="1500" dirty="0"/>
          </a:p>
        </p:txBody>
      </p:sp>
      <p:sp>
        <p:nvSpPr>
          <p:cNvPr id="19" name="Text 17"/>
          <p:cNvSpPr/>
          <p:nvPr/>
        </p:nvSpPr>
        <p:spPr>
          <a:xfrm>
            <a:off x="9235440" y="1554480"/>
            <a:ext cx="411480" cy="1188720"/>
          </a:xfrm>
          <a:prstGeom prst="rect">
            <a:avLst/>
          </a:prstGeom>
          <a:noFill/>
          <a:ln/>
        </p:spPr>
        <p:txBody>
          <a:bodyPr wrap="square" lIns="0" tIns="0" rIns="0" bIns="0" rtlCol="0" anchor="ctr"/>
          <a:lstStyle/>
          <a:p>
            <a:pPr algn="ctr" indent="0" marL="0">
              <a:buNone/>
            </a:pPr>
            <a:r>
              <a:rPr lang="en-US" sz="2600" dirty="0">
                <a:solidFill>
                  <a:srgbClr val="2563EB"/>
                </a:solidFill>
                <a:latin typeface="Segoe UI Semibold" pitchFamily="34" charset="0"/>
                <a:ea typeface="Segoe UI Semibold" pitchFamily="34" charset="-122"/>
                <a:cs typeface="Segoe UI Semibold" pitchFamily="34" charset="-120"/>
              </a:rPr>
              <a:t>+</a:t>
            </a:r>
            <a:endParaRPr lang="en-US" sz="2600" dirty="0"/>
          </a:p>
        </p:txBody>
      </p:sp>
      <p:sp>
        <p:nvSpPr>
          <p:cNvPr id="20" name="Shape 18"/>
          <p:cNvSpPr/>
          <p:nvPr/>
        </p:nvSpPr>
        <p:spPr>
          <a:xfrm>
            <a:off x="9646920" y="1554480"/>
            <a:ext cx="1874520" cy="1188720"/>
          </a:xfrm>
          <a:prstGeom prst="roundRect">
            <a:avLst>
              <a:gd name="adj" fmla="val 6154"/>
            </a:avLst>
          </a:prstGeom>
          <a:solidFill>
            <a:srgbClr val="EFF6FF"/>
          </a:solidFill>
          <a:ln w="12700">
            <a:solidFill>
              <a:srgbClr val="DBEAFE"/>
            </a:solidFill>
            <a:prstDash val="solid"/>
          </a:ln>
        </p:spPr>
      </p:sp>
      <p:sp>
        <p:nvSpPr>
          <p:cNvPr id="21" name="Text 19"/>
          <p:cNvSpPr/>
          <p:nvPr/>
        </p:nvSpPr>
        <p:spPr>
          <a:xfrm>
            <a:off x="9738360" y="1554480"/>
            <a:ext cx="1691640" cy="1188720"/>
          </a:xfrm>
          <a:prstGeom prst="rect">
            <a:avLst/>
          </a:prstGeom>
          <a:noFill/>
          <a:ln/>
        </p:spPr>
        <p:txBody>
          <a:bodyPr wrap="square" lIns="0" tIns="0" rIns="0" bIns="0" rtlCol="0" anchor="ctr"/>
          <a:lstStyle/>
          <a:p>
            <a:pPr algn="ctr" indent="0" marL="0">
              <a:buNone/>
            </a:pPr>
            <a:r>
              <a:rPr lang="en-US" sz="1500" dirty="0">
                <a:solidFill>
                  <a:srgbClr val="0F172A"/>
                </a:solidFill>
                <a:latin typeface="Segoe UI Semibold" pitchFamily="34" charset="0"/>
                <a:ea typeface="Segoe UI Semibold" pitchFamily="34" charset="-122"/>
                <a:cs typeface="Segoe UI Semibold" pitchFamily="34" charset="-120"/>
              </a:rPr>
              <a:t>Teacher Intervention Workflow</a:t>
            </a:r>
            <a:endParaRPr lang="en-US" sz="1500" dirty="0"/>
          </a:p>
        </p:txBody>
      </p:sp>
      <p:sp>
        <p:nvSpPr>
          <p:cNvPr id="22" name="Text 20"/>
          <p:cNvSpPr/>
          <p:nvPr/>
        </p:nvSpPr>
        <p:spPr>
          <a:xfrm>
            <a:off x="502920" y="3017520"/>
            <a:ext cx="11018520" cy="822960"/>
          </a:xfrm>
          <a:prstGeom prst="rect">
            <a:avLst/>
          </a:prstGeom>
          <a:noFill/>
          <a:ln/>
        </p:spPr>
        <p:txBody>
          <a:bodyPr wrap="square" lIns="0" tIns="0" rIns="0" bIns="0" rtlCol="0" anchor="t"/>
          <a:lstStyle/>
          <a:p>
            <a:pPr algn="ctr" indent="0" marL="0">
              <a:buNone/>
            </a:pPr>
            <a:r>
              <a:rPr lang="en-US" sz="1600" dirty="0">
                <a:solidFill>
                  <a:srgbClr val="334155"/>
                </a:solidFill>
                <a:latin typeface="Segoe UI" pitchFamily="34" charset="0"/>
                <a:ea typeface="Segoe UI" pitchFamily="34" charset="-122"/>
                <a:cs typeface="Segoe UI" pitchFamily="34" charset="-120"/>
              </a:rPr>
              <a:t>A validated regression model (MAE 3.62 marks, R² 0.8357) predicts final-exam marks; </a:t>
            </a:r>
            <a:pPr algn="ctr" indent="0" marL="0">
              <a:buNone/>
            </a:pPr>
            <a:r>
              <a:rPr lang="en-US" sz="1600" dirty="0">
                <a:solidFill>
                  <a:srgbClr val="334155"/>
                </a:solidFill>
                <a:latin typeface="Segoe UI" pitchFamily="34" charset="0"/>
                <a:ea typeface="Segoe UI" pitchFamily="34" charset="-122"/>
                <a:cs typeface="Segoe UI" pitchFamily="34" charset="-120"/>
              </a:rPr>
              <a:t>rules flag early-warning levels; SHAP explains each prediction; the explanation drives recommendations and a teacher workflow that ends in a report.</a:t>
            </a:r>
            <a:endParaRPr lang="en-US" sz="1600" dirty="0"/>
          </a:p>
        </p:txBody>
      </p:sp>
      <p:sp>
        <p:nvSpPr>
          <p:cNvPr id="23" name="Text 21"/>
          <p:cNvSpPr/>
          <p:nvPr/>
        </p:nvSpPr>
        <p:spPr>
          <a:xfrm>
            <a:off x="502920" y="3931920"/>
            <a:ext cx="11018520" cy="640080"/>
          </a:xfrm>
          <a:prstGeom prst="rect">
            <a:avLst/>
          </a:prstGeom>
          <a:noFill/>
          <a:ln/>
        </p:spPr>
        <p:txBody>
          <a:bodyPr wrap="square" lIns="0" tIns="0" rIns="0" bIns="0" rtlCol="0" anchor="t"/>
          <a:lstStyle/>
          <a:p>
            <a:pPr algn="ctr" indent="0" marL="0">
              <a:buNone/>
            </a:pPr>
            <a:r>
              <a:rPr lang="en-US" sz="2600" dirty="0">
                <a:solidFill>
                  <a:srgbClr val="2563EB"/>
                </a:solidFill>
                <a:latin typeface="Segoe UI Semibold" pitchFamily="34" charset="0"/>
                <a:ea typeface="Segoe UI Semibold" pitchFamily="34" charset="-122"/>
                <a:cs typeface="Segoe UI Semibold" pitchFamily="34" charset="-120"/>
              </a:rPr>
              <a:t>"From prediction to explanation to action."</a:t>
            </a:r>
            <a:endParaRPr lang="en-US" sz="2600" dirty="0"/>
          </a:p>
        </p:txBody>
      </p:sp>
      <p:sp>
        <p:nvSpPr>
          <p:cNvPr id="24" name="Shape 22"/>
          <p:cNvSpPr/>
          <p:nvPr/>
        </p:nvSpPr>
        <p:spPr>
          <a:xfrm>
            <a:off x="2926080" y="4709160"/>
            <a:ext cx="6309360" cy="292608"/>
          </a:xfrm>
          <a:prstGeom prst="roundRect">
            <a:avLst>
              <a:gd name="adj" fmla="val 50000"/>
            </a:avLst>
          </a:prstGeom>
          <a:solidFill>
            <a:srgbClr val="FEF3C7"/>
          </a:solidFill>
          <a:ln w="12700">
            <a:solidFill>
              <a:srgbClr val="FEF3C7"/>
            </a:solidFill>
            <a:prstDash val="solid"/>
          </a:ln>
        </p:spPr>
      </p:sp>
      <p:sp>
        <p:nvSpPr>
          <p:cNvPr id="25" name="Text 23"/>
          <p:cNvSpPr/>
          <p:nvPr/>
        </p:nvSpPr>
        <p:spPr>
          <a:xfrm>
            <a:off x="2926080" y="4709160"/>
            <a:ext cx="6309360" cy="292608"/>
          </a:xfrm>
          <a:prstGeom prst="rect">
            <a:avLst/>
          </a:prstGeom>
          <a:noFill/>
          <a:ln/>
        </p:spPr>
        <p:txBody>
          <a:bodyPr wrap="square" lIns="0" tIns="0" rIns="0" bIns="0" rtlCol="0" anchor="ctr"/>
          <a:lstStyle/>
          <a:p>
            <a:pPr algn="ctr" indent="0" marL="0">
              <a:buNone/>
            </a:pPr>
            <a:r>
              <a:rPr lang="en-US" sz="1200" dirty="0">
                <a:solidFill>
                  <a:srgbClr val="B45309"/>
                </a:solidFill>
                <a:latin typeface="Segoe UI Semibold" pitchFamily="34" charset="0"/>
                <a:ea typeface="Segoe UI Semibold" pitchFamily="34" charset="-122"/>
                <a:cs typeface="Segoe UI Semibold" pitchFamily="34" charset="-120"/>
              </a:rPr>
              <a:t>Current system: demonstration prototype using predefined demo students</a:t>
            </a:r>
            <a:endParaRPr lang="en-US" sz="1200" dirty="0"/>
          </a:p>
        </p:txBody>
      </p:sp>
      <p:sp>
        <p:nvSpPr>
          <p:cNvPr id="26" name="Text 24"/>
          <p:cNvSpPr/>
          <p:nvPr/>
        </p:nvSpPr>
        <p:spPr>
          <a:xfrm>
            <a:off x="502920" y="5486400"/>
            <a:ext cx="11018520" cy="548640"/>
          </a:xfrm>
          <a:prstGeom prst="rect">
            <a:avLst/>
          </a:prstGeom>
          <a:noFill/>
          <a:ln/>
        </p:spPr>
        <p:txBody>
          <a:bodyPr wrap="square" lIns="0" tIns="0" rIns="0" bIns="0" rtlCol="0" anchor="t"/>
          <a:lstStyle/>
          <a:p>
            <a:pPr algn="ctr" indent="0" marL="0">
              <a:buNone/>
            </a:pPr>
            <a:r>
              <a:rPr lang="en-US" sz="1050" b="1" dirty="0">
                <a:solidFill>
                  <a:srgbClr val="64748B"/>
                </a:solidFill>
                <a:latin typeface="Segoe UI" pitchFamily="34" charset="0"/>
                <a:ea typeface="Segoe UI" pitchFamily="34" charset="-122"/>
                <a:cs typeface="Segoe UI" pitchFamily="34" charset="-120"/>
              </a:rPr>
              <a:t>Tool references: </a:t>
            </a:r>
            <a:pPr algn="ctr" indent="0" marL="0">
              <a:buNone/>
            </a:pPr>
            <a:r>
              <a:rPr lang="en-US" sz="1050" dirty="0">
                <a:solidFill>
                  <a:srgbClr val="64748B"/>
                </a:solidFill>
                <a:latin typeface="Segoe UI" pitchFamily="34" charset="0"/>
                <a:ea typeface="Segoe UI" pitchFamily="34" charset="-122"/>
                <a:cs typeface="Segoe UI" pitchFamily="34" charset="-120"/>
              </a:rPr>
              <a:t>Lundberg, S. M., &amp; Lee, S.-I. (2017). A unified approach to interpreting model predictions. NeurIPS 30.  ·  Pedregosa, F., et al. (2011). Scikit-learn: Machine learning in Python. JMLR 12, 2825–2830.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Student Performance Prediction and Decision Support System with Explainable AI</dc:title>
  <dc:subject>PptxGenJS Presentation</dc:subject>
  <dc:creator>Nemmi Tangha, Oyindrela Das Oitri</dc:creator>
  <cp:lastModifiedBy>Nemmi Tangha, Oyindrela Das Oitri</cp:lastModifiedBy>
  <cp:revision>1</cp:revision>
  <dcterms:created xsi:type="dcterms:W3CDTF">2026-09-30T17:53:12Z</dcterms:created>
  <dcterms:modified xsi:type="dcterms:W3CDTF">2026-09-30T17:53:12Z</dcterms:modified>
</cp:coreProperties>
</file>