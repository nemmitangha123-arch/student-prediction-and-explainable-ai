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5B6B87"/>
                </a:solidFill>
                <a:latin typeface="Arial"/>
              </a:defRPr>
            </a:pPr>
            <a:r>
              <a:rPr sz="1100" b="0" i="0" u="none" strike="noStrike">
                <a:solidFill>
                  <a:srgbClr val="5B6B87"/>
                </a:solidFill>
                <a:latin typeface="Arial"/>
              </a:rPr>
              <a:t>MAE in marks (lower is better)</a:t>
            </a:r>
          </a:p>
        </c:rich>
      </c:tx>
      <c:layout/>
      <c:overlay val="0"/>
    </c:title>
    <c:autoTitleDeleted val="0"/>
    <c:plotArea>
      <c:layout/>
      <c:barChart>
        <c:barDir val="bar"/>
        <c:grouping val="clustered"/>
        <c:varyColors val="0"/>
        <c:ser>
          <c:idx val="0"/>
          <c:order val="0"/>
          <c:tx>
            <c:strRef>
              <c:f>Sheet1!$B$1</c:f>
              <c:strCache>
                <c:ptCount val="1"/>
                <c:pt idx="0">
                  <c:v>MAE (marks)</c:v>
                </c:pt>
              </c:strCache>
            </c:strRef>
          </c:tx>
          <c:spPr>
            <a:solidFill>
              <a:srgbClr val="2F6FED"/>
            </a:solidFill>
            <a:effectLst/>
          </c:spPr>
          <c:invertIfNegative val="0"/>
          <c:dLbls>
            <c:numFmt formatCode="0.00" sourceLinked="0"/>
            <c:txPr>
              <a:bodyPr/>
              <a:lstStyle/>
              <a:p>
                <a:pPr>
                  <a:defRPr b="0" i="0" strike="noStrike" sz="1000" u="none">
                    <a:solidFill>
                      <a:srgbClr val="1A2A4A"/>
                    </a:solidFill>
                    <a:latin typeface="Arial"/>
                  </a:defRPr>
                </a:pPr>
              </a:p>
            </c:txPr>
            <c:showLegendKey val="0"/>
            <c:showVal val="1"/>
            <c:showCatName val="0"/>
            <c:showSerName val="0"/>
            <c:showPercent val="0"/>
            <c:showBubbleSize val="0"/>
            <c:showLeaderLines val="0"/>
          </c:dLbls>
          <c:cat>
            <c:multiLvlStrRef>
              <c:f>Sheet1!$A$2:$A$6</c:f>
              <c:multiLvlStrCache>
                <c:ptCount val="5"/>
                <c:lvl>
                  <c:pt idx="0">
                    <c:v>Linear Regression</c:v>
                  </c:pt>
                  <c:pt idx="1">
                    <c:v>Random Forest (tuned)</c:v>
                  </c:pt>
                  <c:pt idx="2">
                    <c:v>SVR</c:v>
                  </c:pt>
                  <c:pt idx="3">
                    <c:v>Random Forest</c:v>
                  </c:pt>
                  <c:pt idx="4">
                    <c:v>Decision Tree</c:v>
                  </c:pt>
                </c:lvl>
              </c:multiLvlStrCache>
            </c:multiLvlStrRef>
          </c:cat>
          <c:val>
            <c:numRef>
              <c:f>Sheet1!$B$2:$B$6</c:f>
              <c:numCache>
                <c:formatCode>General</c:formatCode>
                <c:ptCount val="5"/>
                <c:pt idx="0">
                  <c:v>3.62</c:v>
                </c:pt>
                <c:pt idx="1">
                  <c:v>3.85</c:v>
                </c:pt>
                <c:pt idx="2">
                  <c:v>3.91</c:v>
                </c:pt>
                <c:pt idx="3">
                  <c:v>3.99</c:v>
                </c:pt>
                <c:pt idx="4">
                  <c:v>4.85</c:v>
                </c:pt>
              </c:numCache>
            </c:numRef>
          </c:val>
        </c:ser>
        <c:dLbls>
          <c:numFmt formatCode="0.00" sourceLinked="0"/>
          <c:txPr>
            <a:bodyPr/>
            <a:lstStyle/>
            <a:p>
              <a:pPr>
                <a:defRPr b="0" i="0" strike="noStrike" sz="1000" u="none">
                  <a:solidFill>
                    <a:srgbClr val="1A2A4A"/>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1A2A4A"/>
                </a:solidFill>
                <a:latin typeface="Arial"/>
              </a:defRPr>
            </a:pPr>
            <a:endParaRPr lang="en-US"/>
          </a:p>
        </c:txPr>
        <c:crossAx val="2094734552"/>
        <c:crosses val="autoZero"/>
        <c:auto val="1"/>
        <c:lblAlgn val="ctr"/>
        <c:noMultiLvlLbl val="1"/>
      </c:catAx>
      <c:valAx>
        <c:axId val="2094734552"/>
        <c:scaling>
          <c:orientation val="minMax"/>
          <c:max val="5.5"/>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830"/>
        </a:solidFill>
      </p:bgPr>
    </p:bg>
    <p:spTree>
      <p:nvGrpSpPr>
        <p:cNvPr id="1" name=""/>
        <p:cNvGrpSpPr/>
        <p:nvPr/>
      </p:nvGrpSpPr>
      <p:grpSpPr>
        <a:xfrm>
          <a:off x="0" y="0"/>
          <a:ext cx="0" cy="0"/>
          <a:chOff x="0" y="0"/>
          <a:chExt cx="0" cy="0"/>
        </a:xfrm>
      </p:grpSpPr>
      <p:sp>
        <p:nvSpPr>
          <p:cNvPr id="2" name="Shape 0"/>
          <p:cNvSpPr/>
          <p:nvPr/>
        </p:nvSpPr>
        <p:spPr>
          <a:xfrm>
            <a:off x="10177272" y="896112"/>
            <a:ext cx="640080" cy="457200"/>
          </a:xfrm>
          <a:prstGeom prst="line">
            <a:avLst/>
          </a:prstGeom>
          <a:noFill/>
          <a:ln w="12700">
            <a:solidFill>
              <a:srgbClr val="3E5A8C"/>
            </a:solidFill>
            <a:prstDash val="solid"/>
          </a:ln>
        </p:spPr>
      </p:sp>
      <p:sp>
        <p:nvSpPr>
          <p:cNvPr id="3" name="Shape 1"/>
          <p:cNvSpPr/>
          <p:nvPr/>
        </p:nvSpPr>
        <p:spPr>
          <a:xfrm>
            <a:off x="10497312" y="1371600"/>
            <a:ext cx="1280160" cy="256032"/>
          </a:xfrm>
          <a:prstGeom prst="line">
            <a:avLst/>
          </a:prstGeom>
          <a:noFill/>
          <a:ln w="12700">
            <a:solidFill>
              <a:srgbClr val="3E5A8C"/>
            </a:solidFill>
            <a:prstDash val="solid"/>
          </a:ln>
        </p:spPr>
      </p:sp>
      <p:sp>
        <p:nvSpPr>
          <p:cNvPr id="4" name="Shape 2"/>
          <p:cNvSpPr/>
          <p:nvPr/>
        </p:nvSpPr>
        <p:spPr>
          <a:xfrm>
            <a:off x="10149840" y="868680"/>
            <a:ext cx="91440" cy="91440"/>
          </a:xfrm>
          <a:prstGeom prst="ellipse">
            <a:avLst/>
          </a:prstGeom>
          <a:solidFill>
            <a:srgbClr val="2F6FED"/>
          </a:solidFill>
          <a:ln w="6350">
            <a:solidFill>
              <a:srgbClr val="2F6FED"/>
            </a:solidFill>
            <a:prstDash val="solid"/>
          </a:ln>
        </p:spPr>
      </p:sp>
      <p:sp>
        <p:nvSpPr>
          <p:cNvPr id="5" name="Shape 3"/>
          <p:cNvSpPr/>
          <p:nvPr/>
        </p:nvSpPr>
        <p:spPr>
          <a:xfrm>
            <a:off x="10789920" y="1325880"/>
            <a:ext cx="91440" cy="91440"/>
          </a:xfrm>
          <a:prstGeom prst="ellipse">
            <a:avLst/>
          </a:prstGeom>
          <a:solidFill>
            <a:srgbClr val="2F6FED"/>
          </a:solidFill>
          <a:ln w="6350">
            <a:solidFill>
              <a:srgbClr val="2F6FED"/>
            </a:solidFill>
            <a:prstDash val="solid"/>
          </a:ln>
        </p:spPr>
      </p:sp>
      <p:sp>
        <p:nvSpPr>
          <p:cNvPr id="6" name="Shape 4"/>
          <p:cNvSpPr/>
          <p:nvPr/>
        </p:nvSpPr>
        <p:spPr>
          <a:xfrm>
            <a:off x="11384280" y="1051560"/>
            <a:ext cx="91440" cy="91440"/>
          </a:xfrm>
          <a:prstGeom prst="ellipse">
            <a:avLst/>
          </a:prstGeom>
          <a:solidFill>
            <a:srgbClr val="2F6FED"/>
          </a:solidFill>
          <a:ln w="6350">
            <a:solidFill>
              <a:srgbClr val="2F6FED"/>
            </a:solidFill>
            <a:prstDash val="solid"/>
          </a:ln>
        </p:spPr>
      </p:sp>
      <p:sp>
        <p:nvSpPr>
          <p:cNvPr id="7" name="Shape 5"/>
          <p:cNvSpPr/>
          <p:nvPr/>
        </p:nvSpPr>
        <p:spPr>
          <a:xfrm>
            <a:off x="10469880" y="1783080"/>
            <a:ext cx="91440" cy="91440"/>
          </a:xfrm>
          <a:prstGeom prst="ellipse">
            <a:avLst/>
          </a:prstGeom>
          <a:solidFill>
            <a:srgbClr val="2F6FED"/>
          </a:solidFill>
          <a:ln w="6350">
            <a:solidFill>
              <a:srgbClr val="2F6FED"/>
            </a:solidFill>
            <a:prstDash val="solid"/>
          </a:ln>
        </p:spPr>
      </p:sp>
      <p:sp>
        <p:nvSpPr>
          <p:cNvPr id="8" name="Shape 6"/>
          <p:cNvSpPr/>
          <p:nvPr/>
        </p:nvSpPr>
        <p:spPr>
          <a:xfrm>
            <a:off x="11750040" y="1600200"/>
            <a:ext cx="91440" cy="91440"/>
          </a:xfrm>
          <a:prstGeom prst="ellipse">
            <a:avLst/>
          </a:prstGeom>
          <a:solidFill>
            <a:srgbClr val="2F6FED"/>
          </a:solidFill>
          <a:ln w="6350">
            <a:solidFill>
              <a:srgbClr val="2F6FED"/>
            </a:solidFill>
            <a:prstDash val="solid"/>
          </a:ln>
        </p:spPr>
      </p:sp>
      <p:sp>
        <p:nvSpPr>
          <p:cNvPr id="9" name="Shape 7"/>
          <p:cNvSpPr/>
          <p:nvPr/>
        </p:nvSpPr>
        <p:spPr>
          <a:xfrm>
            <a:off x="11201400" y="2148840"/>
            <a:ext cx="91440" cy="91440"/>
          </a:xfrm>
          <a:prstGeom prst="ellipse">
            <a:avLst/>
          </a:prstGeom>
          <a:solidFill>
            <a:srgbClr val="2F6FED"/>
          </a:solidFill>
          <a:ln w="6350">
            <a:solidFill>
              <a:srgbClr val="2F6FED"/>
            </a:solidFill>
            <a:prstDash val="solid"/>
          </a:ln>
        </p:spPr>
      </p:sp>
      <p:sp>
        <p:nvSpPr>
          <p:cNvPr id="10" name="Shape 8"/>
          <p:cNvSpPr/>
          <p:nvPr/>
        </p:nvSpPr>
        <p:spPr>
          <a:xfrm>
            <a:off x="11887200" y="2331720"/>
            <a:ext cx="91440" cy="91440"/>
          </a:xfrm>
          <a:prstGeom prst="ellipse">
            <a:avLst/>
          </a:prstGeom>
          <a:solidFill>
            <a:srgbClr val="2F6FED"/>
          </a:solidFill>
          <a:ln w="6350">
            <a:solidFill>
              <a:srgbClr val="2F6FED"/>
            </a:solidFill>
            <a:prstDash val="solid"/>
          </a:ln>
        </p:spPr>
      </p:sp>
      <p:sp>
        <p:nvSpPr>
          <p:cNvPr id="11" name="Text 9"/>
          <p:cNvSpPr txBox="1"/>
          <p:nvPr/>
        </p:nvSpPr>
        <p:spPr>
          <a:xfrm>
            <a:off x="914400" y="1783080"/>
            <a:ext cx="9144000" cy="320040"/>
          </a:xfrm>
          <a:prstGeom prst="rect">
            <a:avLst/>
          </a:prstGeom>
          <a:noFill/>
          <a:ln/>
        </p:spPr>
        <p:txBody>
          <a:bodyPr wrap="square" lIns="0" tIns="0" rIns="0" bIns="0" rtlCol="0" anchor="t"/>
          <a:lstStyle/>
          <a:p>
            <a:pPr indent="0" marL="0">
              <a:buNone/>
            </a:pPr>
            <a:r>
              <a:rPr lang="en-US" sz="1300" b="1" spc="400" kern="0" dirty="0">
                <a:solidFill>
                  <a:srgbClr val="2F6FED"/>
                </a:solidFill>
                <a:latin typeface="Arial" pitchFamily="34" charset="0"/>
                <a:ea typeface="Arial" pitchFamily="34" charset="-122"/>
                <a:cs typeface="Arial" pitchFamily="34" charset="-120"/>
              </a:rPr>
              <a:t>DATA SCIENCE  ·  MACHINE LEARNING  ·  CAPSTONE PROJECT</a:t>
            </a:r>
            <a:endParaRPr lang="en-US" sz="1300" dirty="0"/>
          </a:p>
        </p:txBody>
      </p:sp>
      <p:sp>
        <p:nvSpPr>
          <p:cNvPr id="12" name="Text 10"/>
          <p:cNvSpPr txBox="1"/>
          <p:nvPr/>
        </p:nvSpPr>
        <p:spPr>
          <a:xfrm>
            <a:off x="914400" y="2240280"/>
            <a:ext cx="9692640" cy="173736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AI Based Student Performance Prediction and Decision Support System with Explainable AI</a:t>
            </a:r>
            <a:endParaRPr lang="en-US" sz="3800" dirty="0"/>
          </a:p>
        </p:txBody>
      </p:sp>
      <p:sp>
        <p:nvSpPr>
          <p:cNvPr id="13" name="Text 11"/>
          <p:cNvSpPr txBox="1"/>
          <p:nvPr/>
        </p:nvSpPr>
        <p:spPr>
          <a:xfrm>
            <a:off x="914400" y="4160520"/>
            <a:ext cx="8778240" cy="731520"/>
          </a:xfrm>
          <a:prstGeom prst="rect">
            <a:avLst/>
          </a:prstGeom>
          <a:noFill/>
          <a:ln/>
        </p:spPr>
        <p:txBody>
          <a:bodyPr wrap="square" lIns="0" tIns="0" rIns="0" bIns="0" rtlCol="0" anchor="t"/>
          <a:lstStyle/>
          <a:p>
            <a:pPr indent="0" marL="0">
              <a:buNone/>
            </a:pPr>
            <a:r>
              <a:rPr lang="en-US" sz="1600" dirty="0">
                <a:solidFill>
                  <a:srgbClr val="B7C3DD"/>
                </a:solidFill>
                <a:latin typeface="Arial" pitchFamily="34" charset="0"/>
                <a:ea typeface="Arial" pitchFamily="34" charset="-122"/>
                <a:cs typeface="Arial" pitchFamily="34" charset="-120"/>
              </a:rPr>
              <a:t>An explainable machine-learning system for predicting final exam marks, identifying early-warning risk bands, and generating SHAP-guided recommendations.</a:t>
            </a:r>
            <a:endParaRPr lang="en-US" sz="1600" dirty="0"/>
          </a:p>
        </p:txBody>
      </p:sp>
      <p:sp>
        <p:nvSpPr>
          <p:cNvPr id="14" name="Text 12"/>
          <p:cNvSpPr txBox="1"/>
          <p:nvPr/>
        </p:nvSpPr>
        <p:spPr>
          <a:xfrm>
            <a:off x="914400" y="5166360"/>
            <a:ext cx="8229600" cy="320040"/>
          </a:xfrm>
          <a:prstGeom prst="rect">
            <a:avLst/>
          </a:prstGeom>
          <a:noFill/>
          <a:ln/>
        </p:spPr>
        <p:txBody>
          <a:bodyPr wrap="square" lIns="0" tIns="0" rIns="0" bIns="0" rtlCol="0" anchor="t"/>
          <a:lstStyle/>
          <a:p>
            <a:pPr indent="0" marL="0">
              <a:buNone/>
            </a:pPr>
            <a:r>
              <a:rPr lang="en-US" sz="1500" dirty="0">
                <a:solidFill>
                  <a:srgbClr val="7F8DAB"/>
                </a:solidFill>
                <a:latin typeface="Arial" pitchFamily="34" charset="0"/>
                <a:ea typeface="Arial" pitchFamily="34" charset="-122"/>
                <a:cs typeface="Arial" pitchFamily="34" charset="-120"/>
              </a:rPr>
              <a:t>Team  </a:t>
            </a:r>
            <a:pPr indent="0" marL="0">
              <a:buNone/>
            </a:pPr>
            <a:r>
              <a:rPr lang="en-US" sz="1500" b="1" dirty="0">
                <a:solidFill>
                  <a:srgbClr val="FFFFFF"/>
                </a:solidFill>
                <a:latin typeface="Arial" pitchFamily="34" charset="0"/>
                <a:ea typeface="Arial" pitchFamily="34" charset="-122"/>
                <a:cs typeface="Arial" pitchFamily="34" charset="-120"/>
              </a:rPr>
              <a:t>Nemmi Tangha</a:t>
            </a:r>
            <a:pPr indent="0" marL="0">
              <a:buNone/>
            </a:pPr>
            <a:r>
              <a:rPr lang="en-US" sz="1500" dirty="0">
                <a:solidFill>
                  <a:srgbClr val="7F8DAB"/>
                </a:solidFill>
                <a:latin typeface="Arial" pitchFamily="34" charset="0"/>
                <a:ea typeface="Arial" pitchFamily="34" charset="-122"/>
                <a:cs typeface="Arial" pitchFamily="34" charset="-120"/>
              </a:rPr>
              <a:t>   ·   </a:t>
            </a:r>
            <a:pPr indent="0" marL="0">
              <a:buNone/>
            </a:pPr>
            <a:r>
              <a:rPr lang="en-US" sz="1500" b="1" dirty="0">
                <a:solidFill>
                  <a:srgbClr val="FFFFFF"/>
                </a:solidFill>
                <a:latin typeface="Arial" pitchFamily="34" charset="0"/>
                <a:ea typeface="Arial" pitchFamily="34" charset="-122"/>
                <a:cs typeface="Arial" pitchFamily="34" charset="-120"/>
              </a:rPr>
              <a:t>Oyindrela Das Oitri</a:t>
            </a:r>
            <a:endParaRPr lang="en-US" sz="1500" dirty="0"/>
          </a:p>
        </p:txBody>
      </p:sp>
      <p:sp>
        <p:nvSpPr>
          <p:cNvPr id="15" name="Text 13"/>
          <p:cNvSpPr txBox="1"/>
          <p:nvPr/>
        </p:nvSpPr>
        <p:spPr>
          <a:xfrm>
            <a:off x="914400" y="5577840"/>
            <a:ext cx="8229600" cy="274320"/>
          </a:xfrm>
          <a:prstGeom prst="rect">
            <a:avLst/>
          </a:prstGeom>
          <a:noFill/>
          <a:ln/>
        </p:spPr>
        <p:txBody>
          <a:bodyPr wrap="square" lIns="0" tIns="0" rIns="0" bIns="0" rtlCol="0" anchor="t"/>
          <a:lstStyle/>
          <a:p>
            <a:pPr indent="0" marL="0">
              <a:buNone/>
            </a:pPr>
            <a:r>
              <a:rPr lang="en-US" sz="1300" dirty="0">
                <a:solidFill>
                  <a:srgbClr val="7F8DAB"/>
                </a:solidFill>
                <a:latin typeface="Arial" pitchFamily="34" charset="0"/>
                <a:ea typeface="Arial" pitchFamily="34" charset="-122"/>
                <a:cs typeface="Arial" pitchFamily="34" charset="-120"/>
              </a:rPr>
              <a:t>Domain: Data Science &amp; Machine Learning</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515600" cy="274320"/>
          </a:xfrm>
          <a:prstGeom prst="rect">
            <a:avLst/>
          </a:prstGeom>
          <a:noFill/>
          <a:ln/>
        </p:spPr>
        <p:txBody>
          <a:bodyPr wrap="square" lIns="0" tIns="0" rIns="0" bIns="0" rtlCol="0" anchor="t"/>
          <a:lstStyle/>
          <a:p>
            <a:pPr indent="0" marL="0">
              <a:buNone/>
            </a:pPr>
            <a:r>
              <a:rPr lang="en-US" sz="1100" b="1" spc="300" kern="0" dirty="0">
                <a:solidFill>
                  <a:srgbClr val="2F6FED"/>
                </a:solidFill>
                <a:latin typeface="Arial" pitchFamily="34" charset="0"/>
                <a:ea typeface="Arial" pitchFamily="34" charset="-122"/>
                <a:cs typeface="Arial" pitchFamily="34" charset="-120"/>
              </a:rPr>
              <a:t>PROBLEM &amp; MOTIVATION</a:t>
            </a:r>
            <a:endParaRPr lang="en-US" sz="1100" dirty="0"/>
          </a:p>
        </p:txBody>
      </p:sp>
      <p:sp>
        <p:nvSpPr>
          <p:cNvPr id="3" name="Text 1"/>
          <p:cNvSpPr txBox="1"/>
          <p:nvPr/>
        </p:nvSpPr>
        <p:spPr>
          <a:xfrm>
            <a:off x="640080" y="713232"/>
            <a:ext cx="10972800" cy="640080"/>
          </a:xfrm>
          <a:prstGeom prst="rect">
            <a:avLst/>
          </a:prstGeom>
          <a:noFill/>
          <a:ln/>
        </p:spPr>
        <p:txBody>
          <a:bodyPr wrap="square" lIns="0" tIns="0" rIns="0" bIns="0" rtlCol="0" anchor="ctr"/>
          <a:lstStyle/>
          <a:p>
            <a:pPr indent="0" marL="0">
              <a:buNone/>
            </a:pPr>
            <a:r>
              <a:rPr lang="en-US" sz="3000" b="1" dirty="0">
                <a:solidFill>
                  <a:srgbClr val="142850"/>
                </a:solidFill>
                <a:latin typeface="Cambria" pitchFamily="34" charset="0"/>
                <a:ea typeface="Cambria" pitchFamily="34" charset="-122"/>
                <a:cs typeface="Cambria" pitchFamily="34" charset="-120"/>
              </a:rPr>
              <a:t>Academic risk is often recognised too late</a:t>
            </a:r>
            <a:endParaRPr lang="en-US" sz="3000" dirty="0"/>
          </a:p>
        </p:txBody>
      </p:sp>
      <p:sp>
        <p:nvSpPr>
          <p:cNvPr id="4" name="Text 2"/>
          <p:cNvSpPr txBox="1"/>
          <p:nvPr/>
        </p:nvSpPr>
        <p:spPr>
          <a:xfrm>
            <a:off x="640080" y="1371600"/>
            <a:ext cx="10881360" cy="365760"/>
          </a:xfrm>
          <a:prstGeom prst="rect">
            <a:avLst/>
          </a:prstGeom>
          <a:noFill/>
          <a:ln/>
        </p:spPr>
        <p:txBody>
          <a:bodyPr wrap="square" lIns="0" tIns="0" rIns="0" bIns="0" rtlCol="0" anchor="t"/>
          <a:lstStyle/>
          <a:p>
            <a:pPr indent="0" marL="0">
              <a:buNone/>
            </a:pPr>
            <a:r>
              <a:rPr lang="en-US" sz="1400" dirty="0">
                <a:solidFill>
                  <a:srgbClr val="5B6B87"/>
                </a:solidFill>
                <a:latin typeface="Arial" pitchFamily="34" charset="0"/>
                <a:ea typeface="Arial" pitchFamily="34" charset="-122"/>
                <a:cs typeface="Arial" pitchFamily="34" charset="-120"/>
              </a:rPr>
              <a:t>Motivation for the project, and what the implemented system does about it.</a:t>
            </a:r>
            <a:endParaRPr lang="en-US" sz="1400" dirty="0"/>
          </a:p>
        </p:txBody>
      </p:sp>
      <p:sp>
        <p:nvSpPr>
          <p:cNvPr id="5" name="Text 3"/>
          <p:cNvSpPr txBox="1"/>
          <p:nvPr/>
        </p:nvSpPr>
        <p:spPr>
          <a:xfrm>
            <a:off x="640080" y="1965960"/>
            <a:ext cx="5486400" cy="274320"/>
          </a:xfrm>
          <a:prstGeom prst="rect">
            <a:avLst/>
          </a:prstGeom>
          <a:noFill/>
          <a:ln/>
        </p:spPr>
        <p:txBody>
          <a:bodyPr wrap="square" lIns="0" tIns="0" rIns="0" bIns="0" rtlCol="0" anchor="t"/>
          <a:lstStyle/>
          <a:p>
            <a:pPr indent="0" marL="0">
              <a:buNone/>
            </a:pPr>
            <a:r>
              <a:rPr lang="en-US" sz="1100" b="1" spc="200" kern="0" dirty="0">
                <a:solidFill>
                  <a:srgbClr val="5B6B87"/>
                </a:solidFill>
                <a:latin typeface="Arial" pitchFamily="34" charset="0"/>
                <a:ea typeface="Arial" pitchFamily="34" charset="-122"/>
                <a:cs typeface="Arial" pitchFamily="34" charset="-120"/>
              </a:rPr>
              <a:t>THE PROBLEM (MOTIVATION)</a:t>
            </a:r>
            <a:endParaRPr lang="en-US" sz="1100" dirty="0"/>
          </a:p>
        </p:txBody>
      </p:sp>
      <p:sp>
        <p:nvSpPr>
          <p:cNvPr id="6" name="Shape 4"/>
          <p:cNvSpPr/>
          <p:nvPr/>
        </p:nvSpPr>
        <p:spPr>
          <a:xfrm>
            <a:off x="640080" y="2331720"/>
            <a:ext cx="5486400" cy="1005840"/>
          </a:xfrm>
          <a:prstGeom prst="roundRect">
            <a:avLst>
              <a:gd name="adj" fmla="val 10909"/>
            </a:avLst>
          </a:prstGeom>
          <a:solidFill>
            <a:srgbClr val="F4F7FE"/>
          </a:solidFill>
          <a:ln w="9525">
            <a:solidFill>
              <a:srgbClr val="D8E1F5"/>
            </a:solidFill>
            <a:prstDash val="solid"/>
          </a:ln>
        </p:spPr>
      </p:sp>
      <p:sp>
        <p:nvSpPr>
          <p:cNvPr id="7" name="Shape 5"/>
          <p:cNvSpPr/>
          <p:nvPr/>
        </p:nvSpPr>
        <p:spPr>
          <a:xfrm>
            <a:off x="868680" y="2606040"/>
            <a:ext cx="457200" cy="457200"/>
          </a:xfrm>
          <a:prstGeom prst="ellipse">
            <a:avLst/>
          </a:prstGeom>
          <a:solidFill>
            <a:srgbClr val="142850"/>
          </a:solidFill>
          <a:ln w="6350">
            <a:solidFill>
              <a:srgbClr val="142850"/>
            </a:solidFill>
            <a:prstDash val="solid"/>
          </a:ln>
        </p:spPr>
      </p:sp>
      <p:sp>
        <p:nvSpPr>
          <p:cNvPr id="8" name="Text 6"/>
          <p:cNvSpPr txBox="1"/>
          <p:nvPr/>
        </p:nvSpPr>
        <p:spPr>
          <a:xfrm>
            <a:off x="868680" y="260604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9" name="Text 7"/>
          <p:cNvSpPr txBox="1"/>
          <p:nvPr/>
        </p:nvSpPr>
        <p:spPr>
          <a:xfrm>
            <a:off x="1554480" y="2496312"/>
            <a:ext cx="4389120" cy="320040"/>
          </a:xfrm>
          <a:prstGeom prst="rect">
            <a:avLst/>
          </a:prstGeom>
          <a:noFill/>
          <a:ln/>
        </p:spPr>
        <p:txBody>
          <a:bodyPr wrap="square" lIns="0" tIns="0" rIns="0" bIns="0" rtlCol="0" anchor="t"/>
          <a:lstStyle/>
          <a:p>
            <a:pPr indent="0" marL="0">
              <a:buNone/>
            </a:pPr>
            <a:r>
              <a:rPr lang="en-US" sz="1500" b="1" dirty="0">
                <a:solidFill>
                  <a:srgbClr val="142850"/>
                </a:solidFill>
                <a:latin typeface="Arial" pitchFamily="34" charset="0"/>
                <a:ea typeface="Arial" pitchFamily="34" charset="-122"/>
                <a:cs typeface="Arial" pitchFamily="34" charset="-120"/>
              </a:rPr>
              <a:t>Late identification</a:t>
            </a:r>
            <a:endParaRPr lang="en-US" sz="1500" dirty="0"/>
          </a:p>
        </p:txBody>
      </p:sp>
      <p:sp>
        <p:nvSpPr>
          <p:cNvPr id="10" name="Text 8"/>
          <p:cNvSpPr txBox="1"/>
          <p:nvPr/>
        </p:nvSpPr>
        <p:spPr>
          <a:xfrm>
            <a:off x="1554480" y="2807208"/>
            <a:ext cx="4434840" cy="457200"/>
          </a:xfrm>
          <a:prstGeom prst="rect">
            <a:avLst/>
          </a:prstGeom>
          <a:noFill/>
          <a:ln/>
        </p:spPr>
        <p:txBody>
          <a:bodyPr wrap="square" lIns="0" tIns="0" rIns="0" bIns="0" rtlCol="0" anchor="t"/>
          <a:lstStyle/>
          <a:p>
            <a:pPr indent="0" marL="0">
              <a:buNone/>
            </a:pPr>
            <a:r>
              <a:rPr lang="en-US" sz="1200" dirty="0">
                <a:solidFill>
                  <a:srgbClr val="5B6B87"/>
                </a:solidFill>
                <a:latin typeface="Arial" pitchFamily="34" charset="0"/>
                <a:ea typeface="Arial" pitchFamily="34" charset="-122"/>
                <a:cs typeface="Arial" pitchFamily="34" charset="-120"/>
              </a:rPr>
              <a:t>Difficulties often become visible only after final examinations, when little time remains for support.</a:t>
            </a:r>
            <a:endParaRPr lang="en-US" sz="1200" dirty="0"/>
          </a:p>
        </p:txBody>
      </p:sp>
      <p:sp>
        <p:nvSpPr>
          <p:cNvPr id="11" name="Shape 9"/>
          <p:cNvSpPr/>
          <p:nvPr/>
        </p:nvSpPr>
        <p:spPr>
          <a:xfrm>
            <a:off x="640080" y="3520440"/>
            <a:ext cx="5486400" cy="1005840"/>
          </a:xfrm>
          <a:prstGeom prst="roundRect">
            <a:avLst>
              <a:gd name="adj" fmla="val 10909"/>
            </a:avLst>
          </a:prstGeom>
          <a:solidFill>
            <a:srgbClr val="F4F7FE"/>
          </a:solidFill>
          <a:ln w="9525">
            <a:solidFill>
              <a:srgbClr val="D8E1F5"/>
            </a:solidFill>
            <a:prstDash val="solid"/>
          </a:ln>
        </p:spPr>
      </p:sp>
      <p:sp>
        <p:nvSpPr>
          <p:cNvPr id="12" name="Shape 10"/>
          <p:cNvSpPr/>
          <p:nvPr/>
        </p:nvSpPr>
        <p:spPr>
          <a:xfrm>
            <a:off x="868680" y="3794760"/>
            <a:ext cx="457200" cy="457200"/>
          </a:xfrm>
          <a:prstGeom prst="ellipse">
            <a:avLst/>
          </a:prstGeom>
          <a:solidFill>
            <a:srgbClr val="142850"/>
          </a:solidFill>
          <a:ln w="6350">
            <a:solidFill>
              <a:srgbClr val="142850"/>
            </a:solidFill>
            <a:prstDash val="solid"/>
          </a:ln>
        </p:spPr>
      </p:sp>
      <p:sp>
        <p:nvSpPr>
          <p:cNvPr id="13" name="Text 11"/>
          <p:cNvSpPr txBox="1"/>
          <p:nvPr/>
        </p:nvSpPr>
        <p:spPr>
          <a:xfrm>
            <a:off x="868680" y="379476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4" name="Text 12"/>
          <p:cNvSpPr txBox="1"/>
          <p:nvPr/>
        </p:nvSpPr>
        <p:spPr>
          <a:xfrm>
            <a:off x="1554480" y="3685032"/>
            <a:ext cx="4389120" cy="320040"/>
          </a:xfrm>
          <a:prstGeom prst="rect">
            <a:avLst/>
          </a:prstGeom>
          <a:noFill/>
          <a:ln/>
        </p:spPr>
        <p:txBody>
          <a:bodyPr wrap="square" lIns="0" tIns="0" rIns="0" bIns="0" rtlCol="0" anchor="t"/>
          <a:lstStyle/>
          <a:p>
            <a:pPr indent="0" marL="0">
              <a:buNone/>
            </a:pPr>
            <a:r>
              <a:rPr lang="en-US" sz="1500" b="1" dirty="0">
                <a:solidFill>
                  <a:srgbClr val="142850"/>
                </a:solidFill>
                <a:latin typeface="Arial" pitchFamily="34" charset="0"/>
                <a:ea typeface="Arial" pitchFamily="34" charset="-122"/>
                <a:cs typeface="Arial" pitchFamily="34" charset="-120"/>
              </a:rPr>
              <a:t>Manual monitoring</a:t>
            </a:r>
            <a:endParaRPr lang="en-US" sz="1500" dirty="0"/>
          </a:p>
        </p:txBody>
      </p:sp>
      <p:sp>
        <p:nvSpPr>
          <p:cNvPr id="15" name="Text 13"/>
          <p:cNvSpPr txBox="1"/>
          <p:nvPr/>
        </p:nvSpPr>
        <p:spPr>
          <a:xfrm>
            <a:off x="1554480" y="3995928"/>
            <a:ext cx="4434840" cy="457200"/>
          </a:xfrm>
          <a:prstGeom prst="rect">
            <a:avLst/>
          </a:prstGeom>
          <a:noFill/>
          <a:ln/>
        </p:spPr>
        <p:txBody>
          <a:bodyPr wrap="square" lIns="0" tIns="0" rIns="0" bIns="0" rtlCol="0" anchor="t"/>
          <a:lstStyle/>
          <a:p>
            <a:pPr indent="0" marL="0">
              <a:buNone/>
            </a:pPr>
            <a:r>
              <a:rPr lang="en-US" sz="1200" dirty="0">
                <a:solidFill>
                  <a:srgbClr val="5B6B87"/>
                </a:solidFill>
                <a:latin typeface="Arial" pitchFamily="34" charset="0"/>
                <a:ea typeface="Arial" pitchFamily="34" charset="-122"/>
                <a:cs typeface="Arial" pitchFamily="34" charset="-120"/>
              </a:rPr>
              <a:t>Teachers review attendance and marks by hand; early indicators are not combined into a prediction.</a:t>
            </a:r>
            <a:endParaRPr lang="en-US" sz="1200" dirty="0"/>
          </a:p>
        </p:txBody>
      </p:sp>
      <p:sp>
        <p:nvSpPr>
          <p:cNvPr id="16" name="Shape 14"/>
          <p:cNvSpPr/>
          <p:nvPr/>
        </p:nvSpPr>
        <p:spPr>
          <a:xfrm>
            <a:off x="640080" y="4709160"/>
            <a:ext cx="5486400" cy="1005840"/>
          </a:xfrm>
          <a:prstGeom prst="roundRect">
            <a:avLst>
              <a:gd name="adj" fmla="val 10909"/>
            </a:avLst>
          </a:prstGeom>
          <a:solidFill>
            <a:srgbClr val="F4F7FE"/>
          </a:solidFill>
          <a:ln w="9525">
            <a:solidFill>
              <a:srgbClr val="D8E1F5"/>
            </a:solidFill>
            <a:prstDash val="solid"/>
          </a:ln>
        </p:spPr>
      </p:sp>
      <p:sp>
        <p:nvSpPr>
          <p:cNvPr id="17" name="Shape 15"/>
          <p:cNvSpPr/>
          <p:nvPr/>
        </p:nvSpPr>
        <p:spPr>
          <a:xfrm>
            <a:off x="868680" y="4983480"/>
            <a:ext cx="457200" cy="457200"/>
          </a:xfrm>
          <a:prstGeom prst="ellipse">
            <a:avLst/>
          </a:prstGeom>
          <a:solidFill>
            <a:srgbClr val="142850"/>
          </a:solidFill>
          <a:ln w="6350">
            <a:solidFill>
              <a:srgbClr val="142850"/>
            </a:solidFill>
            <a:prstDash val="solid"/>
          </a:ln>
        </p:spPr>
      </p:sp>
      <p:sp>
        <p:nvSpPr>
          <p:cNvPr id="18" name="Text 16"/>
          <p:cNvSpPr txBox="1"/>
          <p:nvPr/>
        </p:nvSpPr>
        <p:spPr>
          <a:xfrm>
            <a:off x="868680" y="498348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9" name="Text 17"/>
          <p:cNvSpPr txBox="1"/>
          <p:nvPr/>
        </p:nvSpPr>
        <p:spPr>
          <a:xfrm>
            <a:off x="1554480" y="4873752"/>
            <a:ext cx="4389120" cy="320040"/>
          </a:xfrm>
          <a:prstGeom prst="rect">
            <a:avLst/>
          </a:prstGeom>
          <a:noFill/>
          <a:ln/>
        </p:spPr>
        <p:txBody>
          <a:bodyPr wrap="square" lIns="0" tIns="0" rIns="0" bIns="0" rtlCol="0" anchor="t"/>
          <a:lstStyle/>
          <a:p>
            <a:pPr indent="0" marL="0">
              <a:buNone/>
            </a:pPr>
            <a:r>
              <a:rPr lang="en-US" sz="1500" b="1" dirty="0">
                <a:solidFill>
                  <a:srgbClr val="142850"/>
                </a:solidFill>
                <a:latin typeface="Arial" pitchFamily="34" charset="0"/>
                <a:ea typeface="Arial" pitchFamily="34" charset="-122"/>
                <a:cs typeface="Arial" pitchFamily="34" charset="-120"/>
              </a:rPr>
              <a:t>Limited transparency</a:t>
            </a:r>
            <a:endParaRPr lang="en-US" sz="1500" dirty="0"/>
          </a:p>
        </p:txBody>
      </p:sp>
      <p:sp>
        <p:nvSpPr>
          <p:cNvPr id="20" name="Text 18"/>
          <p:cNvSpPr txBox="1"/>
          <p:nvPr/>
        </p:nvSpPr>
        <p:spPr>
          <a:xfrm>
            <a:off x="1554480" y="5184648"/>
            <a:ext cx="4434840" cy="457200"/>
          </a:xfrm>
          <a:prstGeom prst="rect">
            <a:avLst/>
          </a:prstGeom>
          <a:noFill/>
          <a:ln/>
        </p:spPr>
        <p:txBody>
          <a:bodyPr wrap="square" lIns="0" tIns="0" rIns="0" bIns="0" rtlCol="0" anchor="t"/>
          <a:lstStyle/>
          <a:p>
            <a:pPr indent="0" marL="0">
              <a:buNone/>
            </a:pPr>
            <a:r>
              <a:rPr lang="en-US" sz="1200" dirty="0">
                <a:solidFill>
                  <a:srgbClr val="5B6B87"/>
                </a:solidFill>
                <a:latin typeface="Arial" pitchFamily="34" charset="0"/>
                <a:ea typeface="Arial" pitchFamily="34" charset="-122"/>
                <a:cs typeface="Arial" pitchFamily="34" charset="-120"/>
              </a:rPr>
              <a:t>Where predictive tools are used, their outputs are often not explained to educators or students.</a:t>
            </a:r>
            <a:endParaRPr lang="en-US" sz="1200" dirty="0"/>
          </a:p>
        </p:txBody>
      </p:sp>
      <p:sp>
        <p:nvSpPr>
          <p:cNvPr id="21" name="Text 19"/>
          <p:cNvSpPr txBox="1"/>
          <p:nvPr/>
        </p:nvSpPr>
        <p:spPr>
          <a:xfrm>
            <a:off x="6675120" y="1965960"/>
            <a:ext cx="5029200" cy="274320"/>
          </a:xfrm>
          <a:prstGeom prst="rect">
            <a:avLst/>
          </a:prstGeom>
          <a:noFill/>
          <a:ln/>
        </p:spPr>
        <p:txBody>
          <a:bodyPr wrap="square" lIns="0" tIns="0" rIns="0" bIns="0" rtlCol="0" anchor="t"/>
          <a:lstStyle/>
          <a:p>
            <a:pPr indent="0" marL="0">
              <a:buNone/>
            </a:pPr>
            <a:r>
              <a:rPr lang="en-US" sz="1100" b="1" spc="200" kern="0" dirty="0">
                <a:solidFill>
                  <a:srgbClr val="2F6FED"/>
                </a:solidFill>
                <a:latin typeface="Arial" pitchFamily="34" charset="0"/>
                <a:ea typeface="Arial" pitchFamily="34" charset="-122"/>
                <a:cs typeface="Arial" pitchFamily="34" charset="-120"/>
              </a:rPr>
              <a:t>WHAT THIS PROJECT IMPLEMENTS</a:t>
            </a:r>
            <a:endParaRPr lang="en-US" sz="1100" dirty="0"/>
          </a:p>
        </p:txBody>
      </p:sp>
      <p:sp>
        <p:nvSpPr>
          <p:cNvPr id="22" name="Shape 20"/>
          <p:cNvSpPr/>
          <p:nvPr/>
        </p:nvSpPr>
        <p:spPr>
          <a:xfrm>
            <a:off x="6675120" y="2331720"/>
            <a:ext cx="4892040" cy="3383280"/>
          </a:xfrm>
          <a:prstGeom prst="roundRect">
            <a:avLst>
              <a:gd name="adj" fmla="val 3243"/>
            </a:avLst>
          </a:prstGeom>
          <a:solidFill>
            <a:srgbClr val="E9F0FF"/>
          </a:solidFill>
          <a:ln w="9525">
            <a:solidFill>
              <a:srgbClr val="E9F0FF"/>
            </a:solidFill>
            <a:prstDash val="solid"/>
          </a:ln>
        </p:spPr>
      </p:sp>
      <p:sp>
        <p:nvSpPr>
          <p:cNvPr id="23" name="Text 21"/>
          <p:cNvSpPr txBox="1"/>
          <p:nvPr/>
        </p:nvSpPr>
        <p:spPr>
          <a:xfrm>
            <a:off x="6949440" y="2560320"/>
            <a:ext cx="4434840" cy="301752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rgbClr val="1A2A4A"/>
                </a:solidFill>
                <a:latin typeface="Arial" pitchFamily="34" charset="0"/>
                <a:ea typeface="Arial" pitchFamily="34" charset="-122"/>
                <a:cs typeface="Arial" pitchFamily="34" charset="-120"/>
              </a:rPr>
              <a:t>Predicts final exam marks (0–100) from five academic indicators</a:t>
            </a:r>
            <a:endParaRPr lang="en-US" sz="1400" dirty="0"/>
          </a:p>
          <a:p>
            <a:pPr marL="342900" indent="-342900">
              <a:spcAft>
                <a:spcPts val="1000"/>
              </a:spcAft>
              <a:buSzPct val="100000"/>
              <a:buChar char="•"/>
            </a:pPr>
            <a:r>
              <a:rPr lang="en-US" sz="1400" dirty="0">
                <a:solidFill>
                  <a:srgbClr val="1A2A4A"/>
                </a:solidFill>
                <a:latin typeface="Arial" pitchFamily="34" charset="0"/>
                <a:ea typeface="Arial" pitchFamily="34" charset="-122"/>
                <a:cs typeface="Arial" pitchFamily="34" charset="-120"/>
              </a:rPr>
              <a:t>Assigns an early-warning band from the predicted marks</a:t>
            </a:r>
            <a:endParaRPr lang="en-US" sz="1400" dirty="0"/>
          </a:p>
          <a:p>
            <a:pPr marL="342900" indent="-342900">
              <a:spcAft>
                <a:spcPts val="1000"/>
              </a:spcAft>
              <a:buSzPct val="100000"/>
              <a:buChar char="•"/>
            </a:pPr>
            <a:r>
              <a:rPr lang="en-US" sz="1400" dirty="0">
                <a:solidFill>
                  <a:srgbClr val="1A2A4A"/>
                </a:solidFill>
                <a:latin typeface="Arial" pitchFamily="34" charset="0"/>
                <a:ea typeface="Arial" pitchFamily="34" charset="-122"/>
                <a:cs typeface="Arial" pitchFamily="34" charset="-120"/>
              </a:rPr>
              <a:t>Explains each prediction with SHAP feature contributions</a:t>
            </a:r>
            <a:endParaRPr lang="en-US" sz="1400" dirty="0"/>
          </a:p>
          <a:p>
            <a:pPr marL="342900" indent="-342900">
              <a:spcAft>
                <a:spcPts val="1000"/>
              </a:spcAft>
              <a:buSzPct val="100000"/>
              <a:buChar char="•"/>
            </a:pPr>
            <a:r>
              <a:rPr lang="en-US" sz="1400" dirty="0">
                <a:solidFill>
                  <a:srgbClr val="1A2A4A"/>
                </a:solidFill>
                <a:latin typeface="Arial" pitchFamily="34" charset="0"/>
                <a:ea typeface="Arial" pitchFamily="34" charset="-122"/>
                <a:cs typeface="Arial" pitchFamily="34" charset="-120"/>
              </a:rPr>
              <a:t>Generates SHAP-guided, feature-level recommendations</a:t>
            </a:r>
            <a:endParaRPr lang="en-US" sz="1400" dirty="0"/>
          </a:p>
          <a:p>
            <a:pPr marL="342900" indent="-342900">
              <a:spcAft>
                <a:spcPts val="1000"/>
              </a:spcAft>
              <a:buSzPct val="100000"/>
              <a:buChar char="•"/>
            </a:pPr>
            <a:r>
              <a:rPr lang="en-US" sz="1400" dirty="0">
                <a:solidFill>
                  <a:srgbClr val="1A2A4A"/>
                </a:solidFill>
                <a:latin typeface="Arial" pitchFamily="34" charset="0"/>
                <a:ea typeface="Arial" pitchFamily="34" charset="-122"/>
                <a:cs typeface="Arial" pitchFamily="34" charset="-120"/>
              </a:rPr>
              <a:t>Compares hypothetical input scenarios (What-If)</a:t>
            </a:r>
            <a:endParaRPr lang="en-US" sz="1400" dirty="0"/>
          </a:p>
        </p:txBody>
      </p:sp>
      <p:sp>
        <p:nvSpPr>
          <p:cNvPr id="24" name="Text 22"/>
          <p:cNvSpPr txBox="1"/>
          <p:nvPr/>
        </p:nvSpPr>
        <p:spPr>
          <a:xfrm>
            <a:off x="640080" y="5989320"/>
            <a:ext cx="10972800" cy="274320"/>
          </a:xfrm>
          <a:prstGeom prst="rect">
            <a:avLst/>
          </a:prstGeom>
          <a:noFill/>
          <a:ln/>
        </p:spPr>
        <p:txBody>
          <a:bodyPr wrap="square" lIns="0" tIns="0" rIns="0" bIns="0" rtlCol="0" anchor="t"/>
          <a:lstStyle/>
          <a:p>
            <a:pPr indent="0" marL="0">
              <a:buNone/>
            </a:pPr>
            <a:r>
              <a:rPr lang="en-US" sz="1000" i="1" dirty="0">
                <a:solidFill>
                  <a:srgbClr val="5B6B87"/>
                </a:solidFill>
                <a:latin typeface="Arial" pitchFamily="34" charset="0"/>
                <a:ea typeface="Arial" pitchFamily="34" charset="-122"/>
                <a:cs typeface="Arial" pitchFamily="34" charset="-120"/>
              </a:rPr>
              <a:t>The problem statements describe the general motivation; they are not results measured by this project.</a:t>
            </a:r>
            <a:endParaRPr lang="en-US" sz="1000" dirty="0"/>
          </a:p>
        </p:txBody>
      </p:sp>
      <p:sp>
        <p:nvSpPr>
          <p:cNvPr id="25" name="Text 23"/>
          <p:cNvSpPr txBox="1"/>
          <p:nvPr/>
        </p:nvSpPr>
        <p:spPr>
          <a:xfrm>
            <a:off x="640080" y="6473952"/>
            <a:ext cx="7315200" cy="201168"/>
          </a:xfrm>
          <a:prstGeom prst="rect">
            <a:avLst/>
          </a:prstGeom>
          <a:noFill/>
          <a:ln/>
        </p:spPr>
        <p:txBody>
          <a:bodyPr wrap="square" lIns="0" tIns="0" rIns="0" bIns="0" rtlCol="0" anchor="t"/>
          <a:lstStyle/>
          <a:p>
            <a:pPr indent="0" marL="0">
              <a:buNone/>
            </a:pPr>
            <a:r>
              <a:rPr lang="en-US" sz="800" spc="200" kern="0" dirty="0">
                <a:solidFill>
                  <a:srgbClr val="A6B3CC"/>
                </a:solidFill>
                <a:latin typeface="Arial" pitchFamily="34" charset="0"/>
                <a:ea typeface="Arial" pitchFamily="34" charset="-122"/>
                <a:cs typeface="Arial" pitchFamily="34" charset="-120"/>
              </a:rPr>
              <a:t>AI STUDENT PERFORMANCE PREDICTION  ·  DECISION SUPPORT  ·  EXPLAINABLE AI</a:t>
            </a:r>
            <a:endParaRPr lang="en-US" sz="800" dirty="0"/>
          </a:p>
        </p:txBody>
      </p:sp>
      <p:sp>
        <p:nvSpPr>
          <p:cNvPr id="26" name="Text 24"/>
          <p:cNvSpPr txBox="1"/>
          <p:nvPr/>
        </p:nvSpPr>
        <p:spPr>
          <a:xfrm>
            <a:off x="11155680" y="6473952"/>
            <a:ext cx="411480" cy="201168"/>
          </a:xfrm>
          <a:prstGeom prst="rect">
            <a:avLst/>
          </a:prstGeom>
          <a:noFill/>
          <a:ln/>
        </p:spPr>
        <p:txBody>
          <a:bodyPr wrap="square" lIns="0" tIns="0" rIns="0" bIns="0" rtlCol="0" anchor="t"/>
          <a:lstStyle/>
          <a:p>
            <a:pPr algn="r" indent="0" marL="0">
              <a:buNone/>
            </a:pPr>
            <a:r>
              <a:rPr lang="en-US" sz="900" dirty="0">
                <a:solidFill>
                  <a:srgbClr val="A6B3CC"/>
                </a:solidFill>
                <a:latin typeface="Arial" pitchFamily="34" charset="0"/>
                <a:ea typeface="Arial" pitchFamily="34" charset="-122"/>
                <a:cs typeface="Arial" pitchFamily="34" charset="-120"/>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515600" cy="274320"/>
          </a:xfrm>
          <a:prstGeom prst="rect">
            <a:avLst/>
          </a:prstGeom>
          <a:noFill/>
          <a:ln/>
        </p:spPr>
        <p:txBody>
          <a:bodyPr wrap="square" lIns="0" tIns="0" rIns="0" bIns="0" rtlCol="0" anchor="t"/>
          <a:lstStyle/>
          <a:p>
            <a:pPr indent="0" marL="0">
              <a:buNone/>
            </a:pPr>
            <a:r>
              <a:rPr lang="en-US" sz="1100" b="1" spc="300" kern="0" dirty="0">
                <a:solidFill>
                  <a:srgbClr val="2F6FED"/>
                </a:solidFill>
                <a:latin typeface="Arial" pitchFamily="34" charset="0"/>
                <a:ea typeface="Arial" pitchFamily="34" charset="-122"/>
                <a:cs typeface="Arial" pitchFamily="34" charset="-120"/>
              </a:rPr>
              <a:t>RELATED WORK</a:t>
            </a:r>
            <a:endParaRPr lang="en-US" sz="1100" dirty="0"/>
          </a:p>
        </p:txBody>
      </p:sp>
      <p:sp>
        <p:nvSpPr>
          <p:cNvPr id="3" name="Text 1"/>
          <p:cNvSpPr txBox="1"/>
          <p:nvPr/>
        </p:nvSpPr>
        <p:spPr>
          <a:xfrm>
            <a:off x="640080" y="713232"/>
            <a:ext cx="10972800" cy="640080"/>
          </a:xfrm>
          <a:prstGeom prst="rect">
            <a:avLst/>
          </a:prstGeom>
          <a:noFill/>
          <a:ln/>
        </p:spPr>
        <p:txBody>
          <a:bodyPr wrap="square" lIns="0" tIns="0" rIns="0" bIns="0" rtlCol="0" anchor="ctr"/>
          <a:lstStyle/>
          <a:p>
            <a:pPr indent="0" marL="0">
              <a:buNone/>
            </a:pPr>
            <a:r>
              <a:rPr lang="en-US" sz="3000" b="1" dirty="0">
                <a:solidFill>
                  <a:srgbClr val="142850"/>
                </a:solidFill>
                <a:latin typeface="Cambria" pitchFamily="34" charset="0"/>
                <a:ea typeface="Cambria" pitchFamily="34" charset="-122"/>
                <a:cs typeface="Cambria" pitchFamily="34" charset="-120"/>
              </a:rPr>
              <a:t>Related work &amp; research gap</a:t>
            </a:r>
            <a:endParaRPr lang="en-US" sz="3000" dirty="0"/>
          </a:p>
        </p:txBody>
      </p:sp>
      <p:sp>
        <p:nvSpPr>
          <p:cNvPr id="4" name="Text 2"/>
          <p:cNvSpPr txBox="1"/>
          <p:nvPr/>
        </p:nvSpPr>
        <p:spPr>
          <a:xfrm>
            <a:off x="640080" y="1371600"/>
            <a:ext cx="10881360" cy="365760"/>
          </a:xfrm>
          <a:prstGeom prst="rect">
            <a:avLst/>
          </a:prstGeom>
          <a:noFill/>
          <a:ln/>
        </p:spPr>
        <p:txBody>
          <a:bodyPr wrap="square" lIns="0" tIns="0" rIns="0" bIns="0" rtlCol="0" anchor="t"/>
          <a:lstStyle/>
          <a:p>
            <a:pPr indent="0" marL="0">
              <a:buNone/>
            </a:pPr>
            <a:r>
              <a:rPr lang="en-US" sz="1400" dirty="0">
                <a:solidFill>
                  <a:srgbClr val="5B6B87"/>
                </a:solidFill>
                <a:latin typeface="Arial" pitchFamily="34" charset="0"/>
                <a:ea typeface="Arial" pitchFamily="34" charset="-122"/>
                <a:cs typeface="Arial" pitchFamily="34" charset="-120"/>
              </a:rPr>
              <a:t>Positioning of the implemented system. Literature citations are pending verification.</a:t>
            </a:r>
            <a:endParaRPr lang="en-US" sz="1400" dirty="0"/>
          </a:p>
        </p:txBody>
      </p:sp>
      <p:sp>
        <p:nvSpPr>
          <p:cNvPr id="5" name="Shape 3"/>
          <p:cNvSpPr/>
          <p:nvPr/>
        </p:nvSpPr>
        <p:spPr>
          <a:xfrm>
            <a:off x="640080" y="2011680"/>
            <a:ext cx="5212080" cy="3840480"/>
          </a:xfrm>
          <a:prstGeom prst="roundRect">
            <a:avLst>
              <a:gd name="adj" fmla="val 2857"/>
            </a:avLst>
          </a:prstGeom>
          <a:solidFill>
            <a:srgbClr val="FFFFFF"/>
          </a:solidFill>
          <a:ln w="19050">
            <a:solidFill>
              <a:srgbClr val="C27A12"/>
            </a:solidFill>
            <a:prstDash val="dash"/>
          </a:ln>
        </p:spPr>
      </p:sp>
      <p:sp>
        <p:nvSpPr>
          <p:cNvPr id="6" name="Text 4"/>
          <p:cNvSpPr txBox="1"/>
          <p:nvPr/>
        </p:nvSpPr>
        <p:spPr>
          <a:xfrm>
            <a:off x="914400" y="2286000"/>
            <a:ext cx="4754880" cy="502920"/>
          </a:xfrm>
          <a:prstGeom prst="rect">
            <a:avLst/>
          </a:prstGeom>
          <a:noFill/>
          <a:ln/>
        </p:spPr>
        <p:txBody>
          <a:bodyPr wrap="square" lIns="0" tIns="0" rIns="0" bIns="0" rtlCol="0" anchor="t"/>
          <a:lstStyle/>
          <a:p>
            <a:pPr indent="0" marL="0">
              <a:buNone/>
            </a:pPr>
            <a:r>
              <a:rPr lang="en-US" sz="1200" b="1" spc="100" kern="0" dirty="0">
                <a:solidFill>
                  <a:srgbClr val="C27A12"/>
                </a:solidFill>
                <a:latin typeface="Arial" pitchFamily="34" charset="0"/>
                <a:ea typeface="Arial" pitchFamily="34" charset="-122"/>
                <a:cs typeface="Arial" pitchFamily="34" charset="-120"/>
              </a:rPr>
              <a:t>VERIFIED REFERENCES REQUIRED BEFORE FINAL SUBMISSION</a:t>
            </a:r>
            <a:endParaRPr lang="en-US" sz="1200" dirty="0"/>
          </a:p>
        </p:txBody>
      </p:sp>
      <p:sp>
        <p:nvSpPr>
          <p:cNvPr id="7" name="Text 5"/>
          <p:cNvSpPr txBox="1"/>
          <p:nvPr/>
        </p:nvSpPr>
        <p:spPr>
          <a:xfrm>
            <a:off x="914400" y="2926080"/>
            <a:ext cx="4663440" cy="2743200"/>
          </a:xfrm>
          <a:prstGeom prst="rect">
            <a:avLst/>
          </a:prstGeom>
          <a:noFill/>
          <a:ln/>
        </p:spPr>
        <p:txBody>
          <a:bodyPr wrap="square" lIns="0" tIns="0" rIns="0" bIns="0" rtlCol="0" anchor="t"/>
          <a:lstStyle/>
          <a:p>
            <a:pPr marL="342900" indent="-342900">
              <a:spcAft>
                <a:spcPts val="1000"/>
              </a:spcAft>
              <a:buSzPct val="100000"/>
              <a:buChar char="•"/>
            </a:pPr>
            <a:r>
              <a:rPr lang="en-US" sz="1300" dirty="0">
                <a:solidFill>
                  <a:srgbClr val="1A2A4A"/>
                </a:solidFill>
                <a:latin typeface="Arial" pitchFamily="34" charset="0"/>
                <a:ea typeface="Arial" pitchFamily="34" charset="-122"/>
                <a:cs typeface="Arial" pitchFamily="34" charset="-120"/>
              </a:rPr>
              <a:t>The five studies listed in the earlier draft had no authors, titles, venues or DOIs and could not be verified, so they have been removed.</a:t>
            </a:r>
            <a:endParaRPr lang="en-US" sz="1300" dirty="0"/>
          </a:p>
          <a:p>
            <a:pPr marL="342900" indent="-342900">
              <a:spcAft>
                <a:spcPts val="1000"/>
              </a:spcAft>
              <a:buSzPct val="100000"/>
              <a:buChar char="•"/>
            </a:pPr>
            <a:r>
              <a:rPr lang="en-US" sz="1300" dirty="0">
                <a:solidFill>
                  <a:srgbClr val="1A2A4A"/>
                </a:solidFill>
                <a:latin typeface="Arial" pitchFamily="34" charset="0"/>
                <a:ea typeface="Arial" pitchFamily="34" charset="-122"/>
                <a:cs typeface="Arial" pitchFamily="34" charset="-120"/>
              </a:rPr>
              <a:t>Add peer-reviewed studies on student performance prediction, early-warning systems and explainable AI in education here once each source has been checked.</a:t>
            </a:r>
            <a:endParaRPr lang="en-US" sz="1300" dirty="0"/>
          </a:p>
          <a:p>
            <a:pPr marL="342900" indent="-342900">
              <a:spcAft>
                <a:spcPts val="1000"/>
              </a:spcAft>
              <a:buSzPct val="100000"/>
              <a:buChar char="•"/>
            </a:pPr>
            <a:r>
              <a:rPr lang="en-US" sz="1300" dirty="0">
                <a:solidFill>
                  <a:srgbClr val="1A2A4A"/>
                </a:solidFill>
                <a:latin typeface="Arial" pitchFamily="34" charset="0"/>
                <a:ea typeface="Arial" pitchFamily="34" charset="-122"/>
                <a:cs typeface="Arial" pitchFamily="34" charset="-120"/>
              </a:rPr>
              <a:t>The research-gap statement on the right should then be confirmed against those sources.</a:t>
            </a:r>
            <a:endParaRPr lang="en-US" sz="1300" dirty="0"/>
          </a:p>
        </p:txBody>
      </p:sp>
      <p:sp>
        <p:nvSpPr>
          <p:cNvPr id="8" name="Text 6"/>
          <p:cNvSpPr txBox="1"/>
          <p:nvPr/>
        </p:nvSpPr>
        <p:spPr>
          <a:xfrm>
            <a:off x="6309360" y="2011680"/>
            <a:ext cx="5303520" cy="274320"/>
          </a:xfrm>
          <a:prstGeom prst="rect">
            <a:avLst/>
          </a:prstGeom>
          <a:noFill/>
          <a:ln/>
        </p:spPr>
        <p:txBody>
          <a:bodyPr wrap="square" lIns="0" tIns="0" rIns="0" bIns="0" rtlCol="0" anchor="t"/>
          <a:lstStyle/>
          <a:p>
            <a:pPr indent="0" marL="0">
              <a:buNone/>
            </a:pPr>
            <a:r>
              <a:rPr lang="en-US" sz="1100" b="1" spc="200" kern="0" dirty="0">
                <a:solidFill>
                  <a:srgbClr val="2F6FED"/>
                </a:solidFill>
                <a:latin typeface="Arial" pitchFamily="34" charset="0"/>
                <a:ea typeface="Arial" pitchFamily="34" charset="-122"/>
                <a:cs typeface="Arial" pitchFamily="34" charset="-120"/>
              </a:rPr>
              <a:t>IMPLEMENTED COMBINATION IN THIS PROJECT</a:t>
            </a:r>
            <a:endParaRPr lang="en-US" sz="1100" dirty="0"/>
          </a:p>
        </p:txBody>
      </p:sp>
      <p:sp>
        <p:nvSpPr>
          <p:cNvPr id="9" name="Shape 7"/>
          <p:cNvSpPr/>
          <p:nvPr/>
        </p:nvSpPr>
        <p:spPr>
          <a:xfrm>
            <a:off x="6309360" y="2377440"/>
            <a:ext cx="5257800" cy="585216"/>
          </a:xfrm>
          <a:prstGeom prst="roundRect">
            <a:avLst>
              <a:gd name="adj" fmla="val 18750"/>
            </a:avLst>
          </a:prstGeom>
          <a:solidFill>
            <a:srgbClr val="E9F0FF"/>
          </a:solidFill>
          <a:ln w="9525">
            <a:solidFill>
              <a:srgbClr val="E9F0FF"/>
            </a:solidFill>
            <a:prstDash val="solid"/>
          </a:ln>
        </p:spPr>
      </p:sp>
      <p:sp>
        <p:nvSpPr>
          <p:cNvPr id="10" name="Text 8"/>
          <p:cNvSpPr txBox="1"/>
          <p:nvPr/>
        </p:nvSpPr>
        <p:spPr>
          <a:xfrm>
            <a:off x="6492240" y="2377440"/>
            <a:ext cx="274320" cy="585216"/>
          </a:xfrm>
          <a:prstGeom prst="rect">
            <a:avLst/>
          </a:prstGeom>
          <a:noFill/>
          <a:ln/>
        </p:spPr>
        <p:txBody>
          <a:bodyPr wrap="square" lIns="0" tIns="0" rIns="0" bIns="0" rtlCol="0" anchor="ctr"/>
          <a:lstStyle/>
          <a:p>
            <a:pPr indent="0" marL="0">
              <a:buNone/>
            </a:pPr>
            <a:r>
              <a:rPr lang="en-US" sz="1500" b="1" dirty="0">
                <a:solidFill>
                  <a:srgbClr val="1E9E64"/>
                </a:solidFill>
                <a:latin typeface="Arial" pitchFamily="34" charset="0"/>
                <a:ea typeface="Arial" pitchFamily="34" charset="-122"/>
                <a:cs typeface="Arial" pitchFamily="34" charset="-120"/>
              </a:rPr>
              <a:t>✓</a:t>
            </a:r>
            <a:endParaRPr lang="en-US" sz="1500" dirty="0"/>
          </a:p>
        </p:txBody>
      </p:sp>
      <p:sp>
        <p:nvSpPr>
          <p:cNvPr id="11" name="Text 9"/>
          <p:cNvSpPr txBox="1"/>
          <p:nvPr/>
        </p:nvSpPr>
        <p:spPr>
          <a:xfrm>
            <a:off x="6858000" y="2377440"/>
            <a:ext cx="2651760" cy="585216"/>
          </a:xfrm>
          <a:prstGeom prst="rect">
            <a:avLst/>
          </a:prstGeom>
          <a:noFill/>
          <a:ln/>
        </p:spPr>
        <p:txBody>
          <a:bodyPr wrap="square" lIns="0" tIns="0" rIns="0" bIns="0" rtlCol="0" anchor="ctr"/>
          <a:lstStyle/>
          <a:p>
            <a:pPr indent="0" marL="0">
              <a:buNone/>
            </a:pPr>
            <a:r>
              <a:rPr lang="en-US" sz="1300" b="1" dirty="0">
                <a:solidFill>
                  <a:srgbClr val="142850"/>
                </a:solidFill>
                <a:latin typeface="Arial" pitchFamily="34" charset="0"/>
                <a:ea typeface="Arial" pitchFamily="34" charset="-122"/>
                <a:cs typeface="Arial" pitchFamily="34" charset="-120"/>
              </a:rPr>
              <a:t>Performance prediction</a:t>
            </a:r>
            <a:endParaRPr lang="en-US" sz="1300" dirty="0"/>
          </a:p>
        </p:txBody>
      </p:sp>
      <p:sp>
        <p:nvSpPr>
          <p:cNvPr id="12" name="Text 10"/>
          <p:cNvSpPr txBox="1"/>
          <p:nvPr/>
        </p:nvSpPr>
        <p:spPr>
          <a:xfrm>
            <a:off x="9464040" y="2377440"/>
            <a:ext cx="2011680" cy="585216"/>
          </a:xfrm>
          <a:prstGeom prst="rect">
            <a:avLst/>
          </a:prstGeom>
          <a:noFill/>
          <a:ln/>
        </p:spPr>
        <p:txBody>
          <a:bodyPr wrap="square" lIns="0" tIns="0" rIns="0" bIns="0" rtlCol="0" anchor="ctr"/>
          <a:lstStyle/>
          <a:p>
            <a:pPr indent="0" marL="0">
              <a:buNone/>
            </a:pPr>
            <a:r>
              <a:rPr lang="en-US" sz="1100" dirty="0">
                <a:solidFill>
                  <a:srgbClr val="5B6B87"/>
                </a:solidFill>
                <a:latin typeface="Arial" pitchFamily="34" charset="0"/>
                <a:ea typeface="Arial" pitchFamily="34" charset="-122"/>
                <a:cs typeface="Arial" pitchFamily="34" charset="-120"/>
              </a:rPr>
              <a:t>Regression of final exam marks</a:t>
            </a:r>
            <a:endParaRPr lang="en-US" sz="1100" dirty="0"/>
          </a:p>
        </p:txBody>
      </p:sp>
      <p:sp>
        <p:nvSpPr>
          <p:cNvPr id="13" name="Shape 11"/>
          <p:cNvSpPr/>
          <p:nvPr/>
        </p:nvSpPr>
        <p:spPr>
          <a:xfrm>
            <a:off x="6309360" y="3072384"/>
            <a:ext cx="5257800" cy="585216"/>
          </a:xfrm>
          <a:prstGeom prst="roundRect">
            <a:avLst>
              <a:gd name="adj" fmla="val 18750"/>
            </a:avLst>
          </a:prstGeom>
          <a:solidFill>
            <a:srgbClr val="E9F0FF"/>
          </a:solidFill>
          <a:ln w="9525">
            <a:solidFill>
              <a:srgbClr val="E9F0FF"/>
            </a:solidFill>
            <a:prstDash val="solid"/>
          </a:ln>
        </p:spPr>
      </p:sp>
      <p:sp>
        <p:nvSpPr>
          <p:cNvPr id="14" name="Text 12"/>
          <p:cNvSpPr txBox="1"/>
          <p:nvPr/>
        </p:nvSpPr>
        <p:spPr>
          <a:xfrm>
            <a:off x="6492240" y="3072384"/>
            <a:ext cx="274320" cy="585216"/>
          </a:xfrm>
          <a:prstGeom prst="rect">
            <a:avLst/>
          </a:prstGeom>
          <a:noFill/>
          <a:ln/>
        </p:spPr>
        <p:txBody>
          <a:bodyPr wrap="square" lIns="0" tIns="0" rIns="0" bIns="0" rtlCol="0" anchor="ctr"/>
          <a:lstStyle/>
          <a:p>
            <a:pPr indent="0" marL="0">
              <a:buNone/>
            </a:pPr>
            <a:r>
              <a:rPr lang="en-US" sz="1500" b="1" dirty="0">
                <a:solidFill>
                  <a:srgbClr val="1E9E64"/>
                </a:solidFill>
                <a:latin typeface="Arial" pitchFamily="34" charset="0"/>
                <a:ea typeface="Arial" pitchFamily="34" charset="-122"/>
                <a:cs typeface="Arial" pitchFamily="34" charset="-120"/>
              </a:rPr>
              <a:t>✓</a:t>
            </a:r>
            <a:endParaRPr lang="en-US" sz="1500" dirty="0"/>
          </a:p>
        </p:txBody>
      </p:sp>
      <p:sp>
        <p:nvSpPr>
          <p:cNvPr id="15" name="Text 13"/>
          <p:cNvSpPr txBox="1"/>
          <p:nvPr/>
        </p:nvSpPr>
        <p:spPr>
          <a:xfrm>
            <a:off x="6858000" y="3072384"/>
            <a:ext cx="2651760" cy="585216"/>
          </a:xfrm>
          <a:prstGeom prst="rect">
            <a:avLst/>
          </a:prstGeom>
          <a:noFill/>
          <a:ln/>
        </p:spPr>
        <p:txBody>
          <a:bodyPr wrap="square" lIns="0" tIns="0" rIns="0" bIns="0" rtlCol="0" anchor="ctr"/>
          <a:lstStyle/>
          <a:p>
            <a:pPr indent="0" marL="0">
              <a:buNone/>
            </a:pPr>
            <a:r>
              <a:rPr lang="en-US" sz="1300" b="1" dirty="0">
                <a:solidFill>
                  <a:srgbClr val="142850"/>
                </a:solidFill>
                <a:latin typeface="Arial" pitchFamily="34" charset="0"/>
                <a:ea typeface="Arial" pitchFamily="34" charset="-122"/>
                <a:cs typeface="Arial" pitchFamily="34" charset="-120"/>
              </a:rPr>
              <a:t>Early-warning classification</a:t>
            </a:r>
            <a:endParaRPr lang="en-US" sz="1300" dirty="0"/>
          </a:p>
        </p:txBody>
      </p:sp>
      <p:sp>
        <p:nvSpPr>
          <p:cNvPr id="16" name="Text 14"/>
          <p:cNvSpPr txBox="1"/>
          <p:nvPr/>
        </p:nvSpPr>
        <p:spPr>
          <a:xfrm>
            <a:off x="9464040" y="3072384"/>
            <a:ext cx="2011680" cy="585216"/>
          </a:xfrm>
          <a:prstGeom prst="rect">
            <a:avLst/>
          </a:prstGeom>
          <a:noFill/>
          <a:ln/>
        </p:spPr>
        <p:txBody>
          <a:bodyPr wrap="square" lIns="0" tIns="0" rIns="0" bIns="0" rtlCol="0" anchor="ctr"/>
          <a:lstStyle/>
          <a:p>
            <a:pPr indent="0" marL="0">
              <a:buNone/>
            </a:pPr>
            <a:r>
              <a:rPr lang="en-US" sz="1100" dirty="0">
                <a:solidFill>
                  <a:srgbClr val="5B6B87"/>
                </a:solidFill>
                <a:latin typeface="Arial" pitchFamily="34" charset="0"/>
                <a:ea typeface="Arial" pitchFamily="34" charset="-122"/>
                <a:cs typeface="Arial" pitchFamily="34" charset="-120"/>
              </a:rPr>
              <a:t>Rule-based bands on predicted marks</a:t>
            </a:r>
            <a:endParaRPr lang="en-US" sz="1100" dirty="0"/>
          </a:p>
        </p:txBody>
      </p:sp>
      <p:sp>
        <p:nvSpPr>
          <p:cNvPr id="17" name="Shape 15"/>
          <p:cNvSpPr/>
          <p:nvPr/>
        </p:nvSpPr>
        <p:spPr>
          <a:xfrm>
            <a:off x="6309360" y="3767328"/>
            <a:ext cx="5257800" cy="585216"/>
          </a:xfrm>
          <a:prstGeom prst="roundRect">
            <a:avLst>
              <a:gd name="adj" fmla="val 18750"/>
            </a:avLst>
          </a:prstGeom>
          <a:solidFill>
            <a:srgbClr val="E9F0FF"/>
          </a:solidFill>
          <a:ln w="9525">
            <a:solidFill>
              <a:srgbClr val="E9F0FF"/>
            </a:solidFill>
            <a:prstDash val="solid"/>
          </a:ln>
        </p:spPr>
      </p:sp>
      <p:sp>
        <p:nvSpPr>
          <p:cNvPr id="18" name="Text 16"/>
          <p:cNvSpPr txBox="1"/>
          <p:nvPr/>
        </p:nvSpPr>
        <p:spPr>
          <a:xfrm>
            <a:off x="6492240" y="3767328"/>
            <a:ext cx="274320" cy="585216"/>
          </a:xfrm>
          <a:prstGeom prst="rect">
            <a:avLst/>
          </a:prstGeom>
          <a:noFill/>
          <a:ln/>
        </p:spPr>
        <p:txBody>
          <a:bodyPr wrap="square" lIns="0" tIns="0" rIns="0" bIns="0" rtlCol="0" anchor="ctr"/>
          <a:lstStyle/>
          <a:p>
            <a:pPr indent="0" marL="0">
              <a:buNone/>
            </a:pPr>
            <a:r>
              <a:rPr lang="en-US" sz="1500" b="1" dirty="0">
                <a:solidFill>
                  <a:srgbClr val="1E9E64"/>
                </a:solidFill>
                <a:latin typeface="Arial" pitchFamily="34" charset="0"/>
                <a:ea typeface="Arial" pitchFamily="34" charset="-122"/>
                <a:cs typeface="Arial" pitchFamily="34" charset="-120"/>
              </a:rPr>
              <a:t>✓</a:t>
            </a:r>
            <a:endParaRPr lang="en-US" sz="1500" dirty="0"/>
          </a:p>
        </p:txBody>
      </p:sp>
      <p:sp>
        <p:nvSpPr>
          <p:cNvPr id="19" name="Text 17"/>
          <p:cNvSpPr txBox="1"/>
          <p:nvPr/>
        </p:nvSpPr>
        <p:spPr>
          <a:xfrm>
            <a:off x="6858000" y="3767328"/>
            <a:ext cx="2651760" cy="585216"/>
          </a:xfrm>
          <a:prstGeom prst="rect">
            <a:avLst/>
          </a:prstGeom>
          <a:noFill/>
          <a:ln/>
        </p:spPr>
        <p:txBody>
          <a:bodyPr wrap="square" lIns="0" tIns="0" rIns="0" bIns="0" rtlCol="0" anchor="ctr"/>
          <a:lstStyle/>
          <a:p>
            <a:pPr indent="0" marL="0">
              <a:buNone/>
            </a:pPr>
            <a:r>
              <a:rPr lang="en-US" sz="1300" b="1" dirty="0">
                <a:solidFill>
                  <a:srgbClr val="142850"/>
                </a:solidFill>
                <a:latin typeface="Arial" pitchFamily="34" charset="0"/>
                <a:ea typeface="Arial" pitchFamily="34" charset="-122"/>
                <a:cs typeface="Arial" pitchFamily="34" charset="-120"/>
              </a:rPr>
              <a:t>SHAP explainability</a:t>
            </a:r>
            <a:endParaRPr lang="en-US" sz="1300" dirty="0"/>
          </a:p>
        </p:txBody>
      </p:sp>
      <p:sp>
        <p:nvSpPr>
          <p:cNvPr id="20" name="Text 18"/>
          <p:cNvSpPr txBox="1"/>
          <p:nvPr/>
        </p:nvSpPr>
        <p:spPr>
          <a:xfrm>
            <a:off x="9464040" y="3767328"/>
            <a:ext cx="2011680" cy="585216"/>
          </a:xfrm>
          <a:prstGeom prst="rect">
            <a:avLst/>
          </a:prstGeom>
          <a:noFill/>
          <a:ln/>
        </p:spPr>
        <p:txBody>
          <a:bodyPr wrap="square" lIns="0" tIns="0" rIns="0" bIns="0" rtlCol="0" anchor="ctr"/>
          <a:lstStyle/>
          <a:p>
            <a:pPr indent="0" marL="0">
              <a:buNone/>
            </a:pPr>
            <a:r>
              <a:rPr lang="en-US" sz="1100" dirty="0">
                <a:solidFill>
                  <a:srgbClr val="5B6B87"/>
                </a:solidFill>
                <a:latin typeface="Arial" pitchFamily="34" charset="0"/>
                <a:ea typeface="Arial" pitchFamily="34" charset="-122"/>
                <a:cs typeface="Arial" pitchFamily="34" charset="-120"/>
              </a:rPr>
              <a:t>Feature attribution for each prediction</a:t>
            </a:r>
            <a:endParaRPr lang="en-US" sz="1100" dirty="0"/>
          </a:p>
        </p:txBody>
      </p:sp>
      <p:sp>
        <p:nvSpPr>
          <p:cNvPr id="21" name="Shape 19"/>
          <p:cNvSpPr/>
          <p:nvPr/>
        </p:nvSpPr>
        <p:spPr>
          <a:xfrm>
            <a:off x="6309360" y="4462272"/>
            <a:ext cx="5257800" cy="585216"/>
          </a:xfrm>
          <a:prstGeom prst="roundRect">
            <a:avLst>
              <a:gd name="adj" fmla="val 18750"/>
            </a:avLst>
          </a:prstGeom>
          <a:solidFill>
            <a:srgbClr val="E9F0FF"/>
          </a:solidFill>
          <a:ln w="9525">
            <a:solidFill>
              <a:srgbClr val="E9F0FF"/>
            </a:solidFill>
            <a:prstDash val="solid"/>
          </a:ln>
        </p:spPr>
      </p:sp>
      <p:sp>
        <p:nvSpPr>
          <p:cNvPr id="22" name="Text 20"/>
          <p:cNvSpPr txBox="1"/>
          <p:nvPr/>
        </p:nvSpPr>
        <p:spPr>
          <a:xfrm>
            <a:off x="6492240" y="4462272"/>
            <a:ext cx="274320" cy="585216"/>
          </a:xfrm>
          <a:prstGeom prst="rect">
            <a:avLst/>
          </a:prstGeom>
          <a:noFill/>
          <a:ln/>
        </p:spPr>
        <p:txBody>
          <a:bodyPr wrap="square" lIns="0" tIns="0" rIns="0" bIns="0" rtlCol="0" anchor="ctr"/>
          <a:lstStyle/>
          <a:p>
            <a:pPr indent="0" marL="0">
              <a:buNone/>
            </a:pPr>
            <a:r>
              <a:rPr lang="en-US" sz="1500" b="1" dirty="0">
                <a:solidFill>
                  <a:srgbClr val="1E9E64"/>
                </a:solidFill>
                <a:latin typeface="Arial" pitchFamily="34" charset="0"/>
                <a:ea typeface="Arial" pitchFamily="34" charset="-122"/>
                <a:cs typeface="Arial" pitchFamily="34" charset="-120"/>
              </a:rPr>
              <a:t>✓</a:t>
            </a:r>
            <a:endParaRPr lang="en-US" sz="1500" dirty="0"/>
          </a:p>
        </p:txBody>
      </p:sp>
      <p:sp>
        <p:nvSpPr>
          <p:cNvPr id="23" name="Text 21"/>
          <p:cNvSpPr txBox="1"/>
          <p:nvPr/>
        </p:nvSpPr>
        <p:spPr>
          <a:xfrm>
            <a:off x="6858000" y="4462272"/>
            <a:ext cx="2651760" cy="585216"/>
          </a:xfrm>
          <a:prstGeom prst="rect">
            <a:avLst/>
          </a:prstGeom>
          <a:noFill/>
          <a:ln/>
        </p:spPr>
        <p:txBody>
          <a:bodyPr wrap="square" lIns="0" tIns="0" rIns="0" bIns="0" rtlCol="0" anchor="ctr"/>
          <a:lstStyle/>
          <a:p>
            <a:pPr indent="0" marL="0">
              <a:buNone/>
            </a:pPr>
            <a:r>
              <a:rPr lang="en-US" sz="1300" b="1" dirty="0">
                <a:solidFill>
                  <a:srgbClr val="142850"/>
                </a:solidFill>
                <a:latin typeface="Arial" pitchFamily="34" charset="0"/>
                <a:ea typeface="Arial" pitchFamily="34" charset="-122"/>
                <a:cs typeface="Arial" pitchFamily="34" charset="-120"/>
              </a:rPr>
              <a:t>Feature-level recommendations</a:t>
            </a:r>
            <a:endParaRPr lang="en-US" sz="1300" dirty="0"/>
          </a:p>
        </p:txBody>
      </p:sp>
      <p:sp>
        <p:nvSpPr>
          <p:cNvPr id="24" name="Text 22"/>
          <p:cNvSpPr txBox="1"/>
          <p:nvPr/>
        </p:nvSpPr>
        <p:spPr>
          <a:xfrm>
            <a:off x="9464040" y="4462272"/>
            <a:ext cx="2011680" cy="585216"/>
          </a:xfrm>
          <a:prstGeom prst="rect">
            <a:avLst/>
          </a:prstGeom>
          <a:noFill/>
          <a:ln/>
        </p:spPr>
        <p:txBody>
          <a:bodyPr wrap="square" lIns="0" tIns="0" rIns="0" bIns="0" rtlCol="0" anchor="ctr"/>
          <a:lstStyle/>
          <a:p>
            <a:pPr indent="0" marL="0">
              <a:buNone/>
            </a:pPr>
            <a:r>
              <a:rPr lang="en-US" sz="1100" dirty="0">
                <a:solidFill>
                  <a:srgbClr val="5B6B87"/>
                </a:solidFill>
                <a:latin typeface="Arial" pitchFamily="34" charset="0"/>
                <a:ea typeface="Arial" pitchFamily="34" charset="-122"/>
                <a:cs typeface="Arial" pitchFamily="34" charset="-120"/>
              </a:rPr>
              <a:t>Guided by SHAP contributions</a:t>
            </a:r>
            <a:endParaRPr lang="en-US" sz="1100" dirty="0"/>
          </a:p>
        </p:txBody>
      </p:sp>
      <p:sp>
        <p:nvSpPr>
          <p:cNvPr id="25" name="Shape 23"/>
          <p:cNvSpPr/>
          <p:nvPr/>
        </p:nvSpPr>
        <p:spPr>
          <a:xfrm>
            <a:off x="6309360" y="5157216"/>
            <a:ext cx="5257800" cy="585216"/>
          </a:xfrm>
          <a:prstGeom prst="roundRect">
            <a:avLst>
              <a:gd name="adj" fmla="val 18750"/>
            </a:avLst>
          </a:prstGeom>
          <a:solidFill>
            <a:srgbClr val="E9F0FF"/>
          </a:solidFill>
          <a:ln w="9525">
            <a:solidFill>
              <a:srgbClr val="E9F0FF"/>
            </a:solidFill>
            <a:prstDash val="solid"/>
          </a:ln>
        </p:spPr>
      </p:sp>
      <p:sp>
        <p:nvSpPr>
          <p:cNvPr id="26" name="Text 24"/>
          <p:cNvSpPr txBox="1"/>
          <p:nvPr/>
        </p:nvSpPr>
        <p:spPr>
          <a:xfrm>
            <a:off x="6492240" y="5157216"/>
            <a:ext cx="274320" cy="585216"/>
          </a:xfrm>
          <a:prstGeom prst="rect">
            <a:avLst/>
          </a:prstGeom>
          <a:noFill/>
          <a:ln/>
        </p:spPr>
        <p:txBody>
          <a:bodyPr wrap="square" lIns="0" tIns="0" rIns="0" bIns="0" rtlCol="0" anchor="ctr"/>
          <a:lstStyle/>
          <a:p>
            <a:pPr indent="0" marL="0">
              <a:buNone/>
            </a:pPr>
            <a:r>
              <a:rPr lang="en-US" sz="1500" b="1" dirty="0">
                <a:solidFill>
                  <a:srgbClr val="1E9E64"/>
                </a:solidFill>
                <a:latin typeface="Arial" pitchFamily="34" charset="0"/>
                <a:ea typeface="Arial" pitchFamily="34" charset="-122"/>
                <a:cs typeface="Arial" pitchFamily="34" charset="-120"/>
              </a:rPr>
              <a:t>✓</a:t>
            </a:r>
            <a:endParaRPr lang="en-US" sz="1500" dirty="0"/>
          </a:p>
        </p:txBody>
      </p:sp>
      <p:sp>
        <p:nvSpPr>
          <p:cNvPr id="27" name="Text 25"/>
          <p:cNvSpPr txBox="1"/>
          <p:nvPr/>
        </p:nvSpPr>
        <p:spPr>
          <a:xfrm>
            <a:off x="6858000" y="5157216"/>
            <a:ext cx="2651760" cy="585216"/>
          </a:xfrm>
          <a:prstGeom prst="rect">
            <a:avLst/>
          </a:prstGeom>
          <a:noFill/>
          <a:ln/>
        </p:spPr>
        <p:txBody>
          <a:bodyPr wrap="square" lIns="0" tIns="0" rIns="0" bIns="0" rtlCol="0" anchor="ctr"/>
          <a:lstStyle/>
          <a:p>
            <a:pPr indent="0" marL="0">
              <a:buNone/>
            </a:pPr>
            <a:r>
              <a:rPr lang="en-US" sz="1300" b="1" dirty="0">
                <a:solidFill>
                  <a:srgbClr val="142850"/>
                </a:solidFill>
                <a:latin typeface="Arial" pitchFamily="34" charset="0"/>
                <a:ea typeface="Arial" pitchFamily="34" charset="-122"/>
                <a:cs typeface="Arial" pitchFamily="34" charset="-120"/>
              </a:rPr>
              <a:t>What-If scenario analysis</a:t>
            </a:r>
            <a:endParaRPr lang="en-US" sz="1300" dirty="0"/>
          </a:p>
        </p:txBody>
      </p:sp>
      <p:sp>
        <p:nvSpPr>
          <p:cNvPr id="28" name="Text 26"/>
          <p:cNvSpPr txBox="1"/>
          <p:nvPr/>
        </p:nvSpPr>
        <p:spPr>
          <a:xfrm>
            <a:off x="9464040" y="5157216"/>
            <a:ext cx="2011680" cy="585216"/>
          </a:xfrm>
          <a:prstGeom prst="rect">
            <a:avLst/>
          </a:prstGeom>
          <a:noFill/>
          <a:ln/>
        </p:spPr>
        <p:txBody>
          <a:bodyPr wrap="square" lIns="0" tIns="0" rIns="0" bIns="0" rtlCol="0" anchor="ctr"/>
          <a:lstStyle/>
          <a:p>
            <a:pPr indent="0" marL="0">
              <a:buNone/>
            </a:pPr>
            <a:r>
              <a:rPr lang="en-US" sz="1100" dirty="0">
                <a:solidFill>
                  <a:srgbClr val="5B6B87"/>
                </a:solidFill>
                <a:latin typeface="Arial" pitchFamily="34" charset="0"/>
                <a:ea typeface="Arial" pitchFamily="34" charset="-122"/>
                <a:cs typeface="Arial" pitchFamily="34" charset="-120"/>
              </a:rPr>
              <a:t>Comparison of model predictions</a:t>
            </a:r>
            <a:endParaRPr lang="en-US" sz="1100" dirty="0"/>
          </a:p>
        </p:txBody>
      </p:sp>
      <p:sp>
        <p:nvSpPr>
          <p:cNvPr id="29" name="Text 27"/>
          <p:cNvSpPr txBox="1"/>
          <p:nvPr/>
        </p:nvSpPr>
        <p:spPr>
          <a:xfrm>
            <a:off x="640080" y="6473952"/>
            <a:ext cx="7315200" cy="201168"/>
          </a:xfrm>
          <a:prstGeom prst="rect">
            <a:avLst/>
          </a:prstGeom>
          <a:noFill/>
          <a:ln/>
        </p:spPr>
        <p:txBody>
          <a:bodyPr wrap="square" lIns="0" tIns="0" rIns="0" bIns="0" rtlCol="0" anchor="t"/>
          <a:lstStyle/>
          <a:p>
            <a:pPr indent="0" marL="0">
              <a:buNone/>
            </a:pPr>
            <a:r>
              <a:rPr lang="en-US" sz="800" spc="200" kern="0" dirty="0">
                <a:solidFill>
                  <a:srgbClr val="A6B3CC"/>
                </a:solidFill>
                <a:latin typeface="Arial" pitchFamily="34" charset="0"/>
                <a:ea typeface="Arial" pitchFamily="34" charset="-122"/>
                <a:cs typeface="Arial" pitchFamily="34" charset="-120"/>
              </a:rPr>
              <a:t>AI STUDENT PERFORMANCE PREDICTION  ·  DECISION SUPPORT  ·  EXPLAINABLE AI</a:t>
            </a:r>
            <a:endParaRPr lang="en-US" sz="800" dirty="0"/>
          </a:p>
        </p:txBody>
      </p:sp>
      <p:sp>
        <p:nvSpPr>
          <p:cNvPr id="30" name="Text 28"/>
          <p:cNvSpPr txBox="1"/>
          <p:nvPr/>
        </p:nvSpPr>
        <p:spPr>
          <a:xfrm>
            <a:off x="11155680" y="6473952"/>
            <a:ext cx="411480" cy="201168"/>
          </a:xfrm>
          <a:prstGeom prst="rect">
            <a:avLst/>
          </a:prstGeom>
          <a:noFill/>
          <a:ln/>
        </p:spPr>
        <p:txBody>
          <a:bodyPr wrap="square" lIns="0" tIns="0" rIns="0" bIns="0" rtlCol="0" anchor="t"/>
          <a:lstStyle/>
          <a:p>
            <a:pPr algn="r" indent="0" marL="0">
              <a:buNone/>
            </a:pPr>
            <a:r>
              <a:rPr lang="en-US" sz="900" dirty="0">
                <a:solidFill>
                  <a:srgbClr val="A6B3CC"/>
                </a:solidFill>
                <a:latin typeface="Arial" pitchFamily="34" charset="0"/>
                <a:ea typeface="Arial" pitchFamily="34" charset="-122"/>
                <a:cs typeface="Arial" pitchFamily="34" charset="-120"/>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515600" cy="274320"/>
          </a:xfrm>
          <a:prstGeom prst="rect">
            <a:avLst/>
          </a:prstGeom>
          <a:noFill/>
          <a:ln/>
        </p:spPr>
        <p:txBody>
          <a:bodyPr wrap="square" lIns="0" tIns="0" rIns="0" bIns="0" rtlCol="0" anchor="t"/>
          <a:lstStyle/>
          <a:p>
            <a:pPr indent="0" marL="0">
              <a:buNone/>
            </a:pPr>
            <a:r>
              <a:rPr lang="en-US" sz="1100" b="1" spc="300" kern="0" dirty="0">
                <a:solidFill>
                  <a:srgbClr val="2F6FED"/>
                </a:solidFill>
                <a:latin typeface="Arial" pitchFamily="34" charset="0"/>
                <a:ea typeface="Arial" pitchFamily="34" charset="-122"/>
                <a:cs typeface="Arial" pitchFamily="34" charset="-120"/>
              </a:rPr>
              <a:t>PROJECT OBJECTIVES</a:t>
            </a:r>
            <a:endParaRPr lang="en-US" sz="1100" dirty="0"/>
          </a:p>
        </p:txBody>
      </p:sp>
      <p:sp>
        <p:nvSpPr>
          <p:cNvPr id="3" name="Text 1"/>
          <p:cNvSpPr txBox="1"/>
          <p:nvPr/>
        </p:nvSpPr>
        <p:spPr>
          <a:xfrm>
            <a:off x="640080" y="713232"/>
            <a:ext cx="10972800" cy="640080"/>
          </a:xfrm>
          <a:prstGeom prst="rect">
            <a:avLst/>
          </a:prstGeom>
          <a:noFill/>
          <a:ln/>
        </p:spPr>
        <p:txBody>
          <a:bodyPr wrap="square" lIns="0" tIns="0" rIns="0" bIns="0" rtlCol="0" anchor="ctr"/>
          <a:lstStyle/>
          <a:p>
            <a:pPr indent="0" marL="0">
              <a:buNone/>
            </a:pPr>
            <a:r>
              <a:rPr lang="en-US" sz="3000" b="1" dirty="0">
                <a:solidFill>
                  <a:srgbClr val="142850"/>
                </a:solidFill>
                <a:latin typeface="Cambria" pitchFamily="34" charset="0"/>
                <a:ea typeface="Cambria" pitchFamily="34" charset="-122"/>
                <a:cs typeface="Cambria" pitchFamily="34" charset="-120"/>
              </a:rPr>
              <a:t>What the system is designed to do</a:t>
            </a:r>
            <a:endParaRPr lang="en-US" sz="3000" dirty="0"/>
          </a:p>
        </p:txBody>
      </p:sp>
      <p:sp>
        <p:nvSpPr>
          <p:cNvPr id="4" name="Text 2"/>
          <p:cNvSpPr txBox="1"/>
          <p:nvPr/>
        </p:nvSpPr>
        <p:spPr>
          <a:xfrm>
            <a:off x="640080" y="1371600"/>
            <a:ext cx="10881360" cy="365760"/>
          </a:xfrm>
          <a:prstGeom prst="rect">
            <a:avLst/>
          </a:prstGeom>
          <a:noFill/>
          <a:ln/>
        </p:spPr>
        <p:txBody>
          <a:bodyPr wrap="square" lIns="0" tIns="0" rIns="0" bIns="0" rtlCol="0" anchor="t"/>
          <a:lstStyle/>
          <a:p>
            <a:pPr indent="0" marL="0">
              <a:buNone/>
            </a:pPr>
            <a:r>
              <a:rPr lang="en-US" sz="1400" dirty="0">
                <a:solidFill>
                  <a:srgbClr val="5B6B87"/>
                </a:solidFill>
                <a:latin typeface="Arial" pitchFamily="34" charset="0"/>
                <a:ea typeface="Arial" pitchFamily="34" charset="-122"/>
                <a:cs typeface="Arial" pitchFamily="34" charset="-120"/>
              </a:rPr>
              <a:t>All five objectives are implemented in the current system.</a:t>
            </a:r>
            <a:endParaRPr lang="en-US" sz="1400" dirty="0"/>
          </a:p>
        </p:txBody>
      </p:sp>
      <p:sp>
        <p:nvSpPr>
          <p:cNvPr id="5" name="Shape 3"/>
          <p:cNvSpPr/>
          <p:nvPr/>
        </p:nvSpPr>
        <p:spPr>
          <a:xfrm>
            <a:off x="640080" y="2194560"/>
            <a:ext cx="2048256" cy="2697480"/>
          </a:xfrm>
          <a:prstGeom prst="roundRect">
            <a:avLst>
              <a:gd name="adj" fmla="val 5357"/>
            </a:avLst>
          </a:prstGeom>
          <a:solidFill>
            <a:srgbClr val="F4F7FE"/>
          </a:solidFill>
          <a:ln w="9525">
            <a:solidFill>
              <a:srgbClr val="D8E1F5"/>
            </a:solidFill>
            <a:prstDash val="solid"/>
          </a:ln>
        </p:spPr>
      </p:sp>
      <p:sp>
        <p:nvSpPr>
          <p:cNvPr id="6" name="Shape 4"/>
          <p:cNvSpPr/>
          <p:nvPr/>
        </p:nvSpPr>
        <p:spPr>
          <a:xfrm>
            <a:off x="914400" y="2468880"/>
            <a:ext cx="548640" cy="548640"/>
          </a:xfrm>
          <a:prstGeom prst="ellipse">
            <a:avLst/>
          </a:prstGeom>
          <a:solidFill>
            <a:srgbClr val="2F6FED"/>
          </a:solidFill>
          <a:ln w="6350">
            <a:solidFill>
              <a:srgbClr val="2F6FED"/>
            </a:solidFill>
            <a:prstDash val="solid"/>
          </a:ln>
        </p:spPr>
      </p:sp>
      <p:sp>
        <p:nvSpPr>
          <p:cNvPr id="7" name="Text 5"/>
          <p:cNvSpPr txBox="1"/>
          <p:nvPr/>
        </p:nvSpPr>
        <p:spPr>
          <a:xfrm>
            <a:off x="914400" y="2468880"/>
            <a:ext cx="548640"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8" name="Text 6"/>
          <p:cNvSpPr txBox="1"/>
          <p:nvPr/>
        </p:nvSpPr>
        <p:spPr>
          <a:xfrm>
            <a:off x="914400" y="3246120"/>
            <a:ext cx="1591056" cy="411480"/>
          </a:xfrm>
          <a:prstGeom prst="rect">
            <a:avLst/>
          </a:prstGeom>
          <a:noFill/>
          <a:ln/>
        </p:spPr>
        <p:txBody>
          <a:bodyPr wrap="square" lIns="0" tIns="0" rIns="0" bIns="0" rtlCol="0" anchor="t"/>
          <a:lstStyle/>
          <a:p>
            <a:pPr indent="0" marL="0">
              <a:buNone/>
            </a:pPr>
            <a:r>
              <a:rPr lang="en-US" sz="1800" b="1" dirty="0">
                <a:solidFill>
                  <a:srgbClr val="142850"/>
                </a:solidFill>
                <a:latin typeface="Cambria" pitchFamily="34" charset="0"/>
                <a:ea typeface="Cambria" pitchFamily="34" charset="-122"/>
                <a:cs typeface="Cambria" pitchFamily="34" charset="-120"/>
              </a:rPr>
              <a:t>Predict</a:t>
            </a:r>
            <a:endParaRPr lang="en-US" sz="1800" dirty="0"/>
          </a:p>
        </p:txBody>
      </p:sp>
      <p:sp>
        <p:nvSpPr>
          <p:cNvPr id="9" name="Text 7"/>
          <p:cNvSpPr txBox="1"/>
          <p:nvPr/>
        </p:nvSpPr>
        <p:spPr>
          <a:xfrm>
            <a:off x="914400" y="3749040"/>
            <a:ext cx="1545336" cy="1371600"/>
          </a:xfrm>
          <a:prstGeom prst="rect">
            <a:avLst/>
          </a:prstGeom>
          <a:noFill/>
          <a:ln/>
        </p:spPr>
        <p:txBody>
          <a:bodyPr wrap="square" lIns="0" tIns="0" rIns="0" bIns="0" rtlCol="0" anchor="t"/>
          <a:lstStyle/>
          <a:p>
            <a:pPr indent="0" marL="0">
              <a:buNone/>
            </a:pPr>
            <a:r>
              <a:rPr lang="en-US" sz="1300" dirty="0">
                <a:solidFill>
                  <a:srgbClr val="5B6B87"/>
                </a:solidFill>
                <a:latin typeface="Arial" pitchFamily="34" charset="0"/>
                <a:ea typeface="Arial" pitchFamily="34" charset="-122"/>
                <a:cs typeface="Arial" pitchFamily="34" charset="-120"/>
              </a:rPr>
              <a:t>Predict final exam marks from early academic indicators.</a:t>
            </a:r>
            <a:endParaRPr lang="en-US" sz="1300" dirty="0"/>
          </a:p>
        </p:txBody>
      </p:sp>
      <p:sp>
        <p:nvSpPr>
          <p:cNvPr id="10" name="Shape 8"/>
          <p:cNvSpPr/>
          <p:nvPr/>
        </p:nvSpPr>
        <p:spPr>
          <a:xfrm>
            <a:off x="2871216" y="2194560"/>
            <a:ext cx="2048256" cy="2697480"/>
          </a:xfrm>
          <a:prstGeom prst="roundRect">
            <a:avLst>
              <a:gd name="adj" fmla="val 5357"/>
            </a:avLst>
          </a:prstGeom>
          <a:solidFill>
            <a:srgbClr val="F4F7FE"/>
          </a:solidFill>
          <a:ln w="9525">
            <a:solidFill>
              <a:srgbClr val="D8E1F5"/>
            </a:solidFill>
            <a:prstDash val="solid"/>
          </a:ln>
        </p:spPr>
      </p:sp>
      <p:sp>
        <p:nvSpPr>
          <p:cNvPr id="11" name="Shape 9"/>
          <p:cNvSpPr/>
          <p:nvPr/>
        </p:nvSpPr>
        <p:spPr>
          <a:xfrm>
            <a:off x="3145536" y="2468880"/>
            <a:ext cx="548640" cy="548640"/>
          </a:xfrm>
          <a:prstGeom prst="ellipse">
            <a:avLst/>
          </a:prstGeom>
          <a:solidFill>
            <a:srgbClr val="2F6FED"/>
          </a:solidFill>
          <a:ln w="6350">
            <a:solidFill>
              <a:srgbClr val="2F6FED"/>
            </a:solidFill>
            <a:prstDash val="solid"/>
          </a:ln>
        </p:spPr>
      </p:sp>
      <p:sp>
        <p:nvSpPr>
          <p:cNvPr id="12" name="Text 10"/>
          <p:cNvSpPr txBox="1"/>
          <p:nvPr/>
        </p:nvSpPr>
        <p:spPr>
          <a:xfrm>
            <a:off x="3145536" y="2468880"/>
            <a:ext cx="548640"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3" name="Text 11"/>
          <p:cNvSpPr txBox="1"/>
          <p:nvPr/>
        </p:nvSpPr>
        <p:spPr>
          <a:xfrm>
            <a:off x="3145536" y="3246120"/>
            <a:ext cx="1591056" cy="411480"/>
          </a:xfrm>
          <a:prstGeom prst="rect">
            <a:avLst/>
          </a:prstGeom>
          <a:noFill/>
          <a:ln/>
        </p:spPr>
        <p:txBody>
          <a:bodyPr wrap="square" lIns="0" tIns="0" rIns="0" bIns="0" rtlCol="0" anchor="t"/>
          <a:lstStyle/>
          <a:p>
            <a:pPr indent="0" marL="0">
              <a:buNone/>
            </a:pPr>
            <a:r>
              <a:rPr lang="en-US" sz="1800" b="1" dirty="0">
                <a:solidFill>
                  <a:srgbClr val="142850"/>
                </a:solidFill>
                <a:latin typeface="Cambria" pitchFamily="34" charset="0"/>
                <a:ea typeface="Cambria" pitchFamily="34" charset="-122"/>
                <a:cs typeface="Cambria" pitchFamily="34" charset="-120"/>
              </a:rPr>
              <a:t>Identify</a:t>
            </a:r>
            <a:endParaRPr lang="en-US" sz="1800" dirty="0"/>
          </a:p>
        </p:txBody>
      </p:sp>
      <p:sp>
        <p:nvSpPr>
          <p:cNvPr id="14" name="Text 12"/>
          <p:cNvSpPr txBox="1"/>
          <p:nvPr/>
        </p:nvSpPr>
        <p:spPr>
          <a:xfrm>
            <a:off x="3145536" y="3749040"/>
            <a:ext cx="1545336" cy="1371600"/>
          </a:xfrm>
          <a:prstGeom prst="rect">
            <a:avLst/>
          </a:prstGeom>
          <a:noFill/>
          <a:ln/>
        </p:spPr>
        <p:txBody>
          <a:bodyPr wrap="square" lIns="0" tIns="0" rIns="0" bIns="0" rtlCol="0" anchor="t"/>
          <a:lstStyle/>
          <a:p>
            <a:pPr indent="0" marL="0">
              <a:buNone/>
            </a:pPr>
            <a:r>
              <a:rPr lang="en-US" sz="1300" dirty="0">
                <a:solidFill>
                  <a:srgbClr val="5B6B87"/>
                </a:solidFill>
                <a:latin typeface="Arial" pitchFamily="34" charset="0"/>
                <a:ea typeface="Arial" pitchFamily="34" charset="-122"/>
                <a:cs typeface="Arial" pitchFamily="34" charset="-120"/>
              </a:rPr>
              <a:t>Identify students falling into defined early-warning bands.</a:t>
            </a:r>
            <a:endParaRPr lang="en-US" sz="1300" dirty="0"/>
          </a:p>
        </p:txBody>
      </p:sp>
      <p:sp>
        <p:nvSpPr>
          <p:cNvPr id="15" name="Shape 13"/>
          <p:cNvSpPr/>
          <p:nvPr/>
        </p:nvSpPr>
        <p:spPr>
          <a:xfrm>
            <a:off x="5102352" y="2194560"/>
            <a:ext cx="2048256" cy="2697480"/>
          </a:xfrm>
          <a:prstGeom prst="roundRect">
            <a:avLst>
              <a:gd name="adj" fmla="val 5357"/>
            </a:avLst>
          </a:prstGeom>
          <a:solidFill>
            <a:srgbClr val="F4F7FE"/>
          </a:solidFill>
          <a:ln w="9525">
            <a:solidFill>
              <a:srgbClr val="D8E1F5"/>
            </a:solidFill>
            <a:prstDash val="solid"/>
          </a:ln>
        </p:spPr>
      </p:sp>
      <p:sp>
        <p:nvSpPr>
          <p:cNvPr id="16" name="Shape 14"/>
          <p:cNvSpPr/>
          <p:nvPr/>
        </p:nvSpPr>
        <p:spPr>
          <a:xfrm>
            <a:off x="5376672" y="2468880"/>
            <a:ext cx="548640" cy="548640"/>
          </a:xfrm>
          <a:prstGeom prst="ellipse">
            <a:avLst/>
          </a:prstGeom>
          <a:solidFill>
            <a:srgbClr val="2F6FED"/>
          </a:solidFill>
          <a:ln w="6350">
            <a:solidFill>
              <a:srgbClr val="2F6FED"/>
            </a:solidFill>
            <a:prstDash val="solid"/>
          </a:ln>
        </p:spPr>
      </p:sp>
      <p:sp>
        <p:nvSpPr>
          <p:cNvPr id="17" name="Text 15"/>
          <p:cNvSpPr txBox="1"/>
          <p:nvPr/>
        </p:nvSpPr>
        <p:spPr>
          <a:xfrm>
            <a:off x="5376672" y="2468880"/>
            <a:ext cx="548640"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8" name="Text 16"/>
          <p:cNvSpPr txBox="1"/>
          <p:nvPr/>
        </p:nvSpPr>
        <p:spPr>
          <a:xfrm>
            <a:off x="5376672" y="3246120"/>
            <a:ext cx="1591056" cy="411480"/>
          </a:xfrm>
          <a:prstGeom prst="rect">
            <a:avLst/>
          </a:prstGeom>
          <a:noFill/>
          <a:ln/>
        </p:spPr>
        <p:txBody>
          <a:bodyPr wrap="square" lIns="0" tIns="0" rIns="0" bIns="0" rtlCol="0" anchor="t"/>
          <a:lstStyle/>
          <a:p>
            <a:pPr indent="0" marL="0">
              <a:buNone/>
            </a:pPr>
            <a:r>
              <a:rPr lang="en-US" sz="1800" b="1" dirty="0">
                <a:solidFill>
                  <a:srgbClr val="142850"/>
                </a:solidFill>
                <a:latin typeface="Cambria" pitchFamily="34" charset="0"/>
                <a:ea typeface="Cambria" pitchFamily="34" charset="-122"/>
                <a:cs typeface="Cambria" pitchFamily="34" charset="-120"/>
              </a:rPr>
              <a:t>Explain</a:t>
            </a:r>
            <a:endParaRPr lang="en-US" sz="1800" dirty="0"/>
          </a:p>
        </p:txBody>
      </p:sp>
      <p:sp>
        <p:nvSpPr>
          <p:cNvPr id="19" name="Text 17"/>
          <p:cNvSpPr txBox="1"/>
          <p:nvPr/>
        </p:nvSpPr>
        <p:spPr>
          <a:xfrm>
            <a:off x="5376672" y="3749040"/>
            <a:ext cx="1545336" cy="1371600"/>
          </a:xfrm>
          <a:prstGeom prst="rect">
            <a:avLst/>
          </a:prstGeom>
          <a:noFill/>
          <a:ln/>
        </p:spPr>
        <p:txBody>
          <a:bodyPr wrap="square" lIns="0" tIns="0" rIns="0" bIns="0" rtlCol="0" anchor="t"/>
          <a:lstStyle/>
          <a:p>
            <a:pPr indent="0" marL="0">
              <a:buNone/>
            </a:pPr>
            <a:r>
              <a:rPr lang="en-US" sz="1300" dirty="0">
                <a:solidFill>
                  <a:srgbClr val="5B6B87"/>
                </a:solidFill>
                <a:latin typeface="Arial" pitchFamily="34" charset="0"/>
                <a:ea typeface="Arial" pitchFamily="34" charset="-122"/>
                <a:cs typeface="Arial" pitchFamily="34" charset="-120"/>
              </a:rPr>
              <a:t>Explain each prediction using SHAP feature contributions.</a:t>
            </a:r>
            <a:endParaRPr lang="en-US" sz="1300" dirty="0"/>
          </a:p>
        </p:txBody>
      </p:sp>
      <p:sp>
        <p:nvSpPr>
          <p:cNvPr id="20" name="Shape 18"/>
          <p:cNvSpPr/>
          <p:nvPr/>
        </p:nvSpPr>
        <p:spPr>
          <a:xfrm>
            <a:off x="7333488" y="2194560"/>
            <a:ext cx="2048256" cy="2697480"/>
          </a:xfrm>
          <a:prstGeom prst="roundRect">
            <a:avLst>
              <a:gd name="adj" fmla="val 5357"/>
            </a:avLst>
          </a:prstGeom>
          <a:solidFill>
            <a:srgbClr val="F4F7FE"/>
          </a:solidFill>
          <a:ln w="9525">
            <a:solidFill>
              <a:srgbClr val="D8E1F5"/>
            </a:solidFill>
            <a:prstDash val="solid"/>
          </a:ln>
        </p:spPr>
      </p:sp>
      <p:sp>
        <p:nvSpPr>
          <p:cNvPr id="21" name="Shape 19"/>
          <p:cNvSpPr/>
          <p:nvPr/>
        </p:nvSpPr>
        <p:spPr>
          <a:xfrm>
            <a:off x="7607808" y="2468880"/>
            <a:ext cx="548640" cy="548640"/>
          </a:xfrm>
          <a:prstGeom prst="ellipse">
            <a:avLst/>
          </a:prstGeom>
          <a:solidFill>
            <a:srgbClr val="2F6FED"/>
          </a:solidFill>
          <a:ln w="6350">
            <a:solidFill>
              <a:srgbClr val="2F6FED"/>
            </a:solidFill>
            <a:prstDash val="solid"/>
          </a:ln>
        </p:spPr>
      </p:sp>
      <p:sp>
        <p:nvSpPr>
          <p:cNvPr id="22" name="Text 20"/>
          <p:cNvSpPr txBox="1"/>
          <p:nvPr/>
        </p:nvSpPr>
        <p:spPr>
          <a:xfrm>
            <a:off x="7607808" y="2468880"/>
            <a:ext cx="548640"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23" name="Text 21"/>
          <p:cNvSpPr txBox="1"/>
          <p:nvPr/>
        </p:nvSpPr>
        <p:spPr>
          <a:xfrm>
            <a:off x="7607808" y="3246120"/>
            <a:ext cx="1591056" cy="411480"/>
          </a:xfrm>
          <a:prstGeom prst="rect">
            <a:avLst/>
          </a:prstGeom>
          <a:noFill/>
          <a:ln/>
        </p:spPr>
        <p:txBody>
          <a:bodyPr wrap="square" lIns="0" tIns="0" rIns="0" bIns="0" rtlCol="0" anchor="t"/>
          <a:lstStyle/>
          <a:p>
            <a:pPr indent="0" marL="0">
              <a:buNone/>
            </a:pPr>
            <a:r>
              <a:rPr lang="en-US" sz="1800" b="1" dirty="0">
                <a:solidFill>
                  <a:srgbClr val="142850"/>
                </a:solidFill>
                <a:latin typeface="Cambria" pitchFamily="34" charset="0"/>
                <a:ea typeface="Cambria" pitchFamily="34" charset="-122"/>
                <a:cs typeface="Cambria" pitchFamily="34" charset="-120"/>
              </a:rPr>
              <a:t>Recommend</a:t>
            </a:r>
            <a:endParaRPr lang="en-US" sz="1800" dirty="0"/>
          </a:p>
        </p:txBody>
      </p:sp>
      <p:sp>
        <p:nvSpPr>
          <p:cNvPr id="24" name="Text 22"/>
          <p:cNvSpPr txBox="1"/>
          <p:nvPr/>
        </p:nvSpPr>
        <p:spPr>
          <a:xfrm>
            <a:off x="7607808" y="3749040"/>
            <a:ext cx="1545336" cy="1371600"/>
          </a:xfrm>
          <a:prstGeom prst="rect">
            <a:avLst/>
          </a:prstGeom>
          <a:noFill/>
          <a:ln/>
        </p:spPr>
        <p:txBody>
          <a:bodyPr wrap="square" lIns="0" tIns="0" rIns="0" bIns="0" rtlCol="0" anchor="t"/>
          <a:lstStyle/>
          <a:p>
            <a:pPr indent="0" marL="0">
              <a:buNone/>
            </a:pPr>
            <a:r>
              <a:rPr lang="en-US" sz="1300" dirty="0">
                <a:solidFill>
                  <a:srgbClr val="5B6B87"/>
                </a:solidFill>
                <a:latin typeface="Arial" pitchFamily="34" charset="0"/>
                <a:ea typeface="Arial" pitchFamily="34" charset="-122"/>
                <a:cs typeface="Arial" pitchFamily="34" charset="-120"/>
              </a:rPr>
              <a:t>Generate SHAP-guided, feature-level recommendations.</a:t>
            </a:r>
            <a:endParaRPr lang="en-US" sz="1300" dirty="0"/>
          </a:p>
        </p:txBody>
      </p:sp>
      <p:sp>
        <p:nvSpPr>
          <p:cNvPr id="25" name="Shape 23"/>
          <p:cNvSpPr/>
          <p:nvPr/>
        </p:nvSpPr>
        <p:spPr>
          <a:xfrm>
            <a:off x="9564624" y="2194560"/>
            <a:ext cx="2048256" cy="2697480"/>
          </a:xfrm>
          <a:prstGeom prst="roundRect">
            <a:avLst>
              <a:gd name="adj" fmla="val 5357"/>
            </a:avLst>
          </a:prstGeom>
          <a:solidFill>
            <a:srgbClr val="F4F7FE"/>
          </a:solidFill>
          <a:ln w="9525">
            <a:solidFill>
              <a:srgbClr val="D8E1F5"/>
            </a:solidFill>
            <a:prstDash val="solid"/>
          </a:ln>
        </p:spPr>
      </p:sp>
      <p:sp>
        <p:nvSpPr>
          <p:cNvPr id="26" name="Shape 24"/>
          <p:cNvSpPr/>
          <p:nvPr/>
        </p:nvSpPr>
        <p:spPr>
          <a:xfrm>
            <a:off x="9838944" y="2468880"/>
            <a:ext cx="548640" cy="548640"/>
          </a:xfrm>
          <a:prstGeom prst="ellipse">
            <a:avLst/>
          </a:prstGeom>
          <a:solidFill>
            <a:srgbClr val="2F6FED"/>
          </a:solidFill>
          <a:ln w="6350">
            <a:solidFill>
              <a:srgbClr val="2F6FED"/>
            </a:solidFill>
            <a:prstDash val="solid"/>
          </a:ln>
        </p:spPr>
      </p:sp>
      <p:sp>
        <p:nvSpPr>
          <p:cNvPr id="27" name="Text 25"/>
          <p:cNvSpPr txBox="1"/>
          <p:nvPr/>
        </p:nvSpPr>
        <p:spPr>
          <a:xfrm>
            <a:off x="9838944" y="2468880"/>
            <a:ext cx="548640"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28" name="Text 26"/>
          <p:cNvSpPr txBox="1"/>
          <p:nvPr/>
        </p:nvSpPr>
        <p:spPr>
          <a:xfrm>
            <a:off x="9838944" y="3246120"/>
            <a:ext cx="1591056" cy="411480"/>
          </a:xfrm>
          <a:prstGeom prst="rect">
            <a:avLst/>
          </a:prstGeom>
          <a:noFill/>
          <a:ln/>
        </p:spPr>
        <p:txBody>
          <a:bodyPr wrap="square" lIns="0" tIns="0" rIns="0" bIns="0" rtlCol="0" anchor="t"/>
          <a:lstStyle/>
          <a:p>
            <a:pPr indent="0" marL="0">
              <a:buNone/>
            </a:pPr>
            <a:r>
              <a:rPr lang="en-US" sz="1800" b="1" dirty="0">
                <a:solidFill>
                  <a:srgbClr val="142850"/>
                </a:solidFill>
                <a:latin typeface="Cambria" pitchFamily="34" charset="0"/>
                <a:ea typeface="Cambria" pitchFamily="34" charset="-122"/>
                <a:cs typeface="Cambria" pitchFamily="34" charset="-120"/>
              </a:rPr>
              <a:t>Explore</a:t>
            </a:r>
            <a:endParaRPr lang="en-US" sz="1800" dirty="0"/>
          </a:p>
        </p:txBody>
      </p:sp>
      <p:sp>
        <p:nvSpPr>
          <p:cNvPr id="29" name="Text 27"/>
          <p:cNvSpPr txBox="1"/>
          <p:nvPr/>
        </p:nvSpPr>
        <p:spPr>
          <a:xfrm>
            <a:off x="9838944" y="3749040"/>
            <a:ext cx="1545336" cy="1371600"/>
          </a:xfrm>
          <a:prstGeom prst="rect">
            <a:avLst/>
          </a:prstGeom>
          <a:noFill/>
          <a:ln/>
        </p:spPr>
        <p:txBody>
          <a:bodyPr wrap="square" lIns="0" tIns="0" rIns="0" bIns="0" rtlCol="0" anchor="t"/>
          <a:lstStyle/>
          <a:p>
            <a:pPr indent="0" marL="0">
              <a:buNone/>
            </a:pPr>
            <a:r>
              <a:rPr lang="en-US" sz="1300" dirty="0">
                <a:solidFill>
                  <a:srgbClr val="5B6B87"/>
                </a:solidFill>
                <a:latin typeface="Arial" pitchFamily="34" charset="0"/>
                <a:ea typeface="Arial" pitchFamily="34" charset="-122"/>
                <a:cs typeface="Arial" pitchFamily="34" charset="-120"/>
              </a:rPr>
              <a:t>Allow hypothetical scenario comparison through What-If analysis.</a:t>
            </a:r>
            <a:endParaRPr lang="en-US" sz="1300" dirty="0"/>
          </a:p>
        </p:txBody>
      </p:sp>
      <p:sp>
        <p:nvSpPr>
          <p:cNvPr id="30" name="Text 28"/>
          <p:cNvSpPr txBox="1"/>
          <p:nvPr/>
        </p:nvSpPr>
        <p:spPr>
          <a:xfrm>
            <a:off x="640080" y="6473952"/>
            <a:ext cx="7315200" cy="201168"/>
          </a:xfrm>
          <a:prstGeom prst="rect">
            <a:avLst/>
          </a:prstGeom>
          <a:noFill/>
          <a:ln/>
        </p:spPr>
        <p:txBody>
          <a:bodyPr wrap="square" lIns="0" tIns="0" rIns="0" bIns="0" rtlCol="0" anchor="t"/>
          <a:lstStyle/>
          <a:p>
            <a:pPr indent="0" marL="0">
              <a:buNone/>
            </a:pPr>
            <a:r>
              <a:rPr lang="en-US" sz="800" spc="200" kern="0" dirty="0">
                <a:solidFill>
                  <a:srgbClr val="A6B3CC"/>
                </a:solidFill>
                <a:latin typeface="Arial" pitchFamily="34" charset="0"/>
                <a:ea typeface="Arial" pitchFamily="34" charset="-122"/>
                <a:cs typeface="Arial" pitchFamily="34" charset="-120"/>
              </a:rPr>
              <a:t>AI STUDENT PERFORMANCE PREDICTION  ·  DECISION SUPPORT  ·  EXPLAINABLE AI</a:t>
            </a:r>
            <a:endParaRPr lang="en-US" sz="800" dirty="0"/>
          </a:p>
        </p:txBody>
      </p:sp>
      <p:sp>
        <p:nvSpPr>
          <p:cNvPr id="31" name="Text 29"/>
          <p:cNvSpPr txBox="1"/>
          <p:nvPr/>
        </p:nvSpPr>
        <p:spPr>
          <a:xfrm>
            <a:off x="11155680" y="6473952"/>
            <a:ext cx="411480" cy="201168"/>
          </a:xfrm>
          <a:prstGeom prst="rect">
            <a:avLst/>
          </a:prstGeom>
          <a:noFill/>
          <a:ln/>
        </p:spPr>
        <p:txBody>
          <a:bodyPr wrap="square" lIns="0" tIns="0" rIns="0" bIns="0" rtlCol="0" anchor="t"/>
          <a:lstStyle/>
          <a:p>
            <a:pPr algn="r" indent="0" marL="0">
              <a:buNone/>
            </a:pPr>
            <a:r>
              <a:rPr lang="en-US" sz="900" dirty="0">
                <a:solidFill>
                  <a:srgbClr val="A6B3CC"/>
                </a:solidFill>
                <a:latin typeface="Arial" pitchFamily="34" charset="0"/>
                <a:ea typeface="Arial" pitchFamily="34" charset="-122"/>
                <a:cs typeface="Arial" pitchFamily="34" charset="-120"/>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515600" cy="274320"/>
          </a:xfrm>
          <a:prstGeom prst="rect">
            <a:avLst/>
          </a:prstGeom>
          <a:noFill/>
          <a:ln/>
        </p:spPr>
        <p:txBody>
          <a:bodyPr wrap="square" lIns="0" tIns="0" rIns="0" bIns="0" rtlCol="0" anchor="t"/>
          <a:lstStyle/>
          <a:p>
            <a:pPr indent="0" marL="0">
              <a:buNone/>
            </a:pPr>
            <a:r>
              <a:rPr lang="en-US" sz="1100" b="1" spc="300" kern="0" dirty="0">
                <a:solidFill>
                  <a:srgbClr val="2F6FED"/>
                </a:solidFill>
                <a:latin typeface="Arial" pitchFamily="34" charset="0"/>
                <a:ea typeface="Arial" pitchFamily="34" charset="-122"/>
                <a:cs typeface="Arial" pitchFamily="34" charset="-120"/>
              </a:rPr>
              <a:t>DATASET</a:t>
            </a:r>
            <a:endParaRPr lang="en-US" sz="1100" dirty="0"/>
          </a:p>
        </p:txBody>
      </p:sp>
      <p:sp>
        <p:nvSpPr>
          <p:cNvPr id="3" name="Text 1"/>
          <p:cNvSpPr txBox="1"/>
          <p:nvPr/>
        </p:nvSpPr>
        <p:spPr>
          <a:xfrm>
            <a:off x="640080" y="713232"/>
            <a:ext cx="10972800" cy="640080"/>
          </a:xfrm>
          <a:prstGeom prst="rect">
            <a:avLst/>
          </a:prstGeom>
          <a:noFill/>
          <a:ln/>
        </p:spPr>
        <p:txBody>
          <a:bodyPr wrap="square" lIns="0" tIns="0" rIns="0" bIns="0" rtlCol="0" anchor="ctr"/>
          <a:lstStyle/>
          <a:p>
            <a:pPr indent="0" marL="0">
              <a:buNone/>
            </a:pPr>
            <a:r>
              <a:rPr lang="en-US" sz="3000" b="1" dirty="0">
                <a:solidFill>
                  <a:srgbClr val="142850"/>
                </a:solidFill>
                <a:latin typeface="Cambria" pitchFamily="34" charset="0"/>
                <a:ea typeface="Cambria" pitchFamily="34" charset="-122"/>
                <a:cs typeface="Cambria" pitchFamily="34" charset="-120"/>
              </a:rPr>
              <a:t>Student academic dataset</a:t>
            </a:r>
            <a:endParaRPr lang="en-US" sz="3000" dirty="0"/>
          </a:p>
        </p:txBody>
      </p:sp>
      <p:sp>
        <p:nvSpPr>
          <p:cNvPr id="4" name="Text 2"/>
          <p:cNvSpPr txBox="1"/>
          <p:nvPr/>
        </p:nvSpPr>
        <p:spPr>
          <a:xfrm>
            <a:off x="640080" y="1371600"/>
            <a:ext cx="10881360" cy="365760"/>
          </a:xfrm>
          <a:prstGeom prst="rect">
            <a:avLst/>
          </a:prstGeom>
          <a:noFill/>
          <a:ln/>
        </p:spPr>
        <p:txBody>
          <a:bodyPr wrap="square" lIns="0" tIns="0" rIns="0" bIns="0" rtlCol="0" anchor="t"/>
          <a:lstStyle/>
          <a:p>
            <a:pPr indent="0" marL="0">
              <a:buNone/>
            </a:pPr>
            <a:r>
              <a:rPr lang="en-US" sz="1400" dirty="0">
                <a:solidFill>
                  <a:srgbClr val="5B6B87"/>
                </a:solidFill>
                <a:latin typeface="Arial" pitchFamily="34" charset="0"/>
                <a:ea typeface="Arial" pitchFamily="34" charset="-122"/>
                <a:cs typeface="Arial" pitchFamily="34" charset="-120"/>
              </a:rPr>
              <a:t>data/Final_Marks_Data.csv — the only dataset used by the model.</a:t>
            </a:r>
            <a:endParaRPr lang="en-US" sz="1400" dirty="0"/>
          </a:p>
        </p:txBody>
      </p:sp>
      <p:sp>
        <p:nvSpPr>
          <p:cNvPr id="5" name="Shape 3"/>
          <p:cNvSpPr/>
          <p:nvPr/>
        </p:nvSpPr>
        <p:spPr>
          <a:xfrm>
            <a:off x="640080" y="2011680"/>
            <a:ext cx="3383280" cy="786384"/>
          </a:xfrm>
          <a:prstGeom prst="roundRect">
            <a:avLst>
              <a:gd name="adj" fmla="val 13953"/>
            </a:avLst>
          </a:prstGeom>
          <a:solidFill>
            <a:srgbClr val="E9F0FF"/>
          </a:solidFill>
          <a:ln w="9525">
            <a:solidFill>
              <a:srgbClr val="E9F0FF"/>
            </a:solidFill>
            <a:prstDash val="solid"/>
          </a:ln>
        </p:spPr>
      </p:sp>
      <p:sp>
        <p:nvSpPr>
          <p:cNvPr id="6" name="Text 4"/>
          <p:cNvSpPr txBox="1"/>
          <p:nvPr/>
        </p:nvSpPr>
        <p:spPr>
          <a:xfrm>
            <a:off x="868680" y="2011680"/>
            <a:ext cx="1325880" cy="786384"/>
          </a:xfrm>
          <a:prstGeom prst="rect">
            <a:avLst/>
          </a:prstGeom>
          <a:noFill/>
          <a:ln/>
        </p:spPr>
        <p:txBody>
          <a:bodyPr wrap="square" lIns="0" tIns="0" rIns="0" bIns="0" rtlCol="0" anchor="ctr"/>
          <a:lstStyle/>
          <a:p>
            <a:pPr indent="0" marL="0">
              <a:buNone/>
            </a:pPr>
            <a:r>
              <a:rPr lang="en-US" sz="2600" b="1" dirty="0">
                <a:solidFill>
                  <a:srgbClr val="2F6FED"/>
                </a:solidFill>
                <a:latin typeface="Cambria" pitchFamily="34" charset="0"/>
                <a:ea typeface="Cambria" pitchFamily="34" charset="-122"/>
                <a:cs typeface="Cambria" pitchFamily="34" charset="-120"/>
              </a:rPr>
              <a:t>2,000</a:t>
            </a:r>
            <a:endParaRPr lang="en-US" sz="2600" dirty="0"/>
          </a:p>
        </p:txBody>
      </p:sp>
      <p:sp>
        <p:nvSpPr>
          <p:cNvPr id="7" name="Text 5"/>
          <p:cNvSpPr txBox="1"/>
          <p:nvPr/>
        </p:nvSpPr>
        <p:spPr>
          <a:xfrm>
            <a:off x="2194560" y="2011680"/>
            <a:ext cx="1737360" cy="786384"/>
          </a:xfrm>
          <a:prstGeom prst="rect">
            <a:avLst/>
          </a:prstGeom>
          <a:noFill/>
          <a:ln/>
        </p:spPr>
        <p:txBody>
          <a:bodyPr wrap="square" lIns="0" tIns="0" rIns="0" bIns="0" rtlCol="0" anchor="ctr"/>
          <a:lstStyle/>
          <a:p>
            <a:pPr indent="0" marL="0">
              <a:buNone/>
            </a:pPr>
            <a:r>
              <a:rPr lang="en-US" sz="1200" dirty="0">
                <a:solidFill>
                  <a:srgbClr val="1A2A4A"/>
                </a:solidFill>
                <a:latin typeface="Arial" pitchFamily="34" charset="0"/>
                <a:ea typeface="Arial" pitchFamily="34" charset="-122"/>
                <a:cs typeface="Arial" pitchFamily="34" charset="-120"/>
              </a:rPr>
              <a:t>records (students)</a:t>
            </a:r>
            <a:endParaRPr lang="en-US" sz="1200" dirty="0"/>
          </a:p>
        </p:txBody>
      </p:sp>
      <p:sp>
        <p:nvSpPr>
          <p:cNvPr id="8" name="Shape 6"/>
          <p:cNvSpPr/>
          <p:nvPr/>
        </p:nvSpPr>
        <p:spPr>
          <a:xfrm>
            <a:off x="640080" y="2944368"/>
            <a:ext cx="3383280" cy="786384"/>
          </a:xfrm>
          <a:prstGeom prst="roundRect">
            <a:avLst>
              <a:gd name="adj" fmla="val 13953"/>
            </a:avLst>
          </a:prstGeom>
          <a:solidFill>
            <a:srgbClr val="E9F0FF"/>
          </a:solidFill>
          <a:ln w="9525">
            <a:solidFill>
              <a:srgbClr val="E9F0FF"/>
            </a:solidFill>
            <a:prstDash val="solid"/>
          </a:ln>
        </p:spPr>
      </p:sp>
      <p:sp>
        <p:nvSpPr>
          <p:cNvPr id="9" name="Text 7"/>
          <p:cNvSpPr txBox="1"/>
          <p:nvPr/>
        </p:nvSpPr>
        <p:spPr>
          <a:xfrm>
            <a:off x="868680" y="2944368"/>
            <a:ext cx="1325880" cy="786384"/>
          </a:xfrm>
          <a:prstGeom prst="rect">
            <a:avLst/>
          </a:prstGeom>
          <a:noFill/>
          <a:ln/>
        </p:spPr>
        <p:txBody>
          <a:bodyPr wrap="square" lIns="0" tIns="0" rIns="0" bIns="0" rtlCol="0" anchor="ctr"/>
          <a:lstStyle/>
          <a:p>
            <a:pPr indent="0" marL="0">
              <a:buNone/>
            </a:pPr>
            <a:r>
              <a:rPr lang="en-US" sz="2600" b="1" dirty="0">
                <a:solidFill>
                  <a:srgbClr val="2F6FED"/>
                </a:solidFill>
                <a:latin typeface="Cambria" pitchFamily="34" charset="0"/>
                <a:ea typeface="Cambria" pitchFamily="34" charset="-122"/>
                <a:cs typeface="Cambria" pitchFamily="34" charset="-120"/>
              </a:rPr>
              <a:t>5</a:t>
            </a:r>
            <a:endParaRPr lang="en-US" sz="2600" dirty="0"/>
          </a:p>
        </p:txBody>
      </p:sp>
      <p:sp>
        <p:nvSpPr>
          <p:cNvPr id="10" name="Text 8"/>
          <p:cNvSpPr txBox="1"/>
          <p:nvPr/>
        </p:nvSpPr>
        <p:spPr>
          <a:xfrm>
            <a:off x="2194560" y="2944368"/>
            <a:ext cx="1737360" cy="786384"/>
          </a:xfrm>
          <a:prstGeom prst="rect">
            <a:avLst/>
          </a:prstGeom>
          <a:noFill/>
          <a:ln/>
        </p:spPr>
        <p:txBody>
          <a:bodyPr wrap="square" lIns="0" tIns="0" rIns="0" bIns="0" rtlCol="0" anchor="ctr"/>
          <a:lstStyle/>
          <a:p>
            <a:pPr indent="0" marL="0">
              <a:buNone/>
            </a:pPr>
            <a:r>
              <a:rPr lang="en-US" sz="1200" dirty="0">
                <a:solidFill>
                  <a:srgbClr val="1A2A4A"/>
                </a:solidFill>
                <a:latin typeface="Arial" pitchFamily="34" charset="0"/>
                <a:ea typeface="Arial" pitchFamily="34" charset="-122"/>
                <a:cs typeface="Arial" pitchFamily="34" charset="-120"/>
              </a:rPr>
              <a:t>input features</a:t>
            </a:r>
            <a:endParaRPr lang="en-US" sz="1200" dirty="0"/>
          </a:p>
        </p:txBody>
      </p:sp>
      <p:sp>
        <p:nvSpPr>
          <p:cNvPr id="11" name="Shape 9"/>
          <p:cNvSpPr/>
          <p:nvPr/>
        </p:nvSpPr>
        <p:spPr>
          <a:xfrm>
            <a:off x="640080" y="3877056"/>
            <a:ext cx="3383280" cy="786384"/>
          </a:xfrm>
          <a:prstGeom prst="roundRect">
            <a:avLst>
              <a:gd name="adj" fmla="val 13953"/>
            </a:avLst>
          </a:prstGeom>
          <a:solidFill>
            <a:srgbClr val="E9F0FF"/>
          </a:solidFill>
          <a:ln w="9525">
            <a:solidFill>
              <a:srgbClr val="E9F0FF"/>
            </a:solidFill>
            <a:prstDash val="solid"/>
          </a:ln>
        </p:spPr>
      </p:sp>
      <p:sp>
        <p:nvSpPr>
          <p:cNvPr id="12" name="Text 10"/>
          <p:cNvSpPr txBox="1"/>
          <p:nvPr/>
        </p:nvSpPr>
        <p:spPr>
          <a:xfrm>
            <a:off x="868680" y="3877056"/>
            <a:ext cx="1325880" cy="786384"/>
          </a:xfrm>
          <a:prstGeom prst="rect">
            <a:avLst/>
          </a:prstGeom>
          <a:noFill/>
          <a:ln/>
        </p:spPr>
        <p:txBody>
          <a:bodyPr wrap="square" lIns="0" tIns="0" rIns="0" bIns="0" rtlCol="0" anchor="ctr"/>
          <a:lstStyle/>
          <a:p>
            <a:pPr indent="0" marL="0">
              <a:buNone/>
            </a:pPr>
            <a:r>
              <a:rPr lang="en-US" sz="2600" b="1" dirty="0">
                <a:solidFill>
                  <a:srgbClr val="2F6FED"/>
                </a:solidFill>
                <a:latin typeface="Cambria" pitchFamily="34" charset="0"/>
                <a:ea typeface="Cambria" pitchFamily="34" charset="-122"/>
                <a:cs typeface="Cambria" pitchFamily="34" charset="-120"/>
              </a:rPr>
              <a:t>7</a:t>
            </a:r>
            <a:endParaRPr lang="en-US" sz="2600" dirty="0"/>
          </a:p>
        </p:txBody>
      </p:sp>
      <p:sp>
        <p:nvSpPr>
          <p:cNvPr id="13" name="Text 11"/>
          <p:cNvSpPr txBox="1"/>
          <p:nvPr/>
        </p:nvSpPr>
        <p:spPr>
          <a:xfrm>
            <a:off x="2194560" y="3877056"/>
            <a:ext cx="1737360" cy="786384"/>
          </a:xfrm>
          <a:prstGeom prst="rect">
            <a:avLst/>
          </a:prstGeom>
          <a:noFill/>
          <a:ln/>
        </p:spPr>
        <p:txBody>
          <a:bodyPr wrap="square" lIns="0" tIns="0" rIns="0" bIns="0" rtlCol="0" anchor="ctr"/>
          <a:lstStyle/>
          <a:p>
            <a:pPr indent="0" marL="0">
              <a:buNone/>
            </a:pPr>
            <a:r>
              <a:rPr lang="en-US" sz="1200" dirty="0">
                <a:solidFill>
                  <a:srgbClr val="1A2A4A"/>
                </a:solidFill>
                <a:latin typeface="Arial" pitchFamily="34" charset="0"/>
                <a:ea typeface="Arial" pitchFamily="34" charset="-122"/>
                <a:cs typeface="Arial" pitchFamily="34" charset="-120"/>
              </a:rPr>
              <a:t>columns in total</a:t>
            </a:r>
            <a:endParaRPr lang="en-US" sz="1200" dirty="0"/>
          </a:p>
        </p:txBody>
      </p:sp>
      <p:sp>
        <p:nvSpPr>
          <p:cNvPr id="14" name="Shape 12"/>
          <p:cNvSpPr/>
          <p:nvPr/>
        </p:nvSpPr>
        <p:spPr>
          <a:xfrm>
            <a:off x="640080" y="4809744"/>
            <a:ext cx="3383280" cy="786384"/>
          </a:xfrm>
          <a:prstGeom prst="roundRect">
            <a:avLst>
              <a:gd name="adj" fmla="val 13953"/>
            </a:avLst>
          </a:prstGeom>
          <a:solidFill>
            <a:srgbClr val="E9F0FF"/>
          </a:solidFill>
          <a:ln w="9525">
            <a:solidFill>
              <a:srgbClr val="E9F0FF"/>
            </a:solidFill>
            <a:prstDash val="solid"/>
          </a:ln>
        </p:spPr>
      </p:sp>
      <p:sp>
        <p:nvSpPr>
          <p:cNvPr id="15" name="Text 13"/>
          <p:cNvSpPr txBox="1"/>
          <p:nvPr/>
        </p:nvSpPr>
        <p:spPr>
          <a:xfrm>
            <a:off x="868680" y="4809744"/>
            <a:ext cx="1325880" cy="786384"/>
          </a:xfrm>
          <a:prstGeom prst="rect">
            <a:avLst/>
          </a:prstGeom>
          <a:noFill/>
          <a:ln/>
        </p:spPr>
        <p:txBody>
          <a:bodyPr wrap="square" lIns="0" tIns="0" rIns="0" bIns="0" rtlCol="0" anchor="ctr"/>
          <a:lstStyle/>
          <a:p>
            <a:pPr indent="0" marL="0">
              <a:buNone/>
            </a:pPr>
            <a:r>
              <a:rPr lang="en-US" sz="2600" b="1" dirty="0">
                <a:solidFill>
                  <a:srgbClr val="2F6FED"/>
                </a:solidFill>
                <a:latin typeface="Cambria" pitchFamily="34" charset="0"/>
                <a:ea typeface="Cambria" pitchFamily="34" charset="-122"/>
                <a:cs typeface="Cambria" pitchFamily="34" charset="-120"/>
              </a:rPr>
              <a:t>0–100</a:t>
            </a:r>
            <a:endParaRPr lang="en-US" sz="2600" dirty="0"/>
          </a:p>
        </p:txBody>
      </p:sp>
      <p:sp>
        <p:nvSpPr>
          <p:cNvPr id="16" name="Text 14"/>
          <p:cNvSpPr txBox="1"/>
          <p:nvPr/>
        </p:nvSpPr>
        <p:spPr>
          <a:xfrm>
            <a:off x="2194560" y="4809744"/>
            <a:ext cx="1737360" cy="786384"/>
          </a:xfrm>
          <a:prstGeom prst="rect">
            <a:avLst/>
          </a:prstGeom>
          <a:noFill/>
          <a:ln/>
        </p:spPr>
        <p:txBody>
          <a:bodyPr wrap="square" lIns="0" tIns="0" rIns="0" bIns="0" rtlCol="0" anchor="ctr"/>
          <a:lstStyle/>
          <a:p>
            <a:pPr indent="0" marL="0">
              <a:buNone/>
            </a:pPr>
            <a:r>
              <a:rPr lang="en-US" sz="1200" dirty="0">
                <a:solidFill>
                  <a:srgbClr val="1A2A4A"/>
                </a:solidFill>
                <a:latin typeface="Arial" pitchFamily="34" charset="0"/>
                <a:ea typeface="Arial" pitchFamily="34" charset="-122"/>
                <a:cs typeface="Arial" pitchFamily="34" charset="-120"/>
              </a:rPr>
              <a:t>target scale (final exam marks)</a:t>
            </a:r>
            <a:endParaRPr lang="en-US" sz="1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389120" y="2011680"/>
          <a:ext cx="7178040" cy="914400"/>
        </p:xfrm>
        <a:graphic>
          <a:graphicData uri="http://schemas.openxmlformats.org/drawingml/2006/table">
            <a:tbl>
              <a:tblPr/>
              <a:tblGrid>
                <a:gridCol w="3017520"/>
                <a:gridCol w="2148840"/>
                <a:gridCol w="2011680"/>
              </a:tblGrid>
              <a:tr h="384048">
                <a:tc>
                  <a:txBody>
                    <a:bodyPr/>
                    <a:lstStyle/>
                    <a:p>
                      <a:pPr indent="0" marL="0">
                        <a:buNone/>
                      </a:pPr>
                      <a:r>
                        <a:rPr lang="en-US" sz="1200" b="1" dirty="0">
                          <a:solidFill>
                            <a:srgbClr val="FFFFFF"/>
                          </a:solidFill>
                          <a:latin typeface="Arial" pitchFamily="34" charset="0"/>
                          <a:ea typeface="Arial" pitchFamily="34" charset="-122"/>
                          <a:cs typeface="Arial" pitchFamily="34" charset="-120"/>
                        </a:rPr>
                        <a:t>Column</a:t>
                      </a:r>
                      <a:endParaRPr lang="en-US" sz="1200" dirty="0">
                        <a:latin typeface="Arial" charset="0"/>
                        <a:ea typeface="Arial" charset="0"/>
                        <a:cs typeface="Arial" charset="0"/>
                      </a:endParaRPr>
                    </a:p>
                  </a:txBody>
                  <a:tcPr marL="91440" marR="91440" marT="45720" marB="45720"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142850"/>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Role</a:t>
                      </a:r>
                      <a:endParaRPr lang="en-US" sz="1200" dirty="0">
                        <a:latin typeface="Arial" charset="0"/>
                        <a:ea typeface="Arial" charset="0"/>
                        <a:cs typeface="Arial" charset="0"/>
                      </a:endParaRPr>
                    </a:p>
                  </a:txBody>
                  <a:tcPr marL="91440" marR="91440" marT="45720" marB="45720"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142850"/>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Range in data</a:t>
                      </a:r>
                      <a:endParaRPr lang="en-US" sz="1200" dirty="0">
                        <a:latin typeface="Arial" charset="0"/>
                        <a:ea typeface="Arial" charset="0"/>
                        <a:cs typeface="Arial" charset="0"/>
                      </a:endParaRPr>
                    </a:p>
                  </a:txBody>
                  <a:tcPr marL="91440" marR="91440" marT="45720" marB="45720"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142850"/>
                    </a:solidFill>
                  </a:tcPr>
                </a:tc>
              </a:tr>
              <a:tr h="384048">
                <a:tc>
                  <a:txBody>
                    <a:bodyPr/>
                    <a:lstStyle/>
                    <a:p>
                      <a:pPr indent="0" marL="0">
                        <a:buNone/>
                      </a:pPr>
                      <a:r>
                        <a:rPr lang="en-US" sz="1200" dirty="0">
                          <a:solidFill>
                            <a:srgbClr val="1A2A4A"/>
                          </a:solidFill>
                          <a:latin typeface="Arial" pitchFamily="34" charset="0"/>
                          <a:ea typeface="Arial" pitchFamily="34" charset="-122"/>
                          <a:cs typeface="Arial" pitchFamily="34" charset="-120"/>
                        </a:rPr>
                        <a:t>Attendance (%)</a:t>
                      </a:r>
                      <a:endParaRPr lang="en-US" sz="1200" dirty="0">
                        <a:latin typeface="Arial" charset="0"/>
                        <a:ea typeface="Arial" charset="0"/>
                        <a:cs typeface="Arial" charset="0"/>
                      </a:endParaRPr>
                    </a:p>
                  </a:txBody>
                  <a:tcPr marL="91440" marR="91440" marT="45720" marB="45720"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tc>
                  <a:txBody>
                    <a:bodyPr/>
                    <a:lstStyle/>
                    <a:p>
                      <a:pPr indent="0" marL="0">
                        <a:buNone/>
                      </a:pPr>
                      <a:r>
                        <a:rPr lang="en-US" sz="1200" dirty="0">
                          <a:solidFill>
                            <a:srgbClr val="1A2A4A"/>
                          </a:solidFill>
                          <a:latin typeface="Arial" pitchFamily="34" charset="0"/>
                          <a:ea typeface="Arial" pitchFamily="34" charset="-122"/>
                          <a:cs typeface="Arial" pitchFamily="34" charset="-120"/>
                        </a:rPr>
                        <a:t>Input</a:t>
                      </a:r>
                      <a:endParaRPr lang="en-US" sz="1200" dirty="0">
                        <a:latin typeface="Arial" charset="0"/>
                        <a:ea typeface="Arial" charset="0"/>
                        <a:cs typeface="Arial" charset="0"/>
                      </a:endParaRPr>
                    </a:p>
                  </a:txBody>
                  <a:tcPr marL="91440" marR="91440" marT="45720" marB="45720"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tc>
                  <a:txBody>
                    <a:bodyPr/>
                    <a:lstStyle/>
                    <a:p>
                      <a:pPr indent="0" marL="0">
                        <a:buNone/>
                      </a:pPr>
                      <a:r>
                        <a:rPr lang="en-US" sz="1200" dirty="0">
                          <a:solidFill>
                            <a:srgbClr val="1A2A4A"/>
                          </a:solidFill>
                          <a:latin typeface="Arial" pitchFamily="34" charset="0"/>
                          <a:ea typeface="Arial" pitchFamily="34" charset="-122"/>
                          <a:cs typeface="Arial" pitchFamily="34" charset="-120"/>
                        </a:rPr>
                        <a:t>52 – 100</a:t>
                      </a:r>
                      <a:endParaRPr lang="en-US" sz="1200" dirty="0">
                        <a:latin typeface="Arial" charset="0"/>
                        <a:ea typeface="Arial" charset="0"/>
                        <a:cs typeface="Arial" charset="0"/>
                      </a:endParaRPr>
                    </a:p>
                  </a:txBody>
                  <a:tcPr marL="91440" marR="91440" marT="45720" marB="45720"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A2A4A"/>
                          </a:solidFill>
                          <a:latin typeface="Arial" pitchFamily="34" charset="0"/>
                          <a:ea typeface="Arial" pitchFamily="34" charset="-122"/>
                          <a:cs typeface="Arial" pitchFamily="34" charset="-120"/>
                        </a:rPr>
                        <a:t>Internal Test 1 (out of 40)</a:t>
                      </a:r>
                      <a:endParaRPr lang="en-US" sz="1200" dirty="0">
                        <a:latin typeface="Arial" charset="0"/>
                        <a:ea typeface="Arial" charset="0"/>
                        <a:cs typeface="Arial" charset="0"/>
                      </a:endParaRPr>
                    </a:p>
                  </a:txBody>
                  <a:tcPr marL="91440" marR="91440" marT="45720" marB="45720"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tc>
                  <a:txBody>
                    <a:bodyPr/>
                    <a:lstStyle/>
                    <a:p>
                      <a:pPr indent="0" marL="0">
                        <a:buNone/>
                      </a:pPr>
                      <a:r>
                        <a:rPr lang="en-US" sz="1200" dirty="0">
                          <a:solidFill>
                            <a:srgbClr val="1A2A4A"/>
                          </a:solidFill>
                          <a:latin typeface="Arial" pitchFamily="34" charset="0"/>
                          <a:ea typeface="Arial" pitchFamily="34" charset="-122"/>
                          <a:cs typeface="Arial" pitchFamily="34" charset="-120"/>
                        </a:rPr>
                        <a:t>Input</a:t>
                      </a:r>
                      <a:endParaRPr lang="en-US" sz="1200" dirty="0">
                        <a:latin typeface="Arial" charset="0"/>
                        <a:ea typeface="Arial" charset="0"/>
                        <a:cs typeface="Arial" charset="0"/>
                      </a:endParaRPr>
                    </a:p>
                  </a:txBody>
                  <a:tcPr marL="91440" marR="91440" marT="45720" marB="45720"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tc>
                  <a:txBody>
                    <a:bodyPr/>
                    <a:lstStyle/>
                    <a:p>
                      <a:pPr indent="0" marL="0">
                        <a:buNone/>
                      </a:pPr>
                      <a:r>
                        <a:rPr lang="en-US" sz="1200" dirty="0">
                          <a:solidFill>
                            <a:srgbClr val="1A2A4A"/>
                          </a:solidFill>
                          <a:latin typeface="Arial" pitchFamily="34" charset="0"/>
                          <a:ea typeface="Arial" pitchFamily="34" charset="-122"/>
                          <a:cs typeface="Arial" pitchFamily="34" charset="-120"/>
                        </a:rPr>
                        <a:t>18 – 40</a:t>
                      </a:r>
                      <a:endParaRPr lang="en-US" sz="1200" dirty="0">
                        <a:latin typeface="Arial" charset="0"/>
                        <a:ea typeface="Arial" charset="0"/>
                        <a:cs typeface="Arial" charset="0"/>
                      </a:endParaRPr>
                    </a:p>
                  </a:txBody>
                  <a:tcPr marL="91440" marR="91440" marT="45720" marB="45720"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A2A4A"/>
                          </a:solidFill>
                          <a:latin typeface="Arial" pitchFamily="34" charset="0"/>
                          <a:ea typeface="Arial" pitchFamily="34" charset="-122"/>
                          <a:cs typeface="Arial" pitchFamily="34" charset="-120"/>
                        </a:rPr>
                        <a:t>Internal Test 2 (out of 40)</a:t>
                      </a:r>
                      <a:endParaRPr lang="en-US" sz="1200" dirty="0">
                        <a:latin typeface="Arial" charset="0"/>
                        <a:ea typeface="Arial" charset="0"/>
                        <a:cs typeface="Arial" charset="0"/>
                      </a:endParaRPr>
                    </a:p>
                  </a:txBody>
                  <a:tcPr marL="91440" marR="91440" marT="45720" marB="45720"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tc>
                  <a:txBody>
                    <a:bodyPr/>
                    <a:lstStyle/>
                    <a:p>
                      <a:pPr indent="0" marL="0">
                        <a:buNone/>
                      </a:pPr>
                      <a:r>
                        <a:rPr lang="en-US" sz="1200" dirty="0">
                          <a:solidFill>
                            <a:srgbClr val="1A2A4A"/>
                          </a:solidFill>
                          <a:latin typeface="Arial" pitchFamily="34" charset="0"/>
                          <a:ea typeface="Arial" pitchFamily="34" charset="-122"/>
                          <a:cs typeface="Arial" pitchFamily="34" charset="-120"/>
                        </a:rPr>
                        <a:t>Input</a:t>
                      </a:r>
                      <a:endParaRPr lang="en-US" sz="1200" dirty="0">
                        <a:latin typeface="Arial" charset="0"/>
                        <a:ea typeface="Arial" charset="0"/>
                        <a:cs typeface="Arial" charset="0"/>
                      </a:endParaRPr>
                    </a:p>
                  </a:txBody>
                  <a:tcPr marL="91440" marR="91440" marT="45720" marB="45720"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tc>
                  <a:txBody>
                    <a:bodyPr/>
                    <a:lstStyle/>
                    <a:p>
                      <a:pPr indent="0" marL="0">
                        <a:buNone/>
                      </a:pPr>
                      <a:r>
                        <a:rPr lang="en-US" sz="1200" dirty="0">
                          <a:solidFill>
                            <a:srgbClr val="1A2A4A"/>
                          </a:solidFill>
                          <a:latin typeface="Arial" pitchFamily="34" charset="0"/>
                          <a:ea typeface="Arial" pitchFamily="34" charset="-122"/>
                          <a:cs typeface="Arial" pitchFamily="34" charset="-120"/>
                        </a:rPr>
                        <a:t>16 – 40</a:t>
                      </a:r>
                      <a:endParaRPr lang="en-US" sz="1200" dirty="0">
                        <a:latin typeface="Arial" charset="0"/>
                        <a:ea typeface="Arial" charset="0"/>
                        <a:cs typeface="Arial" charset="0"/>
                      </a:endParaRPr>
                    </a:p>
                  </a:txBody>
                  <a:tcPr marL="91440" marR="91440" marT="45720" marB="45720"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A2A4A"/>
                          </a:solidFill>
                          <a:latin typeface="Arial" pitchFamily="34" charset="0"/>
                          <a:ea typeface="Arial" pitchFamily="34" charset="-122"/>
                          <a:cs typeface="Arial" pitchFamily="34" charset="-120"/>
                        </a:rPr>
                        <a:t>Assignment Score (out of 10)</a:t>
                      </a:r>
                      <a:endParaRPr lang="en-US" sz="1200" dirty="0">
                        <a:latin typeface="Arial" charset="0"/>
                        <a:ea typeface="Arial" charset="0"/>
                        <a:cs typeface="Arial" charset="0"/>
                      </a:endParaRPr>
                    </a:p>
                  </a:txBody>
                  <a:tcPr marL="91440" marR="91440" marT="45720" marB="45720"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tc>
                  <a:txBody>
                    <a:bodyPr/>
                    <a:lstStyle/>
                    <a:p>
                      <a:pPr indent="0" marL="0">
                        <a:buNone/>
                      </a:pPr>
                      <a:r>
                        <a:rPr lang="en-US" sz="1200" dirty="0">
                          <a:solidFill>
                            <a:srgbClr val="1A2A4A"/>
                          </a:solidFill>
                          <a:latin typeface="Arial" pitchFamily="34" charset="0"/>
                          <a:ea typeface="Arial" pitchFamily="34" charset="-122"/>
                          <a:cs typeface="Arial" pitchFamily="34" charset="-120"/>
                        </a:rPr>
                        <a:t>Input</a:t>
                      </a:r>
                      <a:endParaRPr lang="en-US" sz="1200" dirty="0">
                        <a:latin typeface="Arial" charset="0"/>
                        <a:ea typeface="Arial" charset="0"/>
                        <a:cs typeface="Arial" charset="0"/>
                      </a:endParaRPr>
                    </a:p>
                  </a:txBody>
                  <a:tcPr marL="91440" marR="91440" marT="45720" marB="45720"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tc>
                  <a:txBody>
                    <a:bodyPr/>
                    <a:lstStyle/>
                    <a:p>
                      <a:pPr indent="0" marL="0">
                        <a:buNone/>
                      </a:pPr>
                      <a:r>
                        <a:rPr lang="en-US" sz="1200" dirty="0">
                          <a:solidFill>
                            <a:srgbClr val="1A2A4A"/>
                          </a:solidFill>
                          <a:latin typeface="Arial" pitchFamily="34" charset="0"/>
                          <a:ea typeface="Arial" pitchFamily="34" charset="-122"/>
                          <a:cs typeface="Arial" pitchFamily="34" charset="-120"/>
                        </a:rPr>
                        <a:t>4 – 10</a:t>
                      </a:r>
                      <a:endParaRPr lang="en-US" sz="1200" dirty="0">
                        <a:latin typeface="Arial" charset="0"/>
                        <a:ea typeface="Arial" charset="0"/>
                        <a:cs typeface="Arial" charset="0"/>
                      </a:endParaRPr>
                    </a:p>
                  </a:txBody>
                  <a:tcPr marL="91440" marR="91440" marT="45720" marB="45720"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A2A4A"/>
                          </a:solidFill>
                          <a:latin typeface="Arial" pitchFamily="34" charset="0"/>
                          <a:ea typeface="Arial" pitchFamily="34" charset="-122"/>
                          <a:cs typeface="Arial" pitchFamily="34" charset="-120"/>
                        </a:rPr>
                        <a:t>Daily Study Hours</a:t>
                      </a:r>
                      <a:endParaRPr lang="en-US" sz="1200" dirty="0">
                        <a:latin typeface="Arial" charset="0"/>
                        <a:ea typeface="Arial" charset="0"/>
                        <a:cs typeface="Arial" charset="0"/>
                      </a:endParaRPr>
                    </a:p>
                  </a:txBody>
                  <a:tcPr marL="91440" marR="91440" marT="45720" marB="45720"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tc>
                  <a:txBody>
                    <a:bodyPr/>
                    <a:lstStyle/>
                    <a:p>
                      <a:pPr indent="0" marL="0">
                        <a:buNone/>
                      </a:pPr>
                      <a:r>
                        <a:rPr lang="en-US" sz="1200" dirty="0">
                          <a:solidFill>
                            <a:srgbClr val="1A2A4A"/>
                          </a:solidFill>
                          <a:latin typeface="Arial" pitchFamily="34" charset="0"/>
                          <a:ea typeface="Arial" pitchFamily="34" charset="-122"/>
                          <a:cs typeface="Arial" pitchFamily="34" charset="-120"/>
                        </a:rPr>
                        <a:t>Input</a:t>
                      </a:r>
                      <a:endParaRPr lang="en-US" sz="1200" dirty="0">
                        <a:latin typeface="Arial" charset="0"/>
                        <a:ea typeface="Arial" charset="0"/>
                        <a:cs typeface="Arial" charset="0"/>
                      </a:endParaRPr>
                    </a:p>
                  </a:txBody>
                  <a:tcPr marL="91440" marR="91440" marT="45720" marB="45720"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tc>
                  <a:txBody>
                    <a:bodyPr/>
                    <a:lstStyle/>
                    <a:p>
                      <a:pPr indent="0" marL="0">
                        <a:buNone/>
                      </a:pPr>
                      <a:r>
                        <a:rPr lang="en-US" sz="1200" dirty="0">
                          <a:solidFill>
                            <a:srgbClr val="1A2A4A"/>
                          </a:solidFill>
                          <a:latin typeface="Arial" pitchFamily="34" charset="0"/>
                          <a:ea typeface="Arial" pitchFamily="34" charset="-122"/>
                          <a:cs typeface="Arial" pitchFamily="34" charset="-120"/>
                        </a:rPr>
                        <a:t>1 – 5</a:t>
                      </a:r>
                      <a:endParaRPr lang="en-US" sz="1200" dirty="0">
                        <a:latin typeface="Arial" charset="0"/>
                        <a:ea typeface="Arial" charset="0"/>
                        <a:cs typeface="Arial" charset="0"/>
                      </a:endParaRPr>
                    </a:p>
                  </a:txBody>
                  <a:tcPr marL="91440" marR="91440" marT="45720" marB="45720"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tr>
              <a:tr h="384048">
                <a:tc>
                  <a:txBody>
                    <a:bodyPr/>
                    <a:lstStyle/>
                    <a:p>
                      <a:pPr indent="0" marL="0">
                        <a:buNone/>
                      </a:pPr>
                      <a:r>
                        <a:rPr lang="en-US" sz="1200" b="1" dirty="0">
                          <a:solidFill>
                            <a:srgbClr val="142850"/>
                          </a:solidFill>
                          <a:latin typeface="Arial" pitchFamily="34" charset="0"/>
                          <a:ea typeface="Arial" pitchFamily="34" charset="-122"/>
                          <a:cs typeface="Arial" pitchFamily="34" charset="-120"/>
                        </a:rPr>
                        <a:t>Final Exam Marks (out of 100)</a:t>
                      </a:r>
                      <a:endParaRPr lang="en-US" sz="1200" dirty="0">
                        <a:latin typeface="Arial" charset="0"/>
                        <a:ea typeface="Arial" charset="0"/>
                        <a:cs typeface="Arial" charset="0"/>
                      </a:endParaRPr>
                    </a:p>
                  </a:txBody>
                  <a:tcPr marL="91440" marR="91440" marT="45720" marB="45720"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tc>
                  <a:txBody>
                    <a:bodyPr/>
                    <a:lstStyle/>
                    <a:p>
                      <a:pPr indent="0" marL="0">
                        <a:buNone/>
                      </a:pPr>
                      <a:r>
                        <a:rPr lang="en-US" sz="1200" b="1" dirty="0">
                          <a:solidFill>
                            <a:srgbClr val="142850"/>
                          </a:solidFill>
                          <a:latin typeface="Arial" pitchFamily="34" charset="0"/>
                          <a:ea typeface="Arial" pitchFamily="34" charset="-122"/>
                          <a:cs typeface="Arial" pitchFamily="34" charset="-120"/>
                        </a:rPr>
                        <a:t>Target</a:t>
                      </a:r>
                      <a:endParaRPr lang="en-US" sz="1200" dirty="0">
                        <a:latin typeface="Arial" charset="0"/>
                        <a:ea typeface="Arial" charset="0"/>
                        <a:cs typeface="Arial" charset="0"/>
                      </a:endParaRPr>
                    </a:p>
                  </a:txBody>
                  <a:tcPr marL="91440" marR="91440" marT="45720" marB="45720"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tc>
                  <a:txBody>
                    <a:bodyPr/>
                    <a:lstStyle/>
                    <a:p>
                      <a:pPr indent="0" marL="0">
                        <a:buNone/>
                      </a:pPr>
                      <a:r>
                        <a:rPr lang="en-US" sz="1200" b="1" dirty="0">
                          <a:solidFill>
                            <a:srgbClr val="142850"/>
                          </a:solidFill>
                          <a:latin typeface="Arial" pitchFamily="34" charset="0"/>
                          <a:ea typeface="Arial" pitchFamily="34" charset="-122"/>
                          <a:cs typeface="Arial" pitchFamily="34" charset="-120"/>
                        </a:rPr>
                        <a:t>25 – 100 (mean 64.86)</a:t>
                      </a:r>
                      <a:endParaRPr lang="en-US" sz="1200" dirty="0">
                        <a:latin typeface="Arial" charset="0"/>
                        <a:ea typeface="Arial" charset="0"/>
                        <a:cs typeface="Arial" charset="0"/>
                      </a:endParaRPr>
                    </a:p>
                  </a:txBody>
                  <a:tcPr marL="91440" marR="91440" marT="45720" marB="45720"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A2A4A"/>
                          </a:solidFill>
                          <a:latin typeface="Arial" pitchFamily="34" charset="0"/>
                          <a:ea typeface="Arial" pitchFamily="34" charset="-122"/>
                          <a:cs typeface="Arial" pitchFamily="34" charset="-120"/>
                        </a:rPr>
                        <a:t>Student_ID</a:t>
                      </a:r>
                      <a:endParaRPr lang="en-US" sz="1200" dirty="0">
                        <a:latin typeface="Arial" charset="0"/>
                        <a:ea typeface="Arial" charset="0"/>
                        <a:cs typeface="Arial" charset="0"/>
                      </a:endParaRPr>
                    </a:p>
                  </a:txBody>
                  <a:tcPr marL="91440" marR="91440" marT="45720" marB="45720"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tc>
                  <a:txBody>
                    <a:bodyPr/>
                    <a:lstStyle/>
                    <a:p>
                      <a:pPr indent="0" marL="0">
                        <a:buNone/>
                      </a:pPr>
                      <a:r>
                        <a:rPr lang="en-US" sz="1200" dirty="0">
                          <a:solidFill>
                            <a:srgbClr val="1A2A4A"/>
                          </a:solidFill>
                          <a:latin typeface="Arial" pitchFamily="34" charset="0"/>
                          <a:ea typeface="Arial" pitchFamily="34" charset="-122"/>
                          <a:cs typeface="Arial" pitchFamily="34" charset="-120"/>
                        </a:rPr>
                        <a:t>Identifier (not a model input)</a:t>
                      </a:r>
                      <a:endParaRPr lang="en-US" sz="1200" dirty="0">
                        <a:latin typeface="Arial" charset="0"/>
                        <a:ea typeface="Arial" charset="0"/>
                        <a:cs typeface="Arial" charset="0"/>
                      </a:endParaRPr>
                    </a:p>
                  </a:txBody>
                  <a:tcPr marL="91440" marR="91440" marT="45720" marB="45720"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tc>
                  <a:txBody>
                    <a:bodyPr/>
                    <a:lstStyle/>
                    <a:p>
                      <a:pPr indent="0" marL="0">
                        <a:buNone/>
                      </a:pPr>
                      <a:r>
                        <a:rPr lang="en-US" sz="1200" dirty="0">
                          <a:solidFill>
                            <a:srgbClr val="1A2A4A"/>
                          </a:solidFill>
                          <a:latin typeface="Arial" pitchFamily="34" charset="0"/>
                          <a:ea typeface="Arial" pitchFamily="34" charset="-122"/>
                          <a:cs typeface="Arial" pitchFamily="34" charset="-120"/>
                        </a:rPr>
                        <a:t>S1000 – S2999</a:t>
                      </a:r>
                      <a:endParaRPr lang="en-US" sz="1200" dirty="0">
                        <a:latin typeface="Arial" charset="0"/>
                        <a:ea typeface="Arial" charset="0"/>
                        <a:cs typeface="Arial" charset="0"/>
                      </a:endParaRPr>
                    </a:p>
                  </a:txBody>
                  <a:tcPr marL="91440" marR="91440" marT="45720" marB="45720"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tr>
            </a:tbl>
          </a:graphicData>
        </a:graphic>
      </p:graphicFrame>
      <p:sp>
        <p:nvSpPr>
          <p:cNvPr id="18" name="Text 15"/>
          <p:cNvSpPr txBox="1"/>
          <p:nvPr/>
        </p:nvSpPr>
        <p:spPr>
          <a:xfrm>
            <a:off x="4389120" y="5257800"/>
            <a:ext cx="7178040" cy="274320"/>
          </a:xfrm>
          <a:prstGeom prst="rect">
            <a:avLst/>
          </a:prstGeom>
          <a:noFill/>
          <a:ln/>
        </p:spPr>
        <p:txBody>
          <a:bodyPr wrap="square" lIns="0" tIns="0" rIns="0" bIns="0" rtlCol="0" anchor="t"/>
          <a:lstStyle/>
          <a:p>
            <a:pPr indent="0" marL="0">
              <a:buNone/>
            </a:pPr>
            <a:r>
              <a:rPr lang="en-US" sz="1200" b="1" dirty="0">
                <a:solidFill>
                  <a:srgbClr val="1E9E64"/>
                </a:solidFill>
                <a:latin typeface="Arial" pitchFamily="34" charset="0"/>
                <a:ea typeface="Arial" pitchFamily="34" charset="-122"/>
                <a:cs typeface="Arial" pitchFamily="34" charset="-120"/>
              </a:rPr>
              <a:t>No missing values  ·  No duplicate students  ·  All features numeric</a:t>
            </a:r>
            <a:endParaRPr lang="en-US" sz="1200" dirty="0"/>
          </a:p>
        </p:txBody>
      </p:sp>
      <p:sp>
        <p:nvSpPr>
          <p:cNvPr id="19" name="Text 16"/>
          <p:cNvSpPr txBox="1"/>
          <p:nvPr/>
        </p:nvSpPr>
        <p:spPr>
          <a:xfrm>
            <a:off x="4389120" y="5623560"/>
            <a:ext cx="7178040" cy="274320"/>
          </a:xfrm>
          <a:prstGeom prst="rect">
            <a:avLst/>
          </a:prstGeom>
          <a:noFill/>
          <a:ln/>
        </p:spPr>
        <p:txBody>
          <a:bodyPr wrap="square" lIns="0" tIns="0" rIns="0" bIns="0" rtlCol="0" anchor="t"/>
          <a:lstStyle/>
          <a:p>
            <a:pPr indent="0" marL="0">
              <a:buNone/>
            </a:pPr>
            <a:r>
              <a:rPr lang="en-US" sz="1100" i="1" dirty="0">
                <a:solidFill>
                  <a:srgbClr val="C27A12"/>
                </a:solidFill>
                <a:latin typeface="Arial" pitchFamily="34" charset="0"/>
                <a:ea typeface="Arial" pitchFamily="34" charset="-122"/>
                <a:cs typeface="Arial" pitchFamily="34" charset="-120"/>
              </a:rPr>
              <a:t>External dataset origin not verified in the current project documentation.</a:t>
            </a:r>
            <a:endParaRPr lang="en-US" sz="1100" dirty="0"/>
          </a:p>
        </p:txBody>
      </p:sp>
      <p:sp>
        <p:nvSpPr>
          <p:cNvPr id="20" name="Text 17"/>
          <p:cNvSpPr txBox="1"/>
          <p:nvPr/>
        </p:nvSpPr>
        <p:spPr>
          <a:xfrm>
            <a:off x="640080" y="6473952"/>
            <a:ext cx="7315200" cy="201168"/>
          </a:xfrm>
          <a:prstGeom prst="rect">
            <a:avLst/>
          </a:prstGeom>
          <a:noFill/>
          <a:ln/>
        </p:spPr>
        <p:txBody>
          <a:bodyPr wrap="square" lIns="0" tIns="0" rIns="0" bIns="0" rtlCol="0" anchor="t"/>
          <a:lstStyle/>
          <a:p>
            <a:pPr indent="0" marL="0">
              <a:buNone/>
            </a:pPr>
            <a:r>
              <a:rPr lang="en-US" sz="800" spc="200" kern="0" dirty="0">
                <a:solidFill>
                  <a:srgbClr val="A6B3CC"/>
                </a:solidFill>
                <a:latin typeface="Arial" pitchFamily="34" charset="0"/>
                <a:ea typeface="Arial" pitchFamily="34" charset="-122"/>
                <a:cs typeface="Arial" pitchFamily="34" charset="-120"/>
              </a:rPr>
              <a:t>AI STUDENT PERFORMANCE PREDICTION  ·  DECISION SUPPORT  ·  EXPLAINABLE AI</a:t>
            </a:r>
            <a:endParaRPr lang="en-US" sz="800" dirty="0"/>
          </a:p>
        </p:txBody>
      </p:sp>
      <p:sp>
        <p:nvSpPr>
          <p:cNvPr id="21" name="Text 18"/>
          <p:cNvSpPr txBox="1"/>
          <p:nvPr/>
        </p:nvSpPr>
        <p:spPr>
          <a:xfrm>
            <a:off x="11155680" y="6473952"/>
            <a:ext cx="411480" cy="201168"/>
          </a:xfrm>
          <a:prstGeom prst="rect">
            <a:avLst/>
          </a:prstGeom>
          <a:noFill/>
          <a:ln/>
        </p:spPr>
        <p:txBody>
          <a:bodyPr wrap="square" lIns="0" tIns="0" rIns="0" bIns="0" rtlCol="0" anchor="t"/>
          <a:lstStyle/>
          <a:p>
            <a:pPr algn="r" indent="0" marL="0">
              <a:buNone/>
            </a:pPr>
            <a:r>
              <a:rPr lang="en-US" sz="900" dirty="0">
                <a:solidFill>
                  <a:srgbClr val="A6B3CC"/>
                </a:solidFill>
                <a:latin typeface="Arial" pitchFamily="34" charset="0"/>
                <a:ea typeface="Arial" pitchFamily="34" charset="-122"/>
                <a:cs typeface="Arial"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515600" cy="274320"/>
          </a:xfrm>
          <a:prstGeom prst="rect">
            <a:avLst/>
          </a:prstGeom>
          <a:noFill/>
          <a:ln/>
        </p:spPr>
        <p:txBody>
          <a:bodyPr wrap="square" lIns="0" tIns="0" rIns="0" bIns="0" rtlCol="0" anchor="t"/>
          <a:lstStyle/>
          <a:p>
            <a:pPr indent="0" marL="0">
              <a:buNone/>
            </a:pPr>
            <a:r>
              <a:rPr lang="en-US" sz="1100" b="1" spc="300" kern="0" dirty="0">
                <a:solidFill>
                  <a:srgbClr val="2F6FED"/>
                </a:solidFill>
                <a:latin typeface="Arial" pitchFamily="34" charset="0"/>
                <a:ea typeface="Arial" pitchFamily="34" charset="-122"/>
                <a:cs typeface="Arial" pitchFamily="34" charset="-120"/>
              </a:rPr>
              <a:t>METHODOLOGY</a:t>
            </a:r>
            <a:endParaRPr lang="en-US" sz="1100" dirty="0"/>
          </a:p>
        </p:txBody>
      </p:sp>
      <p:sp>
        <p:nvSpPr>
          <p:cNvPr id="3" name="Text 1"/>
          <p:cNvSpPr txBox="1"/>
          <p:nvPr/>
        </p:nvSpPr>
        <p:spPr>
          <a:xfrm>
            <a:off x="640080" y="713232"/>
            <a:ext cx="10972800" cy="640080"/>
          </a:xfrm>
          <a:prstGeom prst="rect">
            <a:avLst/>
          </a:prstGeom>
          <a:noFill/>
          <a:ln/>
        </p:spPr>
        <p:txBody>
          <a:bodyPr wrap="square" lIns="0" tIns="0" rIns="0" bIns="0" rtlCol="0" anchor="ctr"/>
          <a:lstStyle/>
          <a:p>
            <a:pPr indent="0" marL="0">
              <a:buNone/>
            </a:pPr>
            <a:r>
              <a:rPr lang="en-US" sz="3000" b="1" dirty="0">
                <a:solidFill>
                  <a:srgbClr val="142850"/>
                </a:solidFill>
                <a:latin typeface="Cambria" pitchFamily="34" charset="0"/>
                <a:ea typeface="Cambria" pitchFamily="34" charset="-122"/>
                <a:cs typeface="Cambria" pitchFamily="34" charset="-120"/>
              </a:rPr>
              <a:t>From academic inputs to explained predictions</a:t>
            </a:r>
            <a:endParaRPr lang="en-US" sz="3000" dirty="0"/>
          </a:p>
        </p:txBody>
      </p:sp>
      <p:sp>
        <p:nvSpPr>
          <p:cNvPr id="4" name="Text 2"/>
          <p:cNvSpPr txBox="1"/>
          <p:nvPr/>
        </p:nvSpPr>
        <p:spPr>
          <a:xfrm>
            <a:off x="640080" y="1371600"/>
            <a:ext cx="10881360" cy="365760"/>
          </a:xfrm>
          <a:prstGeom prst="rect">
            <a:avLst/>
          </a:prstGeom>
          <a:noFill/>
          <a:ln/>
        </p:spPr>
        <p:txBody>
          <a:bodyPr wrap="square" lIns="0" tIns="0" rIns="0" bIns="0" rtlCol="0" anchor="t"/>
          <a:lstStyle/>
          <a:p>
            <a:pPr indent="0" marL="0">
              <a:buNone/>
            </a:pPr>
            <a:r>
              <a:rPr lang="en-US" sz="1400" dirty="0">
                <a:solidFill>
                  <a:srgbClr val="5B6B87"/>
                </a:solidFill>
                <a:latin typeface="Arial" pitchFamily="34" charset="0"/>
                <a:ea typeface="Arial" pitchFamily="34" charset="-122"/>
                <a:cs typeface="Arial" pitchFamily="34" charset="-120"/>
              </a:rPr>
              <a:t>Prediction pipeline used by the production system, and how the models were evaluated.</a:t>
            </a:r>
            <a:endParaRPr lang="en-US" sz="1400" dirty="0"/>
          </a:p>
        </p:txBody>
      </p:sp>
      <p:sp>
        <p:nvSpPr>
          <p:cNvPr id="5" name="Shape 3"/>
          <p:cNvSpPr/>
          <p:nvPr/>
        </p:nvSpPr>
        <p:spPr>
          <a:xfrm>
            <a:off x="640080" y="2057400"/>
            <a:ext cx="2377440" cy="868680"/>
          </a:xfrm>
          <a:prstGeom prst="roundRect">
            <a:avLst>
              <a:gd name="adj" fmla="val 12632"/>
            </a:avLst>
          </a:prstGeom>
          <a:solidFill>
            <a:srgbClr val="E9F0FF"/>
          </a:solidFill>
          <a:ln w="9525">
            <a:solidFill>
              <a:srgbClr val="E9F0FF"/>
            </a:solidFill>
            <a:prstDash val="solid"/>
          </a:ln>
        </p:spPr>
      </p:sp>
      <p:sp>
        <p:nvSpPr>
          <p:cNvPr id="6" name="Shape 4"/>
          <p:cNvSpPr/>
          <p:nvPr/>
        </p:nvSpPr>
        <p:spPr>
          <a:xfrm>
            <a:off x="777240" y="2313432"/>
            <a:ext cx="365760" cy="365760"/>
          </a:xfrm>
          <a:prstGeom prst="ellipse">
            <a:avLst/>
          </a:prstGeom>
          <a:solidFill>
            <a:srgbClr val="2F6FED"/>
          </a:solidFill>
          <a:ln w="6350">
            <a:solidFill>
              <a:srgbClr val="2F6FED"/>
            </a:solidFill>
            <a:prstDash val="solid"/>
          </a:ln>
        </p:spPr>
      </p:sp>
      <p:sp>
        <p:nvSpPr>
          <p:cNvPr id="7" name="Text 5"/>
          <p:cNvSpPr txBox="1"/>
          <p:nvPr/>
        </p:nvSpPr>
        <p:spPr>
          <a:xfrm>
            <a:off x="777240" y="231343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8" name="Text 6"/>
          <p:cNvSpPr txBox="1"/>
          <p:nvPr/>
        </p:nvSpPr>
        <p:spPr>
          <a:xfrm>
            <a:off x="1234440" y="2057400"/>
            <a:ext cx="1691640" cy="868680"/>
          </a:xfrm>
          <a:prstGeom prst="rect">
            <a:avLst/>
          </a:prstGeom>
          <a:noFill/>
          <a:ln/>
        </p:spPr>
        <p:txBody>
          <a:bodyPr wrap="square" lIns="0" tIns="0" rIns="0" bIns="0" rtlCol="0" anchor="ctr"/>
          <a:lstStyle/>
          <a:p>
            <a:pPr indent="0" marL="0">
              <a:buNone/>
            </a:pPr>
            <a:r>
              <a:rPr lang="en-US" sz="1300" b="1" dirty="0">
                <a:solidFill>
                  <a:srgbClr val="142850"/>
                </a:solidFill>
                <a:latin typeface="Arial" pitchFamily="34" charset="0"/>
                <a:ea typeface="Arial" pitchFamily="34" charset="-122"/>
                <a:cs typeface="Arial" pitchFamily="34" charset="-120"/>
              </a:rPr>
              <a:t>Student academic inputs</a:t>
            </a:r>
            <a:endParaRPr lang="en-US" sz="1300" dirty="0"/>
          </a:p>
        </p:txBody>
      </p:sp>
      <p:sp>
        <p:nvSpPr>
          <p:cNvPr id="9" name="Shape 7"/>
          <p:cNvSpPr/>
          <p:nvPr/>
        </p:nvSpPr>
        <p:spPr>
          <a:xfrm>
            <a:off x="3090672" y="2372868"/>
            <a:ext cx="338328" cy="237744"/>
          </a:xfrm>
          <a:prstGeom prst="rightArrow">
            <a:avLst/>
          </a:prstGeom>
          <a:solidFill>
            <a:srgbClr val="2F6FED"/>
          </a:solidFill>
          <a:ln w="6350">
            <a:solidFill>
              <a:srgbClr val="2F6FED"/>
            </a:solidFill>
            <a:prstDash val="solid"/>
          </a:ln>
        </p:spPr>
      </p:sp>
      <p:sp>
        <p:nvSpPr>
          <p:cNvPr id="10" name="Shape 8"/>
          <p:cNvSpPr/>
          <p:nvPr/>
        </p:nvSpPr>
        <p:spPr>
          <a:xfrm>
            <a:off x="3502152" y="2057400"/>
            <a:ext cx="2377440" cy="868680"/>
          </a:xfrm>
          <a:prstGeom prst="roundRect">
            <a:avLst>
              <a:gd name="adj" fmla="val 12632"/>
            </a:avLst>
          </a:prstGeom>
          <a:solidFill>
            <a:srgbClr val="E9F0FF"/>
          </a:solidFill>
          <a:ln w="9525">
            <a:solidFill>
              <a:srgbClr val="E9F0FF"/>
            </a:solidFill>
            <a:prstDash val="solid"/>
          </a:ln>
        </p:spPr>
      </p:sp>
      <p:sp>
        <p:nvSpPr>
          <p:cNvPr id="11" name="Shape 9"/>
          <p:cNvSpPr/>
          <p:nvPr/>
        </p:nvSpPr>
        <p:spPr>
          <a:xfrm>
            <a:off x="3639312" y="2313432"/>
            <a:ext cx="365760" cy="365760"/>
          </a:xfrm>
          <a:prstGeom prst="ellipse">
            <a:avLst/>
          </a:prstGeom>
          <a:solidFill>
            <a:srgbClr val="2F6FED"/>
          </a:solidFill>
          <a:ln w="6350">
            <a:solidFill>
              <a:srgbClr val="2F6FED"/>
            </a:solidFill>
            <a:prstDash val="solid"/>
          </a:ln>
        </p:spPr>
      </p:sp>
      <p:sp>
        <p:nvSpPr>
          <p:cNvPr id="12" name="Text 10"/>
          <p:cNvSpPr txBox="1"/>
          <p:nvPr/>
        </p:nvSpPr>
        <p:spPr>
          <a:xfrm>
            <a:off x="3639312" y="231343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3" name="Text 11"/>
          <p:cNvSpPr txBox="1"/>
          <p:nvPr/>
        </p:nvSpPr>
        <p:spPr>
          <a:xfrm>
            <a:off x="4096512" y="2057400"/>
            <a:ext cx="1691640" cy="868680"/>
          </a:xfrm>
          <a:prstGeom prst="rect">
            <a:avLst/>
          </a:prstGeom>
          <a:noFill/>
          <a:ln/>
        </p:spPr>
        <p:txBody>
          <a:bodyPr wrap="square" lIns="0" tIns="0" rIns="0" bIns="0" rtlCol="0" anchor="ctr"/>
          <a:lstStyle/>
          <a:p>
            <a:pPr indent="0" marL="0">
              <a:buNone/>
            </a:pPr>
            <a:r>
              <a:rPr lang="en-US" sz="1300" b="1" dirty="0">
                <a:solidFill>
                  <a:srgbClr val="142850"/>
                </a:solidFill>
                <a:latin typeface="Arial" pitchFamily="34" charset="0"/>
                <a:ea typeface="Arial" pitchFamily="34" charset="-122"/>
                <a:cs typeface="Arial" pitchFamily="34" charset="-120"/>
              </a:rPr>
              <a:t>Input validation</a:t>
            </a:r>
            <a:endParaRPr lang="en-US" sz="1300" dirty="0"/>
          </a:p>
        </p:txBody>
      </p:sp>
      <p:sp>
        <p:nvSpPr>
          <p:cNvPr id="14" name="Shape 12"/>
          <p:cNvSpPr/>
          <p:nvPr/>
        </p:nvSpPr>
        <p:spPr>
          <a:xfrm>
            <a:off x="5952744" y="2372868"/>
            <a:ext cx="338328" cy="237744"/>
          </a:xfrm>
          <a:prstGeom prst="rightArrow">
            <a:avLst/>
          </a:prstGeom>
          <a:solidFill>
            <a:srgbClr val="2F6FED"/>
          </a:solidFill>
          <a:ln w="6350">
            <a:solidFill>
              <a:srgbClr val="2F6FED"/>
            </a:solidFill>
            <a:prstDash val="solid"/>
          </a:ln>
        </p:spPr>
      </p:sp>
      <p:sp>
        <p:nvSpPr>
          <p:cNvPr id="15" name="Shape 13"/>
          <p:cNvSpPr/>
          <p:nvPr/>
        </p:nvSpPr>
        <p:spPr>
          <a:xfrm>
            <a:off x="6364224" y="2057400"/>
            <a:ext cx="2377440" cy="868680"/>
          </a:xfrm>
          <a:prstGeom prst="roundRect">
            <a:avLst>
              <a:gd name="adj" fmla="val 12632"/>
            </a:avLst>
          </a:prstGeom>
          <a:solidFill>
            <a:srgbClr val="E9F0FF"/>
          </a:solidFill>
          <a:ln w="9525">
            <a:solidFill>
              <a:srgbClr val="E9F0FF"/>
            </a:solidFill>
            <a:prstDash val="solid"/>
          </a:ln>
        </p:spPr>
      </p:sp>
      <p:sp>
        <p:nvSpPr>
          <p:cNvPr id="16" name="Shape 14"/>
          <p:cNvSpPr/>
          <p:nvPr/>
        </p:nvSpPr>
        <p:spPr>
          <a:xfrm>
            <a:off x="6501384" y="2313432"/>
            <a:ext cx="365760" cy="365760"/>
          </a:xfrm>
          <a:prstGeom prst="ellipse">
            <a:avLst/>
          </a:prstGeom>
          <a:solidFill>
            <a:srgbClr val="2F6FED"/>
          </a:solidFill>
          <a:ln w="6350">
            <a:solidFill>
              <a:srgbClr val="2F6FED"/>
            </a:solidFill>
            <a:prstDash val="solid"/>
          </a:ln>
        </p:spPr>
      </p:sp>
      <p:sp>
        <p:nvSpPr>
          <p:cNvPr id="17" name="Text 15"/>
          <p:cNvSpPr txBox="1"/>
          <p:nvPr/>
        </p:nvSpPr>
        <p:spPr>
          <a:xfrm>
            <a:off x="6501384" y="231343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8" name="Text 16"/>
          <p:cNvSpPr txBox="1"/>
          <p:nvPr/>
        </p:nvSpPr>
        <p:spPr>
          <a:xfrm>
            <a:off x="6958584" y="2057400"/>
            <a:ext cx="1691640" cy="868680"/>
          </a:xfrm>
          <a:prstGeom prst="rect">
            <a:avLst/>
          </a:prstGeom>
          <a:noFill/>
          <a:ln/>
        </p:spPr>
        <p:txBody>
          <a:bodyPr wrap="square" lIns="0" tIns="0" rIns="0" bIns="0" rtlCol="0" anchor="ctr"/>
          <a:lstStyle/>
          <a:p>
            <a:pPr indent="0" marL="0">
              <a:buNone/>
            </a:pPr>
            <a:r>
              <a:rPr lang="en-US" sz="1300" b="1" dirty="0">
                <a:solidFill>
                  <a:srgbClr val="142850"/>
                </a:solidFill>
                <a:latin typeface="Arial" pitchFamily="34" charset="0"/>
                <a:ea typeface="Arial" pitchFamily="34" charset="-122"/>
                <a:cs typeface="Arial" pitchFamily="34" charset="-120"/>
              </a:rPr>
              <a:t>StandardScaler</a:t>
            </a:r>
            <a:endParaRPr lang="en-US" sz="1300" dirty="0"/>
          </a:p>
        </p:txBody>
      </p:sp>
      <p:sp>
        <p:nvSpPr>
          <p:cNvPr id="19" name="Shape 17"/>
          <p:cNvSpPr/>
          <p:nvPr/>
        </p:nvSpPr>
        <p:spPr>
          <a:xfrm>
            <a:off x="8814816" y="2372868"/>
            <a:ext cx="338328" cy="237744"/>
          </a:xfrm>
          <a:prstGeom prst="rightArrow">
            <a:avLst/>
          </a:prstGeom>
          <a:solidFill>
            <a:srgbClr val="2F6FED"/>
          </a:solidFill>
          <a:ln w="6350">
            <a:solidFill>
              <a:srgbClr val="2F6FED"/>
            </a:solidFill>
            <a:prstDash val="solid"/>
          </a:ln>
        </p:spPr>
      </p:sp>
      <p:sp>
        <p:nvSpPr>
          <p:cNvPr id="20" name="Shape 18"/>
          <p:cNvSpPr/>
          <p:nvPr/>
        </p:nvSpPr>
        <p:spPr>
          <a:xfrm>
            <a:off x="9226296" y="2057400"/>
            <a:ext cx="2377440" cy="868680"/>
          </a:xfrm>
          <a:prstGeom prst="roundRect">
            <a:avLst>
              <a:gd name="adj" fmla="val 12632"/>
            </a:avLst>
          </a:prstGeom>
          <a:solidFill>
            <a:srgbClr val="E9F0FF"/>
          </a:solidFill>
          <a:ln w="9525">
            <a:solidFill>
              <a:srgbClr val="E9F0FF"/>
            </a:solidFill>
            <a:prstDash val="solid"/>
          </a:ln>
        </p:spPr>
      </p:sp>
      <p:sp>
        <p:nvSpPr>
          <p:cNvPr id="21" name="Shape 19"/>
          <p:cNvSpPr/>
          <p:nvPr/>
        </p:nvSpPr>
        <p:spPr>
          <a:xfrm>
            <a:off x="9363456" y="2313432"/>
            <a:ext cx="365760" cy="365760"/>
          </a:xfrm>
          <a:prstGeom prst="ellipse">
            <a:avLst/>
          </a:prstGeom>
          <a:solidFill>
            <a:srgbClr val="2F6FED"/>
          </a:solidFill>
          <a:ln w="6350">
            <a:solidFill>
              <a:srgbClr val="2F6FED"/>
            </a:solidFill>
            <a:prstDash val="solid"/>
          </a:ln>
        </p:spPr>
      </p:sp>
      <p:sp>
        <p:nvSpPr>
          <p:cNvPr id="22" name="Text 20"/>
          <p:cNvSpPr txBox="1"/>
          <p:nvPr/>
        </p:nvSpPr>
        <p:spPr>
          <a:xfrm>
            <a:off x="9363456" y="231343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23" name="Text 21"/>
          <p:cNvSpPr txBox="1"/>
          <p:nvPr/>
        </p:nvSpPr>
        <p:spPr>
          <a:xfrm>
            <a:off x="9820656" y="2057400"/>
            <a:ext cx="1691640" cy="868680"/>
          </a:xfrm>
          <a:prstGeom prst="rect">
            <a:avLst/>
          </a:prstGeom>
          <a:noFill/>
          <a:ln/>
        </p:spPr>
        <p:txBody>
          <a:bodyPr wrap="square" lIns="0" tIns="0" rIns="0" bIns="0" rtlCol="0" anchor="ctr"/>
          <a:lstStyle/>
          <a:p>
            <a:pPr indent="0" marL="0">
              <a:buNone/>
            </a:pPr>
            <a:r>
              <a:rPr lang="en-US" sz="1300" b="1" dirty="0">
                <a:solidFill>
                  <a:srgbClr val="142850"/>
                </a:solidFill>
                <a:latin typeface="Arial" pitchFamily="34" charset="0"/>
                <a:ea typeface="Arial" pitchFamily="34" charset="-122"/>
                <a:cs typeface="Arial" pitchFamily="34" charset="-120"/>
              </a:rPr>
              <a:t>Linear Regression</a:t>
            </a:r>
            <a:endParaRPr lang="en-US" sz="1300" dirty="0"/>
          </a:p>
        </p:txBody>
      </p:sp>
      <p:sp>
        <p:nvSpPr>
          <p:cNvPr id="24" name="Shape 22"/>
          <p:cNvSpPr/>
          <p:nvPr/>
        </p:nvSpPr>
        <p:spPr>
          <a:xfrm>
            <a:off x="9226296" y="3657600"/>
            <a:ext cx="2377440" cy="868680"/>
          </a:xfrm>
          <a:prstGeom prst="roundRect">
            <a:avLst>
              <a:gd name="adj" fmla="val 12632"/>
            </a:avLst>
          </a:prstGeom>
          <a:solidFill>
            <a:srgbClr val="F4F7FE"/>
          </a:solidFill>
          <a:ln w="9525">
            <a:solidFill>
              <a:srgbClr val="D8E1F5"/>
            </a:solidFill>
            <a:prstDash val="solid"/>
          </a:ln>
        </p:spPr>
      </p:sp>
      <p:sp>
        <p:nvSpPr>
          <p:cNvPr id="25" name="Shape 23"/>
          <p:cNvSpPr/>
          <p:nvPr/>
        </p:nvSpPr>
        <p:spPr>
          <a:xfrm>
            <a:off x="9363456" y="3913632"/>
            <a:ext cx="365760" cy="365760"/>
          </a:xfrm>
          <a:prstGeom prst="ellipse">
            <a:avLst/>
          </a:prstGeom>
          <a:solidFill>
            <a:srgbClr val="2F6FED"/>
          </a:solidFill>
          <a:ln w="6350">
            <a:solidFill>
              <a:srgbClr val="2F6FED"/>
            </a:solidFill>
            <a:prstDash val="solid"/>
          </a:ln>
        </p:spPr>
      </p:sp>
      <p:sp>
        <p:nvSpPr>
          <p:cNvPr id="26" name="Text 24"/>
          <p:cNvSpPr txBox="1"/>
          <p:nvPr/>
        </p:nvSpPr>
        <p:spPr>
          <a:xfrm>
            <a:off x="9363456" y="391363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27" name="Text 25"/>
          <p:cNvSpPr txBox="1"/>
          <p:nvPr/>
        </p:nvSpPr>
        <p:spPr>
          <a:xfrm>
            <a:off x="9820656" y="3657600"/>
            <a:ext cx="1691640" cy="868680"/>
          </a:xfrm>
          <a:prstGeom prst="rect">
            <a:avLst/>
          </a:prstGeom>
          <a:noFill/>
          <a:ln/>
        </p:spPr>
        <p:txBody>
          <a:bodyPr wrap="square" lIns="0" tIns="0" rIns="0" bIns="0" rtlCol="0" anchor="ctr"/>
          <a:lstStyle/>
          <a:p>
            <a:pPr indent="0" marL="0">
              <a:buNone/>
            </a:pPr>
            <a:r>
              <a:rPr lang="en-US" sz="1300" b="1" dirty="0">
                <a:solidFill>
                  <a:srgbClr val="142850"/>
                </a:solidFill>
                <a:latin typeface="Arial" pitchFamily="34" charset="0"/>
                <a:ea typeface="Arial" pitchFamily="34" charset="-122"/>
                <a:cs typeface="Arial" pitchFamily="34" charset="-120"/>
              </a:rPr>
              <a:t>Predicted final exam marks</a:t>
            </a:r>
            <a:endParaRPr lang="en-US" sz="1300" dirty="0"/>
          </a:p>
        </p:txBody>
      </p:sp>
      <p:sp>
        <p:nvSpPr>
          <p:cNvPr id="28" name="Shape 26"/>
          <p:cNvSpPr/>
          <p:nvPr/>
        </p:nvSpPr>
        <p:spPr>
          <a:xfrm>
            <a:off x="6364224" y="3657600"/>
            <a:ext cx="2377440" cy="868680"/>
          </a:xfrm>
          <a:prstGeom prst="roundRect">
            <a:avLst>
              <a:gd name="adj" fmla="val 12632"/>
            </a:avLst>
          </a:prstGeom>
          <a:solidFill>
            <a:srgbClr val="F4F7FE"/>
          </a:solidFill>
          <a:ln w="9525">
            <a:solidFill>
              <a:srgbClr val="D8E1F5"/>
            </a:solidFill>
            <a:prstDash val="solid"/>
          </a:ln>
        </p:spPr>
      </p:sp>
      <p:sp>
        <p:nvSpPr>
          <p:cNvPr id="29" name="Shape 27"/>
          <p:cNvSpPr/>
          <p:nvPr/>
        </p:nvSpPr>
        <p:spPr>
          <a:xfrm>
            <a:off x="6501384" y="3913632"/>
            <a:ext cx="365760" cy="365760"/>
          </a:xfrm>
          <a:prstGeom prst="ellipse">
            <a:avLst/>
          </a:prstGeom>
          <a:solidFill>
            <a:srgbClr val="2F6FED"/>
          </a:solidFill>
          <a:ln w="6350">
            <a:solidFill>
              <a:srgbClr val="2F6FED"/>
            </a:solidFill>
            <a:prstDash val="solid"/>
          </a:ln>
        </p:spPr>
      </p:sp>
      <p:sp>
        <p:nvSpPr>
          <p:cNvPr id="30" name="Text 28"/>
          <p:cNvSpPr txBox="1"/>
          <p:nvPr/>
        </p:nvSpPr>
        <p:spPr>
          <a:xfrm>
            <a:off x="6501384" y="391363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6</a:t>
            </a:r>
            <a:endParaRPr lang="en-US" sz="1300" dirty="0"/>
          </a:p>
        </p:txBody>
      </p:sp>
      <p:sp>
        <p:nvSpPr>
          <p:cNvPr id="31" name="Text 29"/>
          <p:cNvSpPr txBox="1"/>
          <p:nvPr/>
        </p:nvSpPr>
        <p:spPr>
          <a:xfrm>
            <a:off x="6958584" y="3657600"/>
            <a:ext cx="1691640" cy="868680"/>
          </a:xfrm>
          <a:prstGeom prst="rect">
            <a:avLst/>
          </a:prstGeom>
          <a:noFill/>
          <a:ln/>
        </p:spPr>
        <p:txBody>
          <a:bodyPr wrap="square" lIns="0" tIns="0" rIns="0" bIns="0" rtlCol="0" anchor="ctr"/>
          <a:lstStyle/>
          <a:p>
            <a:pPr indent="0" marL="0">
              <a:buNone/>
            </a:pPr>
            <a:r>
              <a:rPr lang="en-US" sz="1300" b="1" dirty="0">
                <a:solidFill>
                  <a:srgbClr val="142850"/>
                </a:solidFill>
                <a:latin typeface="Arial" pitchFamily="34" charset="0"/>
                <a:ea typeface="Arial" pitchFamily="34" charset="-122"/>
                <a:cs typeface="Arial" pitchFamily="34" charset="-120"/>
              </a:rPr>
              <a:t>Early-warning classification</a:t>
            </a:r>
            <a:endParaRPr lang="en-US" sz="1300" dirty="0"/>
          </a:p>
        </p:txBody>
      </p:sp>
      <p:sp>
        <p:nvSpPr>
          <p:cNvPr id="32" name="Shape 30"/>
          <p:cNvSpPr/>
          <p:nvPr/>
        </p:nvSpPr>
        <p:spPr>
          <a:xfrm>
            <a:off x="3502152" y="3657600"/>
            <a:ext cx="2377440" cy="868680"/>
          </a:xfrm>
          <a:prstGeom prst="roundRect">
            <a:avLst>
              <a:gd name="adj" fmla="val 12632"/>
            </a:avLst>
          </a:prstGeom>
          <a:solidFill>
            <a:srgbClr val="F4F7FE"/>
          </a:solidFill>
          <a:ln w="9525">
            <a:solidFill>
              <a:srgbClr val="D8E1F5"/>
            </a:solidFill>
            <a:prstDash val="solid"/>
          </a:ln>
        </p:spPr>
      </p:sp>
      <p:sp>
        <p:nvSpPr>
          <p:cNvPr id="33" name="Shape 31"/>
          <p:cNvSpPr/>
          <p:nvPr/>
        </p:nvSpPr>
        <p:spPr>
          <a:xfrm>
            <a:off x="3639312" y="3913632"/>
            <a:ext cx="365760" cy="365760"/>
          </a:xfrm>
          <a:prstGeom prst="ellipse">
            <a:avLst/>
          </a:prstGeom>
          <a:solidFill>
            <a:srgbClr val="2F6FED"/>
          </a:solidFill>
          <a:ln w="6350">
            <a:solidFill>
              <a:srgbClr val="2F6FED"/>
            </a:solidFill>
            <a:prstDash val="solid"/>
          </a:ln>
        </p:spPr>
      </p:sp>
      <p:sp>
        <p:nvSpPr>
          <p:cNvPr id="34" name="Text 32"/>
          <p:cNvSpPr txBox="1"/>
          <p:nvPr/>
        </p:nvSpPr>
        <p:spPr>
          <a:xfrm>
            <a:off x="3639312" y="391363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7</a:t>
            </a:r>
            <a:endParaRPr lang="en-US" sz="1300" dirty="0"/>
          </a:p>
        </p:txBody>
      </p:sp>
      <p:sp>
        <p:nvSpPr>
          <p:cNvPr id="35" name="Text 33"/>
          <p:cNvSpPr txBox="1"/>
          <p:nvPr/>
        </p:nvSpPr>
        <p:spPr>
          <a:xfrm>
            <a:off x="4096512" y="3657600"/>
            <a:ext cx="1691640" cy="868680"/>
          </a:xfrm>
          <a:prstGeom prst="rect">
            <a:avLst/>
          </a:prstGeom>
          <a:noFill/>
          <a:ln/>
        </p:spPr>
        <p:txBody>
          <a:bodyPr wrap="square" lIns="0" tIns="0" rIns="0" bIns="0" rtlCol="0" anchor="ctr"/>
          <a:lstStyle/>
          <a:p>
            <a:pPr indent="0" marL="0">
              <a:buNone/>
            </a:pPr>
            <a:r>
              <a:rPr lang="en-US" sz="1300" b="1" dirty="0">
                <a:solidFill>
                  <a:srgbClr val="142850"/>
                </a:solidFill>
                <a:latin typeface="Arial" pitchFamily="34" charset="0"/>
                <a:ea typeface="Arial" pitchFamily="34" charset="-122"/>
                <a:cs typeface="Arial" pitchFamily="34" charset="-120"/>
              </a:rPr>
              <a:t>SHAP explanation</a:t>
            </a:r>
            <a:endParaRPr lang="en-US" sz="1300" dirty="0"/>
          </a:p>
        </p:txBody>
      </p:sp>
      <p:sp>
        <p:nvSpPr>
          <p:cNvPr id="36" name="Shape 34"/>
          <p:cNvSpPr/>
          <p:nvPr/>
        </p:nvSpPr>
        <p:spPr>
          <a:xfrm>
            <a:off x="640080" y="3657600"/>
            <a:ext cx="2377440" cy="868680"/>
          </a:xfrm>
          <a:prstGeom prst="roundRect">
            <a:avLst>
              <a:gd name="adj" fmla="val 12632"/>
            </a:avLst>
          </a:prstGeom>
          <a:solidFill>
            <a:srgbClr val="F4F7FE"/>
          </a:solidFill>
          <a:ln w="9525">
            <a:solidFill>
              <a:srgbClr val="D8E1F5"/>
            </a:solidFill>
            <a:prstDash val="solid"/>
          </a:ln>
        </p:spPr>
      </p:sp>
      <p:sp>
        <p:nvSpPr>
          <p:cNvPr id="37" name="Shape 35"/>
          <p:cNvSpPr/>
          <p:nvPr/>
        </p:nvSpPr>
        <p:spPr>
          <a:xfrm>
            <a:off x="777240" y="3913632"/>
            <a:ext cx="365760" cy="365760"/>
          </a:xfrm>
          <a:prstGeom prst="ellipse">
            <a:avLst/>
          </a:prstGeom>
          <a:solidFill>
            <a:srgbClr val="2F6FED"/>
          </a:solidFill>
          <a:ln w="6350">
            <a:solidFill>
              <a:srgbClr val="2F6FED"/>
            </a:solidFill>
            <a:prstDash val="solid"/>
          </a:ln>
        </p:spPr>
      </p:sp>
      <p:sp>
        <p:nvSpPr>
          <p:cNvPr id="38" name="Text 36"/>
          <p:cNvSpPr txBox="1"/>
          <p:nvPr/>
        </p:nvSpPr>
        <p:spPr>
          <a:xfrm>
            <a:off x="777240" y="391363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8</a:t>
            </a:r>
            <a:endParaRPr lang="en-US" sz="1300" dirty="0"/>
          </a:p>
        </p:txBody>
      </p:sp>
      <p:sp>
        <p:nvSpPr>
          <p:cNvPr id="39" name="Text 37"/>
          <p:cNvSpPr txBox="1"/>
          <p:nvPr/>
        </p:nvSpPr>
        <p:spPr>
          <a:xfrm>
            <a:off x="1234440" y="3657600"/>
            <a:ext cx="1691640" cy="868680"/>
          </a:xfrm>
          <a:prstGeom prst="rect">
            <a:avLst/>
          </a:prstGeom>
          <a:noFill/>
          <a:ln/>
        </p:spPr>
        <p:txBody>
          <a:bodyPr wrap="square" lIns="0" tIns="0" rIns="0" bIns="0" rtlCol="0" anchor="ctr"/>
          <a:lstStyle/>
          <a:p>
            <a:pPr indent="0" marL="0">
              <a:buNone/>
            </a:pPr>
            <a:r>
              <a:rPr lang="en-US" sz="1300" b="1" dirty="0">
                <a:solidFill>
                  <a:srgbClr val="142850"/>
                </a:solidFill>
                <a:latin typeface="Arial" pitchFamily="34" charset="0"/>
                <a:ea typeface="Arial" pitchFamily="34" charset="-122"/>
                <a:cs typeface="Arial" pitchFamily="34" charset="-120"/>
              </a:rPr>
              <a:t>Feature-level recommendations</a:t>
            </a:r>
            <a:endParaRPr lang="en-US" sz="1300" dirty="0"/>
          </a:p>
        </p:txBody>
      </p:sp>
      <p:sp>
        <p:nvSpPr>
          <p:cNvPr id="40" name="Shape 38"/>
          <p:cNvSpPr/>
          <p:nvPr/>
        </p:nvSpPr>
        <p:spPr>
          <a:xfrm>
            <a:off x="10296144" y="3035808"/>
            <a:ext cx="237744" cy="512064"/>
          </a:xfrm>
          <a:prstGeom prst="downArrow">
            <a:avLst/>
          </a:prstGeom>
          <a:solidFill>
            <a:srgbClr val="2F6FED"/>
          </a:solidFill>
          <a:ln w="6350">
            <a:solidFill>
              <a:srgbClr val="2F6FED"/>
            </a:solidFill>
            <a:prstDash val="solid"/>
          </a:ln>
        </p:spPr>
      </p:sp>
      <p:sp>
        <p:nvSpPr>
          <p:cNvPr id="41" name="Shape 39"/>
          <p:cNvSpPr/>
          <p:nvPr/>
        </p:nvSpPr>
        <p:spPr>
          <a:xfrm>
            <a:off x="8814816" y="3973068"/>
            <a:ext cx="338328" cy="237744"/>
          </a:xfrm>
          <a:prstGeom prst="leftArrow">
            <a:avLst/>
          </a:prstGeom>
          <a:solidFill>
            <a:srgbClr val="2F6FED"/>
          </a:solidFill>
          <a:ln w="6350">
            <a:solidFill>
              <a:srgbClr val="2F6FED"/>
            </a:solidFill>
            <a:prstDash val="solid"/>
          </a:ln>
        </p:spPr>
      </p:sp>
      <p:sp>
        <p:nvSpPr>
          <p:cNvPr id="42" name="Shape 40"/>
          <p:cNvSpPr/>
          <p:nvPr/>
        </p:nvSpPr>
        <p:spPr>
          <a:xfrm>
            <a:off x="5952744" y="3973068"/>
            <a:ext cx="338328" cy="237744"/>
          </a:xfrm>
          <a:prstGeom prst="leftArrow">
            <a:avLst/>
          </a:prstGeom>
          <a:solidFill>
            <a:srgbClr val="2F6FED"/>
          </a:solidFill>
          <a:ln w="6350">
            <a:solidFill>
              <a:srgbClr val="2F6FED"/>
            </a:solidFill>
            <a:prstDash val="solid"/>
          </a:ln>
        </p:spPr>
      </p:sp>
      <p:sp>
        <p:nvSpPr>
          <p:cNvPr id="43" name="Shape 41"/>
          <p:cNvSpPr/>
          <p:nvPr/>
        </p:nvSpPr>
        <p:spPr>
          <a:xfrm>
            <a:off x="3090672" y="3973068"/>
            <a:ext cx="338328" cy="237744"/>
          </a:xfrm>
          <a:prstGeom prst="leftArrow">
            <a:avLst/>
          </a:prstGeom>
          <a:solidFill>
            <a:srgbClr val="2F6FED"/>
          </a:solidFill>
          <a:ln w="6350">
            <a:solidFill>
              <a:srgbClr val="2F6FED"/>
            </a:solidFill>
            <a:prstDash val="solid"/>
          </a:ln>
        </p:spPr>
      </p:sp>
      <p:sp>
        <p:nvSpPr>
          <p:cNvPr id="44" name="Shape 42"/>
          <p:cNvSpPr/>
          <p:nvPr/>
        </p:nvSpPr>
        <p:spPr>
          <a:xfrm>
            <a:off x="640080" y="4892040"/>
            <a:ext cx="5486400" cy="1188720"/>
          </a:xfrm>
          <a:prstGeom prst="roundRect">
            <a:avLst>
              <a:gd name="adj" fmla="val 9231"/>
            </a:avLst>
          </a:prstGeom>
          <a:solidFill>
            <a:srgbClr val="0A1830"/>
          </a:solidFill>
          <a:ln w="9525">
            <a:solidFill>
              <a:srgbClr val="0A1830"/>
            </a:solidFill>
            <a:prstDash val="solid"/>
          </a:ln>
        </p:spPr>
      </p:sp>
      <p:sp>
        <p:nvSpPr>
          <p:cNvPr id="45" name="Text 43"/>
          <p:cNvSpPr txBox="1"/>
          <p:nvPr/>
        </p:nvSpPr>
        <p:spPr>
          <a:xfrm>
            <a:off x="914400" y="5029200"/>
            <a:ext cx="5029200" cy="274320"/>
          </a:xfrm>
          <a:prstGeom prst="rect">
            <a:avLst/>
          </a:prstGeom>
          <a:noFill/>
          <a:ln/>
        </p:spPr>
        <p:txBody>
          <a:bodyPr wrap="square" lIns="0" tIns="0" rIns="0" bIns="0" rtlCol="0" anchor="t"/>
          <a:lstStyle/>
          <a:p>
            <a:pPr indent="0" marL="0">
              <a:buNone/>
            </a:pPr>
            <a:r>
              <a:rPr lang="en-US" sz="1100" b="1" spc="200" kern="0" dirty="0">
                <a:solidFill>
                  <a:srgbClr val="8FB0F7"/>
                </a:solidFill>
                <a:latin typeface="Arial" pitchFamily="34" charset="0"/>
                <a:ea typeface="Arial" pitchFamily="34" charset="-122"/>
                <a:cs typeface="Arial" pitchFamily="34" charset="-120"/>
              </a:rPr>
              <a:t>MODEL EVALUATION</a:t>
            </a:r>
            <a:endParaRPr lang="en-US" sz="1100" dirty="0"/>
          </a:p>
        </p:txBody>
      </p:sp>
      <p:sp>
        <p:nvSpPr>
          <p:cNvPr id="46" name="Text 44"/>
          <p:cNvSpPr txBox="1"/>
          <p:nvPr/>
        </p:nvSpPr>
        <p:spPr>
          <a:xfrm>
            <a:off x="914400" y="5321808"/>
            <a:ext cx="5029200" cy="68580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5-fold cross-validation (KFold, shuffle, random_state = 42) with the same folds, features and target for all five candidate models. Scaling is fitted inside each training fold.</a:t>
            </a:r>
            <a:endParaRPr lang="en-US" sz="1200" dirty="0"/>
          </a:p>
        </p:txBody>
      </p:sp>
      <p:sp>
        <p:nvSpPr>
          <p:cNvPr id="47" name="Shape 45"/>
          <p:cNvSpPr/>
          <p:nvPr/>
        </p:nvSpPr>
        <p:spPr>
          <a:xfrm>
            <a:off x="6400800" y="4892040"/>
            <a:ext cx="5166360" cy="1188720"/>
          </a:xfrm>
          <a:prstGeom prst="roundRect">
            <a:avLst>
              <a:gd name="adj" fmla="val 9231"/>
            </a:avLst>
          </a:prstGeom>
          <a:solidFill>
            <a:srgbClr val="E9F0FF"/>
          </a:solidFill>
          <a:ln w="9525">
            <a:solidFill>
              <a:srgbClr val="E9F0FF"/>
            </a:solidFill>
            <a:prstDash val="solid"/>
          </a:ln>
        </p:spPr>
      </p:sp>
      <p:sp>
        <p:nvSpPr>
          <p:cNvPr id="48" name="Text 46"/>
          <p:cNvSpPr txBox="1"/>
          <p:nvPr/>
        </p:nvSpPr>
        <p:spPr>
          <a:xfrm>
            <a:off x="6675120" y="5029200"/>
            <a:ext cx="4754880" cy="274320"/>
          </a:xfrm>
          <a:prstGeom prst="rect">
            <a:avLst/>
          </a:prstGeom>
          <a:noFill/>
          <a:ln/>
        </p:spPr>
        <p:txBody>
          <a:bodyPr wrap="square" lIns="0" tIns="0" rIns="0" bIns="0" rtlCol="0" anchor="t"/>
          <a:lstStyle/>
          <a:p>
            <a:pPr indent="0" marL="0">
              <a:buNone/>
            </a:pPr>
            <a:r>
              <a:rPr lang="en-US" sz="1100" b="1" spc="200" kern="0" dirty="0">
                <a:solidFill>
                  <a:srgbClr val="2F6FED"/>
                </a:solidFill>
                <a:latin typeface="Arial" pitchFamily="34" charset="0"/>
                <a:ea typeface="Arial" pitchFamily="34" charset="-122"/>
                <a:cs typeface="Arial" pitchFamily="34" charset="-120"/>
              </a:rPr>
              <a:t>WHAT-IF BRANCH</a:t>
            </a:r>
            <a:endParaRPr lang="en-US" sz="1100" dirty="0"/>
          </a:p>
        </p:txBody>
      </p:sp>
      <p:sp>
        <p:nvSpPr>
          <p:cNvPr id="49" name="Text 47"/>
          <p:cNvSpPr txBox="1"/>
          <p:nvPr/>
        </p:nvSpPr>
        <p:spPr>
          <a:xfrm>
            <a:off x="6675120" y="5321808"/>
            <a:ext cx="4709160" cy="685800"/>
          </a:xfrm>
          <a:prstGeom prst="rect">
            <a:avLst/>
          </a:prstGeom>
          <a:noFill/>
          <a:ln/>
        </p:spPr>
        <p:txBody>
          <a:bodyPr wrap="square" lIns="0" tIns="0" rIns="0" bIns="0" rtlCol="0" anchor="t"/>
          <a:lstStyle/>
          <a:p>
            <a:pPr indent="0" marL="0">
              <a:buNone/>
            </a:pPr>
            <a:r>
              <a:rPr lang="en-US" sz="1200" dirty="0">
                <a:solidFill>
                  <a:srgbClr val="1A2A4A"/>
                </a:solidFill>
                <a:latin typeface="Arial" pitchFamily="34" charset="0"/>
                <a:ea typeface="Arial" pitchFamily="34" charset="-122"/>
                <a:cs typeface="Arial" pitchFamily="34" charset="-120"/>
              </a:rPr>
              <a:t>Hypothetical inputs follow steps 1–5 through the same prediction endpoint and step 6 for the early-warning band. No SHAP or recommendations are produced for scenarios.</a:t>
            </a:r>
            <a:endParaRPr lang="en-US" sz="1200" dirty="0"/>
          </a:p>
        </p:txBody>
      </p:sp>
      <p:sp>
        <p:nvSpPr>
          <p:cNvPr id="50" name="Text 48"/>
          <p:cNvSpPr txBox="1"/>
          <p:nvPr/>
        </p:nvSpPr>
        <p:spPr>
          <a:xfrm>
            <a:off x="640080" y="6473952"/>
            <a:ext cx="7315200" cy="201168"/>
          </a:xfrm>
          <a:prstGeom prst="rect">
            <a:avLst/>
          </a:prstGeom>
          <a:noFill/>
          <a:ln/>
        </p:spPr>
        <p:txBody>
          <a:bodyPr wrap="square" lIns="0" tIns="0" rIns="0" bIns="0" rtlCol="0" anchor="t"/>
          <a:lstStyle/>
          <a:p>
            <a:pPr indent="0" marL="0">
              <a:buNone/>
            </a:pPr>
            <a:r>
              <a:rPr lang="en-US" sz="800" spc="200" kern="0" dirty="0">
                <a:solidFill>
                  <a:srgbClr val="A6B3CC"/>
                </a:solidFill>
                <a:latin typeface="Arial" pitchFamily="34" charset="0"/>
                <a:ea typeface="Arial" pitchFamily="34" charset="-122"/>
                <a:cs typeface="Arial" pitchFamily="34" charset="-120"/>
              </a:rPr>
              <a:t>AI STUDENT PERFORMANCE PREDICTION  ·  DECISION SUPPORT  ·  EXPLAINABLE AI</a:t>
            </a:r>
            <a:endParaRPr lang="en-US" sz="800" dirty="0"/>
          </a:p>
        </p:txBody>
      </p:sp>
      <p:sp>
        <p:nvSpPr>
          <p:cNvPr id="51" name="Text 49"/>
          <p:cNvSpPr txBox="1"/>
          <p:nvPr/>
        </p:nvSpPr>
        <p:spPr>
          <a:xfrm>
            <a:off x="11155680" y="6473952"/>
            <a:ext cx="411480" cy="201168"/>
          </a:xfrm>
          <a:prstGeom prst="rect">
            <a:avLst/>
          </a:prstGeom>
          <a:noFill/>
          <a:ln/>
        </p:spPr>
        <p:txBody>
          <a:bodyPr wrap="square" lIns="0" tIns="0" rIns="0" bIns="0" rtlCol="0" anchor="t"/>
          <a:lstStyle/>
          <a:p>
            <a:pPr algn="r" indent="0" marL="0">
              <a:buNone/>
            </a:pPr>
            <a:r>
              <a:rPr lang="en-US" sz="900" dirty="0">
                <a:solidFill>
                  <a:srgbClr val="A6B3CC"/>
                </a:solidFill>
                <a:latin typeface="Arial" pitchFamily="34" charset="0"/>
                <a:ea typeface="Arial" pitchFamily="34" charset="-122"/>
                <a:cs typeface="Arial" pitchFamily="34" charset="-120"/>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515600" cy="274320"/>
          </a:xfrm>
          <a:prstGeom prst="rect">
            <a:avLst/>
          </a:prstGeom>
          <a:noFill/>
          <a:ln/>
        </p:spPr>
        <p:txBody>
          <a:bodyPr wrap="square" lIns="0" tIns="0" rIns="0" bIns="0" rtlCol="0" anchor="t"/>
          <a:lstStyle/>
          <a:p>
            <a:pPr indent="0" marL="0">
              <a:buNone/>
            </a:pPr>
            <a:r>
              <a:rPr lang="en-US" sz="1100" b="1" spc="300" kern="0" dirty="0">
                <a:solidFill>
                  <a:srgbClr val="2F6FED"/>
                </a:solidFill>
                <a:latin typeface="Arial" pitchFamily="34" charset="0"/>
                <a:ea typeface="Arial" pitchFamily="34" charset="-122"/>
                <a:cs typeface="Arial" pitchFamily="34" charset="-120"/>
              </a:rPr>
              <a:t>SYSTEM ARCHITECTURE</a:t>
            </a:r>
            <a:endParaRPr lang="en-US" sz="1100" dirty="0"/>
          </a:p>
        </p:txBody>
      </p:sp>
      <p:sp>
        <p:nvSpPr>
          <p:cNvPr id="3" name="Text 1"/>
          <p:cNvSpPr txBox="1"/>
          <p:nvPr/>
        </p:nvSpPr>
        <p:spPr>
          <a:xfrm>
            <a:off x="640080" y="713232"/>
            <a:ext cx="10972800" cy="640080"/>
          </a:xfrm>
          <a:prstGeom prst="rect">
            <a:avLst/>
          </a:prstGeom>
          <a:noFill/>
          <a:ln/>
        </p:spPr>
        <p:txBody>
          <a:bodyPr wrap="square" lIns="0" tIns="0" rIns="0" bIns="0" rtlCol="0" anchor="ctr"/>
          <a:lstStyle/>
          <a:p>
            <a:pPr indent="0" marL="0">
              <a:buNone/>
            </a:pPr>
            <a:r>
              <a:rPr lang="en-US" sz="3000" b="1" dirty="0">
                <a:solidFill>
                  <a:srgbClr val="142850"/>
                </a:solidFill>
                <a:latin typeface="Cambria" pitchFamily="34" charset="0"/>
                <a:ea typeface="Cambria" pitchFamily="34" charset="-122"/>
                <a:cs typeface="Cambria" pitchFamily="34" charset="-120"/>
              </a:rPr>
              <a:t>Architecture &amp; technology stack</a:t>
            </a:r>
            <a:endParaRPr lang="en-US" sz="3000" dirty="0"/>
          </a:p>
        </p:txBody>
      </p:sp>
      <p:sp>
        <p:nvSpPr>
          <p:cNvPr id="4" name="Text 2"/>
          <p:cNvSpPr txBox="1"/>
          <p:nvPr/>
        </p:nvSpPr>
        <p:spPr>
          <a:xfrm>
            <a:off x="640080" y="1371600"/>
            <a:ext cx="10881360" cy="365760"/>
          </a:xfrm>
          <a:prstGeom prst="rect">
            <a:avLst/>
          </a:prstGeom>
          <a:noFill/>
          <a:ln/>
        </p:spPr>
        <p:txBody>
          <a:bodyPr wrap="square" lIns="0" tIns="0" rIns="0" bIns="0" rtlCol="0" anchor="t"/>
          <a:lstStyle/>
          <a:p>
            <a:pPr indent="0" marL="0">
              <a:buNone/>
            </a:pPr>
            <a:r>
              <a:rPr lang="en-US" sz="1400" dirty="0">
                <a:solidFill>
                  <a:srgbClr val="5B6B87"/>
                </a:solidFill>
                <a:latin typeface="Arial" pitchFamily="34" charset="0"/>
                <a:ea typeface="Arial" pitchFamily="34" charset="-122"/>
                <a:cs typeface="Arial" pitchFamily="34" charset="-120"/>
              </a:rPr>
              <a:t>Three layers connected over HTTP/JSON. No database in the current implementation.</a:t>
            </a:r>
            <a:endParaRPr lang="en-US" sz="1400" dirty="0"/>
          </a:p>
        </p:txBody>
      </p:sp>
      <p:sp>
        <p:nvSpPr>
          <p:cNvPr id="5" name="Shape 3"/>
          <p:cNvSpPr/>
          <p:nvPr/>
        </p:nvSpPr>
        <p:spPr>
          <a:xfrm>
            <a:off x="640080" y="1965960"/>
            <a:ext cx="6583680" cy="868680"/>
          </a:xfrm>
          <a:prstGeom prst="roundRect">
            <a:avLst>
              <a:gd name="adj" fmla="val 12632"/>
            </a:avLst>
          </a:prstGeom>
          <a:solidFill>
            <a:srgbClr val="E9F0FF"/>
          </a:solidFill>
          <a:ln w="9525">
            <a:solidFill>
              <a:srgbClr val="E9F0FF"/>
            </a:solidFill>
            <a:prstDash val="solid"/>
          </a:ln>
        </p:spPr>
      </p:sp>
      <p:sp>
        <p:nvSpPr>
          <p:cNvPr id="6" name="Text 4"/>
          <p:cNvSpPr txBox="1"/>
          <p:nvPr/>
        </p:nvSpPr>
        <p:spPr>
          <a:xfrm>
            <a:off x="868680" y="1965960"/>
            <a:ext cx="1463040" cy="868680"/>
          </a:xfrm>
          <a:prstGeom prst="rect">
            <a:avLst/>
          </a:prstGeom>
          <a:noFill/>
          <a:ln/>
        </p:spPr>
        <p:txBody>
          <a:bodyPr wrap="square" lIns="0" tIns="0" rIns="0" bIns="0" rtlCol="0" anchor="ctr"/>
          <a:lstStyle/>
          <a:p>
            <a:pPr indent="0" marL="0">
              <a:buNone/>
            </a:pPr>
            <a:r>
              <a:rPr lang="en-US" sz="1200" b="1" dirty="0">
                <a:solidFill>
                  <a:srgbClr val="2F6FED"/>
                </a:solidFill>
                <a:latin typeface="Arial" pitchFamily="34" charset="0"/>
                <a:ea typeface="Arial" pitchFamily="34" charset="-122"/>
                <a:cs typeface="Arial" pitchFamily="34" charset="-120"/>
              </a:rPr>
              <a:t>Frontend</a:t>
            </a:r>
            <a:endParaRPr lang="en-US" sz="1200" dirty="0"/>
          </a:p>
        </p:txBody>
      </p:sp>
      <p:sp>
        <p:nvSpPr>
          <p:cNvPr id="7" name="Text 5"/>
          <p:cNvSpPr txBox="1"/>
          <p:nvPr/>
        </p:nvSpPr>
        <p:spPr>
          <a:xfrm>
            <a:off x="2331720" y="1965960"/>
            <a:ext cx="4754880" cy="868680"/>
          </a:xfrm>
          <a:prstGeom prst="rect">
            <a:avLst/>
          </a:prstGeom>
          <a:noFill/>
          <a:ln/>
        </p:spPr>
        <p:txBody>
          <a:bodyPr wrap="square" lIns="0" tIns="0" rIns="0" bIns="0" rtlCol="0" anchor="ctr"/>
          <a:lstStyle/>
          <a:p>
            <a:pPr indent="0" marL="0">
              <a:buNone/>
            </a:pPr>
            <a:r>
              <a:rPr lang="en-US" sz="1600" b="1" dirty="0">
                <a:solidFill>
                  <a:srgbClr val="142850"/>
                </a:solidFill>
                <a:latin typeface="Arial" pitchFamily="34" charset="0"/>
                <a:ea typeface="Arial" pitchFamily="34" charset="-122"/>
                <a:cs typeface="Arial" pitchFamily="34" charset="-120"/>
              </a:rPr>
              <a:t>React 19 + Vite + Tailwind CSS</a:t>
            </a:r>
            <a:endParaRPr lang="en-US" sz="1600" dirty="0"/>
          </a:p>
        </p:txBody>
      </p:sp>
      <p:sp>
        <p:nvSpPr>
          <p:cNvPr id="8" name="Shape 6"/>
          <p:cNvSpPr/>
          <p:nvPr/>
        </p:nvSpPr>
        <p:spPr>
          <a:xfrm>
            <a:off x="3813048" y="2907792"/>
            <a:ext cx="237744" cy="384048"/>
          </a:xfrm>
          <a:prstGeom prst="downArrow">
            <a:avLst/>
          </a:prstGeom>
          <a:solidFill>
            <a:srgbClr val="2F6FED"/>
          </a:solidFill>
          <a:ln w="6350">
            <a:solidFill>
              <a:srgbClr val="2F6FED"/>
            </a:solidFill>
            <a:prstDash val="solid"/>
          </a:ln>
        </p:spPr>
      </p:sp>
      <p:sp>
        <p:nvSpPr>
          <p:cNvPr id="9" name="Text 7"/>
          <p:cNvSpPr txBox="1"/>
          <p:nvPr/>
        </p:nvSpPr>
        <p:spPr>
          <a:xfrm>
            <a:off x="4160520" y="2926080"/>
            <a:ext cx="1828800" cy="365760"/>
          </a:xfrm>
          <a:prstGeom prst="rect">
            <a:avLst/>
          </a:prstGeom>
          <a:noFill/>
          <a:ln/>
        </p:spPr>
        <p:txBody>
          <a:bodyPr wrap="square" lIns="0" tIns="0" rIns="0" bIns="0" rtlCol="0" anchor="ctr"/>
          <a:lstStyle/>
          <a:p>
            <a:pPr indent="0" marL="0">
              <a:buNone/>
            </a:pPr>
            <a:r>
              <a:rPr lang="en-US" sz="1000" dirty="0">
                <a:solidFill>
                  <a:srgbClr val="5B6B87"/>
                </a:solidFill>
                <a:latin typeface="Arial" pitchFamily="34" charset="0"/>
                <a:ea typeface="Arial" pitchFamily="34" charset="-122"/>
                <a:cs typeface="Arial" pitchFamily="34" charset="-120"/>
              </a:rPr>
              <a:t>HTTP / JSON</a:t>
            </a:r>
            <a:endParaRPr lang="en-US" sz="1000" dirty="0"/>
          </a:p>
        </p:txBody>
      </p:sp>
      <p:sp>
        <p:nvSpPr>
          <p:cNvPr id="10" name="Shape 8"/>
          <p:cNvSpPr/>
          <p:nvPr/>
        </p:nvSpPr>
        <p:spPr>
          <a:xfrm>
            <a:off x="640080" y="3364992"/>
            <a:ext cx="6583680" cy="1417320"/>
          </a:xfrm>
          <a:prstGeom prst="roundRect">
            <a:avLst>
              <a:gd name="adj" fmla="val 7742"/>
            </a:avLst>
          </a:prstGeom>
          <a:solidFill>
            <a:srgbClr val="F4F7FE"/>
          </a:solidFill>
          <a:ln w="9525">
            <a:solidFill>
              <a:srgbClr val="D8E1F5"/>
            </a:solidFill>
            <a:prstDash val="solid"/>
          </a:ln>
        </p:spPr>
      </p:sp>
      <p:sp>
        <p:nvSpPr>
          <p:cNvPr id="11" name="Text 9"/>
          <p:cNvSpPr txBox="1"/>
          <p:nvPr/>
        </p:nvSpPr>
        <p:spPr>
          <a:xfrm>
            <a:off x="868680" y="3456432"/>
            <a:ext cx="1463040" cy="365760"/>
          </a:xfrm>
          <a:prstGeom prst="rect">
            <a:avLst/>
          </a:prstGeom>
          <a:noFill/>
          <a:ln/>
        </p:spPr>
        <p:txBody>
          <a:bodyPr wrap="square" lIns="0" tIns="0" rIns="0" bIns="0" rtlCol="0" anchor="t"/>
          <a:lstStyle/>
          <a:p>
            <a:pPr indent="0" marL="0">
              <a:buNone/>
            </a:pPr>
            <a:r>
              <a:rPr lang="en-US" sz="1200" b="1" dirty="0">
                <a:solidFill>
                  <a:srgbClr val="2F6FED"/>
                </a:solidFill>
                <a:latin typeface="Arial" pitchFamily="34" charset="0"/>
                <a:ea typeface="Arial" pitchFamily="34" charset="-122"/>
                <a:cs typeface="Arial" pitchFamily="34" charset="-120"/>
              </a:rPr>
              <a:t>Backend</a:t>
            </a:r>
            <a:endParaRPr lang="en-US" sz="1200" dirty="0"/>
          </a:p>
        </p:txBody>
      </p:sp>
      <p:sp>
        <p:nvSpPr>
          <p:cNvPr id="12" name="Text 10"/>
          <p:cNvSpPr txBox="1"/>
          <p:nvPr/>
        </p:nvSpPr>
        <p:spPr>
          <a:xfrm>
            <a:off x="2331720" y="3456432"/>
            <a:ext cx="4754880" cy="365760"/>
          </a:xfrm>
          <a:prstGeom prst="rect">
            <a:avLst/>
          </a:prstGeom>
          <a:noFill/>
          <a:ln/>
        </p:spPr>
        <p:txBody>
          <a:bodyPr wrap="square" lIns="0" tIns="0" rIns="0" bIns="0" rtlCol="0" anchor="t"/>
          <a:lstStyle/>
          <a:p>
            <a:pPr indent="0" marL="0">
              <a:buNone/>
            </a:pPr>
            <a:r>
              <a:rPr lang="en-US" sz="1600" b="1" dirty="0">
                <a:solidFill>
                  <a:srgbClr val="142850"/>
                </a:solidFill>
                <a:latin typeface="Arial" pitchFamily="34" charset="0"/>
                <a:ea typeface="Arial" pitchFamily="34" charset="-122"/>
                <a:cs typeface="Arial" pitchFamily="34" charset="-120"/>
              </a:rPr>
              <a:t>Flask API (Flask-Cors)</a:t>
            </a:r>
            <a:endParaRPr lang="en-US" sz="1600" dirty="0"/>
          </a:p>
        </p:txBody>
      </p:sp>
      <p:sp>
        <p:nvSpPr>
          <p:cNvPr id="13" name="Shape 11"/>
          <p:cNvSpPr/>
          <p:nvPr/>
        </p:nvSpPr>
        <p:spPr>
          <a:xfrm>
            <a:off x="868680" y="4023360"/>
            <a:ext cx="1444752" cy="457200"/>
          </a:xfrm>
          <a:prstGeom prst="roundRect">
            <a:avLst>
              <a:gd name="adj" fmla="val 20000"/>
            </a:avLst>
          </a:prstGeom>
          <a:solidFill>
            <a:srgbClr val="FFFFFF"/>
          </a:solidFill>
          <a:ln w="12700">
            <a:solidFill>
              <a:srgbClr val="2F6FED"/>
            </a:solidFill>
            <a:prstDash val="solid"/>
          </a:ln>
        </p:spPr>
      </p:sp>
      <p:sp>
        <p:nvSpPr>
          <p:cNvPr id="14" name="Text 12"/>
          <p:cNvSpPr txBox="1"/>
          <p:nvPr/>
        </p:nvSpPr>
        <p:spPr>
          <a:xfrm>
            <a:off x="868680" y="4023360"/>
            <a:ext cx="1444752" cy="457200"/>
          </a:xfrm>
          <a:prstGeom prst="rect">
            <a:avLst/>
          </a:prstGeom>
          <a:noFill/>
          <a:ln/>
        </p:spPr>
        <p:txBody>
          <a:bodyPr wrap="square" lIns="0" tIns="0" rIns="0" bIns="0" rtlCol="0" anchor="ctr"/>
          <a:lstStyle/>
          <a:p>
            <a:pPr algn="ctr" indent="0" marL="0">
              <a:buNone/>
            </a:pPr>
            <a:r>
              <a:rPr lang="en-US" sz="1100" b="1" dirty="0">
                <a:solidFill>
                  <a:srgbClr val="2F6FED"/>
                </a:solidFill>
                <a:latin typeface="Courier New" pitchFamily="34" charset="0"/>
                <a:ea typeface="Courier New" pitchFamily="34" charset="-122"/>
                <a:cs typeface="Courier New" pitchFamily="34" charset="-120"/>
              </a:rPr>
              <a:t>GET /</a:t>
            </a:r>
            <a:endParaRPr lang="en-US" sz="1100" dirty="0"/>
          </a:p>
        </p:txBody>
      </p:sp>
      <p:sp>
        <p:nvSpPr>
          <p:cNvPr id="15" name="Shape 13"/>
          <p:cNvSpPr/>
          <p:nvPr/>
        </p:nvSpPr>
        <p:spPr>
          <a:xfrm>
            <a:off x="2441448" y="4023360"/>
            <a:ext cx="1444752" cy="457200"/>
          </a:xfrm>
          <a:prstGeom prst="roundRect">
            <a:avLst>
              <a:gd name="adj" fmla="val 20000"/>
            </a:avLst>
          </a:prstGeom>
          <a:solidFill>
            <a:srgbClr val="FFFFFF"/>
          </a:solidFill>
          <a:ln w="12700">
            <a:solidFill>
              <a:srgbClr val="2F6FED"/>
            </a:solidFill>
            <a:prstDash val="solid"/>
          </a:ln>
        </p:spPr>
      </p:sp>
      <p:sp>
        <p:nvSpPr>
          <p:cNvPr id="16" name="Text 14"/>
          <p:cNvSpPr txBox="1"/>
          <p:nvPr/>
        </p:nvSpPr>
        <p:spPr>
          <a:xfrm>
            <a:off x="2441448" y="4023360"/>
            <a:ext cx="1444752" cy="457200"/>
          </a:xfrm>
          <a:prstGeom prst="rect">
            <a:avLst/>
          </a:prstGeom>
          <a:noFill/>
          <a:ln/>
        </p:spPr>
        <p:txBody>
          <a:bodyPr wrap="square" lIns="0" tIns="0" rIns="0" bIns="0" rtlCol="0" anchor="ctr"/>
          <a:lstStyle/>
          <a:p>
            <a:pPr algn="ctr" indent="0" marL="0">
              <a:buNone/>
            </a:pPr>
            <a:r>
              <a:rPr lang="en-US" sz="1100" b="1" dirty="0">
                <a:solidFill>
                  <a:srgbClr val="2F6FED"/>
                </a:solidFill>
                <a:latin typeface="Courier New" pitchFamily="34" charset="0"/>
                <a:ea typeface="Courier New" pitchFamily="34" charset="-122"/>
                <a:cs typeface="Courier New" pitchFamily="34" charset="-120"/>
              </a:rPr>
              <a:t>POST /predict</a:t>
            </a:r>
            <a:endParaRPr lang="en-US" sz="1100" dirty="0"/>
          </a:p>
        </p:txBody>
      </p:sp>
      <p:sp>
        <p:nvSpPr>
          <p:cNvPr id="17" name="Shape 15"/>
          <p:cNvSpPr/>
          <p:nvPr/>
        </p:nvSpPr>
        <p:spPr>
          <a:xfrm>
            <a:off x="4014216" y="4023360"/>
            <a:ext cx="1444752" cy="457200"/>
          </a:xfrm>
          <a:prstGeom prst="roundRect">
            <a:avLst>
              <a:gd name="adj" fmla="val 20000"/>
            </a:avLst>
          </a:prstGeom>
          <a:solidFill>
            <a:srgbClr val="FFFFFF"/>
          </a:solidFill>
          <a:ln w="12700">
            <a:solidFill>
              <a:srgbClr val="2F6FED"/>
            </a:solidFill>
            <a:prstDash val="solid"/>
          </a:ln>
        </p:spPr>
      </p:sp>
      <p:sp>
        <p:nvSpPr>
          <p:cNvPr id="18" name="Text 16"/>
          <p:cNvSpPr txBox="1"/>
          <p:nvPr/>
        </p:nvSpPr>
        <p:spPr>
          <a:xfrm>
            <a:off x="4014216" y="4023360"/>
            <a:ext cx="1444752" cy="457200"/>
          </a:xfrm>
          <a:prstGeom prst="rect">
            <a:avLst/>
          </a:prstGeom>
          <a:noFill/>
          <a:ln/>
        </p:spPr>
        <p:txBody>
          <a:bodyPr wrap="square" lIns="0" tIns="0" rIns="0" bIns="0" rtlCol="0" anchor="ctr"/>
          <a:lstStyle/>
          <a:p>
            <a:pPr algn="ctr" indent="0" marL="0">
              <a:buNone/>
            </a:pPr>
            <a:r>
              <a:rPr lang="en-US" sz="1100" b="1" dirty="0">
                <a:solidFill>
                  <a:srgbClr val="2F6FED"/>
                </a:solidFill>
                <a:latin typeface="Courier New" pitchFamily="34" charset="0"/>
                <a:ea typeface="Courier New" pitchFamily="34" charset="-122"/>
                <a:cs typeface="Courier New" pitchFamily="34" charset="-120"/>
              </a:rPr>
              <a:t>POST /explain</a:t>
            </a:r>
            <a:endParaRPr lang="en-US" sz="1100" dirty="0"/>
          </a:p>
        </p:txBody>
      </p:sp>
      <p:sp>
        <p:nvSpPr>
          <p:cNvPr id="19" name="Shape 17"/>
          <p:cNvSpPr/>
          <p:nvPr/>
        </p:nvSpPr>
        <p:spPr>
          <a:xfrm>
            <a:off x="5586984" y="4023360"/>
            <a:ext cx="1444752" cy="457200"/>
          </a:xfrm>
          <a:prstGeom prst="roundRect">
            <a:avLst>
              <a:gd name="adj" fmla="val 20000"/>
            </a:avLst>
          </a:prstGeom>
          <a:solidFill>
            <a:srgbClr val="FFFFFF"/>
          </a:solidFill>
          <a:ln w="12700">
            <a:solidFill>
              <a:srgbClr val="2F6FED"/>
            </a:solidFill>
            <a:prstDash val="solid"/>
          </a:ln>
        </p:spPr>
      </p:sp>
      <p:sp>
        <p:nvSpPr>
          <p:cNvPr id="20" name="Text 18"/>
          <p:cNvSpPr txBox="1"/>
          <p:nvPr/>
        </p:nvSpPr>
        <p:spPr>
          <a:xfrm>
            <a:off x="5586984" y="4023360"/>
            <a:ext cx="1444752" cy="457200"/>
          </a:xfrm>
          <a:prstGeom prst="rect">
            <a:avLst/>
          </a:prstGeom>
          <a:noFill/>
          <a:ln/>
        </p:spPr>
        <p:txBody>
          <a:bodyPr wrap="square" lIns="0" tIns="0" rIns="0" bIns="0" rtlCol="0" anchor="ctr"/>
          <a:lstStyle/>
          <a:p>
            <a:pPr algn="ctr" indent="0" marL="0">
              <a:buNone/>
            </a:pPr>
            <a:r>
              <a:rPr lang="en-US" sz="1100" b="1" dirty="0">
                <a:solidFill>
                  <a:srgbClr val="2F6FED"/>
                </a:solidFill>
                <a:latin typeface="Courier New" pitchFamily="34" charset="0"/>
                <a:ea typeface="Courier New" pitchFamily="34" charset="-122"/>
                <a:cs typeface="Courier New" pitchFamily="34" charset="-120"/>
              </a:rPr>
              <a:t>POST /recommend</a:t>
            </a:r>
            <a:endParaRPr lang="en-US" sz="1100" dirty="0"/>
          </a:p>
        </p:txBody>
      </p:sp>
      <p:sp>
        <p:nvSpPr>
          <p:cNvPr id="21" name="Shape 19"/>
          <p:cNvSpPr/>
          <p:nvPr/>
        </p:nvSpPr>
        <p:spPr>
          <a:xfrm>
            <a:off x="3813048" y="4855464"/>
            <a:ext cx="237744" cy="384048"/>
          </a:xfrm>
          <a:prstGeom prst="downArrow">
            <a:avLst/>
          </a:prstGeom>
          <a:solidFill>
            <a:srgbClr val="2F6FED"/>
          </a:solidFill>
          <a:ln w="6350">
            <a:solidFill>
              <a:srgbClr val="2F6FED"/>
            </a:solidFill>
            <a:prstDash val="solid"/>
          </a:ln>
        </p:spPr>
      </p:sp>
      <p:sp>
        <p:nvSpPr>
          <p:cNvPr id="22" name="Shape 20"/>
          <p:cNvSpPr/>
          <p:nvPr/>
        </p:nvSpPr>
        <p:spPr>
          <a:xfrm>
            <a:off x="640080" y="5312664"/>
            <a:ext cx="6583680" cy="868680"/>
          </a:xfrm>
          <a:prstGeom prst="roundRect">
            <a:avLst>
              <a:gd name="adj" fmla="val 12632"/>
            </a:avLst>
          </a:prstGeom>
          <a:solidFill>
            <a:srgbClr val="142850"/>
          </a:solidFill>
          <a:ln w="9525">
            <a:solidFill>
              <a:srgbClr val="142850"/>
            </a:solidFill>
            <a:prstDash val="solid"/>
          </a:ln>
        </p:spPr>
      </p:sp>
      <p:sp>
        <p:nvSpPr>
          <p:cNvPr id="23" name="Text 21"/>
          <p:cNvSpPr txBox="1"/>
          <p:nvPr/>
        </p:nvSpPr>
        <p:spPr>
          <a:xfrm>
            <a:off x="868680" y="5312664"/>
            <a:ext cx="1463040" cy="868680"/>
          </a:xfrm>
          <a:prstGeom prst="rect">
            <a:avLst/>
          </a:prstGeom>
          <a:noFill/>
          <a:ln/>
        </p:spPr>
        <p:txBody>
          <a:bodyPr wrap="square" lIns="0" tIns="0" rIns="0" bIns="0" rtlCol="0" anchor="ctr"/>
          <a:lstStyle/>
          <a:p>
            <a:pPr indent="0" marL="0">
              <a:buNone/>
            </a:pPr>
            <a:r>
              <a:rPr lang="en-US" sz="1200" b="1" dirty="0">
                <a:solidFill>
                  <a:srgbClr val="8FB0F7"/>
                </a:solidFill>
                <a:latin typeface="Arial" pitchFamily="34" charset="0"/>
                <a:ea typeface="Arial" pitchFamily="34" charset="-122"/>
                <a:cs typeface="Arial" pitchFamily="34" charset="-120"/>
              </a:rPr>
              <a:t>Model</a:t>
            </a:r>
            <a:endParaRPr lang="en-US" sz="1200" dirty="0"/>
          </a:p>
        </p:txBody>
      </p:sp>
      <p:sp>
        <p:nvSpPr>
          <p:cNvPr id="24" name="Text 22"/>
          <p:cNvSpPr txBox="1"/>
          <p:nvPr/>
        </p:nvSpPr>
        <p:spPr>
          <a:xfrm>
            <a:off x="2331720" y="5312664"/>
            <a:ext cx="4754880" cy="86868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scikit-learn pipeline (StandardScaler + LinearRegression) + SHAP explainer</a:t>
            </a:r>
            <a:endParaRPr lang="en-US" sz="1400" dirty="0"/>
          </a:p>
        </p:txBody>
      </p:sp>
      <p:sp>
        <p:nvSpPr>
          <p:cNvPr id="25" name="Text 23"/>
          <p:cNvSpPr txBox="1"/>
          <p:nvPr/>
        </p:nvSpPr>
        <p:spPr>
          <a:xfrm>
            <a:off x="7680960" y="1965960"/>
            <a:ext cx="3840480" cy="274320"/>
          </a:xfrm>
          <a:prstGeom prst="rect">
            <a:avLst/>
          </a:prstGeom>
          <a:noFill/>
          <a:ln/>
        </p:spPr>
        <p:txBody>
          <a:bodyPr wrap="square" lIns="0" tIns="0" rIns="0" bIns="0" rtlCol="0" anchor="t"/>
          <a:lstStyle/>
          <a:p>
            <a:pPr indent="0" marL="0">
              <a:buNone/>
            </a:pPr>
            <a:r>
              <a:rPr lang="en-US" sz="1100" b="1" spc="200" kern="0" dirty="0">
                <a:solidFill>
                  <a:srgbClr val="2F6FED"/>
                </a:solidFill>
                <a:latin typeface="Arial" pitchFamily="34" charset="0"/>
                <a:ea typeface="Arial" pitchFamily="34" charset="-122"/>
                <a:cs typeface="Arial" pitchFamily="34" charset="-120"/>
              </a:rPr>
              <a:t>FRONTEND</a:t>
            </a:r>
            <a:endParaRPr lang="en-US" sz="1100" dirty="0"/>
          </a:p>
        </p:txBody>
      </p:sp>
      <p:sp>
        <p:nvSpPr>
          <p:cNvPr id="26" name="Shape 24"/>
          <p:cNvSpPr/>
          <p:nvPr/>
        </p:nvSpPr>
        <p:spPr>
          <a:xfrm>
            <a:off x="7680960" y="2295144"/>
            <a:ext cx="1216152" cy="365760"/>
          </a:xfrm>
          <a:prstGeom prst="roundRect">
            <a:avLst>
              <a:gd name="adj" fmla="val 20000"/>
            </a:avLst>
          </a:prstGeom>
          <a:solidFill>
            <a:srgbClr val="E9F0FF"/>
          </a:solidFill>
          <a:ln w="6350">
            <a:solidFill>
              <a:srgbClr val="E9F0FF"/>
            </a:solidFill>
            <a:prstDash val="solid"/>
          </a:ln>
        </p:spPr>
      </p:sp>
      <p:sp>
        <p:nvSpPr>
          <p:cNvPr id="27" name="Text 25"/>
          <p:cNvSpPr txBox="1"/>
          <p:nvPr/>
        </p:nvSpPr>
        <p:spPr>
          <a:xfrm>
            <a:off x="7680960" y="2295144"/>
            <a:ext cx="1216152" cy="365760"/>
          </a:xfrm>
          <a:prstGeom prst="rect">
            <a:avLst/>
          </a:prstGeom>
          <a:noFill/>
          <a:ln/>
        </p:spPr>
        <p:txBody>
          <a:bodyPr wrap="square" lIns="0" tIns="0" rIns="0" bIns="0" rtlCol="0" anchor="ctr"/>
          <a:lstStyle/>
          <a:p>
            <a:pPr algn="ctr" indent="0" marL="0">
              <a:buNone/>
            </a:pPr>
            <a:r>
              <a:rPr lang="en-US" sz="1100" b="1" dirty="0">
                <a:solidFill>
                  <a:srgbClr val="142850"/>
                </a:solidFill>
                <a:latin typeface="Arial" pitchFamily="34" charset="0"/>
                <a:ea typeface="Arial" pitchFamily="34" charset="-122"/>
                <a:cs typeface="Arial" pitchFamily="34" charset="-120"/>
              </a:rPr>
              <a:t>React 19</a:t>
            </a:r>
            <a:endParaRPr lang="en-US" sz="1100" dirty="0"/>
          </a:p>
        </p:txBody>
      </p:sp>
      <p:sp>
        <p:nvSpPr>
          <p:cNvPr id="28" name="Shape 26"/>
          <p:cNvSpPr/>
          <p:nvPr/>
        </p:nvSpPr>
        <p:spPr>
          <a:xfrm>
            <a:off x="8988552" y="2295144"/>
            <a:ext cx="1216152" cy="365760"/>
          </a:xfrm>
          <a:prstGeom prst="roundRect">
            <a:avLst>
              <a:gd name="adj" fmla="val 20000"/>
            </a:avLst>
          </a:prstGeom>
          <a:solidFill>
            <a:srgbClr val="E9F0FF"/>
          </a:solidFill>
          <a:ln w="6350">
            <a:solidFill>
              <a:srgbClr val="E9F0FF"/>
            </a:solidFill>
            <a:prstDash val="solid"/>
          </a:ln>
        </p:spPr>
      </p:sp>
      <p:sp>
        <p:nvSpPr>
          <p:cNvPr id="29" name="Text 27"/>
          <p:cNvSpPr txBox="1"/>
          <p:nvPr/>
        </p:nvSpPr>
        <p:spPr>
          <a:xfrm>
            <a:off x="8988552" y="2295144"/>
            <a:ext cx="1216152" cy="365760"/>
          </a:xfrm>
          <a:prstGeom prst="rect">
            <a:avLst/>
          </a:prstGeom>
          <a:noFill/>
          <a:ln/>
        </p:spPr>
        <p:txBody>
          <a:bodyPr wrap="square" lIns="0" tIns="0" rIns="0" bIns="0" rtlCol="0" anchor="ctr"/>
          <a:lstStyle/>
          <a:p>
            <a:pPr algn="ctr" indent="0" marL="0">
              <a:buNone/>
            </a:pPr>
            <a:r>
              <a:rPr lang="en-US" sz="1100" b="1" dirty="0">
                <a:solidFill>
                  <a:srgbClr val="142850"/>
                </a:solidFill>
                <a:latin typeface="Arial" pitchFamily="34" charset="0"/>
                <a:ea typeface="Arial" pitchFamily="34" charset="-122"/>
                <a:cs typeface="Arial" pitchFamily="34" charset="-120"/>
              </a:rPr>
              <a:t>Vite</a:t>
            </a:r>
            <a:endParaRPr lang="en-US" sz="1100" dirty="0"/>
          </a:p>
        </p:txBody>
      </p:sp>
      <p:sp>
        <p:nvSpPr>
          <p:cNvPr id="30" name="Shape 28"/>
          <p:cNvSpPr/>
          <p:nvPr/>
        </p:nvSpPr>
        <p:spPr>
          <a:xfrm>
            <a:off x="10296144" y="2295144"/>
            <a:ext cx="1216152" cy="365760"/>
          </a:xfrm>
          <a:prstGeom prst="roundRect">
            <a:avLst>
              <a:gd name="adj" fmla="val 20000"/>
            </a:avLst>
          </a:prstGeom>
          <a:solidFill>
            <a:srgbClr val="E9F0FF"/>
          </a:solidFill>
          <a:ln w="6350">
            <a:solidFill>
              <a:srgbClr val="E9F0FF"/>
            </a:solidFill>
            <a:prstDash val="solid"/>
          </a:ln>
        </p:spPr>
      </p:sp>
      <p:sp>
        <p:nvSpPr>
          <p:cNvPr id="31" name="Text 29"/>
          <p:cNvSpPr txBox="1"/>
          <p:nvPr/>
        </p:nvSpPr>
        <p:spPr>
          <a:xfrm>
            <a:off x="10296144" y="2295144"/>
            <a:ext cx="1216152" cy="365760"/>
          </a:xfrm>
          <a:prstGeom prst="rect">
            <a:avLst/>
          </a:prstGeom>
          <a:noFill/>
          <a:ln/>
        </p:spPr>
        <p:txBody>
          <a:bodyPr wrap="square" lIns="0" tIns="0" rIns="0" bIns="0" rtlCol="0" anchor="ctr"/>
          <a:lstStyle/>
          <a:p>
            <a:pPr algn="ctr" indent="0" marL="0">
              <a:buNone/>
            </a:pPr>
            <a:r>
              <a:rPr lang="en-US" sz="1100" b="1" dirty="0">
                <a:solidFill>
                  <a:srgbClr val="142850"/>
                </a:solidFill>
                <a:latin typeface="Arial" pitchFamily="34" charset="0"/>
                <a:ea typeface="Arial" pitchFamily="34" charset="-122"/>
                <a:cs typeface="Arial" pitchFamily="34" charset="-120"/>
              </a:rPr>
              <a:t>Tailwind CSS</a:t>
            </a:r>
            <a:endParaRPr lang="en-US" sz="1100" dirty="0"/>
          </a:p>
        </p:txBody>
      </p:sp>
      <p:sp>
        <p:nvSpPr>
          <p:cNvPr id="32" name="Text 30"/>
          <p:cNvSpPr txBox="1"/>
          <p:nvPr/>
        </p:nvSpPr>
        <p:spPr>
          <a:xfrm>
            <a:off x="7680960" y="2980944"/>
            <a:ext cx="3840480" cy="274320"/>
          </a:xfrm>
          <a:prstGeom prst="rect">
            <a:avLst/>
          </a:prstGeom>
          <a:noFill/>
          <a:ln/>
        </p:spPr>
        <p:txBody>
          <a:bodyPr wrap="square" lIns="0" tIns="0" rIns="0" bIns="0" rtlCol="0" anchor="t"/>
          <a:lstStyle/>
          <a:p>
            <a:pPr indent="0" marL="0">
              <a:buNone/>
            </a:pPr>
            <a:r>
              <a:rPr lang="en-US" sz="1100" b="1" spc="200" kern="0" dirty="0">
                <a:solidFill>
                  <a:srgbClr val="2F6FED"/>
                </a:solidFill>
                <a:latin typeface="Arial" pitchFamily="34" charset="0"/>
                <a:ea typeface="Arial" pitchFamily="34" charset="-122"/>
                <a:cs typeface="Arial" pitchFamily="34" charset="-120"/>
              </a:rPr>
              <a:t>BACKEND</a:t>
            </a:r>
            <a:endParaRPr lang="en-US" sz="1100" dirty="0"/>
          </a:p>
        </p:txBody>
      </p:sp>
      <p:sp>
        <p:nvSpPr>
          <p:cNvPr id="33" name="Shape 31"/>
          <p:cNvSpPr/>
          <p:nvPr/>
        </p:nvSpPr>
        <p:spPr>
          <a:xfrm>
            <a:off x="7680960" y="3310128"/>
            <a:ext cx="1216152" cy="365760"/>
          </a:xfrm>
          <a:prstGeom prst="roundRect">
            <a:avLst>
              <a:gd name="adj" fmla="val 20000"/>
            </a:avLst>
          </a:prstGeom>
          <a:solidFill>
            <a:srgbClr val="E9F0FF"/>
          </a:solidFill>
          <a:ln w="6350">
            <a:solidFill>
              <a:srgbClr val="E9F0FF"/>
            </a:solidFill>
            <a:prstDash val="solid"/>
          </a:ln>
        </p:spPr>
      </p:sp>
      <p:sp>
        <p:nvSpPr>
          <p:cNvPr id="34" name="Text 32"/>
          <p:cNvSpPr txBox="1"/>
          <p:nvPr/>
        </p:nvSpPr>
        <p:spPr>
          <a:xfrm>
            <a:off x="7680960" y="3310128"/>
            <a:ext cx="1216152" cy="365760"/>
          </a:xfrm>
          <a:prstGeom prst="rect">
            <a:avLst/>
          </a:prstGeom>
          <a:noFill/>
          <a:ln/>
        </p:spPr>
        <p:txBody>
          <a:bodyPr wrap="square" lIns="0" tIns="0" rIns="0" bIns="0" rtlCol="0" anchor="ctr"/>
          <a:lstStyle/>
          <a:p>
            <a:pPr algn="ctr" indent="0" marL="0">
              <a:buNone/>
            </a:pPr>
            <a:r>
              <a:rPr lang="en-US" sz="1100" b="1" dirty="0">
                <a:solidFill>
                  <a:srgbClr val="142850"/>
                </a:solidFill>
                <a:latin typeface="Arial" pitchFamily="34" charset="0"/>
                <a:ea typeface="Arial" pitchFamily="34" charset="-122"/>
                <a:cs typeface="Arial" pitchFamily="34" charset="-120"/>
              </a:rPr>
              <a:t>Python</a:t>
            </a:r>
            <a:endParaRPr lang="en-US" sz="1100" dirty="0"/>
          </a:p>
        </p:txBody>
      </p:sp>
      <p:sp>
        <p:nvSpPr>
          <p:cNvPr id="35" name="Shape 33"/>
          <p:cNvSpPr/>
          <p:nvPr/>
        </p:nvSpPr>
        <p:spPr>
          <a:xfrm>
            <a:off x="8988552" y="3310128"/>
            <a:ext cx="1216152" cy="365760"/>
          </a:xfrm>
          <a:prstGeom prst="roundRect">
            <a:avLst>
              <a:gd name="adj" fmla="val 20000"/>
            </a:avLst>
          </a:prstGeom>
          <a:solidFill>
            <a:srgbClr val="E9F0FF"/>
          </a:solidFill>
          <a:ln w="6350">
            <a:solidFill>
              <a:srgbClr val="E9F0FF"/>
            </a:solidFill>
            <a:prstDash val="solid"/>
          </a:ln>
        </p:spPr>
      </p:sp>
      <p:sp>
        <p:nvSpPr>
          <p:cNvPr id="36" name="Text 34"/>
          <p:cNvSpPr txBox="1"/>
          <p:nvPr/>
        </p:nvSpPr>
        <p:spPr>
          <a:xfrm>
            <a:off x="8988552" y="3310128"/>
            <a:ext cx="1216152" cy="365760"/>
          </a:xfrm>
          <a:prstGeom prst="rect">
            <a:avLst/>
          </a:prstGeom>
          <a:noFill/>
          <a:ln/>
        </p:spPr>
        <p:txBody>
          <a:bodyPr wrap="square" lIns="0" tIns="0" rIns="0" bIns="0" rtlCol="0" anchor="ctr"/>
          <a:lstStyle/>
          <a:p>
            <a:pPr algn="ctr" indent="0" marL="0">
              <a:buNone/>
            </a:pPr>
            <a:r>
              <a:rPr lang="en-US" sz="1100" b="1" dirty="0">
                <a:solidFill>
                  <a:srgbClr val="142850"/>
                </a:solidFill>
                <a:latin typeface="Arial" pitchFamily="34" charset="0"/>
                <a:ea typeface="Arial" pitchFamily="34" charset="-122"/>
                <a:cs typeface="Arial" pitchFamily="34" charset="-120"/>
              </a:rPr>
              <a:t>Flask</a:t>
            </a:r>
            <a:endParaRPr lang="en-US" sz="1100" dirty="0"/>
          </a:p>
        </p:txBody>
      </p:sp>
      <p:sp>
        <p:nvSpPr>
          <p:cNvPr id="37" name="Shape 35"/>
          <p:cNvSpPr/>
          <p:nvPr/>
        </p:nvSpPr>
        <p:spPr>
          <a:xfrm>
            <a:off x="10296144" y="3310128"/>
            <a:ext cx="1216152" cy="365760"/>
          </a:xfrm>
          <a:prstGeom prst="roundRect">
            <a:avLst>
              <a:gd name="adj" fmla="val 20000"/>
            </a:avLst>
          </a:prstGeom>
          <a:solidFill>
            <a:srgbClr val="E9F0FF"/>
          </a:solidFill>
          <a:ln w="6350">
            <a:solidFill>
              <a:srgbClr val="E9F0FF"/>
            </a:solidFill>
            <a:prstDash val="solid"/>
          </a:ln>
        </p:spPr>
      </p:sp>
      <p:sp>
        <p:nvSpPr>
          <p:cNvPr id="38" name="Text 36"/>
          <p:cNvSpPr txBox="1"/>
          <p:nvPr/>
        </p:nvSpPr>
        <p:spPr>
          <a:xfrm>
            <a:off x="10296144" y="3310128"/>
            <a:ext cx="1216152" cy="365760"/>
          </a:xfrm>
          <a:prstGeom prst="rect">
            <a:avLst/>
          </a:prstGeom>
          <a:noFill/>
          <a:ln/>
        </p:spPr>
        <p:txBody>
          <a:bodyPr wrap="square" lIns="0" tIns="0" rIns="0" bIns="0" rtlCol="0" anchor="ctr"/>
          <a:lstStyle/>
          <a:p>
            <a:pPr algn="ctr" indent="0" marL="0">
              <a:buNone/>
            </a:pPr>
            <a:r>
              <a:rPr lang="en-US" sz="1100" b="1" dirty="0">
                <a:solidFill>
                  <a:srgbClr val="142850"/>
                </a:solidFill>
                <a:latin typeface="Arial" pitchFamily="34" charset="0"/>
                <a:ea typeface="Arial" pitchFamily="34" charset="-122"/>
                <a:cs typeface="Arial" pitchFamily="34" charset="-120"/>
              </a:rPr>
              <a:t>Flask-Cors</a:t>
            </a:r>
            <a:endParaRPr lang="en-US" sz="1100" dirty="0"/>
          </a:p>
        </p:txBody>
      </p:sp>
      <p:sp>
        <p:nvSpPr>
          <p:cNvPr id="39" name="Text 37"/>
          <p:cNvSpPr txBox="1"/>
          <p:nvPr/>
        </p:nvSpPr>
        <p:spPr>
          <a:xfrm>
            <a:off x="7680960" y="3995928"/>
            <a:ext cx="3840480" cy="274320"/>
          </a:xfrm>
          <a:prstGeom prst="rect">
            <a:avLst/>
          </a:prstGeom>
          <a:noFill/>
          <a:ln/>
        </p:spPr>
        <p:txBody>
          <a:bodyPr wrap="square" lIns="0" tIns="0" rIns="0" bIns="0" rtlCol="0" anchor="t"/>
          <a:lstStyle/>
          <a:p>
            <a:pPr indent="0" marL="0">
              <a:buNone/>
            </a:pPr>
            <a:r>
              <a:rPr lang="en-US" sz="1100" b="1" spc="200" kern="0" dirty="0">
                <a:solidFill>
                  <a:srgbClr val="2F6FED"/>
                </a:solidFill>
                <a:latin typeface="Arial" pitchFamily="34" charset="0"/>
                <a:ea typeface="Arial" pitchFamily="34" charset="-122"/>
                <a:cs typeface="Arial" pitchFamily="34" charset="-120"/>
              </a:rPr>
              <a:t>DATA &amp; ML</a:t>
            </a:r>
            <a:endParaRPr lang="en-US" sz="1100" dirty="0"/>
          </a:p>
        </p:txBody>
      </p:sp>
      <p:sp>
        <p:nvSpPr>
          <p:cNvPr id="40" name="Shape 38"/>
          <p:cNvSpPr/>
          <p:nvPr/>
        </p:nvSpPr>
        <p:spPr>
          <a:xfrm>
            <a:off x="7680960" y="4325112"/>
            <a:ext cx="1216152" cy="365760"/>
          </a:xfrm>
          <a:prstGeom prst="roundRect">
            <a:avLst>
              <a:gd name="adj" fmla="val 20000"/>
            </a:avLst>
          </a:prstGeom>
          <a:solidFill>
            <a:srgbClr val="E9F0FF"/>
          </a:solidFill>
          <a:ln w="6350">
            <a:solidFill>
              <a:srgbClr val="E9F0FF"/>
            </a:solidFill>
            <a:prstDash val="solid"/>
          </a:ln>
        </p:spPr>
      </p:sp>
      <p:sp>
        <p:nvSpPr>
          <p:cNvPr id="41" name="Text 39"/>
          <p:cNvSpPr txBox="1"/>
          <p:nvPr/>
        </p:nvSpPr>
        <p:spPr>
          <a:xfrm>
            <a:off x="7680960" y="4325112"/>
            <a:ext cx="1216152" cy="365760"/>
          </a:xfrm>
          <a:prstGeom prst="rect">
            <a:avLst/>
          </a:prstGeom>
          <a:noFill/>
          <a:ln/>
        </p:spPr>
        <p:txBody>
          <a:bodyPr wrap="square" lIns="0" tIns="0" rIns="0" bIns="0" rtlCol="0" anchor="ctr"/>
          <a:lstStyle/>
          <a:p>
            <a:pPr algn="ctr" indent="0" marL="0">
              <a:buNone/>
            </a:pPr>
            <a:r>
              <a:rPr lang="en-US" sz="1100" b="1" dirty="0">
                <a:solidFill>
                  <a:srgbClr val="142850"/>
                </a:solidFill>
                <a:latin typeface="Arial" pitchFamily="34" charset="0"/>
                <a:ea typeface="Arial" pitchFamily="34" charset="-122"/>
                <a:cs typeface="Arial" pitchFamily="34" charset="-120"/>
              </a:rPr>
              <a:t>Pandas</a:t>
            </a:r>
            <a:endParaRPr lang="en-US" sz="1100" dirty="0"/>
          </a:p>
        </p:txBody>
      </p:sp>
      <p:sp>
        <p:nvSpPr>
          <p:cNvPr id="42" name="Shape 40"/>
          <p:cNvSpPr/>
          <p:nvPr/>
        </p:nvSpPr>
        <p:spPr>
          <a:xfrm>
            <a:off x="8988552" y="4325112"/>
            <a:ext cx="1216152" cy="365760"/>
          </a:xfrm>
          <a:prstGeom prst="roundRect">
            <a:avLst>
              <a:gd name="adj" fmla="val 20000"/>
            </a:avLst>
          </a:prstGeom>
          <a:solidFill>
            <a:srgbClr val="E9F0FF"/>
          </a:solidFill>
          <a:ln w="6350">
            <a:solidFill>
              <a:srgbClr val="E9F0FF"/>
            </a:solidFill>
            <a:prstDash val="solid"/>
          </a:ln>
        </p:spPr>
      </p:sp>
      <p:sp>
        <p:nvSpPr>
          <p:cNvPr id="43" name="Text 41"/>
          <p:cNvSpPr txBox="1"/>
          <p:nvPr/>
        </p:nvSpPr>
        <p:spPr>
          <a:xfrm>
            <a:off x="8988552" y="4325112"/>
            <a:ext cx="1216152" cy="365760"/>
          </a:xfrm>
          <a:prstGeom prst="rect">
            <a:avLst/>
          </a:prstGeom>
          <a:noFill/>
          <a:ln/>
        </p:spPr>
        <p:txBody>
          <a:bodyPr wrap="square" lIns="0" tIns="0" rIns="0" bIns="0" rtlCol="0" anchor="ctr"/>
          <a:lstStyle/>
          <a:p>
            <a:pPr algn="ctr" indent="0" marL="0">
              <a:buNone/>
            </a:pPr>
            <a:r>
              <a:rPr lang="en-US" sz="1100" b="1" dirty="0">
                <a:solidFill>
                  <a:srgbClr val="142850"/>
                </a:solidFill>
                <a:latin typeface="Arial" pitchFamily="34" charset="0"/>
                <a:ea typeface="Arial" pitchFamily="34" charset="-122"/>
                <a:cs typeface="Arial" pitchFamily="34" charset="-120"/>
              </a:rPr>
              <a:t>NumPy</a:t>
            </a:r>
            <a:endParaRPr lang="en-US" sz="1100" dirty="0"/>
          </a:p>
        </p:txBody>
      </p:sp>
      <p:sp>
        <p:nvSpPr>
          <p:cNvPr id="44" name="Shape 42"/>
          <p:cNvSpPr/>
          <p:nvPr/>
        </p:nvSpPr>
        <p:spPr>
          <a:xfrm>
            <a:off x="10296144" y="4325112"/>
            <a:ext cx="1216152" cy="365760"/>
          </a:xfrm>
          <a:prstGeom prst="roundRect">
            <a:avLst>
              <a:gd name="adj" fmla="val 20000"/>
            </a:avLst>
          </a:prstGeom>
          <a:solidFill>
            <a:srgbClr val="E9F0FF"/>
          </a:solidFill>
          <a:ln w="6350">
            <a:solidFill>
              <a:srgbClr val="E9F0FF"/>
            </a:solidFill>
            <a:prstDash val="solid"/>
          </a:ln>
        </p:spPr>
      </p:sp>
      <p:sp>
        <p:nvSpPr>
          <p:cNvPr id="45" name="Text 43"/>
          <p:cNvSpPr txBox="1"/>
          <p:nvPr/>
        </p:nvSpPr>
        <p:spPr>
          <a:xfrm>
            <a:off x="10296144" y="4325112"/>
            <a:ext cx="1216152" cy="365760"/>
          </a:xfrm>
          <a:prstGeom prst="rect">
            <a:avLst/>
          </a:prstGeom>
          <a:noFill/>
          <a:ln/>
        </p:spPr>
        <p:txBody>
          <a:bodyPr wrap="square" lIns="0" tIns="0" rIns="0" bIns="0" rtlCol="0" anchor="ctr"/>
          <a:lstStyle/>
          <a:p>
            <a:pPr algn="ctr" indent="0" marL="0">
              <a:buNone/>
            </a:pPr>
            <a:r>
              <a:rPr lang="en-US" sz="1100" b="1" dirty="0">
                <a:solidFill>
                  <a:srgbClr val="142850"/>
                </a:solidFill>
                <a:latin typeface="Arial" pitchFamily="34" charset="0"/>
                <a:ea typeface="Arial" pitchFamily="34" charset="-122"/>
                <a:cs typeface="Arial" pitchFamily="34" charset="-120"/>
              </a:rPr>
              <a:t>scikit-learn</a:t>
            </a:r>
            <a:endParaRPr lang="en-US" sz="1100" dirty="0"/>
          </a:p>
        </p:txBody>
      </p:sp>
      <p:sp>
        <p:nvSpPr>
          <p:cNvPr id="46" name="Shape 44"/>
          <p:cNvSpPr/>
          <p:nvPr/>
        </p:nvSpPr>
        <p:spPr>
          <a:xfrm>
            <a:off x="7680960" y="4782312"/>
            <a:ext cx="1216152" cy="365760"/>
          </a:xfrm>
          <a:prstGeom prst="roundRect">
            <a:avLst>
              <a:gd name="adj" fmla="val 20000"/>
            </a:avLst>
          </a:prstGeom>
          <a:solidFill>
            <a:srgbClr val="E9F0FF"/>
          </a:solidFill>
          <a:ln w="6350">
            <a:solidFill>
              <a:srgbClr val="E9F0FF"/>
            </a:solidFill>
            <a:prstDash val="solid"/>
          </a:ln>
        </p:spPr>
      </p:sp>
      <p:sp>
        <p:nvSpPr>
          <p:cNvPr id="47" name="Text 45"/>
          <p:cNvSpPr txBox="1"/>
          <p:nvPr/>
        </p:nvSpPr>
        <p:spPr>
          <a:xfrm>
            <a:off x="7680960" y="4782312"/>
            <a:ext cx="1216152" cy="365760"/>
          </a:xfrm>
          <a:prstGeom prst="rect">
            <a:avLst/>
          </a:prstGeom>
          <a:noFill/>
          <a:ln/>
        </p:spPr>
        <p:txBody>
          <a:bodyPr wrap="square" lIns="0" tIns="0" rIns="0" bIns="0" rtlCol="0" anchor="ctr"/>
          <a:lstStyle/>
          <a:p>
            <a:pPr algn="ctr" indent="0" marL="0">
              <a:buNone/>
            </a:pPr>
            <a:r>
              <a:rPr lang="en-US" sz="1100" b="1" dirty="0">
                <a:solidFill>
                  <a:srgbClr val="142850"/>
                </a:solidFill>
                <a:latin typeface="Arial" pitchFamily="34" charset="0"/>
                <a:ea typeface="Arial" pitchFamily="34" charset="-122"/>
                <a:cs typeface="Arial" pitchFamily="34" charset="-120"/>
              </a:rPr>
              <a:t>SHAP</a:t>
            </a:r>
            <a:endParaRPr lang="en-US" sz="1100" dirty="0"/>
          </a:p>
        </p:txBody>
      </p:sp>
      <p:sp>
        <p:nvSpPr>
          <p:cNvPr id="48" name="Shape 46"/>
          <p:cNvSpPr/>
          <p:nvPr/>
        </p:nvSpPr>
        <p:spPr>
          <a:xfrm>
            <a:off x="8988552" y="4782312"/>
            <a:ext cx="1216152" cy="365760"/>
          </a:xfrm>
          <a:prstGeom prst="roundRect">
            <a:avLst>
              <a:gd name="adj" fmla="val 20000"/>
            </a:avLst>
          </a:prstGeom>
          <a:solidFill>
            <a:srgbClr val="E9F0FF"/>
          </a:solidFill>
          <a:ln w="6350">
            <a:solidFill>
              <a:srgbClr val="E9F0FF"/>
            </a:solidFill>
            <a:prstDash val="solid"/>
          </a:ln>
        </p:spPr>
      </p:sp>
      <p:sp>
        <p:nvSpPr>
          <p:cNvPr id="49" name="Text 47"/>
          <p:cNvSpPr txBox="1"/>
          <p:nvPr/>
        </p:nvSpPr>
        <p:spPr>
          <a:xfrm>
            <a:off x="8988552" y="4782312"/>
            <a:ext cx="1216152" cy="365760"/>
          </a:xfrm>
          <a:prstGeom prst="rect">
            <a:avLst/>
          </a:prstGeom>
          <a:noFill/>
          <a:ln/>
        </p:spPr>
        <p:txBody>
          <a:bodyPr wrap="square" lIns="0" tIns="0" rIns="0" bIns="0" rtlCol="0" anchor="ctr"/>
          <a:lstStyle/>
          <a:p>
            <a:pPr algn="ctr" indent="0" marL="0">
              <a:buNone/>
            </a:pPr>
            <a:r>
              <a:rPr lang="en-US" sz="1100" b="1" dirty="0">
                <a:solidFill>
                  <a:srgbClr val="142850"/>
                </a:solidFill>
                <a:latin typeface="Arial" pitchFamily="34" charset="0"/>
                <a:ea typeface="Arial" pitchFamily="34" charset="-122"/>
                <a:cs typeface="Arial" pitchFamily="34" charset="-120"/>
              </a:rPr>
              <a:t>joblib</a:t>
            </a:r>
            <a:endParaRPr lang="en-US" sz="1100" dirty="0"/>
          </a:p>
        </p:txBody>
      </p:sp>
      <p:sp>
        <p:nvSpPr>
          <p:cNvPr id="50" name="Shape 48"/>
          <p:cNvSpPr/>
          <p:nvPr/>
        </p:nvSpPr>
        <p:spPr>
          <a:xfrm>
            <a:off x="7680960" y="5312664"/>
            <a:ext cx="3886200" cy="868680"/>
          </a:xfrm>
          <a:prstGeom prst="roundRect">
            <a:avLst>
              <a:gd name="adj" fmla="val 12632"/>
            </a:avLst>
          </a:prstGeom>
          <a:solidFill>
            <a:srgbClr val="FDF3E3"/>
          </a:solidFill>
          <a:ln w="9525">
            <a:solidFill>
              <a:srgbClr val="FDF3E3"/>
            </a:solidFill>
            <a:prstDash val="solid"/>
          </a:ln>
        </p:spPr>
      </p:sp>
      <p:sp>
        <p:nvSpPr>
          <p:cNvPr id="51" name="Text 49"/>
          <p:cNvSpPr txBox="1"/>
          <p:nvPr/>
        </p:nvSpPr>
        <p:spPr>
          <a:xfrm>
            <a:off x="7863840" y="5312664"/>
            <a:ext cx="3566160" cy="868680"/>
          </a:xfrm>
          <a:prstGeom prst="rect">
            <a:avLst/>
          </a:prstGeom>
          <a:noFill/>
          <a:ln/>
        </p:spPr>
        <p:txBody>
          <a:bodyPr wrap="square" lIns="0" tIns="0" rIns="0" bIns="0" rtlCol="0" anchor="ctr"/>
          <a:lstStyle/>
          <a:p>
            <a:pPr indent="0" marL="0">
              <a:buNone/>
            </a:pPr>
            <a:r>
              <a:rPr lang="en-US" sz="1200" b="1" dirty="0">
                <a:solidFill>
                  <a:srgbClr val="C27A12"/>
                </a:solidFill>
                <a:latin typeface="Arial" pitchFamily="34" charset="0"/>
                <a:ea typeface="Arial" pitchFamily="34" charset="-122"/>
                <a:cs typeface="Arial" pitchFamily="34" charset="-120"/>
              </a:rPr>
              <a:t>No database in the current implementation. Predictions and history are not stored.</a:t>
            </a:r>
            <a:endParaRPr lang="en-US" sz="1200" dirty="0"/>
          </a:p>
        </p:txBody>
      </p:sp>
      <p:sp>
        <p:nvSpPr>
          <p:cNvPr id="52" name="Text 50"/>
          <p:cNvSpPr txBox="1"/>
          <p:nvPr/>
        </p:nvSpPr>
        <p:spPr>
          <a:xfrm>
            <a:off x="640080" y="6473952"/>
            <a:ext cx="7315200" cy="201168"/>
          </a:xfrm>
          <a:prstGeom prst="rect">
            <a:avLst/>
          </a:prstGeom>
          <a:noFill/>
          <a:ln/>
        </p:spPr>
        <p:txBody>
          <a:bodyPr wrap="square" lIns="0" tIns="0" rIns="0" bIns="0" rtlCol="0" anchor="t"/>
          <a:lstStyle/>
          <a:p>
            <a:pPr indent="0" marL="0">
              <a:buNone/>
            </a:pPr>
            <a:r>
              <a:rPr lang="en-US" sz="800" spc="200" kern="0" dirty="0">
                <a:solidFill>
                  <a:srgbClr val="A6B3CC"/>
                </a:solidFill>
                <a:latin typeface="Arial" pitchFamily="34" charset="0"/>
                <a:ea typeface="Arial" pitchFamily="34" charset="-122"/>
                <a:cs typeface="Arial" pitchFamily="34" charset="-120"/>
              </a:rPr>
              <a:t>AI STUDENT PERFORMANCE PREDICTION  ·  DECISION SUPPORT  ·  EXPLAINABLE AI</a:t>
            </a:r>
            <a:endParaRPr lang="en-US" sz="800" dirty="0"/>
          </a:p>
        </p:txBody>
      </p:sp>
      <p:sp>
        <p:nvSpPr>
          <p:cNvPr id="53" name="Text 51"/>
          <p:cNvSpPr txBox="1"/>
          <p:nvPr/>
        </p:nvSpPr>
        <p:spPr>
          <a:xfrm>
            <a:off x="11155680" y="6473952"/>
            <a:ext cx="411480" cy="201168"/>
          </a:xfrm>
          <a:prstGeom prst="rect">
            <a:avLst/>
          </a:prstGeom>
          <a:noFill/>
          <a:ln/>
        </p:spPr>
        <p:txBody>
          <a:bodyPr wrap="square" lIns="0" tIns="0" rIns="0" bIns="0" rtlCol="0" anchor="t"/>
          <a:lstStyle/>
          <a:p>
            <a:pPr algn="r" indent="0" marL="0">
              <a:buNone/>
            </a:pPr>
            <a:r>
              <a:rPr lang="en-US" sz="900" dirty="0">
                <a:solidFill>
                  <a:srgbClr val="A6B3CC"/>
                </a:solidFill>
                <a:latin typeface="Arial" pitchFamily="34" charset="0"/>
                <a:ea typeface="Arial" pitchFamily="34" charset="-122"/>
                <a:cs typeface="Arial" pitchFamily="34" charset="-120"/>
              </a:rPr>
              <a:t>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515600" cy="274320"/>
          </a:xfrm>
          <a:prstGeom prst="rect">
            <a:avLst/>
          </a:prstGeom>
          <a:noFill/>
          <a:ln/>
        </p:spPr>
        <p:txBody>
          <a:bodyPr wrap="square" lIns="0" tIns="0" rIns="0" bIns="0" rtlCol="0" anchor="t"/>
          <a:lstStyle/>
          <a:p>
            <a:pPr indent="0" marL="0">
              <a:buNone/>
            </a:pPr>
            <a:r>
              <a:rPr lang="en-US" sz="1100" b="1" spc="300" kern="0" dirty="0">
                <a:solidFill>
                  <a:srgbClr val="2F6FED"/>
                </a:solidFill>
                <a:latin typeface="Arial" pitchFamily="34" charset="0"/>
                <a:ea typeface="Arial" pitchFamily="34" charset="-122"/>
                <a:cs typeface="Arial" pitchFamily="34" charset="-120"/>
              </a:rPr>
              <a:t>MODEL COMPARISON</a:t>
            </a:r>
            <a:endParaRPr lang="en-US" sz="1100" dirty="0"/>
          </a:p>
        </p:txBody>
      </p:sp>
      <p:sp>
        <p:nvSpPr>
          <p:cNvPr id="3" name="Text 1"/>
          <p:cNvSpPr txBox="1"/>
          <p:nvPr/>
        </p:nvSpPr>
        <p:spPr>
          <a:xfrm>
            <a:off x="640080" y="713232"/>
            <a:ext cx="10972800" cy="640080"/>
          </a:xfrm>
          <a:prstGeom prst="rect">
            <a:avLst/>
          </a:prstGeom>
          <a:noFill/>
          <a:ln/>
        </p:spPr>
        <p:txBody>
          <a:bodyPr wrap="square" lIns="0" tIns="0" rIns="0" bIns="0" rtlCol="0" anchor="ctr"/>
          <a:lstStyle/>
          <a:p>
            <a:pPr indent="0" marL="0">
              <a:buNone/>
            </a:pPr>
            <a:r>
              <a:rPr lang="en-US" sz="3000" b="1" dirty="0">
                <a:solidFill>
                  <a:srgbClr val="142850"/>
                </a:solidFill>
                <a:latin typeface="Cambria" pitchFamily="34" charset="0"/>
                <a:ea typeface="Cambria" pitchFamily="34" charset="-122"/>
                <a:cs typeface="Cambria" pitchFamily="34" charset="-120"/>
              </a:rPr>
              <a:t>Five regression models on the same 5 folds</a:t>
            </a:r>
            <a:endParaRPr lang="en-US" sz="3000" dirty="0"/>
          </a:p>
        </p:txBody>
      </p:sp>
      <p:sp>
        <p:nvSpPr>
          <p:cNvPr id="4" name="Text 2"/>
          <p:cNvSpPr txBox="1"/>
          <p:nvPr/>
        </p:nvSpPr>
        <p:spPr>
          <a:xfrm>
            <a:off x="640080" y="1371600"/>
            <a:ext cx="10881360" cy="365760"/>
          </a:xfrm>
          <a:prstGeom prst="rect">
            <a:avLst/>
          </a:prstGeom>
          <a:noFill/>
          <a:ln/>
        </p:spPr>
        <p:txBody>
          <a:bodyPr wrap="square" lIns="0" tIns="0" rIns="0" bIns="0" rtlCol="0" anchor="t"/>
          <a:lstStyle/>
          <a:p>
            <a:pPr indent="0" marL="0">
              <a:buNone/>
            </a:pPr>
            <a:r>
              <a:rPr lang="en-US" sz="1400" dirty="0">
                <a:solidFill>
                  <a:srgbClr val="5B6B87"/>
                </a:solidFill>
                <a:latin typeface="Arial" pitchFamily="34" charset="0"/>
                <a:ea typeface="Arial" pitchFamily="34" charset="-122"/>
                <a:cs typeface="Arial" pitchFamily="34" charset="-120"/>
              </a:rPr>
              <a:t>5-fold cross-validation, mean ± standard deviation. MAE and RMSE are in final-exam marks out of 100.</a:t>
            </a:r>
            <a:endParaRPr lang="en-US" sz="14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40080" y="2057400"/>
          <a:ext cx="6766560" cy="914400"/>
        </p:xfrm>
        <a:graphic>
          <a:graphicData uri="http://schemas.openxmlformats.org/drawingml/2006/table">
            <a:tbl>
              <a:tblPr/>
              <a:tblGrid>
                <a:gridCol w="2651760"/>
                <a:gridCol w="1280160"/>
                <a:gridCol w="1280160"/>
                <a:gridCol w="1554480"/>
              </a:tblGrid>
              <a:tr h="457200">
                <a:tc>
                  <a:txBody>
                    <a:bodyPr/>
                    <a:lstStyle/>
                    <a:p>
                      <a:pPr indent="0" marL="0">
                        <a:buNone/>
                      </a:pPr>
                      <a:r>
                        <a:rPr lang="en-US" sz="1300" b="1" dirty="0">
                          <a:solidFill>
                            <a:srgbClr val="FFFFFF"/>
                          </a:solidFill>
                          <a:latin typeface="Arial" pitchFamily="34" charset="0"/>
                          <a:ea typeface="Arial" pitchFamily="34" charset="-122"/>
                          <a:cs typeface="Arial" pitchFamily="34" charset="-120"/>
                        </a:rPr>
                        <a:t>Model</a:t>
                      </a:r>
                      <a:endParaRPr lang="en-US" sz="1300" dirty="0">
                        <a:latin typeface="Arial" charset="0"/>
                        <a:ea typeface="Arial" charset="0"/>
                        <a:cs typeface="Arial" charset="0"/>
                      </a:endParaRPr>
                    </a:p>
                  </a:txBody>
                  <a:tcPr marL="91440" marR="91440" marT="45720" marB="45720"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142850"/>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MAE</a:t>
                      </a:r>
                      <a:endParaRPr lang="en-US" sz="1300" dirty="0">
                        <a:latin typeface="Arial" charset="0"/>
                        <a:ea typeface="Arial" charset="0"/>
                        <a:cs typeface="Arial" charset="0"/>
                      </a:endParaRPr>
                    </a:p>
                  </a:txBody>
                  <a:tcPr marL="91440" marR="91440" marT="45720" marB="45720"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142850"/>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RMSE</a:t>
                      </a:r>
                      <a:endParaRPr lang="en-US" sz="1300" dirty="0">
                        <a:latin typeface="Arial" charset="0"/>
                        <a:ea typeface="Arial" charset="0"/>
                        <a:cs typeface="Arial" charset="0"/>
                      </a:endParaRPr>
                    </a:p>
                  </a:txBody>
                  <a:tcPr marL="91440" marR="91440" marT="45720" marB="45720"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142850"/>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R²</a:t>
                      </a:r>
                      <a:endParaRPr lang="en-US" sz="1300" dirty="0">
                        <a:latin typeface="Arial" charset="0"/>
                        <a:ea typeface="Arial" charset="0"/>
                        <a:cs typeface="Arial" charset="0"/>
                      </a:endParaRPr>
                    </a:p>
                  </a:txBody>
                  <a:tcPr marL="91440" marR="91440" marT="45720" marB="45720"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142850"/>
                    </a:solidFill>
                  </a:tcPr>
                </a:tc>
              </a:tr>
              <a:tr h="457200">
                <a:tc>
                  <a:txBody>
                    <a:bodyPr/>
                    <a:lstStyle/>
                    <a:p>
                      <a:pPr indent="0" marL="0">
                        <a:buNone/>
                      </a:pPr>
                      <a:r>
                        <a:rPr lang="en-US" sz="1300" b="1" dirty="0">
                          <a:solidFill>
                            <a:srgbClr val="142850"/>
                          </a:solidFill>
                          <a:latin typeface="Arial" pitchFamily="34" charset="0"/>
                          <a:ea typeface="Arial" pitchFamily="34" charset="-122"/>
                          <a:cs typeface="Arial" pitchFamily="34" charset="-120"/>
                        </a:rPr>
                        <a:t>Linear Regression  (production)</a:t>
                      </a:r>
                      <a:endParaRPr lang="en-US" sz="1300" dirty="0">
                        <a:latin typeface="Arial" charset="0"/>
                        <a:ea typeface="Arial" charset="0"/>
                        <a:cs typeface="Arial" charset="0"/>
                      </a:endParaRPr>
                    </a:p>
                  </a:txBody>
                  <a:tcPr marL="91440" marR="91440" marT="45720" marB="45720"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E9F0FF"/>
                    </a:solidFill>
                  </a:tcPr>
                </a:tc>
                <a:tc>
                  <a:txBody>
                    <a:bodyPr/>
                    <a:lstStyle/>
                    <a:p>
                      <a:pPr indent="0" marL="0">
                        <a:buNone/>
                      </a:pPr>
                      <a:r>
                        <a:rPr lang="en-US" sz="1300" b="1" dirty="0">
                          <a:solidFill>
                            <a:srgbClr val="142850"/>
                          </a:solidFill>
                          <a:latin typeface="Arial" pitchFamily="34" charset="0"/>
                          <a:ea typeface="Arial" pitchFamily="34" charset="-122"/>
                          <a:cs typeface="Arial" pitchFamily="34" charset="-120"/>
                        </a:rPr>
                        <a:t>3.62 ± 0.07</a:t>
                      </a:r>
                      <a:endParaRPr lang="en-US" sz="1300" dirty="0">
                        <a:latin typeface="Arial" charset="0"/>
                        <a:ea typeface="Arial" charset="0"/>
                        <a:cs typeface="Arial" charset="0"/>
                      </a:endParaRPr>
                    </a:p>
                  </a:txBody>
                  <a:tcPr marL="91440" marR="91440" marT="45720" marB="45720"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E9F0FF"/>
                    </a:solidFill>
                  </a:tcPr>
                </a:tc>
                <a:tc>
                  <a:txBody>
                    <a:bodyPr/>
                    <a:lstStyle/>
                    <a:p>
                      <a:pPr indent="0" marL="0">
                        <a:buNone/>
                      </a:pPr>
                      <a:r>
                        <a:rPr lang="en-US" sz="1300" b="1" dirty="0">
                          <a:solidFill>
                            <a:srgbClr val="142850"/>
                          </a:solidFill>
                          <a:latin typeface="Arial" pitchFamily="34" charset="0"/>
                          <a:ea typeface="Arial" pitchFamily="34" charset="-122"/>
                          <a:cs typeface="Arial" pitchFamily="34" charset="-120"/>
                        </a:rPr>
                        <a:t>4.59 ± 0.09</a:t>
                      </a:r>
                      <a:endParaRPr lang="en-US" sz="1300" dirty="0">
                        <a:latin typeface="Arial" charset="0"/>
                        <a:ea typeface="Arial" charset="0"/>
                        <a:cs typeface="Arial" charset="0"/>
                      </a:endParaRPr>
                    </a:p>
                  </a:txBody>
                  <a:tcPr marL="91440" marR="91440" marT="45720" marB="45720"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E9F0FF"/>
                    </a:solidFill>
                  </a:tcPr>
                </a:tc>
                <a:tc>
                  <a:txBody>
                    <a:bodyPr/>
                    <a:lstStyle/>
                    <a:p>
                      <a:pPr indent="0" marL="0">
                        <a:buNone/>
                      </a:pPr>
                      <a:r>
                        <a:rPr lang="en-US" sz="1300" b="1" dirty="0">
                          <a:solidFill>
                            <a:srgbClr val="142850"/>
                          </a:solidFill>
                          <a:latin typeface="Arial" pitchFamily="34" charset="0"/>
                          <a:ea typeface="Arial" pitchFamily="34" charset="-122"/>
                          <a:cs typeface="Arial" pitchFamily="34" charset="-120"/>
                        </a:rPr>
                        <a:t>0.8357 ± 0.0084</a:t>
                      </a:r>
                      <a:endParaRPr lang="en-US" sz="1300" dirty="0">
                        <a:latin typeface="Arial" charset="0"/>
                        <a:ea typeface="Arial" charset="0"/>
                        <a:cs typeface="Arial" charset="0"/>
                      </a:endParaRPr>
                    </a:p>
                  </a:txBody>
                  <a:tcPr marL="91440" marR="91440" marT="45720" marB="45720"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E9F0FF"/>
                    </a:solidFill>
                  </a:tcPr>
                </a:tc>
              </a:tr>
              <a:tr h="457200">
                <a:tc>
                  <a:txBody>
                    <a:bodyPr/>
                    <a:lstStyle/>
                    <a:p>
                      <a:pPr indent="0" marL="0">
                        <a:buNone/>
                      </a:pPr>
                      <a:r>
                        <a:rPr lang="en-US" sz="1300" dirty="0">
                          <a:solidFill>
                            <a:srgbClr val="1A2A4A"/>
                          </a:solidFill>
                          <a:latin typeface="Arial" pitchFamily="34" charset="0"/>
                          <a:ea typeface="Arial" pitchFamily="34" charset="-122"/>
                          <a:cs typeface="Arial" pitchFamily="34" charset="-120"/>
                        </a:rPr>
                        <a:t>Random Forest (tuned)</a:t>
                      </a:r>
                      <a:endParaRPr lang="en-US" sz="1300" dirty="0">
                        <a:latin typeface="Arial" charset="0"/>
                        <a:ea typeface="Arial" charset="0"/>
                        <a:cs typeface="Arial" charset="0"/>
                      </a:endParaRPr>
                    </a:p>
                  </a:txBody>
                  <a:tcPr marL="91440" marR="91440" marT="45720" marB="45720"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tc>
                  <a:txBody>
                    <a:bodyPr/>
                    <a:lstStyle/>
                    <a:p>
                      <a:pPr indent="0" marL="0">
                        <a:buNone/>
                      </a:pPr>
                      <a:r>
                        <a:rPr lang="en-US" sz="1300" dirty="0">
                          <a:solidFill>
                            <a:srgbClr val="1A2A4A"/>
                          </a:solidFill>
                          <a:latin typeface="Arial" pitchFamily="34" charset="0"/>
                          <a:ea typeface="Arial" pitchFamily="34" charset="-122"/>
                          <a:cs typeface="Arial" pitchFamily="34" charset="-120"/>
                        </a:rPr>
                        <a:t>3.85 ± 0.08</a:t>
                      </a:r>
                      <a:endParaRPr lang="en-US" sz="1300" dirty="0">
                        <a:latin typeface="Arial" charset="0"/>
                        <a:ea typeface="Arial" charset="0"/>
                        <a:cs typeface="Arial" charset="0"/>
                      </a:endParaRPr>
                    </a:p>
                  </a:txBody>
                  <a:tcPr marL="91440" marR="91440" marT="45720" marB="45720"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tc>
                  <a:txBody>
                    <a:bodyPr/>
                    <a:lstStyle/>
                    <a:p>
                      <a:pPr indent="0" marL="0">
                        <a:buNone/>
                      </a:pPr>
                      <a:r>
                        <a:rPr lang="en-US" sz="1300" dirty="0">
                          <a:solidFill>
                            <a:srgbClr val="1A2A4A"/>
                          </a:solidFill>
                          <a:latin typeface="Arial" pitchFamily="34" charset="0"/>
                          <a:ea typeface="Arial" pitchFamily="34" charset="-122"/>
                          <a:cs typeface="Arial" pitchFamily="34" charset="-120"/>
                        </a:rPr>
                        <a:t>4.88 ± 0.09</a:t>
                      </a:r>
                      <a:endParaRPr lang="en-US" sz="1300" dirty="0">
                        <a:latin typeface="Arial" charset="0"/>
                        <a:ea typeface="Arial" charset="0"/>
                        <a:cs typeface="Arial" charset="0"/>
                      </a:endParaRPr>
                    </a:p>
                  </a:txBody>
                  <a:tcPr marL="91440" marR="91440" marT="45720" marB="45720"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tc>
                  <a:txBody>
                    <a:bodyPr/>
                    <a:lstStyle/>
                    <a:p>
                      <a:pPr indent="0" marL="0">
                        <a:buNone/>
                      </a:pPr>
                      <a:r>
                        <a:rPr lang="en-US" sz="1300" dirty="0">
                          <a:solidFill>
                            <a:srgbClr val="1A2A4A"/>
                          </a:solidFill>
                          <a:latin typeface="Arial" pitchFamily="34" charset="0"/>
                          <a:ea typeface="Arial" pitchFamily="34" charset="-122"/>
                          <a:cs typeface="Arial" pitchFamily="34" charset="-120"/>
                        </a:rPr>
                        <a:t>0.8145 ± 0.0053</a:t>
                      </a:r>
                      <a:endParaRPr lang="en-US" sz="1300" dirty="0">
                        <a:latin typeface="Arial" charset="0"/>
                        <a:ea typeface="Arial" charset="0"/>
                        <a:cs typeface="Arial" charset="0"/>
                      </a:endParaRPr>
                    </a:p>
                  </a:txBody>
                  <a:tcPr marL="91440" marR="91440" marT="45720" marB="45720"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tr>
              <a:tr h="457200">
                <a:tc>
                  <a:txBody>
                    <a:bodyPr/>
                    <a:lstStyle/>
                    <a:p>
                      <a:pPr indent="0" marL="0">
                        <a:buNone/>
                      </a:pPr>
                      <a:r>
                        <a:rPr lang="en-US" sz="1300" dirty="0">
                          <a:solidFill>
                            <a:srgbClr val="1A2A4A"/>
                          </a:solidFill>
                          <a:latin typeface="Arial" pitchFamily="34" charset="0"/>
                          <a:ea typeface="Arial" pitchFamily="34" charset="-122"/>
                          <a:cs typeface="Arial" pitchFamily="34" charset="-120"/>
                        </a:rPr>
                        <a:t>SVR</a:t>
                      </a:r>
                      <a:endParaRPr lang="en-US" sz="1300" dirty="0">
                        <a:latin typeface="Arial" charset="0"/>
                        <a:ea typeface="Arial" charset="0"/>
                        <a:cs typeface="Arial" charset="0"/>
                      </a:endParaRPr>
                    </a:p>
                  </a:txBody>
                  <a:tcPr marL="91440" marR="91440" marT="45720" marB="45720"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tc>
                  <a:txBody>
                    <a:bodyPr/>
                    <a:lstStyle/>
                    <a:p>
                      <a:pPr indent="0" marL="0">
                        <a:buNone/>
                      </a:pPr>
                      <a:r>
                        <a:rPr lang="en-US" sz="1300" dirty="0">
                          <a:solidFill>
                            <a:srgbClr val="1A2A4A"/>
                          </a:solidFill>
                          <a:latin typeface="Arial" pitchFamily="34" charset="0"/>
                          <a:ea typeface="Arial" pitchFamily="34" charset="-122"/>
                          <a:cs typeface="Arial" pitchFamily="34" charset="-120"/>
                        </a:rPr>
                        <a:t>3.91 ± 0.11</a:t>
                      </a:r>
                      <a:endParaRPr lang="en-US" sz="1300" dirty="0">
                        <a:latin typeface="Arial" charset="0"/>
                        <a:ea typeface="Arial" charset="0"/>
                        <a:cs typeface="Arial" charset="0"/>
                      </a:endParaRPr>
                    </a:p>
                  </a:txBody>
                  <a:tcPr marL="91440" marR="91440" marT="45720" marB="45720"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tc>
                  <a:txBody>
                    <a:bodyPr/>
                    <a:lstStyle/>
                    <a:p>
                      <a:pPr indent="0" marL="0">
                        <a:buNone/>
                      </a:pPr>
                      <a:r>
                        <a:rPr lang="en-US" sz="1300" dirty="0">
                          <a:solidFill>
                            <a:srgbClr val="1A2A4A"/>
                          </a:solidFill>
                          <a:latin typeface="Arial" pitchFamily="34" charset="0"/>
                          <a:ea typeface="Arial" pitchFamily="34" charset="-122"/>
                          <a:cs typeface="Arial" pitchFamily="34" charset="-120"/>
                        </a:rPr>
                        <a:t>4.94 ± 0.11</a:t>
                      </a:r>
                      <a:endParaRPr lang="en-US" sz="1300" dirty="0">
                        <a:latin typeface="Arial" charset="0"/>
                        <a:ea typeface="Arial" charset="0"/>
                        <a:cs typeface="Arial" charset="0"/>
                      </a:endParaRPr>
                    </a:p>
                  </a:txBody>
                  <a:tcPr marL="91440" marR="91440" marT="45720" marB="45720"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tc>
                  <a:txBody>
                    <a:bodyPr/>
                    <a:lstStyle/>
                    <a:p>
                      <a:pPr indent="0" marL="0">
                        <a:buNone/>
                      </a:pPr>
                      <a:r>
                        <a:rPr lang="en-US" sz="1300" dirty="0">
                          <a:solidFill>
                            <a:srgbClr val="1A2A4A"/>
                          </a:solidFill>
                          <a:latin typeface="Arial" pitchFamily="34" charset="0"/>
                          <a:ea typeface="Arial" pitchFamily="34" charset="-122"/>
                          <a:cs typeface="Arial" pitchFamily="34" charset="-120"/>
                        </a:rPr>
                        <a:t>0.8099 ± 0.0069</a:t>
                      </a:r>
                      <a:endParaRPr lang="en-US" sz="1300" dirty="0">
                        <a:latin typeface="Arial" charset="0"/>
                        <a:ea typeface="Arial" charset="0"/>
                        <a:cs typeface="Arial" charset="0"/>
                      </a:endParaRPr>
                    </a:p>
                  </a:txBody>
                  <a:tcPr marL="91440" marR="91440" marT="45720" marB="45720"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tr>
              <a:tr h="457200">
                <a:tc>
                  <a:txBody>
                    <a:bodyPr/>
                    <a:lstStyle/>
                    <a:p>
                      <a:pPr indent="0" marL="0">
                        <a:buNone/>
                      </a:pPr>
                      <a:r>
                        <a:rPr lang="en-US" sz="1300" dirty="0">
                          <a:solidFill>
                            <a:srgbClr val="1A2A4A"/>
                          </a:solidFill>
                          <a:latin typeface="Arial" pitchFamily="34" charset="0"/>
                          <a:ea typeface="Arial" pitchFamily="34" charset="-122"/>
                          <a:cs typeface="Arial" pitchFamily="34" charset="-120"/>
                        </a:rPr>
                        <a:t>Random Forest</a:t>
                      </a:r>
                      <a:endParaRPr lang="en-US" sz="1300" dirty="0">
                        <a:latin typeface="Arial" charset="0"/>
                        <a:ea typeface="Arial" charset="0"/>
                        <a:cs typeface="Arial" charset="0"/>
                      </a:endParaRPr>
                    </a:p>
                  </a:txBody>
                  <a:tcPr marL="91440" marR="91440" marT="45720" marB="45720"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tc>
                  <a:txBody>
                    <a:bodyPr/>
                    <a:lstStyle/>
                    <a:p>
                      <a:pPr indent="0" marL="0">
                        <a:buNone/>
                      </a:pPr>
                      <a:r>
                        <a:rPr lang="en-US" sz="1300" dirty="0">
                          <a:solidFill>
                            <a:srgbClr val="1A2A4A"/>
                          </a:solidFill>
                          <a:latin typeface="Arial" pitchFamily="34" charset="0"/>
                          <a:ea typeface="Arial" pitchFamily="34" charset="-122"/>
                          <a:cs typeface="Arial" pitchFamily="34" charset="-120"/>
                        </a:rPr>
                        <a:t>3.99 ± 0.11</a:t>
                      </a:r>
                      <a:endParaRPr lang="en-US" sz="1300" dirty="0">
                        <a:latin typeface="Arial" charset="0"/>
                        <a:ea typeface="Arial" charset="0"/>
                        <a:cs typeface="Arial" charset="0"/>
                      </a:endParaRPr>
                    </a:p>
                  </a:txBody>
                  <a:tcPr marL="91440" marR="91440" marT="45720" marB="45720"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tc>
                  <a:txBody>
                    <a:bodyPr/>
                    <a:lstStyle/>
                    <a:p>
                      <a:pPr indent="0" marL="0">
                        <a:buNone/>
                      </a:pPr>
                      <a:r>
                        <a:rPr lang="en-US" sz="1300" dirty="0">
                          <a:solidFill>
                            <a:srgbClr val="1A2A4A"/>
                          </a:solidFill>
                          <a:latin typeface="Arial" pitchFamily="34" charset="0"/>
                          <a:ea typeface="Arial" pitchFamily="34" charset="-122"/>
                          <a:cs typeface="Arial" pitchFamily="34" charset="-120"/>
                        </a:rPr>
                        <a:t>5.05 ± 0.10</a:t>
                      </a:r>
                      <a:endParaRPr lang="en-US" sz="1300" dirty="0">
                        <a:latin typeface="Arial" charset="0"/>
                        <a:ea typeface="Arial" charset="0"/>
                        <a:cs typeface="Arial" charset="0"/>
                      </a:endParaRPr>
                    </a:p>
                  </a:txBody>
                  <a:tcPr marL="91440" marR="91440" marT="45720" marB="45720"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tc>
                  <a:txBody>
                    <a:bodyPr/>
                    <a:lstStyle/>
                    <a:p>
                      <a:pPr indent="0" marL="0">
                        <a:buNone/>
                      </a:pPr>
                      <a:r>
                        <a:rPr lang="en-US" sz="1300" dirty="0">
                          <a:solidFill>
                            <a:srgbClr val="1A2A4A"/>
                          </a:solidFill>
                          <a:latin typeface="Arial" pitchFamily="34" charset="0"/>
                          <a:ea typeface="Arial" pitchFamily="34" charset="-122"/>
                          <a:cs typeface="Arial" pitchFamily="34" charset="-120"/>
                        </a:rPr>
                        <a:t>0.8008 ± 0.0063</a:t>
                      </a:r>
                      <a:endParaRPr lang="en-US" sz="1300" dirty="0">
                        <a:latin typeface="Arial" charset="0"/>
                        <a:ea typeface="Arial" charset="0"/>
                        <a:cs typeface="Arial" charset="0"/>
                      </a:endParaRPr>
                    </a:p>
                  </a:txBody>
                  <a:tcPr marL="91440" marR="91440" marT="45720" marB="45720"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tr>
              <a:tr h="457200">
                <a:tc>
                  <a:txBody>
                    <a:bodyPr/>
                    <a:lstStyle/>
                    <a:p>
                      <a:pPr indent="0" marL="0">
                        <a:buNone/>
                      </a:pPr>
                      <a:r>
                        <a:rPr lang="en-US" sz="1300" dirty="0">
                          <a:solidFill>
                            <a:srgbClr val="1A2A4A"/>
                          </a:solidFill>
                          <a:latin typeface="Arial" pitchFamily="34" charset="0"/>
                          <a:ea typeface="Arial" pitchFamily="34" charset="-122"/>
                          <a:cs typeface="Arial" pitchFamily="34" charset="-120"/>
                        </a:rPr>
                        <a:t>Decision Tree</a:t>
                      </a:r>
                      <a:endParaRPr lang="en-US" sz="1300" dirty="0">
                        <a:latin typeface="Arial" charset="0"/>
                        <a:ea typeface="Arial" charset="0"/>
                        <a:cs typeface="Arial" charset="0"/>
                      </a:endParaRPr>
                    </a:p>
                  </a:txBody>
                  <a:tcPr marL="91440" marR="91440" marT="45720" marB="45720"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tc>
                  <a:txBody>
                    <a:bodyPr/>
                    <a:lstStyle/>
                    <a:p>
                      <a:pPr indent="0" marL="0">
                        <a:buNone/>
                      </a:pPr>
                      <a:r>
                        <a:rPr lang="en-US" sz="1300" dirty="0">
                          <a:solidFill>
                            <a:srgbClr val="1A2A4A"/>
                          </a:solidFill>
                          <a:latin typeface="Arial" pitchFamily="34" charset="0"/>
                          <a:ea typeface="Arial" pitchFamily="34" charset="-122"/>
                          <a:cs typeface="Arial" pitchFamily="34" charset="-120"/>
                        </a:rPr>
                        <a:t>4.85 ± 0.17</a:t>
                      </a:r>
                      <a:endParaRPr lang="en-US" sz="1300" dirty="0">
                        <a:latin typeface="Arial" charset="0"/>
                        <a:ea typeface="Arial" charset="0"/>
                        <a:cs typeface="Arial" charset="0"/>
                      </a:endParaRPr>
                    </a:p>
                  </a:txBody>
                  <a:tcPr marL="91440" marR="91440" marT="45720" marB="45720"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tc>
                  <a:txBody>
                    <a:bodyPr/>
                    <a:lstStyle/>
                    <a:p>
                      <a:pPr indent="0" marL="0">
                        <a:buNone/>
                      </a:pPr>
                      <a:r>
                        <a:rPr lang="en-US" sz="1300" dirty="0">
                          <a:solidFill>
                            <a:srgbClr val="1A2A4A"/>
                          </a:solidFill>
                          <a:latin typeface="Arial" pitchFamily="34" charset="0"/>
                          <a:ea typeface="Arial" pitchFamily="34" charset="-122"/>
                          <a:cs typeface="Arial" pitchFamily="34" charset="-120"/>
                        </a:rPr>
                        <a:t>6.07 ± 0.17</a:t>
                      </a:r>
                      <a:endParaRPr lang="en-US" sz="1300" dirty="0">
                        <a:latin typeface="Arial" charset="0"/>
                        <a:ea typeface="Arial" charset="0"/>
                        <a:cs typeface="Arial" charset="0"/>
                      </a:endParaRPr>
                    </a:p>
                  </a:txBody>
                  <a:tcPr marL="91440" marR="91440" marT="45720" marB="45720"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tc>
                  <a:txBody>
                    <a:bodyPr/>
                    <a:lstStyle/>
                    <a:p>
                      <a:pPr indent="0" marL="0">
                        <a:buNone/>
                      </a:pPr>
                      <a:r>
                        <a:rPr lang="en-US" sz="1300" dirty="0">
                          <a:solidFill>
                            <a:srgbClr val="1A2A4A"/>
                          </a:solidFill>
                          <a:latin typeface="Arial" pitchFamily="34" charset="0"/>
                          <a:ea typeface="Arial" pitchFamily="34" charset="-122"/>
                          <a:cs typeface="Arial" pitchFamily="34" charset="-120"/>
                        </a:rPr>
                        <a:t>0.7123 ± 0.0158</a:t>
                      </a:r>
                      <a:endParaRPr lang="en-US" sz="1300" dirty="0">
                        <a:latin typeface="Arial" charset="0"/>
                        <a:ea typeface="Arial" charset="0"/>
                        <a:cs typeface="Arial" charset="0"/>
                      </a:endParaRPr>
                    </a:p>
                  </a:txBody>
                  <a:tcPr marL="91440" marR="91440" marT="45720" marB="45720"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tr>
            </a:tbl>
          </a:graphicData>
        </a:graphic>
      </p:graphicFrame>
      <p:graphicFrame>
        <p:nvGraphicFramePr>
          <p:cNvPr id="6" name="Chart 0" descr=""/>
          <p:cNvGraphicFramePr/>
          <p:nvPr/>
        </p:nvGraphicFramePr>
        <p:xfrm>
          <a:off x="7772400" y="1920240"/>
          <a:ext cx="3931920" cy="2971800"/>
        </p:xfrm>
        <a:graphic xmlns:a="http://schemas.openxmlformats.org/drawingml/2006/main">
          <a:graphicData uri="http://schemas.openxmlformats.org/drawingml/2006/chart">
            <c:chart xmlns:c="http://schemas.openxmlformats.org/drawingml/2006/chart" r:id="rId1"/>
          </a:graphicData>
        </a:graphic>
      </p:graphicFrame>
      <p:sp>
        <p:nvSpPr>
          <p:cNvPr id="7" name="Shape 3"/>
          <p:cNvSpPr/>
          <p:nvPr/>
        </p:nvSpPr>
        <p:spPr>
          <a:xfrm>
            <a:off x="640080" y="5074920"/>
            <a:ext cx="10972800" cy="777240"/>
          </a:xfrm>
          <a:prstGeom prst="roundRect">
            <a:avLst>
              <a:gd name="adj" fmla="val 14118"/>
            </a:avLst>
          </a:prstGeom>
          <a:solidFill>
            <a:srgbClr val="0A1830"/>
          </a:solidFill>
          <a:ln w="9525">
            <a:solidFill>
              <a:srgbClr val="0A1830"/>
            </a:solidFill>
            <a:prstDash val="solid"/>
          </a:ln>
        </p:spPr>
      </p:sp>
      <p:sp>
        <p:nvSpPr>
          <p:cNvPr id="8" name="Text 4"/>
          <p:cNvSpPr txBox="1"/>
          <p:nvPr/>
        </p:nvSpPr>
        <p:spPr>
          <a:xfrm>
            <a:off x="914400" y="5074920"/>
            <a:ext cx="10424160" cy="77724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Linear Regression is the production model: </a:t>
            </a:r>
            <a:pPr indent="0" marL="0">
              <a:buNone/>
            </a:pPr>
            <a:r>
              <a:rPr lang="en-US" sz="1400" dirty="0">
                <a:solidFill>
                  <a:srgbClr val="C9D6F0"/>
                </a:solidFill>
                <a:latin typeface="Arial" pitchFamily="34" charset="0"/>
                <a:ea typeface="Arial" pitchFamily="34" charset="-122"/>
                <a:cs typeface="Arial" pitchFamily="34" charset="-120"/>
              </a:rPr>
              <a:t>it has the lowest MAE, the lowest RMSE and the highest R² of the five reproducible candidates.</a:t>
            </a:r>
            <a:endParaRPr lang="en-US" sz="1400" dirty="0"/>
          </a:p>
        </p:txBody>
      </p:sp>
      <p:sp>
        <p:nvSpPr>
          <p:cNvPr id="9" name="Text 5"/>
          <p:cNvSpPr txBox="1"/>
          <p:nvPr/>
        </p:nvSpPr>
        <p:spPr>
          <a:xfrm>
            <a:off x="640080" y="5989320"/>
            <a:ext cx="10972800" cy="320040"/>
          </a:xfrm>
          <a:prstGeom prst="rect">
            <a:avLst/>
          </a:prstGeom>
          <a:noFill/>
          <a:ln/>
        </p:spPr>
        <p:txBody>
          <a:bodyPr wrap="square" lIns="0" tIns="0" rIns="0" bIns="0" rtlCol="0" anchor="t"/>
          <a:lstStyle/>
          <a:p>
            <a:pPr indent="0" marL="0">
              <a:buNone/>
            </a:pPr>
            <a:r>
              <a:rPr lang="en-US" sz="1000" i="1" dirty="0">
                <a:solidFill>
                  <a:srgbClr val="5B6B87"/>
                </a:solidFill>
                <a:latin typeface="Arial" pitchFamily="34" charset="0"/>
                <a:ea typeface="Arial" pitchFamily="34" charset="-122"/>
                <a:cs typeface="Arial" pitchFamily="34" charset="-120"/>
              </a:rPr>
              <a:t>Source: results/evaluation.md (evaluate_models.py). XGBoost is not included: the package is not part of the project environment, so it could not be evaluated reproducibly.</a:t>
            </a:r>
            <a:endParaRPr lang="en-US" sz="1000" dirty="0"/>
          </a:p>
        </p:txBody>
      </p:sp>
      <p:sp>
        <p:nvSpPr>
          <p:cNvPr id="10" name="Text 6"/>
          <p:cNvSpPr txBox="1"/>
          <p:nvPr/>
        </p:nvSpPr>
        <p:spPr>
          <a:xfrm>
            <a:off x="640080" y="6473952"/>
            <a:ext cx="7315200" cy="201168"/>
          </a:xfrm>
          <a:prstGeom prst="rect">
            <a:avLst/>
          </a:prstGeom>
          <a:noFill/>
          <a:ln/>
        </p:spPr>
        <p:txBody>
          <a:bodyPr wrap="square" lIns="0" tIns="0" rIns="0" bIns="0" rtlCol="0" anchor="t"/>
          <a:lstStyle/>
          <a:p>
            <a:pPr indent="0" marL="0">
              <a:buNone/>
            </a:pPr>
            <a:r>
              <a:rPr lang="en-US" sz="800" spc="200" kern="0" dirty="0">
                <a:solidFill>
                  <a:srgbClr val="A6B3CC"/>
                </a:solidFill>
                <a:latin typeface="Arial" pitchFamily="34" charset="0"/>
                <a:ea typeface="Arial" pitchFamily="34" charset="-122"/>
                <a:cs typeface="Arial" pitchFamily="34" charset="-120"/>
              </a:rPr>
              <a:t>AI STUDENT PERFORMANCE PREDICTION  ·  DECISION SUPPORT  ·  EXPLAINABLE AI</a:t>
            </a:r>
            <a:endParaRPr lang="en-US" sz="800" dirty="0"/>
          </a:p>
        </p:txBody>
      </p:sp>
      <p:sp>
        <p:nvSpPr>
          <p:cNvPr id="11" name="Text 7"/>
          <p:cNvSpPr txBox="1"/>
          <p:nvPr/>
        </p:nvSpPr>
        <p:spPr>
          <a:xfrm>
            <a:off x="11155680" y="6473952"/>
            <a:ext cx="411480" cy="201168"/>
          </a:xfrm>
          <a:prstGeom prst="rect">
            <a:avLst/>
          </a:prstGeom>
          <a:noFill/>
          <a:ln/>
        </p:spPr>
        <p:txBody>
          <a:bodyPr wrap="square" lIns="0" tIns="0" rIns="0" bIns="0" rtlCol="0" anchor="t"/>
          <a:lstStyle/>
          <a:p>
            <a:pPr algn="r" indent="0" marL="0">
              <a:buNone/>
            </a:pPr>
            <a:r>
              <a:rPr lang="en-US" sz="900" dirty="0">
                <a:solidFill>
                  <a:srgbClr val="A6B3CC"/>
                </a:solidFill>
                <a:latin typeface="Arial" pitchFamily="34" charset="0"/>
                <a:ea typeface="Arial" pitchFamily="34" charset="-122"/>
                <a:cs typeface="Arial" pitchFamily="34" charset="-120"/>
              </a:rPr>
              <a:t>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515600" cy="274320"/>
          </a:xfrm>
          <a:prstGeom prst="rect">
            <a:avLst/>
          </a:prstGeom>
          <a:noFill/>
          <a:ln/>
        </p:spPr>
        <p:txBody>
          <a:bodyPr wrap="square" lIns="0" tIns="0" rIns="0" bIns="0" rtlCol="0" anchor="t"/>
          <a:lstStyle/>
          <a:p>
            <a:pPr indent="0" marL="0">
              <a:buNone/>
            </a:pPr>
            <a:r>
              <a:rPr lang="en-US" sz="1100" b="1" spc="300" kern="0" dirty="0">
                <a:solidFill>
                  <a:srgbClr val="2F6FED"/>
                </a:solidFill>
                <a:latin typeface="Arial" pitchFamily="34" charset="0"/>
                <a:ea typeface="Arial" pitchFamily="34" charset="-122"/>
                <a:cs typeface="Arial" pitchFamily="34" charset="-120"/>
              </a:rPr>
              <a:t>PRODUCTION MODEL</a:t>
            </a:r>
            <a:endParaRPr lang="en-US" sz="1100" dirty="0"/>
          </a:p>
        </p:txBody>
      </p:sp>
      <p:sp>
        <p:nvSpPr>
          <p:cNvPr id="3" name="Text 1"/>
          <p:cNvSpPr txBox="1"/>
          <p:nvPr/>
        </p:nvSpPr>
        <p:spPr>
          <a:xfrm>
            <a:off x="640080" y="713232"/>
            <a:ext cx="10972800" cy="640080"/>
          </a:xfrm>
          <a:prstGeom prst="rect">
            <a:avLst/>
          </a:prstGeom>
          <a:noFill/>
          <a:ln/>
        </p:spPr>
        <p:txBody>
          <a:bodyPr wrap="square" lIns="0" tIns="0" rIns="0" bIns="0" rtlCol="0" anchor="ctr"/>
          <a:lstStyle/>
          <a:p>
            <a:pPr indent="0" marL="0">
              <a:buNone/>
            </a:pPr>
            <a:r>
              <a:rPr lang="en-US" sz="3000" b="1" dirty="0">
                <a:solidFill>
                  <a:srgbClr val="142850"/>
                </a:solidFill>
                <a:latin typeface="Cambria" pitchFamily="34" charset="0"/>
                <a:ea typeface="Cambria" pitchFamily="34" charset="-122"/>
                <a:cs typeface="Cambria" pitchFamily="34" charset="-120"/>
              </a:rPr>
              <a:t>StandardScaler + Linear Regression</a:t>
            </a:r>
            <a:endParaRPr lang="en-US" sz="3000" dirty="0"/>
          </a:p>
        </p:txBody>
      </p:sp>
      <p:sp>
        <p:nvSpPr>
          <p:cNvPr id="4" name="Text 2"/>
          <p:cNvSpPr txBox="1"/>
          <p:nvPr/>
        </p:nvSpPr>
        <p:spPr>
          <a:xfrm>
            <a:off x="640080" y="1371600"/>
            <a:ext cx="10881360" cy="365760"/>
          </a:xfrm>
          <a:prstGeom prst="rect">
            <a:avLst/>
          </a:prstGeom>
          <a:noFill/>
          <a:ln/>
        </p:spPr>
        <p:txBody>
          <a:bodyPr wrap="square" lIns="0" tIns="0" rIns="0" bIns="0" rtlCol="0" anchor="t"/>
          <a:lstStyle/>
          <a:p>
            <a:pPr indent="0" marL="0">
              <a:buNone/>
            </a:pPr>
            <a:r>
              <a:rPr lang="en-US" sz="1400" dirty="0">
                <a:solidFill>
                  <a:srgbClr val="5B6B87"/>
                </a:solidFill>
                <a:latin typeface="Arial" pitchFamily="34" charset="0"/>
                <a:ea typeface="Arial" pitchFamily="34" charset="-122"/>
                <a:cs typeface="Arial" pitchFamily="34" charset="-120"/>
              </a:rPr>
              <a:t>Selected as the production model because it achieved the strongest 5-fold CV performance among the reproducible candidate models.</a:t>
            </a:r>
            <a:endParaRPr lang="en-US" sz="1400" dirty="0"/>
          </a:p>
        </p:txBody>
      </p:sp>
      <p:sp>
        <p:nvSpPr>
          <p:cNvPr id="5" name="Shape 3"/>
          <p:cNvSpPr/>
          <p:nvPr/>
        </p:nvSpPr>
        <p:spPr>
          <a:xfrm>
            <a:off x="640080" y="2103120"/>
            <a:ext cx="3474720" cy="2103120"/>
          </a:xfrm>
          <a:prstGeom prst="roundRect">
            <a:avLst>
              <a:gd name="adj" fmla="val 5217"/>
            </a:avLst>
          </a:prstGeom>
          <a:solidFill>
            <a:srgbClr val="E9F0FF"/>
          </a:solidFill>
          <a:ln w="9525">
            <a:solidFill>
              <a:srgbClr val="E9F0FF"/>
            </a:solidFill>
            <a:prstDash val="solid"/>
          </a:ln>
        </p:spPr>
      </p:sp>
      <p:sp>
        <p:nvSpPr>
          <p:cNvPr id="6" name="Text 4"/>
          <p:cNvSpPr txBox="1"/>
          <p:nvPr/>
        </p:nvSpPr>
        <p:spPr>
          <a:xfrm>
            <a:off x="960120" y="2286000"/>
            <a:ext cx="2834640" cy="320040"/>
          </a:xfrm>
          <a:prstGeom prst="rect">
            <a:avLst/>
          </a:prstGeom>
          <a:noFill/>
          <a:ln/>
        </p:spPr>
        <p:txBody>
          <a:bodyPr wrap="square" lIns="0" tIns="0" rIns="0" bIns="0" rtlCol="0" anchor="t"/>
          <a:lstStyle/>
          <a:p>
            <a:pPr indent="0" marL="0">
              <a:buNone/>
            </a:pPr>
            <a:r>
              <a:rPr lang="en-US" sz="1300" b="1" spc="200" kern="0" dirty="0">
                <a:solidFill>
                  <a:srgbClr val="2F6FED"/>
                </a:solidFill>
                <a:latin typeface="Arial" pitchFamily="34" charset="0"/>
                <a:ea typeface="Arial" pitchFamily="34" charset="-122"/>
                <a:cs typeface="Arial" pitchFamily="34" charset="-120"/>
              </a:rPr>
              <a:t>MAE</a:t>
            </a:r>
            <a:endParaRPr lang="en-US" sz="1300" dirty="0"/>
          </a:p>
        </p:txBody>
      </p:sp>
      <p:sp>
        <p:nvSpPr>
          <p:cNvPr id="7" name="Text 5"/>
          <p:cNvSpPr txBox="1"/>
          <p:nvPr/>
        </p:nvSpPr>
        <p:spPr>
          <a:xfrm>
            <a:off x="960120" y="2651760"/>
            <a:ext cx="2834640" cy="822960"/>
          </a:xfrm>
          <a:prstGeom prst="rect">
            <a:avLst/>
          </a:prstGeom>
          <a:noFill/>
          <a:ln/>
        </p:spPr>
        <p:txBody>
          <a:bodyPr wrap="square" lIns="0" tIns="0" rIns="0" bIns="0" rtlCol="0" anchor="ctr"/>
          <a:lstStyle/>
          <a:p>
            <a:pPr indent="0" marL="0">
              <a:buNone/>
            </a:pPr>
            <a:r>
              <a:rPr lang="en-US" sz="4800" b="1" dirty="0">
                <a:solidFill>
                  <a:srgbClr val="142850"/>
                </a:solidFill>
                <a:latin typeface="Cambria" pitchFamily="34" charset="0"/>
                <a:ea typeface="Cambria" pitchFamily="34" charset="-122"/>
                <a:cs typeface="Cambria" pitchFamily="34" charset="-120"/>
              </a:rPr>
              <a:t>3.62</a:t>
            </a:r>
            <a:endParaRPr lang="en-US" sz="4800" dirty="0"/>
          </a:p>
        </p:txBody>
      </p:sp>
      <p:sp>
        <p:nvSpPr>
          <p:cNvPr id="8" name="Text 6"/>
          <p:cNvSpPr txBox="1"/>
          <p:nvPr/>
        </p:nvSpPr>
        <p:spPr>
          <a:xfrm>
            <a:off x="960120" y="3474720"/>
            <a:ext cx="2834640" cy="274320"/>
          </a:xfrm>
          <a:prstGeom prst="rect">
            <a:avLst/>
          </a:prstGeom>
          <a:noFill/>
          <a:ln/>
        </p:spPr>
        <p:txBody>
          <a:bodyPr wrap="square" lIns="0" tIns="0" rIns="0" bIns="0" rtlCol="0" anchor="t"/>
          <a:lstStyle/>
          <a:p>
            <a:pPr indent="0" marL="0">
              <a:buNone/>
            </a:pPr>
            <a:r>
              <a:rPr lang="en-US" sz="1400" b="1" dirty="0">
                <a:solidFill>
                  <a:srgbClr val="1A2A4A"/>
                </a:solidFill>
                <a:latin typeface="Arial" pitchFamily="34" charset="0"/>
                <a:ea typeface="Arial" pitchFamily="34" charset="-122"/>
                <a:cs typeface="Arial" pitchFamily="34" charset="-120"/>
              </a:rPr>
              <a:t>± 0.07 marks</a:t>
            </a:r>
            <a:endParaRPr lang="en-US" sz="1400" dirty="0"/>
          </a:p>
        </p:txBody>
      </p:sp>
      <p:sp>
        <p:nvSpPr>
          <p:cNvPr id="9" name="Text 7"/>
          <p:cNvSpPr txBox="1"/>
          <p:nvPr/>
        </p:nvSpPr>
        <p:spPr>
          <a:xfrm>
            <a:off x="960120" y="3794760"/>
            <a:ext cx="2834640" cy="274320"/>
          </a:xfrm>
          <a:prstGeom prst="rect">
            <a:avLst/>
          </a:prstGeom>
          <a:noFill/>
          <a:ln/>
        </p:spPr>
        <p:txBody>
          <a:bodyPr wrap="square" lIns="0" tIns="0" rIns="0" bIns="0" rtlCol="0" anchor="t"/>
          <a:lstStyle/>
          <a:p>
            <a:pPr indent="0" marL="0">
              <a:buNone/>
            </a:pPr>
            <a:r>
              <a:rPr lang="en-US" sz="1200" dirty="0">
                <a:solidFill>
                  <a:srgbClr val="5B6B87"/>
                </a:solidFill>
                <a:latin typeface="Arial" pitchFamily="34" charset="0"/>
                <a:ea typeface="Arial" pitchFamily="34" charset="-122"/>
                <a:cs typeface="Arial" pitchFamily="34" charset="-120"/>
              </a:rPr>
              <a:t>Mean absolute error</a:t>
            </a:r>
            <a:endParaRPr lang="en-US" sz="1200" dirty="0"/>
          </a:p>
        </p:txBody>
      </p:sp>
      <p:sp>
        <p:nvSpPr>
          <p:cNvPr id="10" name="Shape 8"/>
          <p:cNvSpPr/>
          <p:nvPr/>
        </p:nvSpPr>
        <p:spPr>
          <a:xfrm>
            <a:off x="4389120" y="2103120"/>
            <a:ext cx="3474720" cy="2103120"/>
          </a:xfrm>
          <a:prstGeom prst="roundRect">
            <a:avLst>
              <a:gd name="adj" fmla="val 5217"/>
            </a:avLst>
          </a:prstGeom>
          <a:solidFill>
            <a:srgbClr val="E9F0FF"/>
          </a:solidFill>
          <a:ln w="9525">
            <a:solidFill>
              <a:srgbClr val="E9F0FF"/>
            </a:solidFill>
            <a:prstDash val="solid"/>
          </a:ln>
        </p:spPr>
      </p:sp>
      <p:sp>
        <p:nvSpPr>
          <p:cNvPr id="11" name="Text 9"/>
          <p:cNvSpPr txBox="1"/>
          <p:nvPr/>
        </p:nvSpPr>
        <p:spPr>
          <a:xfrm>
            <a:off x="4709160" y="2286000"/>
            <a:ext cx="2834640" cy="320040"/>
          </a:xfrm>
          <a:prstGeom prst="rect">
            <a:avLst/>
          </a:prstGeom>
          <a:noFill/>
          <a:ln/>
        </p:spPr>
        <p:txBody>
          <a:bodyPr wrap="square" lIns="0" tIns="0" rIns="0" bIns="0" rtlCol="0" anchor="t"/>
          <a:lstStyle/>
          <a:p>
            <a:pPr indent="0" marL="0">
              <a:buNone/>
            </a:pPr>
            <a:r>
              <a:rPr lang="en-US" sz="1300" b="1" spc="200" kern="0" dirty="0">
                <a:solidFill>
                  <a:srgbClr val="2F6FED"/>
                </a:solidFill>
                <a:latin typeface="Arial" pitchFamily="34" charset="0"/>
                <a:ea typeface="Arial" pitchFamily="34" charset="-122"/>
                <a:cs typeface="Arial" pitchFamily="34" charset="-120"/>
              </a:rPr>
              <a:t>RMSE</a:t>
            </a:r>
            <a:endParaRPr lang="en-US" sz="1300" dirty="0"/>
          </a:p>
        </p:txBody>
      </p:sp>
      <p:sp>
        <p:nvSpPr>
          <p:cNvPr id="12" name="Text 10"/>
          <p:cNvSpPr txBox="1"/>
          <p:nvPr/>
        </p:nvSpPr>
        <p:spPr>
          <a:xfrm>
            <a:off x="4709160" y="2651760"/>
            <a:ext cx="2834640" cy="822960"/>
          </a:xfrm>
          <a:prstGeom prst="rect">
            <a:avLst/>
          </a:prstGeom>
          <a:noFill/>
          <a:ln/>
        </p:spPr>
        <p:txBody>
          <a:bodyPr wrap="square" lIns="0" tIns="0" rIns="0" bIns="0" rtlCol="0" anchor="ctr"/>
          <a:lstStyle/>
          <a:p>
            <a:pPr indent="0" marL="0">
              <a:buNone/>
            </a:pPr>
            <a:r>
              <a:rPr lang="en-US" sz="4800" b="1" dirty="0">
                <a:solidFill>
                  <a:srgbClr val="142850"/>
                </a:solidFill>
                <a:latin typeface="Cambria" pitchFamily="34" charset="0"/>
                <a:ea typeface="Cambria" pitchFamily="34" charset="-122"/>
                <a:cs typeface="Cambria" pitchFamily="34" charset="-120"/>
              </a:rPr>
              <a:t>4.59</a:t>
            </a:r>
            <a:endParaRPr lang="en-US" sz="4800" dirty="0"/>
          </a:p>
        </p:txBody>
      </p:sp>
      <p:sp>
        <p:nvSpPr>
          <p:cNvPr id="13" name="Text 11"/>
          <p:cNvSpPr txBox="1"/>
          <p:nvPr/>
        </p:nvSpPr>
        <p:spPr>
          <a:xfrm>
            <a:off x="4709160" y="3474720"/>
            <a:ext cx="2834640" cy="274320"/>
          </a:xfrm>
          <a:prstGeom prst="rect">
            <a:avLst/>
          </a:prstGeom>
          <a:noFill/>
          <a:ln/>
        </p:spPr>
        <p:txBody>
          <a:bodyPr wrap="square" lIns="0" tIns="0" rIns="0" bIns="0" rtlCol="0" anchor="t"/>
          <a:lstStyle/>
          <a:p>
            <a:pPr indent="0" marL="0">
              <a:buNone/>
            </a:pPr>
            <a:r>
              <a:rPr lang="en-US" sz="1400" b="1" dirty="0">
                <a:solidFill>
                  <a:srgbClr val="1A2A4A"/>
                </a:solidFill>
                <a:latin typeface="Arial" pitchFamily="34" charset="0"/>
                <a:ea typeface="Arial" pitchFamily="34" charset="-122"/>
                <a:cs typeface="Arial" pitchFamily="34" charset="-120"/>
              </a:rPr>
              <a:t>± 0.09 marks</a:t>
            </a:r>
            <a:endParaRPr lang="en-US" sz="1400" dirty="0"/>
          </a:p>
        </p:txBody>
      </p:sp>
      <p:sp>
        <p:nvSpPr>
          <p:cNvPr id="14" name="Text 12"/>
          <p:cNvSpPr txBox="1"/>
          <p:nvPr/>
        </p:nvSpPr>
        <p:spPr>
          <a:xfrm>
            <a:off x="4709160" y="3794760"/>
            <a:ext cx="2834640" cy="274320"/>
          </a:xfrm>
          <a:prstGeom prst="rect">
            <a:avLst/>
          </a:prstGeom>
          <a:noFill/>
          <a:ln/>
        </p:spPr>
        <p:txBody>
          <a:bodyPr wrap="square" lIns="0" tIns="0" rIns="0" bIns="0" rtlCol="0" anchor="t"/>
          <a:lstStyle/>
          <a:p>
            <a:pPr indent="0" marL="0">
              <a:buNone/>
            </a:pPr>
            <a:r>
              <a:rPr lang="en-US" sz="1200" dirty="0">
                <a:solidFill>
                  <a:srgbClr val="5B6B87"/>
                </a:solidFill>
                <a:latin typeface="Arial" pitchFamily="34" charset="0"/>
                <a:ea typeface="Arial" pitchFamily="34" charset="-122"/>
                <a:cs typeface="Arial" pitchFamily="34" charset="-120"/>
              </a:rPr>
              <a:t>Root mean squared error</a:t>
            </a:r>
            <a:endParaRPr lang="en-US" sz="1200" dirty="0"/>
          </a:p>
        </p:txBody>
      </p:sp>
      <p:sp>
        <p:nvSpPr>
          <p:cNvPr id="15" name="Shape 13"/>
          <p:cNvSpPr/>
          <p:nvPr/>
        </p:nvSpPr>
        <p:spPr>
          <a:xfrm>
            <a:off x="8138160" y="2103120"/>
            <a:ext cx="3474720" cy="2103120"/>
          </a:xfrm>
          <a:prstGeom prst="roundRect">
            <a:avLst>
              <a:gd name="adj" fmla="val 5217"/>
            </a:avLst>
          </a:prstGeom>
          <a:solidFill>
            <a:srgbClr val="E9F0FF"/>
          </a:solidFill>
          <a:ln w="9525">
            <a:solidFill>
              <a:srgbClr val="E9F0FF"/>
            </a:solidFill>
            <a:prstDash val="solid"/>
          </a:ln>
        </p:spPr>
      </p:sp>
      <p:sp>
        <p:nvSpPr>
          <p:cNvPr id="16" name="Text 14"/>
          <p:cNvSpPr txBox="1"/>
          <p:nvPr/>
        </p:nvSpPr>
        <p:spPr>
          <a:xfrm>
            <a:off x="8458200" y="2286000"/>
            <a:ext cx="2834640" cy="320040"/>
          </a:xfrm>
          <a:prstGeom prst="rect">
            <a:avLst/>
          </a:prstGeom>
          <a:noFill/>
          <a:ln/>
        </p:spPr>
        <p:txBody>
          <a:bodyPr wrap="square" lIns="0" tIns="0" rIns="0" bIns="0" rtlCol="0" anchor="t"/>
          <a:lstStyle/>
          <a:p>
            <a:pPr indent="0" marL="0">
              <a:buNone/>
            </a:pPr>
            <a:r>
              <a:rPr lang="en-US" sz="1300" b="1" spc="200" kern="0" dirty="0">
                <a:solidFill>
                  <a:srgbClr val="2F6FED"/>
                </a:solidFill>
                <a:latin typeface="Arial" pitchFamily="34" charset="0"/>
                <a:ea typeface="Arial" pitchFamily="34" charset="-122"/>
                <a:cs typeface="Arial" pitchFamily="34" charset="-120"/>
              </a:rPr>
              <a:t>R²</a:t>
            </a:r>
            <a:endParaRPr lang="en-US" sz="1300" dirty="0"/>
          </a:p>
        </p:txBody>
      </p:sp>
      <p:sp>
        <p:nvSpPr>
          <p:cNvPr id="17" name="Text 15"/>
          <p:cNvSpPr txBox="1"/>
          <p:nvPr/>
        </p:nvSpPr>
        <p:spPr>
          <a:xfrm>
            <a:off x="8458200" y="2651760"/>
            <a:ext cx="2834640" cy="822960"/>
          </a:xfrm>
          <a:prstGeom prst="rect">
            <a:avLst/>
          </a:prstGeom>
          <a:noFill/>
          <a:ln/>
        </p:spPr>
        <p:txBody>
          <a:bodyPr wrap="square" lIns="0" tIns="0" rIns="0" bIns="0" rtlCol="0" anchor="ctr"/>
          <a:lstStyle/>
          <a:p>
            <a:pPr indent="0" marL="0">
              <a:buNone/>
            </a:pPr>
            <a:r>
              <a:rPr lang="en-US" sz="4800" b="1" dirty="0">
                <a:solidFill>
                  <a:srgbClr val="142850"/>
                </a:solidFill>
                <a:latin typeface="Cambria" pitchFamily="34" charset="0"/>
                <a:ea typeface="Cambria" pitchFamily="34" charset="-122"/>
                <a:cs typeface="Cambria" pitchFamily="34" charset="-120"/>
              </a:rPr>
              <a:t>0.8357</a:t>
            </a:r>
            <a:endParaRPr lang="en-US" sz="4800" dirty="0"/>
          </a:p>
        </p:txBody>
      </p:sp>
      <p:sp>
        <p:nvSpPr>
          <p:cNvPr id="18" name="Text 16"/>
          <p:cNvSpPr txBox="1"/>
          <p:nvPr/>
        </p:nvSpPr>
        <p:spPr>
          <a:xfrm>
            <a:off x="8458200" y="3474720"/>
            <a:ext cx="2834640" cy="274320"/>
          </a:xfrm>
          <a:prstGeom prst="rect">
            <a:avLst/>
          </a:prstGeom>
          <a:noFill/>
          <a:ln/>
        </p:spPr>
        <p:txBody>
          <a:bodyPr wrap="square" lIns="0" tIns="0" rIns="0" bIns="0" rtlCol="0" anchor="t"/>
          <a:lstStyle/>
          <a:p>
            <a:pPr indent="0" marL="0">
              <a:buNone/>
            </a:pPr>
            <a:r>
              <a:rPr lang="en-US" sz="1400" b="1" dirty="0">
                <a:solidFill>
                  <a:srgbClr val="1A2A4A"/>
                </a:solidFill>
                <a:latin typeface="Arial" pitchFamily="34" charset="0"/>
                <a:ea typeface="Arial" pitchFamily="34" charset="-122"/>
                <a:cs typeface="Arial" pitchFamily="34" charset="-120"/>
              </a:rPr>
              <a:t>± 0.0084</a:t>
            </a:r>
            <a:endParaRPr lang="en-US" sz="1400" dirty="0"/>
          </a:p>
        </p:txBody>
      </p:sp>
      <p:sp>
        <p:nvSpPr>
          <p:cNvPr id="19" name="Text 17"/>
          <p:cNvSpPr txBox="1"/>
          <p:nvPr/>
        </p:nvSpPr>
        <p:spPr>
          <a:xfrm>
            <a:off x="8458200" y="3794760"/>
            <a:ext cx="2834640" cy="274320"/>
          </a:xfrm>
          <a:prstGeom prst="rect">
            <a:avLst/>
          </a:prstGeom>
          <a:noFill/>
          <a:ln/>
        </p:spPr>
        <p:txBody>
          <a:bodyPr wrap="square" lIns="0" tIns="0" rIns="0" bIns="0" rtlCol="0" anchor="t"/>
          <a:lstStyle/>
          <a:p>
            <a:pPr indent="0" marL="0">
              <a:buNone/>
            </a:pPr>
            <a:r>
              <a:rPr lang="en-US" sz="1200" dirty="0">
                <a:solidFill>
                  <a:srgbClr val="5B6B87"/>
                </a:solidFill>
                <a:latin typeface="Arial" pitchFamily="34" charset="0"/>
                <a:ea typeface="Arial" pitchFamily="34" charset="-122"/>
                <a:cs typeface="Arial" pitchFamily="34" charset="-120"/>
              </a:rPr>
              <a:t>Coefficient of determination</a:t>
            </a:r>
            <a:endParaRPr lang="en-US" sz="1200" dirty="0"/>
          </a:p>
        </p:txBody>
      </p:sp>
      <p:sp>
        <p:nvSpPr>
          <p:cNvPr id="20" name="Shape 18"/>
          <p:cNvSpPr/>
          <p:nvPr/>
        </p:nvSpPr>
        <p:spPr>
          <a:xfrm>
            <a:off x="640080" y="4617720"/>
            <a:ext cx="2377440" cy="685800"/>
          </a:xfrm>
          <a:prstGeom prst="roundRect">
            <a:avLst>
              <a:gd name="adj" fmla="val 16000"/>
            </a:avLst>
          </a:prstGeom>
          <a:solidFill>
            <a:srgbClr val="F4F7FE"/>
          </a:solidFill>
          <a:ln w="9525">
            <a:solidFill>
              <a:srgbClr val="D8E1F5"/>
            </a:solidFill>
            <a:prstDash val="solid"/>
          </a:ln>
        </p:spPr>
      </p:sp>
      <p:sp>
        <p:nvSpPr>
          <p:cNvPr id="21" name="Text 19"/>
          <p:cNvSpPr txBox="1"/>
          <p:nvPr/>
        </p:nvSpPr>
        <p:spPr>
          <a:xfrm>
            <a:off x="640080" y="4617720"/>
            <a:ext cx="2377440" cy="685800"/>
          </a:xfrm>
          <a:prstGeom prst="rect">
            <a:avLst/>
          </a:prstGeom>
          <a:noFill/>
          <a:ln/>
        </p:spPr>
        <p:txBody>
          <a:bodyPr wrap="square" lIns="0" tIns="0" rIns="0" bIns="0" rtlCol="0" anchor="ctr"/>
          <a:lstStyle/>
          <a:p>
            <a:pPr algn="ctr" indent="0" marL="0">
              <a:buNone/>
            </a:pPr>
            <a:r>
              <a:rPr lang="en-US" sz="1400" b="1" dirty="0">
                <a:solidFill>
                  <a:srgbClr val="142850"/>
                </a:solidFill>
                <a:latin typeface="Arial" pitchFamily="34" charset="0"/>
                <a:ea typeface="Arial" pitchFamily="34" charset="-122"/>
                <a:cs typeface="Arial" pitchFamily="34" charset="-120"/>
              </a:rPr>
              <a:t>Five inputs</a:t>
            </a:r>
            <a:endParaRPr lang="en-US" sz="1400" dirty="0"/>
          </a:p>
        </p:txBody>
      </p:sp>
      <p:sp>
        <p:nvSpPr>
          <p:cNvPr id="22" name="Shape 20"/>
          <p:cNvSpPr/>
          <p:nvPr/>
        </p:nvSpPr>
        <p:spPr>
          <a:xfrm>
            <a:off x="3063240" y="4846320"/>
            <a:ext cx="365760" cy="237744"/>
          </a:xfrm>
          <a:prstGeom prst="rightArrow">
            <a:avLst/>
          </a:prstGeom>
          <a:solidFill>
            <a:srgbClr val="2F6FED"/>
          </a:solidFill>
          <a:ln w="6350">
            <a:solidFill>
              <a:srgbClr val="2F6FED"/>
            </a:solidFill>
            <a:prstDash val="solid"/>
          </a:ln>
        </p:spPr>
      </p:sp>
      <p:sp>
        <p:nvSpPr>
          <p:cNvPr id="23" name="Shape 21"/>
          <p:cNvSpPr/>
          <p:nvPr/>
        </p:nvSpPr>
        <p:spPr>
          <a:xfrm>
            <a:off x="3474720" y="4617720"/>
            <a:ext cx="2377440" cy="685800"/>
          </a:xfrm>
          <a:prstGeom prst="roundRect">
            <a:avLst>
              <a:gd name="adj" fmla="val 16000"/>
            </a:avLst>
          </a:prstGeom>
          <a:solidFill>
            <a:srgbClr val="E9F0FF"/>
          </a:solidFill>
          <a:ln w="9525">
            <a:solidFill>
              <a:srgbClr val="E9F0FF"/>
            </a:solidFill>
            <a:prstDash val="solid"/>
          </a:ln>
        </p:spPr>
      </p:sp>
      <p:sp>
        <p:nvSpPr>
          <p:cNvPr id="24" name="Text 22"/>
          <p:cNvSpPr txBox="1"/>
          <p:nvPr/>
        </p:nvSpPr>
        <p:spPr>
          <a:xfrm>
            <a:off x="3474720" y="4617720"/>
            <a:ext cx="2377440" cy="685800"/>
          </a:xfrm>
          <a:prstGeom prst="rect">
            <a:avLst/>
          </a:prstGeom>
          <a:noFill/>
          <a:ln/>
        </p:spPr>
        <p:txBody>
          <a:bodyPr wrap="square" lIns="0" tIns="0" rIns="0" bIns="0" rtlCol="0" anchor="ctr"/>
          <a:lstStyle/>
          <a:p>
            <a:pPr algn="ctr" indent="0" marL="0">
              <a:buNone/>
            </a:pPr>
            <a:r>
              <a:rPr lang="en-US" sz="1400" b="1" dirty="0">
                <a:solidFill>
                  <a:srgbClr val="142850"/>
                </a:solidFill>
                <a:latin typeface="Arial" pitchFamily="34" charset="0"/>
                <a:ea typeface="Arial" pitchFamily="34" charset="-122"/>
                <a:cs typeface="Arial" pitchFamily="34" charset="-120"/>
              </a:rPr>
              <a:t>StandardScaler</a:t>
            </a:r>
            <a:endParaRPr lang="en-US" sz="1400" dirty="0"/>
          </a:p>
        </p:txBody>
      </p:sp>
      <p:sp>
        <p:nvSpPr>
          <p:cNvPr id="25" name="Shape 23"/>
          <p:cNvSpPr/>
          <p:nvPr/>
        </p:nvSpPr>
        <p:spPr>
          <a:xfrm>
            <a:off x="5897880" y="4846320"/>
            <a:ext cx="365760" cy="237744"/>
          </a:xfrm>
          <a:prstGeom prst="rightArrow">
            <a:avLst/>
          </a:prstGeom>
          <a:solidFill>
            <a:srgbClr val="2F6FED"/>
          </a:solidFill>
          <a:ln w="6350">
            <a:solidFill>
              <a:srgbClr val="2F6FED"/>
            </a:solidFill>
            <a:prstDash val="solid"/>
          </a:ln>
        </p:spPr>
      </p:sp>
      <p:sp>
        <p:nvSpPr>
          <p:cNvPr id="26" name="Shape 24"/>
          <p:cNvSpPr/>
          <p:nvPr/>
        </p:nvSpPr>
        <p:spPr>
          <a:xfrm>
            <a:off x="6309360" y="4617720"/>
            <a:ext cx="2377440" cy="685800"/>
          </a:xfrm>
          <a:prstGeom prst="roundRect">
            <a:avLst>
              <a:gd name="adj" fmla="val 16000"/>
            </a:avLst>
          </a:prstGeom>
          <a:solidFill>
            <a:srgbClr val="E9F0FF"/>
          </a:solidFill>
          <a:ln w="9525">
            <a:solidFill>
              <a:srgbClr val="E9F0FF"/>
            </a:solidFill>
            <a:prstDash val="solid"/>
          </a:ln>
        </p:spPr>
      </p:sp>
      <p:sp>
        <p:nvSpPr>
          <p:cNvPr id="27" name="Text 25"/>
          <p:cNvSpPr txBox="1"/>
          <p:nvPr/>
        </p:nvSpPr>
        <p:spPr>
          <a:xfrm>
            <a:off x="6309360" y="4617720"/>
            <a:ext cx="2377440" cy="685800"/>
          </a:xfrm>
          <a:prstGeom prst="rect">
            <a:avLst/>
          </a:prstGeom>
          <a:noFill/>
          <a:ln/>
        </p:spPr>
        <p:txBody>
          <a:bodyPr wrap="square" lIns="0" tIns="0" rIns="0" bIns="0" rtlCol="0" anchor="ctr"/>
          <a:lstStyle/>
          <a:p>
            <a:pPr algn="ctr" indent="0" marL="0">
              <a:buNone/>
            </a:pPr>
            <a:r>
              <a:rPr lang="en-US" sz="1400" b="1" dirty="0">
                <a:solidFill>
                  <a:srgbClr val="142850"/>
                </a:solidFill>
                <a:latin typeface="Arial" pitchFamily="34" charset="0"/>
                <a:ea typeface="Arial" pitchFamily="34" charset="-122"/>
                <a:cs typeface="Arial" pitchFamily="34" charset="-120"/>
              </a:rPr>
              <a:t>LinearRegression</a:t>
            </a:r>
            <a:endParaRPr lang="en-US" sz="1400" dirty="0"/>
          </a:p>
        </p:txBody>
      </p:sp>
      <p:sp>
        <p:nvSpPr>
          <p:cNvPr id="28" name="Shape 26"/>
          <p:cNvSpPr/>
          <p:nvPr/>
        </p:nvSpPr>
        <p:spPr>
          <a:xfrm>
            <a:off x="8732520" y="4846320"/>
            <a:ext cx="365760" cy="237744"/>
          </a:xfrm>
          <a:prstGeom prst="rightArrow">
            <a:avLst/>
          </a:prstGeom>
          <a:solidFill>
            <a:srgbClr val="2F6FED"/>
          </a:solidFill>
          <a:ln w="6350">
            <a:solidFill>
              <a:srgbClr val="2F6FED"/>
            </a:solidFill>
            <a:prstDash val="solid"/>
          </a:ln>
        </p:spPr>
      </p:sp>
      <p:sp>
        <p:nvSpPr>
          <p:cNvPr id="29" name="Shape 27"/>
          <p:cNvSpPr/>
          <p:nvPr/>
        </p:nvSpPr>
        <p:spPr>
          <a:xfrm>
            <a:off x="9144000" y="4617720"/>
            <a:ext cx="2377440" cy="685800"/>
          </a:xfrm>
          <a:prstGeom prst="roundRect">
            <a:avLst>
              <a:gd name="adj" fmla="val 16000"/>
            </a:avLst>
          </a:prstGeom>
          <a:solidFill>
            <a:srgbClr val="F4F7FE"/>
          </a:solidFill>
          <a:ln w="9525">
            <a:solidFill>
              <a:srgbClr val="D8E1F5"/>
            </a:solidFill>
            <a:prstDash val="solid"/>
          </a:ln>
        </p:spPr>
      </p:sp>
      <p:sp>
        <p:nvSpPr>
          <p:cNvPr id="30" name="Text 28"/>
          <p:cNvSpPr txBox="1"/>
          <p:nvPr/>
        </p:nvSpPr>
        <p:spPr>
          <a:xfrm>
            <a:off x="9144000" y="4617720"/>
            <a:ext cx="2377440" cy="685800"/>
          </a:xfrm>
          <a:prstGeom prst="rect">
            <a:avLst/>
          </a:prstGeom>
          <a:noFill/>
          <a:ln/>
        </p:spPr>
        <p:txBody>
          <a:bodyPr wrap="square" lIns="0" tIns="0" rIns="0" bIns="0" rtlCol="0" anchor="ctr"/>
          <a:lstStyle/>
          <a:p>
            <a:pPr algn="ctr" indent="0" marL="0">
              <a:buNone/>
            </a:pPr>
            <a:r>
              <a:rPr lang="en-US" sz="1400" b="1" dirty="0">
                <a:solidFill>
                  <a:srgbClr val="142850"/>
                </a:solidFill>
                <a:latin typeface="Arial" pitchFamily="34" charset="0"/>
                <a:ea typeface="Arial" pitchFamily="34" charset="-122"/>
                <a:cs typeface="Arial" pitchFamily="34" charset="-120"/>
              </a:rPr>
              <a:t>Predicted marks</a:t>
            </a:r>
            <a:endParaRPr lang="en-US" sz="1400" dirty="0"/>
          </a:p>
        </p:txBody>
      </p:sp>
      <p:sp>
        <p:nvSpPr>
          <p:cNvPr id="31" name="Text 29"/>
          <p:cNvSpPr txBox="1"/>
          <p:nvPr/>
        </p:nvSpPr>
        <p:spPr>
          <a:xfrm>
            <a:off x="640080" y="5577840"/>
            <a:ext cx="10972800" cy="548640"/>
          </a:xfrm>
          <a:prstGeom prst="rect">
            <a:avLst/>
          </a:prstGeom>
          <a:noFill/>
          <a:ln/>
        </p:spPr>
        <p:txBody>
          <a:bodyPr wrap="square" lIns="0" tIns="0" rIns="0" bIns="0" rtlCol="0" anchor="t"/>
          <a:lstStyle/>
          <a:p>
            <a:pPr indent="0" marL="0">
              <a:buNone/>
            </a:pPr>
            <a:r>
              <a:rPr lang="en-US" sz="1200" dirty="0">
                <a:solidFill>
                  <a:srgbClr val="5B6B87"/>
                </a:solidFill>
                <a:latin typeface="Arial" pitchFamily="34" charset="0"/>
                <a:ea typeface="Arial" pitchFamily="34" charset="-122"/>
                <a:cs typeface="Arial" pitchFamily="34" charset="-120"/>
              </a:rPr>
              <a:t>Trained on all 2,000 records by final_model.py and saved as final_student_performance_model.pkl (scikit-learn 1.9.1). The same model serves /predict, /explain and /recommend.</a:t>
            </a:r>
            <a:endParaRPr lang="en-US" sz="1200" dirty="0"/>
          </a:p>
        </p:txBody>
      </p:sp>
      <p:sp>
        <p:nvSpPr>
          <p:cNvPr id="32" name="Text 30"/>
          <p:cNvSpPr txBox="1"/>
          <p:nvPr/>
        </p:nvSpPr>
        <p:spPr>
          <a:xfrm>
            <a:off x="640080" y="6473952"/>
            <a:ext cx="7315200" cy="201168"/>
          </a:xfrm>
          <a:prstGeom prst="rect">
            <a:avLst/>
          </a:prstGeom>
          <a:noFill/>
          <a:ln/>
        </p:spPr>
        <p:txBody>
          <a:bodyPr wrap="square" lIns="0" tIns="0" rIns="0" bIns="0" rtlCol="0" anchor="t"/>
          <a:lstStyle/>
          <a:p>
            <a:pPr indent="0" marL="0">
              <a:buNone/>
            </a:pPr>
            <a:r>
              <a:rPr lang="en-US" sz="800" spc="200" kern="0" dirty="0">
                <a:solidFill>
                  <a:srgbClr val="A6B3CC"/>
                </a:solidFill>
                <a:latin typeface="Arial" pitchFamily="34" charset="0"/>
                <a:ea typeface="Arial" pitchFamily="34" charset="-122"/>
                <a:cs typeface="Arial" pitchFamily="34" charset="-120"/>
              </a:rPr>
              <a:t>AI STUDENT PERFORMANCE PREDICTION  ·  DECISION SUPPORT  ·  EXPLAINABLE AI</a:t>
            </a:r>
            <a:endParaRPr lang="en-US" sz="800" dirty="0"/>
          </a:p>
        </p:txBody>
      </p:sp>
      <p:sp>
        <p:nvSpPr>
          <p:cNvPr id="33" name="Text 31"/>
          <p:cNvSpPr txBox="1"/>
          <p:nvPr/>
        </p:nvSpPr>
        <p:spPr>
          <a:xfrm>
            <a:off x="11155680" y="6473952"/>
            <a:ext cx="411480" cy="201168"/>
          </a:xfrm>
          <a:prstGeom prst="rect">
            <a:avLst/>
          </a:prstGeom>
          <a:noFill/>
          <a:ln/>
        </p:spPr>
        <p:txBody>
          <a:bodyPr wrap="square" lIns="0" tIns="0" rIns="0" bIns="0" rtlCol="0" anchor="t"/>
          <a:lstStyle/>
          <a:p>
            <a:pPr algn="r" indent="0" marL="0">
              <a:buNone/>
            </a:pPr>
            <a:r>
              <a:rPr lang="en-US" sz="900" dirty="0">
                <a:solidFill>
                  <a:srgbClr val="A6B3CC"/>
                </a:solidFill>
                <a:latin typeface="Arial" pitchFamily="34" charset="0"/>
                <a:ea typeface="Arial" pitchFamily="34" charset="-122"/>
                <a:cs typeface="Arial" pitchFamily="34" charset="-120"/>
              </a:rPr>
              <a:t>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515600" cy="274320"/>
          </a:xfrm>
          <a:prstGeom prst="rect">
            <a:avLst/>
          </a:prstGeom>
          <a:noFill/>
          <a:ln/>
        </p:spPr>
        <p:txBody>
          <a:bodyPr wrap="square" lIns="0" tIns="0" rIns="0" bIns="0" rtlCol="0" anchor="t"/>
          <a:lstStyle/>
          <a:p>
            <a:pPr indent="0" marL="0">
              <a:buNone/>
            </a:pPr>
            <a:r>
              <a:rPr lang="en-US" sz="1100" b="1" spc="300" kern="0" dirty="0">
                <a:solidFill>
                  <a:srgbClr val="2F6FED"/>
                </a:solidFill>
                <a:latin typeface="Arial" pitchFamily="34" charset="0"/>
                <a:ea typeface="Arial" pitchFamily="34" charset="-122"/>
                <a:cs typeface="Arial" pitchFamily="34" charset="-120"/>
              </a:rPr>
              <a:t>EARLY-WARNING CLASSIFICATION</a:t>
            </a:r>
            <a:endParaRPr lang="en-US" sz="1100" dirty="0"/>
          </a:p>
        </p:txBody>
      </p:sp>
      <p:sp>
        <p:nvSpPr>
          <p:cNvPr id="3" name="Text 1"/>
          <p:cNvSpPr txBox="1"/>
          <p:nvPr/>
        </p:nvSpPr>
        <p:spPr>
          <a:xfrm>
            <a:off x="640080" y="713232"/>
            <a:ext cx="10972800" cy="640080"/>
          </a:xfrm>
          <a:prstGeom prst="rect">
            <a:avLst/>
          </a:prstGeom>
          <a:noFill/>
          <a:ln/>
        </p:spPr>
        <p:txBody>
          <a:bodyPr wrap="square" lIns="0" tIns="0" rIns="0" bIns="0" rtlCol="0" anchor="ctr"/>
          <a:lstStyle/>
          <a:p>
            <a:pPr indent="0" marL="0">
              <a:buNone/>
            </a:pPr>
            <a:r>
              <a:rPr lang="en-US" sz="3000" b="1" dirty="0">
                <a:solidFill>
                  <a:srgbClr val="142850"/>
                </a:solidFill>
                <a:latin typeface="Cambria" pitchFamily="34" charset="0"/>
                <a:ea typeface="Cambria" pitchFamily="34" charset="-122"/>
                <a:cs typeface="Cambria" pitchFamily="34" charset="-120"/>
              </a:rPr>
              <a:t>Early-warning bands on predicted marks</a:t>
            </a:r>
            <a:endParaRPr lang="en-US" sz="3000" dirty="0"/>
          </a:p>
        </p:txBody>
      </p:sp>
      <p:sp>
        <p:nvSpPr>
          <p:cNvPr id="4" name="Text 2"/>
          <p:cNvSpPr txBox="1"/>
          <p:nvPr/>
        </p:nvSpPr>
        <p:spPr>
          <a:xfrm>
            <a:off x="640080" y="1371600"/>
            <a:ext cx="10881360" cy="365760"/>
          </a:xfrm>
          <a:prstGeom prst="rect">
            <a:avLst/>
          </a:prstGeom>
          <a:noFill/>
          <a:ln/>
        </p:spPr>
        <p:txBody>
          <a:bodyPr wrap="square" lIns="0" tIns="0" rIns="0" bIns="0" rtlCol="0" anchor="t"/>
          <a:lstStyle/>
          <a:p>
            <a:pPr indent="0" marL="0">
              <a:buNone/>
            </a:pPr>
            <a:r>
              <a:rPr lang="en-US" sz="1400" dirty="0">
                <a:solidFill>
                  <a:srgbClr val="5B6B87"/>
                </a:solidFill>
                <a:latin typeface="Arial" pitchFamily="34" charset="0"/>
                <a:ea typeface="Arial" pitchFamily="34" charset="-122"/>
                <a:cs typeface="Arial" pitchFamily="34" charset="-120"/>
              </a:rPr>
              <a:t>This is a derived early-warning layer on top of a regression model. Results use out-of-fold predictions (5-fold CV).</a:t>
            </a:r>
            <a:endParaRPr lang="en-US" sz="1400" dirty="0"/>
          </a:p>
        </p:txBody>
      </p:sp>
      <p:sp>
        <p:nvSpPr>
          <p:cNvPr id="5" name="Text 3"/>
          <p:cNvSpPr txBox="1"/>
          <p:nvPr/>
        </p:nvSpPr>
        <p:spPr>
          <a:xfrm>
            <a:off x="640080" y="1965960"/>
            <a:ext cx="3108960" cy="274320"/>
          </a:xfrm>
          <a:prstGeom prst="rect">
            <a:avLst/>
          </a:prstGeom>
          <a:noFill/>
          <a:ln/>
        </p:spPr>
        <p:txBody>
          <a:bodyPr wrap="square" lIns="0" tIns="0" rIns="0" bIns="0" rtlCol="0" anchor="t"/>
          <a:lstStyle/>
          <a:p>
            <a:pPr indent="0" marL="0">
              <a:buNone/>
            </a:pPr>
            <a:r>
              <a:rPr lang="en-US" sz="1100" b="1" spc="200" kern="0" dirty="0">
                <a:solidFill>
                  <a:srgbClr val="5B6B87"/>
                </a:solidFill>
                <a:latin typeface="Arial" pitchFamily="34" charset="0"/>
                <a:ea typeface="Arial" pitchFamily="34" charset="-122"/>
                <a:cs typeface="Arial" pitchFamily="34" charset="-120"/>
              </a:rPr>
              <a:t>THRESHOLDS</a:t>
            </a:r>
            <a:endParaRPr lang="en-US" sz="1100" dirty="0"/>
          </a:p>
        </p:txBody>
      </p:sp>
      <p:sp>
        <p:nvSpPr>
          <p:cNvPr id="6" name="Shape 4"/>
          <p:cNvSpPr/>
          <p:nvPr/>
        </p:nvSpPr>
        <p:spPr>
          <a:xfrm>
            <a:off x="640080" y="2331720"/>
            <a:ext cx="1600200" cy="329184"/>
          </a:xfrm>
          <a:prstGeom prst="roundRect">
            <a:avLst>
              <a:gd name="adj" fmla="val 50000"/>
            </a:avLst>
          </a:prstGeom>
          <a:solidFill>
            <a:srgbClr val="FDECEF"/>
          </a:solidFill>
          <a:ln w="9525">
            <a:solidFill>
              <a:srgbClr val="E1516A"/>
            </a:solidFill>
            <a:prstDash val="solid"/>
          </a:ln>
        </p:spPr>
      </p:sp>
      <p:sp>
        <p:nvSpPr>
          <p:cNvPr id="7" name="Text 5"/>
          <p:cNvSpPr txBox="1"/>
          <p:nvPr/>
        </p:nvSpPr>
        <p:spPr>
          <a:xfrm>
            <a:off x="640080" y="2331720"/>
            <a:ext cx="1600200" cy="329184"/>
          </a:xfrm>
          <a:prstGeom prst="rect">
            <a:avLst/>
          </a:prstGeom>
          <a:noFill/>
          <a:ln/>
        </p:spPr>
        <p:txBody>
          <a:bodyPr wrap="square" lIns="0" tIns="0" rIns="0" bIns="0" rtlCol="0" anchor="ctr"/>
          <a:lstStyle/>
          <a:p>
            <a:pPr algn="ctr" indent="0" marL="0">
              <a:buNone/>
            </a:pPr>
            <a:r>
              <a:rPr lang="en-US" sz="1200" b="1" dirty="0">
                <a:solidFill>
                  <a:srgbClr val="E1516A"/>
                </a:solidFill>
                <a:latin typeface="Arial" pitchFamily="34" charset="0"/>
                <a:ea typeface="Arial" pitchFamily="34" charset="-122"/>
                <a:cs typeface="Arial" pitchFamily="34" charset="-120"/>
              </a:rPr>
              <a:t>High Concern</a:t>
            </a:r>
            <a:endParaRPr lang="en-US" sz="1200" dirty="0"/>
          </a:p>
        </p:txBody>
      </p:sp>
      <p:sp>
        <p:nvSpPr>
          <p:cNvPr id="8" name="Text 6"/>
          <p:cNvSpPr txBox="1"/>
          <p:nvPr/>
        </p:nvSpPr>
        <p:spPr>
          <a:xfrm>
            <a:off x="2377440" y="2331720"/>
            <a:ext cx="1463040" cy="329184"/>
          </a:xfrm>
          <a:prstGeom prst="rect">
            <a:avLst/>
          </a:prstGeom>
          <a:noFill/>
          <a:ln/>
        </p:spPr>
        <p:txBody>
          <a:bodyPr wrap="square" lIns="0" tIns="0" rIns="0" bIns="0" rtlCol="0" anchor="ctr"/>
          <a:lstStyle/>
          <a:p>
            <a:pPr indent="0" marL="0">
              <a:buNone/>
            </a:pPr>
            <a:r>
              <a:rPr lang="en-US" sz="1200" dirty="0">
                <a:solidFill>
                  <a:srgbClr val="1A2A4A"/>
                </a:solidFill>
                <a:latin typeface="Arial" pitchFamily="34" charset="0"/>
                <a:ea typeface="Arial" pitchFamily="34" charset="-122"/>
                <a:cs typeface="Arial" pitchFamily="34" charset="-120"/>
              </a:rPr>
              <a:t>predicted &lt; 40</a:t>
            </a:r>
            <a:endParaRPr lang="en-US" sz="1200" dirty="0"/>
          </a:p>
        </p:txBody>
      </p:sp>
      <p:sp>
        <p:nvSpPr>
          <p:cNvPr id="9" name="Shape 7"/>
          <p:cNvSpPr/>
          <p:nvPr/>
        </p:nvSpPr>
        <p:spPr>
          <a:xfrm>
            <a:off x="640080" y="2898648"/>
            <a:ext cx="1600200" cy="329184"/>
          </a:xfrm>
          <a:prstGeom prst="roundRect">
            <a:avLst>
              <a:gd name="adj" fmla="val 50000"/>
            </a:avLst>
          </a:prstGeom>
          <a:solidFill>
            <a:srgbClr val="FDF3E3"/>
          </a:solidFill>
          <a:ln w="9525">
            <a:solidFill>
              <a:srgbClr val="C27A12"/>
            </a:solidFill>
            <a:prstDash val="solid"/>
          </a:ln>
        </p:spPr>
      </p:sp>
      <p:sp>
        <p:nvSpPr>
          <p:cNvPr id="10" name="Text 8"/>
          <p:cNvSpPr txBox="1"/>
          <p:nvPr/>
        </p:nvSpPr>
        <p:spPr>
          <a:xfrm>
            <a:off x="640080" y="2898648"/>
            <a:ext cx="1600200" cy="329184"/>
          </a:xfrm>
          <a:prstGeom prst="rect">
            <a:avLst/>
          </a:prstGeom>
          <a:noFill/>
          <a:ln/>
        </p:spPr>
        <p:txBody>
          <a:bodyPr wrap="square" lIns="0" tIns="0" rIns="0" bIns="0" rtlCol="0" anchor="ctr"/>
          <a:lstStyle/>
          <a:p>
            <a:pPr algn="ctr" indent="0" marL="0">
              <a:buNone/>
            </a:pPr>
            <a:r>
              <a:rPr lang="en-US" sz="1200" b="1" dirty="0">
                <a:solidFill>
                  <a:srgbClr val="C27A12"/>
                </a:solidFill>
                <a:latin typeface="Arial" pitchFamily="34" charset="0"/>
                <a:ea typeface="Arial" pitchFamily="34" charset="-122"/>
                <a:cs typeface="Arial" pitchFamily="34" charset="-120"/>
              </a:rPr>
              <a:t>Borderline</a:t>
            </a:r>
            <a:endParaRPr lang="en-US" sz="1200" dirty="0"/>
          </a:p>
        </p:txBody>
      </p:sp>
      <p:sp>
        <p:nvSpPr>
          <p:cNvPr id="11" name="Text 9"/>
          <p:cNvSpPr txBox="1"/>
          <p:nvPr/>
        </p:nvSpPr>
        <p:spPr>
          <a:xfrm>
            <a:off x="2377440" y="2898648"/>
            <a:ext cx="1463040" cy="329184"/>
          </a:xfrm>
          <a:prstGeom prst="rect">
            <a:avLst/>
          </a:prstGeom>
          <a:noFill/>
          <a:ln/>
        </p:spPr>
        <p:txBody>
          <a:bodyPr wrap="square" lIns="0" tIns="0" rIns="0" bIns="0" rtlCol="0" anchor="ctr"/>
          <a:lstStyle/>
          <a:p>
            <a:pPr indent="0" marL="0">
              <a:buNone/>
            </a:pPr>
            <a:r>
              <a:rPr lang="en-US" sz="1200" dirty="0">
                <a:solidFill>
                  <a:srgbClr val="1A2A4A"/>
                </a:solidFill>
                <a:latin typeface="Arial" pitchFamily="34" charset="0"/>
                <a:ea typeface="Arial" pitchFamily="34" charset="-122"/>
                <a:cs typeface="Arial" pitchFamily="34" charset="-120"/>
              </a:rPr>
              <a:t>predicted 40 – 44</a:t>
            </a:r>
            <a:endParaRPr lang="en-US" sz="1200" dirty="0"/>
          </a:p>
        </p:txBody>
      </p:sp>
      <p:sp>
        <p:nvSpPr>
          <p:cNvPr id="12" name="Shape 10"/>
          <p:cNvSpPr/>
          <p:nvPr/>
        </p:nvSpPr>
        <p:spPr>
          <a:xfrm>
            <a:off x="640080" y="3465576"/>
            <a:ext cx="1600200" cy="329184"/>
          </a:xfrm>
          <a:prstGeom prst="roundRect">
            <a:avLst>
              <a:gd name="adj" fmla="val 50000"/>
            </a:avLst>
          </a:prstGeom>
          <a:solidFill>
            <a:srgbClr val="E6F5EE"/>
          </a:solidFill>
          <a:ln w="9525">
            <a:solidFill>
              <a:srgbClr val="1E9E64"/>
            </a:solidFill>
            <a:prstDash val="solid"/>
          </a:ln>
        </p:spPr>
      </p:sp>
      <p:sp>
        <p:nvSpPr>
          <p:cNvPr id="13" name="Text 11"/>
          <p:cNvSpPr txBox="1"/>
          <p:nvPr/>
        </p:nvSpPr>
        <p:spPr>
          <a:xfrm>
            <a:off x="640080" y="3465576"/>
            <a:ext cx="1600200" cy="329184"/>
          </a:xfrm>
          <a:prstGeom prst="rect">
            <a:avLst/>
          </a:prstGeom>
          <a:noFill/>
          <a:ln/>
        </p:spPr>
        <p:txBody>
          <a:bodyPr wrap="square" lIns="0" tIns="0" rIns="0" bIns="0" rtlCol="0" anchor="ctr"/>
          <a:lstStyle/>
          <a:p>
            <a:pPr algn="ctr" indent="0" marL="0">
              <a:buNone/>
            </a:pPr>
            <a:r>
              <a:rPr lang="en-US" sz="1200" b="1" dirty="0">
                <a:solidFill>
                  <a:srgbClr val="1E9E64"/>
                </a:solidFill>
                <a:latin typeface="Arial" pitchFamily="34" charset="0"/>
                <a:ea typeface="Arial" pitchFamily="34" charset="-122"/>
                <a:cs typeface="Arial" pitchFamily="34" charset="-120"/>
              </a:rPr>
              <a:t>Lower Concern</a:t>
            </a:r>
            <a:endParaRPr lang="en-US" sz="1200" dirty="0"/>
          </a:p>
        </p:txBody>
      </p:sp>
      <p:sp>
        <p:nvSpPr>
          <p:cNvPr id="14" name="Text 12"/>
          <p:cNvSpPr txBox="1"/>
          <p:nvPr/>
        </p:nvSpPr>
        <p:spPr>
          <a:xfrm>
            <a:off x="2377440" y="3465576"/>
            <a:ext cx="1463040" cy="329184"/>
          </a:xfrm>
          <a:prstGeom prst="rect">
            <a:avLst/>
          </a:prstGeom>
          <a:noFill/>
          <a:ln/>
        </p:spPr>
        <p:txBody>
          <a:bodyPr wrap="square" lIns="0" tIns="0" rIns="0" bIns="0" rtlCol="0" anchor="ctr"/>
          <a:lstStyle/>
          <a:p>
            <a:pPr indent="0" marL="0">
              <a:buNone/>
            </a:pPr>
            <a:r>
              <a:rPr lang="en-US" sz="1200" dirty="0">
                <a:solidFill>
                  <a:srgbClr val="1A2A4A"/>
                </a:solidFill>
                <a:latin typeface="Arial" pitchFamily="34" charset="0"/>
                <a:ea typeface="Arial" pitchFamily="34" charset="-122"/>
                <a:cs typeface="Arial" pitchFamily="34" charset="-120"/>
              </a:rPr>
              <a:t>predicted &gt; 44</a:t>
            </a:r>
            <a:endParaRPr lang="en-US" sz="1200" dirty="0"/>
          </a:p>
        </p:txBody>
      </p:sp>
      <p:sp>
        <p:nvSpPr>
          <p:cNvPr id="15" name="Text 13"/>
          <p:cNvSpPr txBox="1"/>
          <p:nvPr/>
        </p:nvSpPr>
        <p:spPr>
          <a:xfrm>
            <a:off x="4114800" y="1965960"/>
            <a:ext cx="7315200" cy="274320"/>
          </a:xfrm>
          <a:prstGeom prst="rect">
            <a:avLst/>
          </a:prstGeom>
          <a:noFill/>
          <a:ln/>
        </p:spPr>
        <p:txBody>
          <a:bodyPr wrap="square" lIns="0" tIns="0" rIns="0" bIns="0" rtlCol="0" anchor="t"/>
          <a:lstStyle/>
          <a:p>
            <a:pPr indent="0" marL="0">
              <a:buNone/>
            </a:pPr>
            <a:r>
              <a:rPr lang="en-US" sz="1100" b="1" spc="200" kern="0" dirty="0">
                <a:solidFill>
                  <a:srgbClr val="5B6B87"/>
                </a:solidFill>
                <a:latin typeface="Arial" pitchFamily="34" charset="0"/>
                <a:ea typeface="Arial" pitchFamily="34" charset="-122"/>
                <a:cs typeface="Arial" pitchFamily="34" charset="-120"/>
              </a:rPr>
              <a:t>CONFUSION MATRIX (ACTUAL VS PREDICTED BAND)</a:t>
            </a:r>
            <a:endParaRPr lang="en-US" sz="11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114800" y="2331720"/>
          <a:ext cx="7452360" cy="914400"/>
        </p:xfrm>
        <a:graphic>
          <a:graphicData uri="http://schemas.openxmlformats.org/drawingml/2006/table">
            <a:tbl>
              <a:tblPr/>
              <a:tblGrid>
                <a:gridCol w="1874520"/>
                <a:gridCol w="1463040"/>
                <a:gridCol w="1371600"/>
                <a:gridCol w="1554480"/>
                <a:gridCol w="1188720"/>
              </a:tblGrid>
              <a:tr h="365760">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Actual \ Predicted</a:t>
                      </a:r>
                      <a:endParaRPr lang="en-US" sz="1200" dirty="0">
                        <a:latin typeface="Arial" charset="0"/>
                        <a:ea typeface="Arial" charset="0"/>
                        <a:cs typeface="Arial" charset="0"/>
                      </a:endParaRPr>
                    </a:p>
                  </a:txBody>
                  <a:tcPr marL="91440" marR="91440" marT="45720" marB="45720"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142850"/>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High Concern</a:t>
                      </a:r>
                      <a:endParaRPr lang="en-US" sz="1200" dirty="0">
                        <a:latin typeface="Arial" charset="0"/>
                        <a:ea typeface="Arial" charset="0"/>
                        <a:cs typeface="Arial" charset="0"/>
                      </a:endParaRPr>
                    </a:p>
                  </a:txBody>
                  <a:tcPr marL="91440" marR="91440" marT="45720" marB="45720"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142850"/>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Borderline</a:t>
                      </a:r>
                      <a:endParaRPr lang="en-US" sz="1200" dirty="0">
                        <a:latin typeface="Arial" charset="0"/>
                        <a:ea typeface="Arial" charset="0"/>
                        <a:cs typeface="Arial" charset="0"/>
                      </a:endParaRPr>
                    </a:p>
                  </a:txBody>
                  <a:tcPr marL="91440" marR="91440" marT="45720" marB="45720"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142850"/>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Lower Concern</a:t>
                      </a:r>
                      <a:endParaRPr lang="en-US" sz="1200" dirty="0">
                        <a:latin typeface="Arial" charset="0"/>
                        <a:ea typeface="Arial" charset="0"/>
                        <a:cs typeface="Arial" charset="0"/>
                      </a:endParaRPr>
                    </a:p>
                  </a:txBody>
                  <a:tcPr marL="91440" marR="91440" marT="45720" marB="45720"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142850"/>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Total</a:t>
                      </a:r>
                      <a:endParaRPr lang="en-US" sz="1200" dirty="0">
                        <a:latin typeface="Arial" charset="0"/>
                        <a:ea typeface="Arial" charset="0"/>
                        <a:cs typeface="Arial" charset="0"/>
                      </a:endParaRPr>
                    </a:p>
                  </a:txBody>
                  <a:tcPr marL="91440" marR="91440" marT="45720" marB="45720"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142850"/>
                    </a:solidFill>
                  </a:tcPr>
                </a:tc>
              </a:tr>
              <a:tr h="365760">
                <a:tc>
                  <a:txBody>
                    <a:bodyPr/>
                    <a:lstStyle/>
                    <a:p>
                      <a:pPr indent="0" marL="0">
                        <a:buNone/>
                      </a:pPr>
                      <a:r>
                        <a:rPr lang="en-US" sz="1200" b="1" dirty="0">
                          <a:solidFill>
                            <a:srgbClr val="142850"/>
                          </a:solidFill>
                          <a:latin typeface="Arial" pitchFamily="34" charset="0"/>
                          <a:ea typeface="Arial" pitchFamily="34" charset="-122"/>
                          <a:cs typeface="Arial" pitchFamily="34" charset="-120"/>
                        </a:rPr>
                        <a:t>Actual &lt; 40</a:t>
                      </a:r>
                      <a:endParaRPr lang="en-US" sz="1200" dirty="0">
                        <a:latin typeface="Arial" charset="0"/>
                        <a:ea typeface="Arial" charset="0"/>
                        <a:cs typeface="Arial" charset="0"/>
                      </a:endParaRPr>
                    </a:p>
                  </a:txBody>
                  <a:tcPr marL="91440" marR="91440" marT="45720" marB="45720"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4F7FE"/>
                    </a:solidFill>
                  </a:tcPr>
                </a:tc>
                <a:tc>
                  <a:txBody>
                    <a:bodyPr/>
                    <a:lstStyle/>
                    <a:p>
                      <a:pPr algn="ctr" indent="0" marL="0">
                        <a:buNone/>
                      </a:pPr>
                      <a:r>
                        <a:rPr lang="en-US" sz="1200" b="1" dirty="0">
                          <a:solidFill>
                            <a:srgbClr val="142850"/>
                          </a:solidFill>
                          <a:latin typeface="Arial" pitchFamily="34" charset="0"/>
                          <a:ea typeface="Arial" pitchFamily="34" charset="-122"/>
                          <a:cs typeface="Arial" pitchFamily="34" charset="-120"/>
                        </a:rPr>
                        <a:t>13</a:t>
                      </a:r>
                      <a:endParaRPr lang="en-US" sz="1200" dirty="0">
                        <a:latin typeface="Arial" charset="0"/>
                        <a:ea typeface="Arial" charset="0"/>
                        <a:cs typeface="Arial" charset="0"/>
                      </a:endParaRPr>
                    </a:p>
                  </a:txBody>
                  <a:tcPr marL="91440" marR="91440" marT="45720" marB="45720"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E9F0FF"/>
                    </a:solidFill>
                  </a:tcPr>
                </a:tc>
                <a:tc>
                  <a:txBody>
                    <a:bodyPr/>
                    <a:lstStyle/>
                    <a:p>
                      <a:pPr algn="ctr" indent="0" marL="0">
                        <a:buNone/>
                      </a:pPr>
                      <a:r>
                        <a:rPr lang="en-US" sz="1200" dirty="0">
                          <a:solidFill>
                            <a:srgbClr val="1A2A4A"/>
                          </a:solidFill>
                          <a:latin typeface="Arial" pitchFamily="34" charset="0"/>
                          <a:ea typeface="Arial" pitchFamily="34" charset="-122"/>
                          <a:cs typeface="Arial" pitchFamily="34" charset="-120"/>
                        </a:rPr>
                        <a:t>8</a:t>
                      </a:r>
                      <a:endParaRPr lang="en-US" sz="1200" dirty="0">
                        <a:latin typeface="Arial" charset="0"/>
                        <a:ea typeface="Arial" charset="0"/>
                        <a:cs typeface="Arial" charset="0"/>
                      </a:endParaRPr>
                    </a:p>
                  </a:txBody>
                  <a:tcPr marL="91440" marR="91440" marT="45720" marB="45720"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2A4A"/>
                          </a:solidFill>
                          <a:latin typeface="Arial" pitchFamily="34" charset="0"/>
                          <a:ea typeface="Arial" pitchFamily="34" charset="-122"/>
                          <a:cs typeface="Arial" pitchFamily="34" charset="-120"/>
                        </a:rPr>
                        <a:t>4</a:t>
                      </a:r>
                      <a:endParaRPr lang="en-US" sz="1200" dirty="0">
                        <a:latin typeface="Arial" charset="0"/>
                        <a:ea typeface="Arial" charset="0"/>
                        <a:cs typeface="Arial" charset="0"/>
                      </a:endParaRPr>
                    </a:p>
                  </a:txBody>
                  <a:tcPr marL="91440" marR="91440" marT="45720" marB="45720"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2A4A"/>
                          </a:solidFill>
                          <a:latin typeface="Arial" pitchFamily="34" charset="0"/>
                          <a:ea typeface="Arial" pitchFamily="34" charset="-122"/>
                          <a:cs typeface="Arial" pitchFamily="34" charset="-120"/>
                        </a:rPr>
                        <a:t>25</a:t>
                      </a:r>
                      <a:endParaRPr lang="en-US" sz="1200" dirty="0">
                        <a:latin typeface="Arial" charset="0"/>
                        <a:ea typeface="Arial" charset="0"/>
                        <a:cs typeface="Arial" charset="0"/>
                      </a:endParaRPr>
                    </a:p>
                  </a:txBody>
                  <a:tcPr marL="91440" marR="91440" marT="45720" marB="45720"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tr>
              <a:tr h="365760">
                <a:tc>
                  <a:txBody>
                    <a:bodyPr/>
                    <a:lstStyle/>
                    <a:p>
                      <a:pPr indent="0" marL="0">
                        <a:buNone/>
                      </a:pPr>
                      <a:r>
                        <a:rPr lang="en-US" sz="1200" b="1" dirty="0">
                          <a:solidFill>
                            <a:srgbClr val="142850"/>
                          </a:solidFill>
                          <a:latin typeface="Arial" pitchFamily="34" charset="0"/>
                          <a:ea typeface="Arial" pitchFamily="34" charset="-122"/>
                          <a:cs typeface="Arial" pitchFamily="34" charset="-120"/>
                        </a:rPr>
                        <a:t>Actual 40 – 44</a:t>
                      </a:r>
                      <a:endParaRPr lang="en-US" sz="1200" dirty="0">
                        <a:latin typeface="Arial" charset="0"/>
                        <a:ea typeface="Arial" charset="0"/>
                        <a:cs typeface="Arial" charset="0"/>
                      </a:endParaRPr>
                    </a:p>
                  </a:txBody>
                  <a:tcPr marL="91440" marR="91440" marT="45720" marB="45720"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4F7FE"/>
                    </a:solidFill>
                  </a:tcPr>
                </a:tc>
                <a:tc>
                  <a:txBody>
                    <a:bodyPr/>
                    <a:lstStyle/>
                    <a:p>
                      <a:pPr algn="ctr" indent="0" marL="0">
                        <a:buNone/>
                      </a:pPr>
                      <a:r>
                        <a:rPr lang="en-US" sz="1200" dirty="0">
                          <a:solidFill>
                            <a:srgbClr val="1A2A4A"/>
                          </a:solidFill>
                          <a:latin typeface="Arial" pitchFamily="34" charset="0"/>
                          <a:ea typeface="Arial" pitchFamily="34" charset="-122"/>
                          <a:cs typeface="Arial" pitchFamily="34" charset="-120"/>
                        </a:rPr>
                        <a:t>3</a:t>
                      </a:r>
                      <a:endParaRPr lang="en-US" sz="1200" dirty="0">
                        <a:latin typeface="Arial" charset="0"/>
                        <a:ea typeface="Arial" charset="0"/>
                        <a:cs typeface="Arial" charset="0"/>
                      </a:endParaRPr>
                    </a:p>
                  </a:txBody>
                  <a:tcPr marL="91440" marR="91440" marT="45720" marB="45720"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42850"/>
                          </a:solidFill>
                          <a:latin typeface="Arial" pitchFamily="34" charset="0"/>
                          <a:ea typeface="Arial" pitchFamily="34" charset="-122"/>
                          <a:cs typeface="Arial" pitchFamily="34" charset="-120"/>
                        </a:rPr>
                        <a:t>12</a:t>
                      </a:r>
                      <a:endParaRPr lang="en-US" sz="1200" dirty="0">
                        <a:latin typeface="Arial" charset="0"/>
                        <a:ea typeface="Arial" charset="0"/>
                        <a:cs typeface="Arial" charset="0"/>
                      </a:endParaRPr>
                    </a:p>
                  </a:txBody>
                  <a:tcPr marL="91440" marR="91440" marT="45720" marB="45720"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E9F0FF"/>
                    </a:solidFill>
                  </a:tcPr>
                </a:tc>
                <a:tc>
                  <a:txBody>
                    <a:bodyPr/>
                    <a:lstStyle/>
                    <a:p>
                      <a:pPr algn="ctr" indent="0" marL="0">
                        <a:buNone/>
                      </a:pPr>
                      <a:r>
                        <a:rPr lang="en-US" sz="1200" dirty="0">
                          <a:solidFill>
                            <a:srgbClr val="1A2A4A"/>
                          </a:solidFill>
                          <a:latin typeface="Arial" pitchFamily="34" charset="0"/>
                          <a:ea typeface="Arial" pitchFamily="34" charset="-122"/>
                          <a:cs typeface="Arial" pitchFamily="34" charset="-120"/>
                        </a:rPr>
                        <a:t>43</a:t>
                      </a:r>
                      <a:endParaRPr lang="en-US" sz="1200" dirty="0">
                        <a:latin typeface="Arial" charset="0"/>
                        <a:ea typeface="Arial" charset="0"/>
                        <a:cs typeface="Arial" charset="0"/>
                      </a:endParaRPr>
                    </a:p>
                  </a:txBody>
                  <a:tcPr marL="91440" marR="91440" marT="45720" marB="45720"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2A4A"/>
                          </a:solidFill>
                          <a:latin typeface="Arial" pitchFamily="34" charset="0"/>
                          <a:ea typeface="Arial" pitchFamily="34" charset="-122"/>
                          <a:cs typeface="Arial" pitchFamily="34" charset="-120"/>
                        </a:rPr>
                        <a:t>58</a:t>
                      </a:r>
                      <a:endParaRPr lang="en-US" sz="1200" dirty="0">
                        <a:latin typeface="Arial" charset="0"/>
                        <a:ea typeface="Arial" charset="0"/>
                        <a:cs typeface="Arial" charset="0"/>
                      </a:endParaRPr>
                    </a:p>
                  </a:txBody>
                  <a:tcPr marL="91440" marR="91440" marT="45720" marB="45720"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tr>
              <a:tr h="365760">
                <a:tc>
                  <a:txBody>
                    <a:bodyPr/>
                    <a:lstStyle/>
                    <a:p>
                      <a:pPr indent="0" marL="0">
                        <a:buNone/>
                      </a:pPr>
                      <a:r>
                        <a:rPr lang="en-US" sz="1200" b="1" dirty="0">
                          <a:solidFill>
                            <a:srgbClr val="142850"/>
                          </a:solidFill>
                          <a:latin typeface="Arial" pitchFamily="34" charset="0"/>
                          <a:ea typeface="Arial" pitchFamily="34" charset="-122"/>
                          <a:cs typeface="Arial" pitchFamily="34" charset="-120"/>
                        </a:rPr>
                        <a:t>Actual &gt; 44</a:t>
                      </a:r>
                      <a:endParaRPr lang="en-US" sz="1200" dirty="0">
                        <a:latin typeface="Arial" charset="0"/>
                        <a:ea typeface="Arial" charset="0"/>
                        <a:cs typeface="Arial" charset="0"/>
                      </a:endParaRPr>
                    </a:p>
                  </a:txBody>
                  <a:tcPr marL="91440" marR="91440" marT="45720" marB="45720"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4F7FE"/>
                    </a:solidFill>
                  </a:tcPr>
                </a:tc>
                <a:tc>
                  <a:txBody>
                    <a:bodyPr/>
                    <a:lstStyle/>
                    <a:p>
                      <a:pPr algn="ctr" indent="0" marL="0">
                        <a:buNone/>
                      </a:pPr>
                      <a:r>
                        <a:rPr lang="en-US" sz="1200" dirty="0">
                          <a:solidFill>
                            <a:srgbClr val="1A2A4A"/>
                          </a:solidFill>
                          <a:latin typeface="Arial" pitchFamily="34" charset="0"/>
                          <a:ea typeface="Arial" pitchFamily="34" charset="-122"/>
                          <a:cs typeface="Arial" pitchFamily="34" charset="-120"/>
                        </a:rPr>
                        <a:t>1</a:t>
                      </a:r>
                      <a:endParaRPr lang="en-US" sz="1200" dirty="0">
                        <a:latin typeface="Arial" charset="0"/>
                        <a:ea typeface="Arial" charset="0"/>
                        <a:cs typeface="Arial" charset="0"/>
                      </a:endParaRPr>
                    </a:p>
                  </a:txBody>
                  <a:tcPr marL="91440" marR="91440" marT="45720" marB="45720"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2A4A"/>
                          </a:solidFill>
                          <a:latin typeface="Arial" pitchFamily="34" charset="0"/>
                          <a:ea typeface="Arial" pitchFamily="34" charset="-122"/>
                          <a:cs typeface="Arial" pitchFamily="34" charset="-120"/>
                        </a:rPr>
                        <a:t>10</a:t>
                      </a:r>
                      <a:endParaRPr lang="en-US" sz="1200" dirty="0">
                        <a:latin typeface="Arial" charset="0"/>
                        <a:ea typeface="Arial" charset="0"/>
                        <a:cs typeface="Arial" charset="0"/>
                      </a:endParaRPr>
                    </a:p>
                  </a:txBody>
                  <a:tcPr marL="91440" marR="91440" marT="45720" marB="45720"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42850"/>
                          </a:solidFill>
                          <a:latin typeface="Arial" pitchFamily="34" charset="0"/>
                          <a:ea typeface="Arial" pitchFamily="34" charset="-122"/>
                          <a:cs typeface="Arial" pitchFamily="34" charset="-120"/>
                        </a:rPr>
                        <a:t>1,906</a:t>
                      </a:r>
                      <a:endParaRPr lang="en-US" sz="1200" dirty="0">
                        <a:latin typeface="Arial" charset="0"/>
                        <a:ea typeface="Arial" charset="0"/>
                        <a:cs typeface="Arial" charset="0"/>
                      </a:endParaRPr>
                    </a:p>
                  </a:txBody>
                  <a:tcPr marL="91440" marR="91440" marT="45720" marB="45720"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E9F0FF"/>
                    </a:solidFill>
                  </a:tcPr>
                </a:tc>
                <a:tc>
                  <a:txBody>
                    <a:bodyPr/>
                    <a:lstStyle/>
                    <a:p>
                      <a:pPr algn="ctr" indent="0" marL="0">
                        <a:buNone/>
                      </a:pPr>
                      <a:r>
                        <a:rPr lang="en-US" sz="1200" dirty="0">
                          <a:solidFill>
                            <a:srgbClr val="1A2A4A"/>
                          </a:solidFill>
                          <a:latin typeface="Arial" pitchFamily="34" charset="0"/>
                          <a:ea typeface="Arial" pitchFamily="34" charset="-122"/>
                          <a:cs typeface="Arial" pitchFamily="34" charset="-120"/>
                        </a:rPr>
                        <a:t>1,917</a:t>
                      </a:r>
                      <a:endParaRPr lang="en-US" sz="1200" dirty="0">
                        <a:latin typeface="Arial" charset="0"/>
                        <a:ea typeface="Arial" charset="0"/>
                        <a:cs typeface="Arial" charset="0"/>
                      </a:endParaRPr>
                    </a:p>
                  </a:txBody>
                  <a:tcPr marL="91440" marR="91440" marT="45720" marB="45720"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tr>
            </a:tbl>
          </a:graphicData>
        </a:graphic>
      </p:graphicFrame>
      <p:sp>
        <p:nvSpPr>
          <p:cNvPr id="17" name="Shape 14"/>
          <p:cNvSpPr/>
          <p:nvPr/>
        </p:nvSpPr>
        <p:spPr>
          <a:xfrm>
            <a:off x="640080" y="4069080"/>
            <a:ext cx="2606040" cy="1417320"/>
          </a:xfrm>
          <a:prstGeom prst="roundRect">
            <a:avLst>
              <a:gd name="adj" fmla="val 7742"/>
            </a:avLst>
          </a:prstGeom>
          <a:solidFill>
            <a:srgbClr val="E9F0FF"/>
          </a:solidFill>
          <a:ln w="9525">
            <a:solidFill>
              <a:srgbClr val="E9F0FF"/>
            </a:solidFill>
            <a:prstDash val="solid"/>
          </a:ln>
        </p:spPr>
      </p:sp>
      <p:sp>
        <p:nvSpPr>
          <p:cNvPr id="18" name="Text 15"/>
          <p:cNvSpPr txBox="1"/>
          <p:nvPr/>
        </p:nvSpPr>
        <p:spPr>
          <a:xfrm>
            <a:off x="868680" y="4160520"/>
            <a:ext cx="2194560" cy="548640"/>
          </a:xfrm>
          <a:prstGeom prst="rect">
            <a:avLst/>
          </a:prstGeom>
          <a:noFill/>
          <a:ln/>
        </p:spPr>
        <p:txBody>
          <a:bodyPr wrap="square" lIns="0" tIns="0" rIns="0" bIns="0" rtlCol="0" anchor="ctr"/>
          <a:lstStyle/>
          <a:p>
            <a:pPr indent="0" marL="0">
              <a:buNone/>
            </a:pPr>
            <a:r>
              <a:rPr lang="en-US" sz="2800" b="1" dirty="0">
                <a:solidFill>
                  <a:srgbClr val="142850"/>
                </a:solidFill>
                <a:latin typeface="Cambria" pitchFamily="34" charset="0"/>
                <a:ea typeface="Cambria" pitchFamily="34" charset="-122"/>
                <a:cs typeface="Cambria" pitchFamily="34" charset="-120"/>
              </a:rPr>
              <a:t>13 / 25</a:t>
            </a:r>
            <a:endParaRPr lang="en-US" sz="2800" dirty="0"/>
          </a:p>
        </p:txBody>
      </p:sp>
      <p:sp>
        <p:nvSpPr>
          <p:cNvPr id="19" name="Text 16"/>
          <p:cNvSpPr txBox="1"/>
          <p:nvPr/>
        </p:nvSpPr>
        <p:spPr>
          <a:xfrm>
            <a:off x="868680" y="4709160"/>
            <a:ext cx="2240280" cy="274320"/>
          </a:xfrm>
          <a:prstGeom prst="rect">
            <a:avLst/>
          </a:prstGeom>
          <a:noFill/>
          <a:ln/>
        </p:spPr>
        <p:txBody>
          <a:bodyPr wrap="square" lIns="0" tIns="0" rIns="0" bIns="0" rtlCol="0" anchor="t"/>
          <a:lstStyle/>
          <a:p>
            <a:pPr indent="0" marL="0">
              <a:buNone/>
            </a:pPr>
            <a:r>
              <a:rPr lang="en-US" sz="1200" b="1" dirty="0">
                <a:solidFill>
                  <a:srgbClr val="1A2A4A"/>
                </a:solidFill>
                <a:latin typeface="Arial" pitchFamily="34" charset="0"/>
                <a:ea typeface="Arial" pitchFamily="34" charset="-122"/>
                <a:cs typeface="Arial" pitchFamily="34" charset="-120"/>
              </a:rPr>
              <a:t>High Concern alone</a:t>
            </a:r>
            <a:endParaRPr lang="en-US" sz="1200" dirty="0"/>
          </a:p>
        </p:txBody>
      </p:sp>
      <p:sp>
        <p:nvSpPr>
          <p:cNvPr id="20" name="Text 17"/>
          <p:cNvSpPr txBox="1"/>
          <p:nvPr/>
        </p:nvSpPr>
        <p:spPr>
          <a:xfrm>
            <a:off x="868680" y="4983480"/>
            <a:ext cx="2286000" cy="411480"/>
          </a:xfrm>
          <a:prstGeom prst="rect">
            <a:avLst/>
          </a:prstGeom>
          <a:noFill/>
          <a:ln/>
        </p:spPr>
        <p:txBody>
          <a:bodyPr wrap="square" lIns="0" tIns="0" rIns="0" bIns="0" rtlCol="0" anchor="t"/>
          <a:lstStyle/>
          <a:p>
            <a:pPr indent="0" marL="0">
              <a:buNone/>
            </a:pPr>
            <a:r>
              <a:rPr lang="en-US" sz="1050" dirty="0">
                <a:solidFill>
                  <a:srgbClr val="5B6B87"/>
                </a:solidFill>
                <a:latin typeface="Arial" pitchFamily="34" charset="0"/>
                <a:ea typeface="Arial" pitchFamily="34" charset="-122"/>
                <a:cs typeface="Arial" pitchFamily="34" charset="-120"/>
              </a:rPr>
              <a:t>Recall 52.0%  ·  Precision 76.5%</a:t>
            </a:r>
            <a:endParaRPr lang="en-US" sz="1050" dirty="0"/>
          </a:p>
        </p:txBody>
      </p:sp>
      <p:sp>
        <p:nvSpPr>
          <p:cNvPr id="21" name="Shape 18"/>
          <p:cNvSpPr/>
          <p:nvPr/>
        </p:nvSpPr>
        <p:spPr>
          <a:xfrm>
            <a:off x="3429000" y="4069080"/>
            <a:ext cx="2606040" cy="1417320"/>
          </a:xfrm>
          <a:prstGeom prst="roundRect">
            <a:avLst>
              <a:gd name="adj" fmla="val 7742"/>
            </a:avLst>
          </a:prstGeom>
          <a:solidFill>
            <a:srgbClr val="E9F0FF"/>
          </a:solidFill>
          <a:ln w="9525">
            <a:solidFill>
              <a:srgbClr val="E9F0FF"/>
            </a:solidFill>
            <a:prstDash val="solid"/>
          </a:ln>
        </p:spPr>
      </p:sp>
      <p:sp>
        <p:nvSpPr>
          <p:cNvPr id="22" name="Text 19"/>
          <p:cNvSpPr txBox="1"/>
          <p:nvPr/>
        </p:nvSpPr>
        <p:spPr>
          <a:xfrm>
            <a:off x="3657600" y="4160520"/>
            <a:ext cx="2194560" cy="548640"/>
          </a:xfrm>
          <a:prstGeom prst="rect">
            <a:avLst/>
          </a:prstGeom>
          <a:noFill/>
          <a:ln/>
        </p:spPr>
        <p:txBody>
          <a:bodyPr wrap="square" lIns="0" tIns="0" rIns="0" bIns="0" rtlCol="0" anchor="ctr"/>
          <a:lstStyle/>
          <a:p>
            <a:pPr indent="0" marL="0">
              <a:buNone/>
            </a:pPr>
            <a:r>
              <a:rPr lang="en-US" sz="2800" b="1" dirty="0">
                <a:solidFill>
                  <a:srgbClr val="142850"/>
                </a:solidFill>
                <a:latin typeface="Cambria" pitchFamily="34" charset="0"/>
                <a:ea typeface="Cambria" pitchFamily="34" charset="-122"/>
                <a:cs typeface="Cambria" pitchFamily="34" charset="-120"/>
              </a:rPr>
              <a:t>21 / 25</a:t>
            </a:r>
            <a:endParaRPr lang="en-US" sz="2800" dirty="0"/>
          </a:p>
        </p:txBody>
      </p:sp>
      <p:sp>
        <p:nvSpPr>
          <p:cNvPr id="23" name="Text 20"/>
          <p:cNvSpPr txBox="1"/>
          <p:nvPr/>
        </p:nvSpPr>
        <p:spPr>
          <a:xfrm>
            <a:off x="3657600" y="4709160"/>
            <a:ext cx="2240280" cy="274320"/>
          </a:xfrm>
          <a:prstGeom prst="rect">
            <a:avLst/>
          </a:prstGeom>
          <a:noFill/>
          <a:ln/>
        </p:spPr>
        <p:txBody>
          <a:bodyPr wrap="square" lIns="0" tIns="0" rIns="0" bIns="0" rtlCol="0" anchor="t"/>
          <a:lstStyle/>
          <a:p>
            <a:pPr indent="0" marL="0">
              <a:buNone/>
            </a:pPr>
            <a:r>
              <a:rPr lang="en-US" sz="1200" b="1" dirty="0">
                <a:solidFill>
                  <a:srgbClr val="1A2A4A"/>
                </a:solidFill>
                <a:latin typeface="Arial" pitchFamily="34" charset="0"/>
                <a:ea typeface="Arial" pitchFamily="34" charset="-122"/>
                <a:cs typeface="Arial" pitchFamily="34" charset="-120"/>
              </a:rPr>
              <a:t>High Concern + Borderline</a:t>
            </a:r>
            <a:endParaRPr lang="en-US" sz="1200" dirty="0"/>
          </a:p>
        </p:txBody>
      </p:sp>
      <p:sp>
        <p:nvSpPr>
          <p:cNvPr id="24" name="Text 21"/>
          <p:cNvSpPr txBox="1"/>
          <p:nvPr/>
        </p:nvSpPr>
        <p:spPr>
          <a:xfrm>
            <a:off x="3657600" y="4983480"/>
            <a:ext cx="2286000" cy="411480"/>
          </a:xfrm>
          <a:prstGeom prst="rect">
            <a:avLst/>
          </a:prstGeom>
          <a:noFill/>
          <a:ln/>
        </p:spPr>
        <p:txBody>
          <a:bodyPr wrap="square" lIns="0" tIns="0" rIns="0" bIns="0" rtlCol="0" anchor="t"/>
          <a:lstStyle/>
          <a:p>
            <a:pPr indent="0" marL="0">
              <a:buNone/>
            </a:pPr>
            <a:r>
              <a:rPr lang="en-US" sz="1050" dirty="0">
                <a:solidFill>
                  <a:srgbClr val="5B6B87"/>
                </a:solidFill>
                <a:latin typeface="Arial" pitchFamily="34" charset="0"/>
                <a:ea typeface="Arial" pitchFamily="34" charset="-122"/>
                <a:cs typeface="Arial" pitchFamily="34" charset="-120"/>
              </a:rPr>
              <a:t>Broad-warning recall 84.0%  ·  47 flagged</a:t>
            </a:r>
            <a:endParaRPr lang="en-US" sz="1050" dirty="0"/>
          </a:p>
        </p:txBody>
      </p:sp>
      <p:sp>
        <p:nvSpPr>
          <p:cNvPr id="25" name="Shape 22"/>
          <p:cNvSpPr/>
          <p:nvPr/>
        </p:nvSpPr>
        <p:spPr>
          <a:xfrm>
            <a:off x="6217920" y="4069080"/>
            <a:ext cx="2606040" cy="1417320"/>
          </a:xfrm>
          <a:prstGeom prst="roundRect">
            <a:avLst>
              <a:gd name="adj" fmla="val 7742"/>
            </a:avLst>
          </a:prstGeom>
          <a:solidFill>
            <a:srgbClr val="F4F7FE"/>
          </a:solidFill>
          <a:ln w="9525">
            <a:solidFill>
              <a:srgbClr val="D8E1F5"/>
            </a:solidFill>
            <a:prstDash val="solid"/>
          </a:ln>
        </p:spPr>
      </p:sp>
      <p:sp>
        <p:nvSpPr>
          <p:cNvPr id="26" name="Text 23"/>
          <p:cNvSpPr txBox="1"/>
          <p:nvPr/>
        </p:nvSpPr>
        <p:spPr>
          <a:xfrm>
            <a:off x="6446520" y="4160520"/>
            <a:ext cx="2194560" cy="548640"/>
          </a:xfrm>
          <a:prstGeom prst="rect">
            <a:avLst/>
          </a:prstGeom>
          <a:noFill/>
          <a:ln/>
        </p:spPr>
        <p:txBody>
          <a:bodyPr wrap="square" lIns="0" tIns="0" rIns="0" bIns="0" rtlCol="0" anchor="ctr"/>
          <a:lstStyle/>
          <a:p>
            <a:pPr indent="0" marL="0">
              <a:buNone/>
            </a:pPr>
            <a:r>
              <a:rPr lang="en-US" sz="2800" b="1" dirty="0">
                <a:solidFill>
                  <a:srgbClr val="142850"/>
                </a:solidFill>
                <a:latin typeface="Cambria" pitchFamily="34" charset="0"/>
                <a:ea typeface="Cambria" pitchFamily="34" charset="-122"/>
                <a:cs typeface="Cambria" pitchFamily="34" charset="-120"/>
              </a:rPr>
              <a:t>0.990</a:t>
            </a:r>
            <a:endParaRPr lang="en-US" sz="2800" dirty="0"/>
          </a:p>
        </p:txBody>
      </p:sp>
      <p:sp>
        <p:nvSpPr>
          <p:cNvPr id="27" name="Text 24"/>
          <p:cNvSpPr txBox="1"/>
          <p:nvPr/>
        </p:nvSpPr>
        <p:spPr>
          <a:xfrm>
            <a:off x="6446520" y="4709160"/>
            <a:ext cx="2240280" cy="274320"/>
          </a:xfrm>
          <a:prstGeom prst="rect">
            <a:avLst/>
          </a:prstGeom>
          <a:noFill/>
          <a:ln/>
        </p:spPr>
        <p:txBody>
          <a:bodyPr wrap="square" lIns="0" tIns="0" rIns="0" bIns="0" rtlCol="0" anchor="t"/>
          <a:lstStyle/>
          <a:p>
            <a:pPr indent="0" marL="0">
              <a:buNone/>
            </a:pPr>
            <a:r>
              <a:rPr lang="en-US" sz="1200" b="1" dirty="0">
                <a:solidFill>
                  <a:srgbClr val="1A2A4A"/>
                </a:solidFill>
                <a:latin typeface="Arial" pitchFamily="34" charset="0"/>
                <a:ea typeface="Arial" pitchFamily="34" charset="-122"/>
                <a:cs typeface="Arial" pitchFamily="34" charset="-120"/>
              </a:rPr>
              <a:t>ROC-AUC (actual &lt; 40)</a:t>
            </a:r>
            <a:endParaRPr lang="en-US" sz="1200" dirty="0"/>
          </a:p>
        </p:txBody>
      </p:sp>
      <p:sp>
        <p:nvSpPr>
          <p:cNvPr id="28" name="Text 25"/>
          <p:cNvSpPr txBox="1"/>
          <p:nvPr/>
        </p:nvSpPr>
        <p:spPr>
          <a:xfrm>
            <a:off x="6446520" y="4983480"/>
            <a:ext cx="2286000" cy="411480"/>
          </a:xfrm>
          <a:prstGeom prst="rect">
            <a:avLst/>
          </a:prstGeom>
          <a:noFill/>
          <a:ln/>
        </p:spPr>
        <p:txBody>
          <a:bodyPr wrap="square" lIns="0" tIns="0" rIns="0" bIns="0" rtlCol="0" anchor="t"/>
          <a:lstStyle/>
          <a:p>
            <a:pPr indent="0" marL="0">
              <a:buNone/>
            </a:pPr>
            <a:r>
              <a:rPr lang="en-US" sz="1050" dirty="0">
                <a:solidFill>
                  <a:srgbClr val="5B6B87"/>
                </a:solidFill>
                <a:latin typeface="Arial" pitchFamily="34" charset="0"/>
                <a:ea typeface="Arial" pitchFamily="34" charset="-122"/>
                <a:cs typeface="Arial" pitchFamily="34" charset="-120"/>
              </a:rPr>
              <a:t>Ranking quality of predicted marks</a:t>
            </a:r>
            <a:endParaRPr lang="en-US" sz="1050" dirty="0"/>
          </a:p>
        </p:txBody>
      </p:sp>
      <p:sp>
        <p:nvSpPr>
          <p:cNvPr id="29" name="Shape 26"/>
          <p:cNvSpPr/>
          <p:nvPr/>
        </p:nvSpPr>
        <p:spPr>
          <a:xfrm>
            <a:off x="9006840" y="4069080"/>
            <a:ext cx="2606040" cy="1417320"/>
          </a:xfrm>
          <a:prstGeom prst="roundRect">
            <a:avLst>
              <a:gd name="adj" fmla="val 7742"/>
            </a:avLst>
          </a:prstGeom>
          <a:solidFill>
            <a:srgbClr val="F4F7FE"/>
          </a:solidFill>
          <a:ln w="9525">
            <a:solidFill>
              <a:srgbClr val="D8E1F5"/>
            </a:solidFill>
            <a:prstDash val="solid"/>
          </a:ln>
        </p:spPr>
      </p:sp>
      <p:sp>
        <p:nvSpPr>
          <p:cNvPr id="30" name="Text 27"/>
          <p:cNvSpPr txBox="1"/>
          <p:nvPr/>
        </p:nvSpPr>
        <p:spPr>
          <a:xfrm>
            <a:off x="9235440" y="4160520"/>
            <a:ext cx="2194560" cy="548640"/>
          </a:xfrm>
          <a:prstGeom prst="rect">
            <a:avLst/>
          </a:prstGeom>
          <a:noFill/>
          <a:ln/>
        </p:spPr>
        <p:txBody>
          <a:bodyPr wrap="square" lIns="0" tIns="0" rIns="0" bIns="0" rtlCol="0" anchor="ctr"/>
          <a:lstStyle/>
          <a:p>
            <a:pPr indent="0" marL="0">
              <a:buNone/>
            </a:pPr>
            <a:r>
              <a:rPr lang="en-US" sz="2800" b="1" dirty="0">
                <a:solidFill>
                  <a:srgbClr val="142850"/>
                </a:solidFill>
                <a:latin typeface="Cambria" pitchFamily="34" charset="0"/>
                <a:ea typeface="Cambria" pitchFamily="34" charset="-122"/>
                <a:cs typeface="Cambria" pitchFamily="34" charset="-120"/>
              </a:rPr>
              <a:t>1.25%</a:t>
            </a:r>
            <a:endParaRPr lang="en-US" sz="2800" dirty="0"/>
          </a:p>
        </p:txBody>
      </p:sp>
      <p:sp>
        <p:nvSpPr>
          <p:cNvPr id="31" name="Text 28"/>
          <p:cNvSpPr txBox="1"/>
          <p:nvPr/>
        </p:nvSpPr>
        <p:spPr>
          <a:xfrm>
            <a:off x="9235440" y="4709160"/>
            <a:ext cx="2240280" cy="274320"/>
          </a:xfrm>
          <a:prstGeom prst="rect">
            <a:avLst/>
          </a:prstGeom>
          <a:noFill/>
          <a:ln/>
        </p:spPr>
        <p:txBody>
          <a:bodyPr wrap="square" lIns="0" tIns="0" rIns="0" bIns="0" rtlCol="0" anchor="t"/>
          <a:lstStyle/>
          <a:p>
            <a:pPr indent="0" marL="0">
              <a:buNone/>
            </a:pPr>
            <a:r>
              <a:rPr lang="en-US" sz="1200" b="1" dirty="0">
                <a:solidFill>
                  <a:srgbClr val="1A2A4A"/>
                </a:solidFill>
                <a:latin typeface="Arial" pitchFamily="34" charset="0"/>
                <a:ea typeface="Arial" pitchFamily="34" charset="-122"/>
                <a:cs typeface="Arial" pitchFamily="34" charset="-120"/>
              </a:rPr>
              <a:t>Actual marks below 40</a:t>
            </a:r>
            <a:endParaRPr lang="en-US" sz="1200" dirty="0"/>
          </a:p>
        </p:txBody>
      </p:sp>
      <p:sp>
        <p:nvSpPr>
          <p:cNvPr id="32" name="Text 29"/>
          <p:cNvSpPr txBox="1"/>
          <p:nvPr/>
        </p:nvSpPr>
        <p:spPr>
          <a:xfrm>
            <a:off x="9235440" y="4983480"/>
            <a:ext cx="2286000" cy="411480"/>
          </a:xfrm>
          <a:prstGeom prst="rect">
            <a:avLst/>
          </a:prstGeom>
          <a:noFill/>
          <a:ln/>
        </p:spPr>
        <p:txBody>
          <a:bodyPr wrap="square" lIns="0" tIns="0" rIns="0" bIns="0" rtlCol="0" anchor="t"/>
          <a:lstStyle/>
          <a:p>
            <a:pPr indent="0" marL="0">
              <a:buNone/>
            </a:pPr>
            <a:r>
              <a:rPr lang="en-US" sz="1050" dirty="0">
                <a:solidFill>
                  <a:srgbClr val="5B6B87"/>
                </a:solidFill>
                <a:latin typeface="Arial" pitchFamily="34" charset="0"/>
                <a:ea typeface="Arial" pitchFamily="34" charset="-122"/>
                <a:cs typeface="Arial" pitchFamily="34" charset="-120"/>
              </a:rPr>
              <a:t>25 of 2,000 students</a:t>
            </a:r>
            <a:endParaRPr lang="en-US" sz="1050" dirty="0"/>
          </a:p>
        </p:txBody>
      </p:sp>
      <p:sp>
        <p:nvSpPr>
          <p:cNvPr id="33" name="Shape 30"/>
          <p:cNvSpPr/>
          <p:nvPr/>
        </p:nvSpPr>
        <p:spPr>
          <a:xfrm>
            <a:off x="640080" y="5669280"/>
            <a:ext cx="10972800" cy="548640"/>
          </a:xfrm>
          <a:prstGeom prst="roundRect">
            <a:avLst>
              <a:gd name="adj" fmla="val 20000"/>
            </a:avLst>
          </a:prstGeom>
          <a:solidFill>
            <a:srgbClr val="FDF3E3"/>
          </a:solidFill>
          <a:ln w="9525">
            <a:solidFill>
              <a:srgbClr val="FDF3E3"/>
            </a:solidFill>
            <a:prstDash val="solid"/>
          </a:ln>
        </p:spPr>
      </p:sp>
      <p:sp>
        <p:nvSpPr>
          <p:cNvPr id="34" name="Text 31"/>
          <p:cNvSpPr txBox="1"/>
          <p:nvPr/>
        </p:nvSpPr>
        <p:spPr>
          <a:xfrm>
            <a:off x="868680" y="5669280"/>
            <a:ext cx="10515600" cy="548640"/>
          </a:xfrm>
          <a:prstGeom prst="rect">
            <a:avLst/>
          </a:prstGeom>
          <a:noFill/>
          <a:ln/>
        </p:spPr>
        <p:txBody>
          <a:bodyPr wrap="square" lIns="0" tIns="0" rIns="0" bIns="0" rtlCol="0" anchor="ctr"/>
          <a:lstStyle/>
          <a:p>
            <a:pPr indent="0" marL="0">
              <a:buNone/>
            </a:pPr>
            <a:r>
              <a:rPr lang="en-US" sz="1200" b="1" dirty="0">
                <a:solidFill>
                  <a:srgbClr val="C27A12"/>
                </a:solidFill>
                <a:latin typeface="Arial" pitchFamily="34" charset="0"/>
                <a:ea typeface="Arial" pitchFamily="34" charset="-122"/>
                <a:cs typeface="Arial" pitchFamily="34" charset="-120"/>
              </a:rPr>
              <a:t>Limitation: class imbalance and regression shrinkage toward the mean limit detection of some low-scoring students. Thresholds were not tuned on these results.</a:t>
            </a:r>
            <a:endParaRPr lang="en-US" sz="1200" dirty="0"/>
          </a:p>
        </p:txBody>
      </p:sp>
      <p:sp>
        <p:nvSpPr>
          <p:cNvPr id="35" name="Text 32"/>
          <p:cNvSpPr txBox="1"/>
          <p:nvPr/>
        </p:nvSpPr>
        <p:spPr>
          <a:xfrm>
            <a:off x="640080" y="6473952"/>
            <a:ext cx="7315200" cy="201168"/>
          </a:xfrm>
          <a:prstGeom prst="rect">
            <a:avLst/>
          </a:prstGeom>
          <a:noFill/>
          <a:ln/>
        </p:spPr>
        <p:txBody>
          <a:bodyPr wrap="square" lIns="0" tIns="0" rIns="0" bIns="0" rtlCol="0" anchor="t"/>
          <a:lstStyle/>
          <a:p>
            <a:pPr indent="0" marL="0">
              <a:buNone/>
            </a:pPr>
            <a:r>
              <a:rPr lang="en-US" sz="800" spc="200" kern="0" dirty="0">
                <a:solidFill>
                  <a:srgbClr val="A6B3CC"/>
                </a:solidFill>
                <a:latin typeface="Arial" pitchFamily="34" charset="0"/>
                <a:ea typeface="Arial" pitchFamily="34" charset="-122"/>
                <a:cs typeface="Arial" pitchFamily="34" charset="-120"/>
              </a:rPr>
              <a:t>AI STUDENT PERFORMANCE PREDICTION  ·  DECISION SUPPORT  ·  EXPLAINABLE AI</a:t>
            </a:r>
            <a:endParaRPr lang="en-US" sz="800" dirty="0"/>
          </a:p>
        </p:txBody>
      </p:sp>
      <p:sp>
        <p:nvSpPr>
          <p:cNvPr id="36" name="Text 33"/>
          <p:cNvSpPr txBox="1"/>
          <p:nvPr/>
        </p:nvSpPr>
        <p:spPr>
          <a:xfrm>
            <a:off x="11155680" y="6473952"/>
            <a:ext cx="411480" cy="201168"/>
          </a:xfrm>
          <a:prstGeom prst="rect">
            <a:avLst/>
          </a:prstGeom>
          <a:noFill/>
          <a:ln/>
        </p:spPr>
        <p:txBody>
          <a:bodyPr wrap="square" lIns="0" tIns="0" rIns="0" bIns="0" rtlCol="0" anchor="t"/>
          <a:lstStyle/>
          <a:p>
            <a:pPr algn="r" indent="0" marL="0">
              <a:buNone/>
            </a:pPr>
            <a:r>
              <a:rPr lang="en-US" sz="900" dirty="0">
                <a:solidFill>
                  <a:srgbClr val="A6B3CC"/>
                </a:solidFill>
                <a:latin typeface="Arial" pitchFamily="34" charset="0"/>
                <a:ea typeface="Arial" pitchFamily="34" charset="-122"/>
                <a:cs typeface="Arial"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515600" cy="274320"/>
          </a:xfrm>
          <a:prstGeom prst="rect">
            <a:avLst/>
          </a:prstGeom>
          <a:noFill/>
          <a:ln/>
        </p:spPr>
        <p:txBody>
          <a:bodyPr wrap="square" lIns="0" tIns="0" rIns="0" bIns="0" rtlCol="0" anchor="t"/>
          <a:lstStyle/>
          <a:p>
            <a:pPr indent="0" marL="0">
              <a:buNone/>
            </a:pPr>
            <a:r>
              <a:rPr lang="en-US" sz="1100" b="1" spc="300" kern="0" dirty="0">
                <a:solidFill>
                  <a:srgbClr val="2F6FED"/>
                </a:solidFill>
                <a:latin typeface="Arial" pitchFamily="34" charset="0"/>
                <a:ea typeface="Arial" pitchFamily="34" charset="-122"/>
                <a:cs typeface="Arial" pitchFamily="34" charset="-120"/>
              </a:rPr>
              <a:t>EXPLAINABLE AI</a:t>
            </a:r>
            <a:endParaRPr lang="en-US" sz="1100" dirty="0"/>
          </a:p>
        </p:txBody>
      </p:sp>
      <p:sp>
        <p:nvSpPr>
          <p:cNvPr id="3" name="Text 1"/>
          <p:cNvSpPr txBox="1"/>
          <p:nvPr/>
        </p:nvSpPr>
        <p:spPr>
          <a:xfrm>
            <a:off x="640080" y="713232"/>
            <a:ext cx="10972800" cy="640080"/>
          </a:xfrm>
          <a:prstGeom prst="rect">
            <a:avLst/>
          </a:prstGeom>
          <a:noFill/>
          <a:ln/>
        </p:spPr>
        <p:txBody>
          <a:bodyPr wrap="square" lIns="0" tIns="0" rIns="0" bIns="0" rtlCol="0" anchor="ctr"/>
          <a:lstStyle/>
          <a:p>
            <a:pPr indent="0" marL="0">
              <a:buNone/>
            </a:pPr>
            <a:r>
              <a:rPr lang="en-US" sz="3000" b="1" dirty="0">
                <a:solidFill>
                  <a:srgbClr val="142850"/>
                </a:solidFill>
                <a:latin typeface="Cambria" pitchFamily="34" charset="0"/>
                <a:ea typeface="Cambria" pitchFamily="34" charset="-122"/>
                <a:cs typeface="Cambria" pitchFamily="34" charset="-120"/>
              </a:rPr>
              <a:t>SHAP feature attribution</a:t>
            </a:r>
            <a:endParaRPr lang="en-US" sz="3000" dirty="0"/>
          </a:p>
        </p:txBody>
      </p:sp>
      <p:sp>
        <p:nvSpPr>
          <p:cNvPr id="4" name="Text 2"/>
          <p:cNvSpPr txBox="1"/>
          <p:nvPr/>
        </p:nvSpPr>
        <p:spPr>
          <a:xfrm>
            <a:off x="640080" y="1371600"/>
            <a:ext cx="10881360" cy="365760"/>
          </a:xfrm>
          <a:prstGeom prst="rect">
            <a:avLst/>
          </a:prstGeom>
          <a:noFill/>
          <a:ln/>
        </p:spPr>
        <p:txBody>
          <a:bodyPr wrap="square" lIns="0" tIns="0" rIns="0" bIns="0" rtlCol="0" anchor="t"/>
          <a:lstStyle/>
          <a:p>
            <a:pPr indent="0" marL="0">
              <a:buNone/>
            </a:pPr>
            <a:r>
              <a:rPr lang="en-US" sz="1400" dirty="0">
                <a:solidFill>
                  <a:srgbClr val="5B6B87"/>
                </a:solidFill>
                <a:latin typeface="Arial" pitchFamily="34" charset="0"/>
                <a:ea typeface="Arial" pitchFamily="34" charset="-122"/>
                <a:cs typeface="Arial" pitchFamily="34" charset="-120"/>
              </a:rPr>
              <a:t>SHAP attributes the model prediction to input features relative to a baseline (the average prediction).</a:t>
            </a:r>
            <a:endParaRPr lang="en-US" sz="1400" dirty="0"/>
          </a:p>
        </p:txBody>
      </p:sp>
      <p:sp>
        <p:nvSpPr>
          <p:cNvPr id="5" name="Text 3"/>
          <p:cNvSpPr txBox="1"/>
          <p:nvPr/>
        </p:nvSpPr>
        <p:spPr>
          <a:xfrm>
            <a:off x="640080" y="1874520"/>
            <a:ext cx="6400800" cy="274320"/>
          </a:xfrm>
          <a:prstGeom prst="rect">
            <a:avLst/>
          </a:prstGeom>
          <a:noFill/>
          <a:ln/>
        </p:spPr>
        <p:txBody>
          <a:bodyPr wrap="square" lIns="0" tIns="0" rIns="0" bIns="0" rtlCol="0" anchor="t"/>
          <a:lstStyle/>
          <a:p>
            <a:pPr indent="0" marL="0">
              <a:buNone/>
            </a:pPr>
            <a:r>
              <a:rPr lang="en-US" sz="1000" b="1" spc="100" kern="0" dirty="0">
                <a:solidFill>
                  <a:srgbClr val="5B6B87"/>
                </a:solidFill>
                <a:latin typeface="Arial" pitchFamily="34" charset="0"/>
                <a:ea typeface="Arial" pitchFamily="34" charset="-122"/>
                <a:cs typeface="Arial" pitchFamily="34" charset="-120"/>
              </a:rPr>
              <a:t>GLOBAL: MEAN |SHAP| OVER ALL 2,000 STUDENTS (MARKS)</a:t>
            </a:r>
            <a:endParaRPr lang="en-US" sz="1000" dirty="0"/>
          </a:p>
        </p:txBody>
      </p:sp>
      <p:pic>
        <p:nvPicPr>
          <p:cNvPr id="6" name="Image 0" descr="d:\Documents\Sharda University\Semester 5\PBL\fontend student prediction\global_shap_importance.png">    </p:cNvPr>
          <p:cNvPicPr>
            <a:picLocks noChangeAspect="1"/>
          </p:cNvPicPr>
          <p:nvPr/>
        </p:nvPicPr>
        <p:blipFill>
          <a:blip r:embed="rId1"/>
          <a:stretch>
            <a:fillRect/>
          </a:stretch>
        </p:blipFill>
        <p:spPr>
          <a:xfrm>
            <a:off x="640080" y="2194560"/>
            <a:ext cx="4892040" cy="2127337"/>
          </a:xfrm>
          <a:prstGeom prst="rect">
            <a:avLst/>
          </a:prstGeom>
        </p:spPr>
      </p:pic>
      <p:sp>
        <p:nvSpPr>
          <p:cNvPr id="7" name="Text 4"/>
          <p:cNvSpPr txBox="1"/>
          <p:nvPr/>
        </p:nvSpPr>
        <p:spPr>
          <a:xfrm>
            <a:off x="640080" y="4389120"/>
            <a:ext cx="6400800" cy="274320"/>
          </a:xfrm>
          <a:prstGeom prst="rect">
            <a:avLst/>
          </a:prstGeom>
          <a:noFill/>
          <a:ln/>
        </p:spPr>
        <p:txBody>
          <a:bodyPr wrap="square" lIns="0" tIns="0" rIns="0" bIns="0" rtlCol="0" anchor="t"/>
          <a:lstStyle/>
          <a:p>
            <a:pPr indent="0" marL="0">
              <a:buNone/>
            </a:pPr>
            <a:r>
              <a:rPr lang="en-US" sz="1000" b="1" spc="100" kern="0" dirty="0">
                <a:solidFill>
                  <a:srgbClr val="5B6B87"/>
                </a:solidFill>
                <a:latin typeface="Arial" pitchFamily="34" charset="0"/>
                <a:ea typeface="Arial" pitchFamily="34" charset="-122"/>
                <a:cs typeface="Arial" pitchFamily="34" charset="-120"/>
              </a:rPr>
              <a:t>DISTRIBUTION ACROSS STUDENTS</a:t>
            </a:r>
            <a:endParaRPr lang="en-US" sz="1000" dirty="0"/>
          </a:p>
        </p:txBody>
      </p:sp>
      <p:pic>
        <p:nvPicPr>
          <p:cNvPr id="8" name="Image 1" descr="d:\Documents\Sharda University\Semester 5\PBL\fontend student prediction\shap_beeswarm.png">    </p:cNvPr>
          <p:cNvPicPr>
            <a:picLocks noChangeAspect="1"/>
          </p:cNvPicPr>
          <p:nvPr/>
        </p:nvPicPr>
        <p:blipFill>
          <a:blip r:embed="rId2"/>
          <a:stretch>
            <a:fillRect/>
          </a:stretch>
        </p:blipFill>
        <p:spPr>
          <a:xfrm>
            <a:off x="640080" y="4681728"/>
            <a:ext cx="3429000" cy="1666003"/>
          </a:xfrm>
          <a:prstGeom prst="rect">
            <a:avLst/>
          </a:prstGeom>
        </p:spPr>
      </p:pic>
      <p:sp>
        <p:nvSpPr>
          <p:cNvPr id="9" name="Text 5"/>
          <p:cNvSpPr txBox="1"/>
          <p:nvPr/>
        </p:nvSpPr>
        <p:spPr>
          <a:xfrm>
            <a:off x="4206240" y="4846320"/>
            <a:ext cx="1737360" cy="1280160"/>
          </a:xfrm>
          <a:prstGeom prst="rect">
            <a:avLst/>
          </a:prstGeom>
          <a:noFill/>
          <a:ln/>
        </p:spPr>
        <p:txBody>
          <a:bodyPr wrap="square" lIns="0" tIns="0" rIns="0" bIns="0" rtlCol="0" anchor="t"/>
          <a:lstStyle/>
          <a:p>
            <a:pPr indent="0" marL="0">
              <a:buNone/>
            </a:pPr>
            <a:r>
              <a:rPr lang="en-US" sz="1000" i="1" dirty="0">
                <a:solidFill>
                  <a:srgbClr val="5B6B87"/>
                </a:solidFill>
                <a:latin typeface="Arial" pitchFamily="34" charset="0"/>
                <a:ea typeface="Arial" pitchFamily="34" charset="-122"/>
                <a:cs typeface="Arial" pitchFamily="34" charset="-120"/>
              </a:rPr>
              <a:t>Each dot is one student; colour is the feature value. Feature names are the model inputs.</a:t>
            </a:r>
            <a:endParaRPr lang="en-US" sz="1000" dirty="0"/>
          </a:p>
        </p:txBody>
      </p:sp>
      <p:sp>
        <p:nvSpPr>
          <p:cNvPr id="10" name="Text 6"/>
          <p:cNvSpPr txBox="1"/>
          <p:nvPr/>
        </p:nvSpPr>
        <p:spPr>
          <a:xfrm>
            <a:off x="6309360" y="1874520"/>
            <a:ext cx="5303520" cy="274320"/>
          </a:xfrm>
          <a:prstGeom prst="rect">
            <a:avLst/>
          </a:prstGeom>
          <a:noFill/>
          <a:ln/>
        </p:spPr>
        <p:txBody>
          <a:bodyPr wrap="square" lIns="0" tIns="0" rIns="0" bIns="0" rtlCol="0" anchor="t"/>
          <a:lstStyle/>
          <a:p>
            <a:pPr indent="0" marL="0">
              <a:buNone/>
            </a:pPr>
            <a:r>
              <a:rPr lang="en-US" sz="1000" b="1" spc="100" kern="0" dirty="0">
                <a:solidFill>
                  <a:srgbClr val="5B6B87"/>
                </a:solidFill>
                <a:latin typeface="Arial" pitchFamily="34" charset="0"/>
                <a:ea typeface="Arial" pitchFamily="34" charset="-122"/>
                <a:cs typeface="Arial" pitchFamily="34" charset="-120"/>
              </a:rPr>
              <a:t>ONE PREDICTION (STANDARD INPUT 91, 32, 36, 7, 3)</a:t>
            </a:r>
            <a:endParaRPr lang="en-US" sz="1000" dirty="0"/>
          </a:p>
        </p:txBody>
      </p:sp>
      <p:pic>
        <p:nvPicPr>
          <p:cNvPr id="11" name="Image 2" descr="C:\Users\NEMMI\AppData\Local\Temp\claude\d--Documents-Sharda-University-Semester-5-PBL-fontend-student-prediction\d6ce81b2-62cd-4b95-adc5-3e24f53e42a1\scratchpad\ppt\shots\prediction-shap.png">    </p:cNvPr>
          <p:cNvPicPr>
            <a:picLocks noChangeAspect="1"/>
          </p:cNvPicPr>
          <p:nvPr/>
        </p:nvPicPr>
        <p:blipFill>
          <a:blip r:embed="rId3"/>
          <a:stretch>
            <a:fillRect/>
          </a:stretch>
        </p:blipFill>
        <p:spPr>
          <a:xfrm>
            <a:off x="6309360" y="2194560"/>
            <a:ext cx="3657600" cy="2941983"/>
          </a:xfrm>
          <a:prstGeom prst="rect">
            <a:avLst/>
          </a:prstGeom>
        </p:spPr>
      </p:pic>
      <p:sp>
        <p:nvSpPr>
          <p:cNvPr id="12" name="Shape 7"/>
          <p:cNvSpPr/>
          <p:nvPr/>
        </p:nvSpPr>
        <p:spPr>
          <a:xfrm>
            <a:off x="10104120" y="2194560"/>
            <a:ext cx="1463040" cy="2926080"/>
          </a:xfrm>
          <a:prstGeom prst="roundRect">
            <a:avLst>
              <a:gd name="adj" fmla="val 7500"/>
            </a:avLst>
          </a:prstGeom>
          <a:solidFill>
            <a:srgbClr val="E9F0FF"/>
          </a:solidFill>
          <a:ln w="9525">
            <a:solidFill>
              <a:srgbClr val="E9F0FF"/>
            </a:solidFill>
            <a:prstDash val="solid"/>
          </a:ln>
        </p:spPr>
      </p:sp>
      <p:sp>
        <p:nvSpPr>
          <p:cNvPr id="13" name="Text 8"/>
          <p:cNvSpPr txBox="1"/>
          <p:nvPr/>
        </p:nvSpPr>
        <p:spPr>
          <a:xfrm>
            <a:off x="10195560" y="2286000"/>
            <a:ext cx="1325880" cy="2743200"/>
          </a:xfrm>
          <a:prstGeom prst="rect">
            <a:avLst/>
          </a:prstGeom>
          <a:noFill/>
          <a:ln/>
        </p:spPr>
        <p:txBody>
          <a:bodyPr wrap="square" lIns="0" tIns="0" rIns="0" bIns="0" rtlCol="0" anchor="ctr"/>
          <a:lstStyle/>
          <a:p>
            <a:pPr indent="0" marL="0">
              <a:buNone/>
            </a:pPr>
            <a:r>
              <a:rPr lang="en-US" sz="1100" dirty="0">
                <a:solidFill>
                  <a:srgbClr val="5B6B87"/>
                </a:solidFill>
                <a:latin typeface="Arial" pitchFamily="34" charset="0"/>
                <a:ea typeface="Arial" pitchFamily="34" charset="-122"/>
                <a:cs typeface="Arial" pitchFamily="34" charset="-120"/>
              </a:rPr>
              <a:t>Base value
</a:t>
            </a:r>
            <a:pPr indent="0" marL="0">
              <a:buNone/>
            </a:pPr>
            <a:r>
              <a:rPr lang="en-US" sz="2000" b="1" dirty="0">
                <a:solidFill>
                  <a:srgbClr val="142850"/>
                </a:solidFill>
                <a:latin typeface="Arial" pitchFamily="34" charset="0"/>
                <a:ea typeface="Arial" pitchFamily="34" charset="-122"/>
                <a:cs typeface="Arial" pitchFamily="34" charset="-120"/>
              </a:rPr>
              <a:t>64.855
</a:t>
            </a:r>
            <a:pPr indent="0" marL="0">
              <a:buNone/>
            </a:pPr>
            <a:r>
              <a:rPr lang="en-US" sz="1100" dirty="0">
                <a:solidFill>
                  <a:srgbClr val="5B6B87"/>
                </a:solidFill>
                <a:latin typeface="Arial" pitchFamily="34" charset="0"/>
                <a:ea typeface="Arial" pitchFamily="34" charset="-122"/>
                <a:cs typeface="Arial" pitchFamily="34" charset="-120"/>
              </a:rPr>
              <a:t>+ contributions
</a:t>
            </a:r>
            <a:pPr indent="0" marL="0">
              <a:buNone/>
            </a:pPr>
            <a:r>
              <a:rPr lang="en-US" sz="2000" b="1" dirty="0">
                <a:solidFill>
                  <a:srgbClr val="142850"/>
                </a:solidFill>
                <a:latin typeface="Arial" pitchFamily="34" charset="0"/>
                <a:ea typeface="Arial" pitchFamily="34" charset="-122"/>
                <a:cs typeface="Arial" pitchFamily="34" charset="-120"/>
              </a:rPr>
              <a:t>+5.22
</a:t>
            </a:r>
            <a:pPr indent="0" marL="0">
              <a:buNone/>
            </a:pPr>
            <a:r>
              <a:rPr lang="en-US" sz="1100" dirty="0">
                <a:solidFill>
                  <a:srgbClr val="5B6B87"/>
                </a:solidFill>
                <a:latin typeface="Arial" pitchFamily="34" charset="0"/>
                <a:ea typeface="Arial" pitchFamily="34" charset="-122"/>
                <a:cs typeface="Arial" pitchFamily="34" charset="-120"/>
              </a:rPr>
              <a:t>= prediction
</a:t>
            </a:r>
            <a:pPr indent="0" marL="0">
              <a:buNone/>
            </a:pPr>
            <a:r>
              <a:rPr lang="en-US" sz="2000" b="1" dirty="0">
                <a:solidFill>
                  <a:srgbClr val="2F6FED"/>
                </a:solidFill>
                <a:latin typeface="Arial" pitchFamily="34" charset="0"/>
                <a:ea typeface="Arial" pitchFamily="34" charset="-122"/>
                <a:cs typeface="Arial" pitchFamily="34" charset="-120"/>
              </a:rPr>
              <a:t>70.07</a:t>
            </a:r>
            <a:endParaRPr lang="en-US" sz="1100" dirty="0"/>
          </a:p>
        </p:txBody>
      </p:sp>
      <p:sp>
        <p:nvSpPr>
          <p:cNvPr id="14" name="Shape 9"/>
          <p:cNvSpPr/>
          <p:nvPr/>
        </p:nvSpPr>
        <p:spPr>
          <a:xfrm>
            <a:off x="6309360" y="5349240"/>
            <a:ext cx="5257800" cy="914400"/>
          </a:xfrm>
          <a:prstGeom prst="roundRect">
            <a:avLst>
              <a:gd name="adj" fmla="val 12000"/>
            </a:avLst>
          </a:prstGeom>
          <a:solidFill>
            <a:srgbClr val="0A1830"/>
          </a:solidFill>
          <a:ln w="9525">
            <a:solidFill>
              <a:srgbClr val="0A1830"/>
            </a:solidFill>
            <a:prstDash val="solid"/>
          </a:ln>
        </p:spPr>
      </p:sp>
      <p:sp>
        <p:nvSpPr>
          <p:cNvPr id="15" name="Text 10"/>
          <p:cNvSpPr txBox="1"/>
          <p:nvPr/>
        </p:nvSpPr>
        <p:spPr>
          <a:xfrm>
            <a:off x="6537960" y="5349240"/>
            <a:ext cx="4846320" cy="914400"/>
          </a:xfrm>
          <a:prstGeom prst="rect">
            <a:avLst/>
          </a:prstGeom>
          <a:noFill/>
          <a:ln/>
        </p:spPr>
        <p:txBody>
          <a:bodyPr wrap="square" lIns="0" tIns="0" rIns="0" bIns="0" rtlCol="0" anchor="ctr"/>
          <a:lstStyle/>
          <a:p>
            <a:pPr indent="0" marL="0">
              <a:buNone/>
            </a:pPr>
            <a:r>
              <a:rPr lang="en-US" sz="1150" dirty="0">
                <a:solidFill>
                  <a:srgbClr val="FFFFFF"/>
                </a:solidFill>
                <a:latin typeface="Arial" pitchFamily="34" charset="0"/>
                <a:ea typeface="Arial" pitchFamily="34" charset="-122"/>
                <a:cs typeface="Arial" pitchFamily="34" charset="-120"/>
              </a:rPr>
              <a:t>SHAP explains how the model arrived at a prediction. It does not show that an input caused a student's performance, and it does not predict what would happen if an input changed.</a:t>
            </a:r>
            <a:endParaRPr lang="en-US" sz="1150" dirty="0"/>
          </a:p>
        </p:txBody>
      </p:sp>
      <p:sp>
        <p:nvSpPr>
          <p:cNvPr id="16" name="Text 11"/>
          <p:cNvSpPr txBox="1"/>
          <p:nvPr/>
        </p:nvSpPr>
        <p:spPr>
          <a:xfrm>
            <a:off x="640080" y="6473952"/>
            <a:ext cx="7315200" cy="201168"/>
          </a:xfrm>
          <a:prstGeom prst="rect">
            <a:avLst/>
          </a:prstGeom>
          <a:noFill/>
          <a:ln/>
        </p:spPr>
        <p:txBody>
          <a:bodyPr wrap="square" lIns="0" tIns="0" rIns="0" bIns="0" rtlCol="0" anchor="t"/>
          <a:lstStyle/>
          <a:p>
            <a:pPr indent="0" marL="0">
              <a:buNone/>
            </a:pPr>
            <a:r>
              <a:rPr lang="en-US" sz="800" spc="200" kern="0" dirty="0">
                <a:solidFill>
                  <a:srgbClr val="A6B3CC"/>
                </a:solidFill>
                <a:latin typeface="Arial" pitchFamily="34" charset="0"/>
                <a:ea typeface="Arial" pitchFamily="34" charset="-122"/>
                <a:cs typeface="Arial" pitchFamily="34" charset="-120"/>
              </a:rPr>
              <a:t>AI STUDENT PERFORMANCE PREDICTION  ·  DECISION SUPPORT  ·  EXPLAINABLE AI</a:t>
            </a:r>
            <a:endParaRPr lang="en-US" sz="800" dirty="0"/>
          </a:p>
        </p:txBody>
      </p:sp>
      <p:sp>
        <p:nvSpPr>
          <p:cNvPr id="17" name="Text 12"/>
          <p:cNvSpPr txBox="1"/>
          <p:nvPr/>
        </p:nvSpPr>
        <p:spPr>
          <a:xfrm>
            <a:off x="11155680" y="6473952"/>
            <a:ext cx="411480" cy="201168"/>
          </a:xfrm>
          <a:prstGeom prst="rect">
            <a:avLst/>
          </a:prstGeom>
          <a:noFill/>
          <a:ln/>
        </p:spPr>
        <p:txBody>
          <a:bodyPr wrap="square" lIns="0" tIns="0" rIns="0" bIns="0" rtlCol="0" anchor="t"/>
          <a:lstStyle/>
          <a:p>
            <a:pPr algn="r" indent="0" marL="0">
              <a:buNone/>
            </a:pPr>
            <a:r>
              <a:rPr lang="en-US" sz="900" dirty="0">
                <a:solidFill>
                  <a:srgbClr val="A6B3CC"/>
                </a:solidFill>
                <a:latin typeface="Arial" pitchFamily="34" charset="0"/>
                <a:ea typeface="Arial" pitchFamily="34" charset="-122"/>
                <a:cs typeface="Arial"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515600" cy="274320"/>
          </a:xfrm>
          <a:prstGeom prst="rect">
            <a:avLst/>
          </a:prstGeom>
          <a:noFill/>
          <a:ln/>
        </p:spPr>
        <p:txBody>
          <a:bodyPr wrap="square" lIns="0" tIns="0" rIns="0" bIns="0" rtlCol="0" anchor="t"/>
          <a:lstStyle/>
          <a:p>
            <a:pPr indent="0" marL="0">
              <a:buNone/>
            </a:pPr>
            <a:r>
              <a:rPr lang="en-US" sz="1100" b="1" spc="300" kern="0" dirty="0">
                <a:solidFill>
                  <a:srgbClr val="2F6FED"/>
                </a:solidFill>
                <a:latin typeface="Arial" pitchFamily="34" charset="0"/>
                <a:ea typeface="Arial" pitchFamily="34" charset="-122"/>
                <a:cs typeface="Arial" pitchFamily="34" charset="-120"/>
              </a:rPr>
              <a:t>RECOMMENDATION ENGINE</a:t>
            </a:r>
            <a:endParaRPr lang="en-US" sz="1100" dirty="0"/>
          </a:p>
        </p:txBody>
      </p:sp>
      <p:sp>
        <p:nvSpPr>
          <p:cNvPr id="3" name="Text 1"/>
          <p:cNvSpPr txBox="1"/>
          <p:nvPr/>
        </p:nvSpPr>
        <p:spPr>
          <a:xfrm>
            <a:off x="640080" y="713232"/>
            <a:ext cx="10972800" cy="640080"/>
          </a:xfrm>
          <a:prstGeom prst="rect">
            <a:avLst/>
          </a:prstGeom>
          <a:noFill/>
          <a:ln/>
        </p:spPr>
        <p:txBody>
          <a:bodyPr wrap="square" lIns="0" tIns="0" rIns="0" bIns="0" rtlCol="0" anchor="ctr"/>
          <a:lstStyle/>
          <a:p>
            <a:pPr indent="0" marL="0">
              <a:buNone/>
            </a:pPr>
            <a:r>
              <a:rPr lang="en-US" sz="3000" b="1" dirty="0">
                <a:solidFill>
                  <a:srgbClr val="142850"/>
                </a:solidFill>
                <a:latin typeface="Cambria" pitchFamily="34" charset="0"/>
                <a:ea typeface="Cambria" pitchFamily="34" charset="-122"/>
                <a:cs typeface="Cambria" pitchFamily="34" charset="-120"/>
              </a:rPr>
              <a:t>SHAP-guided, feature-level recommendations</a:t>
            </a:r>
            <a:endParaRPr lang="en-US" sz="3000" dirty="0"/>
          </a:p>
        </p:txBody>
      </p:sp>
      <p:sp>
        <p:nvSpPr>
          <p:cNvPr id="4" name="Text 2"/>
          <p:cNvSpPr txBox="1"/>
          <p:nvPr/>
        </p:nvSpPr>
        <p:spPr>
          <a:xfrm>
            <a:off x="640080" y="1371600"/>
            <a:ext cx="10881360" cy="365760"/>
          </a:xfrm>
          <a:prstGeom prst="rect">
            <a:avLst/>
          </a:prstGeom>
          <a:noFill/>
          <a:ln/>
        </p:spPr>
        <p:txBody>
          <a:bodyPr wrap="square" lIns="0" tIns="0" rIns="0" bIns="0" rtlCol="0" anchor="t"/>
          <a:lstStyle/>
          <a:p>
            <a:pPr indent="0" marL="0">
              <a:buNone/>
            </a:pPr>
            <a:r>
              <a:rPr lang="en-US" sz="1400" dirty="0">
                <a:solidFill>
                  <a:srgbClr val="5B6B87"/>
                </a:solidFill>
                <a:latin typeface="Arial" pitchFamily="34" charset="0"/>
                <a:ea typeface="Arial" pitchFamily="34" charset="-122"/>
                <a:cs typeface="Arial" pitchFamily="34" charset="-120"/>
              </a:rPr>
              <a:t>Recommendations are SHAP-guided and feature-level: fixed rules applied to each feature's SHAP contribution.</a:t>
            </a:r>
            <a:endParaRPr lang="en-US" sz="1400" dirty="0"/>
          </a:p>
        </p:txBody>
      </p:sp>
      <p:sp>
        <p:nvSpPr>
          <p:cNvPr id="5" name="Shape 3"/>
          <p:cNvSpPr/>
          <p:nvPr/>
        </p:nvSpPr>
        <p:spPr>
          <a:xfrm>
            <a:off x="640080" y="1965960"/>
            <a:ext cx="3931920" cy="640080"/>
          </a:xfrm>
          <a:prstGeom prst="roundRect">
            <a:avLst>
              <a:gd name="adj" fmla="val 17143"/>
            </a:avLst>
          </a:prstGeom>
          <a:solidFill>
            <a:srgbClr val="E9F0FF"/>
          </a:solidFill>
          <a:ln w="9525">
            <a:solidFill>
              <a:srgbClr val="E9F0FF"/>
            </a:solidFill>
            <a:prstDash val="solid"/>
          </a:ln>
        </p:spPr>
      </p:sp>
      <p:sp>
        <p:nvSpPr>
          <p:cNvPr id="6" name="Text 4"/>
          <p:cNvSpPr txBox="1"/>
          <p:nvPr/>
        </p:nvSpPr>
        <p:spPr>
          <a:xfrm>
            <a:off x="640080" y="1965960"/>
            <a:ext cx="3931920" cy="640080"/>
          </a:xfrm>
          <a:prstGeom prst="rect">
            <a:avLst/>
          </a:prstGeom>
          <a:noFill/>
          <a:ln/>
        </p:spPr>
        <p:txBody>
          <a:bodyPr wrap="square" lIns="0" tIns="0" rIns="0" bIns="0" rtlCol="0" anchor="ctr"/>
          <a:lstStyle/>
          <a:p>
            <a:pPr algn="ctr" indent="0" marL="0">
              <a:buNone/>
            </a:pPr>
            <a:r>
              <a:rPr lang="en-US" sz="1400" b="1" dirty="0">
                <a:solidFill>
                  <a:srgbClr val="142850"/>
                </a:solidFill>
                <a:latin typeface="Arial" pitchFamily="34" charset="0"/>
                <a:ea typeface="Arial" pitchFamily="34" charset="-122"/>
                <a:cs typeface="Arial" pitchFamily="34" charset="-120"/>
              </a:rPr>
              <a:t>Prediction + SHAP contributions</a:t>
            </a:r>
            <a:endParaRPr lang="en-US" sz="1400" dirty="0"/>
          </a:p>
        </p:txBody>
      </p:sp>
      <p:sp>
        <p:nvSpPr>
          <p:cNvPr id="7" name="Shape 5"/>
          <p:cNvSpPr/>
          <p:nvPr/>
        </p:nvSpPr>
        <p:spPr>
          <a:xfrm>
            <a:off x="2487168" y="2642616"/>
            <a:ext cx="237744" cy="164592"/>
          </a:xfrm>
          <a:prstGeom prst="downArrow">
            <a:avLst/>
          </a:prstGeom>
          <a:solidFill>
            <a:srgbClr val="2F6FED"/>
          </a:solidFill>
          <a:ln w="6350">
            <a:solidFill>
              <a:srgbClr val="2F6FED"/>
            </a:solidFill>
            <a:prstDash val="solid"/>
          </a:ln>
        </p:spPr>
      </p:sp>
      <p:sp>
        <p:nvSpPr>
          <p:cNvPr id="8" name="Shape 6"/>
          <p:cNvSpPr/>
          <p:nvPr/>
        </p:nvSpPr>
        <p:spPr>
          <a:xfrm>
            <a:off x="640080" y="2834640"/>
            <a:ext cx="3931920" cy="640080"/>
          </a:xfrm>
          <a:prstGeom prst="roundRect">
            <a:avLst>
              <a:gd name="adj" fmla="val 17143"/>
            </a:avLst>
          </a:prstGeom>
          <a:solidFill>
            <a:srgbClr val="E9F0FF"/>
          </a:solidFill>
          <a:ln w="9525">
            <a:solidFill>
              <a:srgbClr val="E9F0FF"/>
            </a:solidFill>
            <a:prstDash val="solid"/>
          </a:ln>
        </p:spPr>
      </p:sp>
      <p:sp>
        <p:nvSpPr>
          <p:cNvPr id="9" name="Text 7"/>
          <p:cNvSpPr txBox="1"/>
          <p:nvPr/>
        </p:nvSpPr>
        <p:spPr>
          <a:xfrm>
            <a:off x="640080" y="2834640"/>
            <a:ext cx="3931920" cy="640080"/>
          </a:xfrm>
          <a:prstGeom prst="rect">
            <a:avLst/>
          </a:prstGeom>
          <a:noFill/>
          <a:ln/>
        </p:spPr>
        <p:txBody>
          <a:bodyPr wrap="square" lIns="0" tIns="0" rIns="0" bIns="0" rtlCol="0" anchor="ctr"/>
          <a:lstStyle/>
          <a:p>
            <a:pPr algn="ctr" indent="0" marL="0">
              <a:buNone/>
            </a:pPr>
            <a:r>
              <a:rPr lang="en-US" sz="1400" b="1" dirty="0">
                <a:solidFill>
                  <a:srgbClr val="142850"/>
                </a:solidFill>
                <a:latin typeface="Arial" pitchFamily="34" charset="0"/>
                <a:ea typeface="Arial" pitchFamily="34" charset="-122"/>
                <a:cs typeface="Arial" pitchFamily="34" charset="-120"/>
              </a:rPr>
              <a:t>Threshold-based rules</a:t>
            </a:r>
            <a:endParaRPr lang="en-US" sz="1400" dirty="0"/>
          </a:p>
        </p:txBody>
      </p:sp>
      <p:sp>
        <p:nvSpPr>
          <p:cNvPr id="10" name="Shape 8"/>
          <p:cNvSpPr/>
          <p:nvPr/>
        </p:nvSpPr>
        <p:spPr>
          <a:xfrm>
            <a:off x="2487168" y="3511296"/>
            <a:ext cx="237744" cy="164592"/>
          </a:xfrm>
          <a:prstGeom prst="downArrow">
            <a:avLst/>
          </a:prstGeom>
          <a:solidFill>
            <a:srgbClr val="2F6FED"/>
          </a:solidFill>
          <a:ln w="6350">
            <a:solidFill>
              <a:srgbClr val="2F6FED"/>
            </a:solidFill>
            <a:prstDash val="solid"/>
          </a:ln>
        </p:spPr>
      </p:sp>
      <p:sp>
        <p:nvSpPr>
          <p:cNvPr id="11" name="Shape 9"/>
          <p:cNvSpPr/>
          <p:nvPr/>
        </p:nvSpPr>
        <p:spPr>
          <a:xfrm>
            <a:off x="640080" y="3703320"/>
            <a:ext cx="3931920" cy="640080"/>
          </a:xfrm>
          <a:prstGeom prst="roundRect">
            <a:avLst>
              <a:gd name="adj" fmla="val 17143"/>
            </a:avLst>
          </a:prstGeom>
          <a:solidFill>
            <a:srgbClr val="142850"/>
          </a:solidFill>
          <a:ln w="9525">
            <a:solidFill>
              <a:srgbClr val="142850"/>
            </a:solidFill>
            <a:prstDash val="solid"/>
          </a:ln>
        </p:spPr>
      </p:sp>
      <p:sp>
        <p:nvSpPr>
          <p:cNvPr id="12" name="Text 10"/>
          <p:cNvSpPr txBox="1"/>
          <p:nvPr/>
        </p:nvSpPr>
        <p:spPr>
          <a:xfrm>
            <a:off x="640080" y="3703320"/>
            <a:ext cx="3931920" cy="64008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Feature-level recommendations</a:t>
            </a:r>
            <a:endParaRPr lang="en-US" sz="14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40080" y="4617720"/>
          <a:ext cx="3931920" cy="914400"/>
        </p:xfrm>
        <a:graphic>
          <a:graphicData uri="http://schemas.openxmlformats.org/drawingml/2006/table">
            <a:tbl>
              <a:tblPr/>
              <a:tblGrid>
                <a:gridCol w="1874520"/>
                <a:gridCol w="2057400"/>
              </a:tblGrid>
              <a:tr h="310896">
                <a:tc>
                  <a:txBody>
                    <a:bodyPr/>
                    <a:lstStyle/>
                    <a:p>
                      <a:pPr indent="0" marL="0">
                        <a:buNone/>
                      </a:pPr>
                      <a:r>
                        <a:rPr lang="en-US" sz="1200" b="1" dirty="0">
                          <a:solidFill>
                            <a:srgbClr val="FFFFFF"/>
                          </a:solidFill>
                          <a:latin typeface="Arial" pitchFamily="34" charset="0"/>
                          <a:ea typeface="Arial" pitchFamily="34" charset="-122"/>
                          <a:cs typeface="Arial" pitchFamily="34" charset="-120"/>
                        </a:rPr>
                        <a:t>SHAP contribution</a:t>
                      </a:r>
                      <a:endParaRPr lang="en-US" sz="1200" dirty="0">
                        <a:latin typeface="Arial" charset="0"/>
                        <a:ea typeface="Arial" charset="0"/>
                        <a:cs typeface="Arial" charset="0"/>
                      </a:endParaRPr>
                    </a:p>
                  </a:txBody>
                  <a:tcPr marL="91440" marR="91440" marT="45720" marB="45720"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142850"/>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Priority</a:t>
                      </a:r>
                      <a:endParaRPr lang="en-US" sz="1200" dirty="0">
                        <a:latin typeface="Arial" charset="0"/>
                        <a:ea typeface="Arial" charset="0"/>
                        <a:cs typeface="Arial" charset="0"/>
                      </a:endParaRPr>
                    </a:p>
                  </a:txBody>
                  <a:tcPr marL="91440" marR="91440" marT="45720" marB="45720"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142850"/>
                    </a:solidFill>
                  </a:tcPr>
                </a:tc>
              </a:tr>
              <a:tr h="310896">
                <a:tc>
                  <a:txBody>
                    <a:bodyPr/>
                    <a:lstStyle/>
                    <a:p>
                      <a:pPr indent="0" marL="0">
                        <a:buNone/>
                      </a:pPr>
                      <a:r>
                        <a:rPr lang="en-US" sz="1200" dirty="0">
                          <a:solidFill>
                            <a:srgbClr val="1A2A4A"/>
                          </a:solidFill>
                          <a:latin typeface="Arial" pitchFamily="34" charset="0"/>
                          <a:ea typeface="Arial" pitchFamily="34" charset="-122"/>
                          <a:cs typeface="Arial" pitchFamily="34" charset="-120"/>
                        </a:rPr>
                        <a:t>below −1.0 marks</a:t>
                      </a:r>
                      <a:endParaRPr lang="en-US" sz="1200" dirty="0">
                        <a:latin typeface="Arial" charset="0"/>
                        <a:ea typeface="Arial" charset="0"/>
                        <a:cs typeface="Arial" charset="0"/>
                      </a:endParaRPr>
                    </a:p>
                  </a:txBody>
                  <a:tcPr marL="91440" marR="91440" marT="45720" marB="45720"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tc>
                  <a:txBody>
                    <a:bodyPr/>
                    <a:lstStyle/>
                    <a:p>
                      <a:pPr indent="0" marL="0">
                        <a:buNone/>
                      </a:pPr>
                      <a:r>
                        <a:rPr lang="en-US" sz="1200" b="1" dirty="0">
                          <a:solidFill>
                            <a:srgbClr val="E1516A"/>
                          </a:solidFill>
                          <a:latin typeface="Arial" pitchFamily="34" charset="0"/>
                          <a:ea typeface="Arial" pitchFamily="34" charset="-122"/>
                          <a:cs typeface="Arial" pitchFamily="34" charset="-120"/>
                        </a:rPr>
                        <a:t>HIGH</a:t>
                      </a:r>
                      <a:endParaRPr lang="en-US" sz="1200" dirty="0">
                        <a:latin typeface="Arial" charset="0"/>
                        <a:ea typeface="Arial" charset="0"/>
                        <a:cs typeface="Arial" charset="0"/>
                      </a:endParaRPr>
                    </a:p>
                  </a:txBody>
                  <a:tcPr marL="91440" marR="91440" marT="45720" marB="45720"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tr>
              <a:tr h="310896">
                <a:tc>
                  <a:txBody>
                    <a:bodyPr/>
                    <a:lstStyle/>
                    <a:p>
                      <a:pPr indent="0" marL="0">
                        <a:buNone/>
                      </a:pPr>
                      <a:r>
                        <a:rPr lang="en-US" sz="1200" dirty="0">
                          <a:solidFill>
                            <a:srgbClr val="1A2A4A"/>
                          </a:solidFill>
                          <a:latin typeface="Arial" pitchFamily="34" charset="0"/>
                          <a:ea typeface="Arial" pitchFamily="34" charset="-122"/>
                          <a:cs typeface="Arial" pitchFamily="34" charset="-120"/>
                        </a:rPr>
                        <a:t>−1.0 to below −0.5</a:t>
                      </a:r>
                      <a:endParaRPr lang="en-US" sz="1200" dirty="0">
                        <a:latin typeface="Arial" charset="0"/>
                        <a:ea typeface="Arial" charset="0"/>
                        <a:cs typeface="Arial" charset="0"/>
                      </a:endParaRPr>
                    </a:p>
                  </a:txBody>
                  <a:tcPr marL="91440" marR="91440" marT="45720" marB="45720"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tc>
                  <a:txBody>
                    <a:bodyPr/>
                    <a:lstStyle/>
                    <a:p>
                      <a:pPr indent="0" marL="0">
                        <a:buNone/>
                      </a:pPr>
                      <a:r>
                        <a:rPr lang="en-US" sz="1200" b="1" dirty="0">
                          <a:solidFill>
                            <a:srgbClr val="C27A12"/>
                          </a:solidFill>
                          <a:latin typeface="Arial" pitchFamily="34" charset="0"/>
                          <a:ea typeface="Arial" pitchFamily="34" charset="-122"/>
                          <a:cs typeface="Arial" pitchFamily="34" charset="-120"/>
                        </a:rPr>
                        <a:t>MEDIUM</a:t>
                      </a:r>
                      <a:endParaRPr lang="en-US" sz="1200" dirty="0">
                        <a:latin typeface="Arial" charset="0"/>
                        <a:ea typeface="Arial" charset="0"/>
                        <a:cs typeface="Arial" charset="0"/>
                      </a:endParaRPr>
                    </a:p>
                  </a:txBody>
                  <a:tcPr marL="91440" marR="91440" marT="45720" marB="45720"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tr>
              <a:tr h="310896">
                <a:tc>
                  <a:txBody>
                    <a:bodyPr/>
                    <a:lstStyle/>
                    <a:p>
                      <a:pPr indent="0" marL="0">
                        <a:buNone/>
                      </a:pPr>
                      <a:r>
                        <a:rPr lang="en-US" sz="1200" dirty="0">
                          <a:solidFill>
                            <a:srgbClr val="1A2A4A"/>
                          </a:solidFill>
                          <a:latin typeface="Arial" pitchFamily="34" charset="0"/>
                          <a:ea typeface="Arial" pitchFamily="34" charset="-122"/>
                          <a:cs typeface="Arial" pitchFamily="34" charset="-120"/>
                        </a:rPr>
                        <a:t>−0.5 to +0.5</a:t>
                      </a:r>
                      <a:endParaRPr lang="en-US" sz="1200" dirty="0">
                        <a:latin typeface="Arial" charset="0"/>
                        <a:ea typeface="Arial" charset="0"/>
                        <a:cs typeface="Arial" charset="0"/>
                      </a:endParaRPr>
                    </a:p>
                  </a:txBody>
                  <a:tcPr marL="91440" marR="91440" marT="45720" marB="45720"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tc>
                  <a:txBody>
                    <a:bodyPr/>
                    <a:lstStyle/>
                    <a:p>
                      <a:pPr indent="0" marL="0">
                        <a:buNone/>
                      </a:pPr>
                      <a:r>
                        <a:rPr lang="en-US" sz="1200" dirty="0">
                          <a:solidFill>
                            <a:srgbClr val="5B6B87"/>
                          </a:solidFill>
                          <a:latin typeface="Arial" pitchFamily="34" charset="0"/>
                          <a:ea typeface="Arial" pitchFamily="34" charset="-122"/>
                          <a:cs typeface="Arial" pitchFamily="34" charset="-120"/>
                        </a:rPr>
                        <a:t>no recommendation</a:t>
                      </a:r>
                      <a:endParaRPr lang="en-US" sz="1200" dirty="0">
                        <a:latin typeface="Arial" charset="0"/>
                        <a:ea typeface="Arial" charset="0"/>
                        <a:cs typeface="Arial" charset="0"/>
                      </a:endParaRPr>
                    </a:p>
                  </a:txBody>
                  <a:tcPr marL="91440" marR="91440" marT="45720" marB="45720"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tr>
              <a:tr h="310896">
                <a:tc>
                  <a:txBody>
                    <a:bodyPr/>
                    <a:lstStyle/>
                    <a:p>
                      <a:pPr indent="0" marL="0">
                        <a:buNone/>
                      </a:pPr>
                      <a:r>
                        <a:rPr lang="en-US" sz="1200" dirty="0">
                          <a:solidFill>
                            <a:srgbClr val="1A2A4A"/>
                          </a:solidFill>
                          <a:latin typeface="Arial" pitchFamily="34" charset="0"/>
                          <a:ea typeface="Arial" pitchFamily="34" charset="-122"/>
                          <a:cs typeface="Arial" pitchFamily="34" charset="-120"/>
                        </a:rPr>
                        <a:t>above +0.5 marks</a:t>
                      </a:r>
                      <a:endParaRPr lang="en-US" sz="1200" dirty="0">
                        <a:latin typeface="Arial" charset="0"/>
                        <a:ea typeface="Arial" charset="0"/>
                        <a:cs typeface="Arial" charset="0"/>
                      </a:endParaRPr>
                    </a:p>
                  </a:txBody>
                  <a:tcPr marL="91440" marR="91440" marT="45720" marB="45720"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tc>
                  <a:txBody>
                    <a:bodyPr/>
                    <a:lstStyle/>
                    <a:p>
                      <a:pPr indent="0" marL="0">
                        <a:buNone/>
                      </a:pPr>
                      <a:r>
                        <a:rPr lang="en-US" sz="1200" b="1" dirty="0">
                          <a:solidFill>
                            <a:srgbClr val="1E9E64"/>
                          </a:solidFill>
                          <a:latin typeface="Arial" pitchFamily="34" charset="0"/>
                          <a:ea typeface="Arial" pitchFamily="34" charset="-122"/>
                          <a:cs typeface="Arial" pitchFamily="34" charset="-120"/>
                        </a:rPr>
                        <a:t>POSITIVE (maintenance)</a:t>
                      </a:r>
                      <a:endParaRPr lang="en-US" sz="1200" dirty="0">
                        <a:latin typeface="Arial" charset="0"/>
                        <a:ea typeface="Arial" charset="0"/>
                        <a:cs typeface="Arial" charset="0"/>
                      </a:endParaRPr>
                    </a:p>
                  </a:txBody>
                  <a:tcPr marL="91440" marR="91440" marT="45720" marB="45720" anchor="ctr">
                    <a:lnL w="9525" cap="flat" cmpd="sng" algn="ctr">
                      <a:solidFill>
                        <a:srgbClr val="D8E1F5"/>
                      </a:solidFill>
                      <a:prstDash val="solid"/>
                      <a:round/>
                      <a:headEnd type="none" w="med" len="med"/>
                      <a:tailEnd type="none" w="med" len="med"/>
                    </a:lnL>
                    <a:lnR w="9525" cap="flat" cmpd="sng" algn="ctr">
                      <a:solidFill>
                        <a:srgbClr val="D8E1F5"/>
                      </a:solidFill>
                      <a:prstDash val="solid"/>
                      <a:round/>
                      <a:headEnd type="none" w="med" len="med"/>
                      <a:tailEnd type="none" w="med" len="med"/>
                    </a:lnR>
                    <a:lnT w="9525" cap="flat" cmpd="sng" algn="ctr">
                      <a:solidFill>
                        <a:srgbClr val="D8E1F5"/>
                      </a:solidFill>
                      <a:prstDash val="solid"/>
                      <a:round/>
                      <a:headEnd type="none" w="med" len="med"/>
                      <a:tailEnd type="none" w="med" len="med"/>
                    </a:lnT>
                    <a:lnB w="9525" cap="flat" cmpd="sng" algn="ctr">
                      <a:solidFill>
                        <a:srgbClr val="D8E1F5"/>
                      </a:solidFill>
                      <a:prstDash val="solid"/>
                      <a:round/>
                      <a:headEnd type="none" w="med" len="med"/>
                      <a:tailEnd type="none" w="med" len="med"/>
                    </a:lnB>
                    <a:solidFill>
                      <a:srgbClr val="FFFFFF"/>
                    </a:solidFill>
                  </a:tcPr>
                </a:tc>
              </a:tr>
            </a:tbl>
          </a:graphicData>
        </a:graphic>
      </p:graphicFrame>
      <p:sp>
        <p:nvSpPr>
          <p:cNvPr id="14" name="Text 11"/>
          <p:cNvSpPr txBox="1"/>
          <p:nvPr/>
        </p:nvSpPr>
        <p:spPr>
          <a:xfrm>
            <a:off x="4983480" y="1965960"/>
            <a:ext cx="6583680" cy="274320"/>
          </a:xfrm>
          <a:prstGeom prst="rect">
            <a:avLst/>
          </a:prstGeom>
          <a:noFill/>
          <a:ln/>
        </p:spPr>
        <p:txBody>
          <a:bodyPr wrap="square" lIns="0" tIns="0" rIns="0" bIns="0" rtlCol="0" anchor="t"/>
          <a:lstStyle/>
          <a:p>
            <a:pPr indent="0" marL="0">
              <a:buNone/>
            </a:pPr>
            <a:r>
              <a:rPr lang="en-US" sz="1000" b="1" spc="100" kern="0" dirty="0">
                <a:solidFill>
                  <a:srgbClr val="5B6B87"/>
                </a:solidFill>
                <a:latin typeface="Arial" pitchFamily="34" charset="0"/>
                <a:ea typeface="Arial" pitchFamily="34" charset="-122"/>
                <a:cs typeface="Arial" pitchFamily="34" charset="-120"/>
              </a:rPr>
              <a:t>REAL OUTPUT FOR THE STANDARD INPUT (91, 32, 36, 7, 3)</a:t>
            </a:r>
            <a:endParaRPr lang="en-US" sz="1000" dirty="0"/>
          </a:p>
        </p:txBody>
      </p:sp>
      <p:pic>
        <p:nvPicPr>
          <p:cNvPr id="15" name="Image 0" descr="C:\Users\NEMMI\AppData\Local\Temp\claude\d--Documents-Sharda-University-Semester-5-PBL-fontend-student-prediction\d6ce81b2-62cd-4b95-adc5-3e24f53e42a1\scratchpad\ppt\shots\rec-medium.png">    </p:cNvPr>
          <p:cNvPicPr>
            <a:picLocks noChangeAspect="1"/>
          </p:cNvPicPr>
          <p:nvPr/>
        </p:nvPicPr>
        <p:blipFill>
          <a:blip r:embed="rId1"/>
          <a:stretch>
            <a:fillRect/>
          </a:stretch>
        </p:blipFill>
        <p:spPr>
          <a:xfrm>
            <a:off x="4983480" y="2286000"/>
            <a:ext cx="2011680" cy="3535680"/>
          </a:xfrm>
          <a:prstGeom prst="rect">
            <a:avLst/>
          </a:prstGeom>
        </p:spPr>
      </p:pic>
      <p:pic>
        <p:nvPicPr>
          <p:cNvPr id="16" name="Image 1" descr="C:\Users\NEMMI\AppData\Local\Temp\claude\d--Documents-Sharda-University-Semester-5-PBL-fontend-student-prediction\d6ce81b2-62cd-4b95-adc5-3e24f53e42a1\scratchpad\ppt\shots\rec-positive.png">    </p:cNvPr>
          <p:cNvPicPr>
            <a:picLocks noChangeAspect="1"/>
          </p:cNvPicPr>
          <p:nvPr/>
        </p:nvPicPr>
        <p:blipFill>
          <a:blip r:embed="rId2"/>
          <a:stretch>
            <a:fillRect/>
          </a:stretch>
        </p:blipFill>
        <p:spPr>
          <a:xfrm>
            <a:off x="7132320" y="2286000"/>
            <a:ext cx="2011680" cy="3237653"/>
          </a:xfrm>
          <a:prstGeom prst="rect">
            <a:avLst/>
          </a:prstGeom>
        </p:spPr>
      </p:pic>
      <p:sp>
        <p:nvSpPr>
          <p:cNvPr id="17" name="Text 12"/>
          <p:cNvSpPr txBox="1"/>
          <p:nvPr/>
        </p:nvSpPr>
        <p:spPr>
          <a:xfrm>
            <a:off x="9372600" y="2286000"/>
            <a:ext cx="2240280" cy="3535680"/>
          </a:xfrm>
          <a:prstGeom prst="rect">
            <a:avLst/>
          </a:prstGeom>
          <a:noFill/>
          <a:ln/>
        </p:spPr>
        <p:txBody>
          <a:bodyPr wrap="square" lIns="0" tIns="0" rIns="0" bIns="0" rtlCol="0" anchor="t"/>
          <a:lstStyle/>
          <a:p>
            <a:pPr marL="152400" indent="-152400">
              <a:spcAft>
                <a:spcPts val="800"/>
              </a:spcAft>
              <a:buSzPct val="100000"/>
              <a:buChar char="•"/>
            </a:pPr>
            <a:r>
              <a:rPr lang="en-US" sz="1150" dirty="0">
                <a:solidFill>
                  <a:srgbClr val="1A2A4A"/>
                </a:solidFill>
                <a:latin typeface="Arial" pitchFamily="34" charset="0"/>
                <a:ea typeface="Arial" pitchFamily="34" charset="-122"/>
                <a:cs typeface="Arial" pitchFamily="34" charset="-120"/>
              </a:rPr>
              <a:t>Negative contributors are listed first, ordered by the size of their SHAP contribution; positive contributors follow as maintenance guidance.</a:t>
            </a:r>
            <a:endParaRPr lang="en-US" sz="1150" dirty="0"/>
          </a:p>
          <a:p>
            <a:pPr marL="152400" indent="-152400">
              <a:spcAft>
                <a:spcPts val="800"/>
              </a:spcAft>
              <a:buSzPct val="100000"/>
              <a:buChar char="•"/>
            </a:pPr>
            <a:r>
              <a:rPr lang="en-US" sz="1150" dirty="0">
                <a:solidFill>
                  <a:srgbClr val="1A2A4A"/>
                </a:solidFill>
                <a:latin typeface="Arial" pitchFamily="34" charset="0"/>
                <a:ea typeface="Arial" pitchFamily="34" charset="-122"/>
                <a:cs typeface="Arial" pitchFamily="34" charset="-120"/>
              </a:rPr>
              <a:t>Each item shows the feature, priority, current value, performance level, SHAP contribution and a predefined action.</a:t>
            </a:r>
            <a:endParaRPr lang="en-US" sz="1150" dirty="0"/>
          </a:p>
          <a:p>
            <a:pPr marL="152400" indent="-152400">
              <a:spcAft>
                <a:spcPts val="800"/>
              </a:spcAft>
              <a:buSzPct val="100000"/>
              <a:buChar char="•"/>
            </a:pPr>
            <a:r>
              <a:rPr lang="en-US" sz="1150" dirty="0">
                <a:solidFill>
                  <a:srgbClr val="1A2A4A"/>
                </a:solidFill>
                <a:latin typeface="Arial" pitchFamily="34" charset="0"/>
                <a:ea typeface="Arial" pitchFamily="34" charset="-122"/>
                <a:cs typeface="Arial" pitchFamily="34" charset="-120"/>
              </a:rPr>
              <a:t>Actions are predefined academic guidance per feature — not individual study plans.</a:t>
            </a:r>
            <a:endParaRPr lang="en-US" sz="1150" dirty="0"/>
          </a:p>
        </p:txBody>
      </p:sp>
      <p:sp>
        <p:nvSpPr>
          <p:cNvPr id="18" name="Text 13"/>
          <p:cNvSpPr txBox="1"/>
          <p:nvPr/>
        </p:nvSpPr>
        <p:spPr>
          <a:xfrm>
            <a:off x="640080" y="6473952"/>
            <a:ext cx="7315200" cy="201168"/>
          </a:xfrm>
          <a:prstGeom prst="rect">
            <a:avLst/>
          </a:prstGeom>
          <a:noFill/>
          <a:ln/>
        </p:spPr>
        <p:txBody>
          <a:bodyPr wrap="square" lIns="0" tIns="0" rIns="0" bIns="0" rtlCol="0" anchor="t"/>
          <a:lstStyle/>
          <a:p>
            <a:pPr indent="0" marL="0">
              <a:buNone/>
            </a:pPr>
            <a:r>
              <a:rPr lang="en-US" sz="800" spc="200" kern="0" dirty="0">
                <a:solidFill>
                  <a:srgbClr val="A6B3CC"/>
                </a:solidFill>
                <a:latin typeface="Arial" pitchFamily="34" charset="0"/>
                <a:ea typeface="Arial" pitchFamily="34" charset="-122"/>
                <a:cs typeface="Arial" pitchFamily="34" charset="-120"/>
              </a:rPr>
              <a:t>AI STUDENT PERFORMANCE PREDICTION  ·  DECISION SUPPORT  ·  EXPLAINABLE AI</a:t>
            </a:r>
            <a:endParaRPr lang="en-US" sz="800" dirty="0"/>
          </a:p>
        </p:txBody>
      </p:sp>
      <p:sp>
        <p:nvSpPr>
          <p:cNvPr id="19" name="Text 14"/>
          <p:cNvSpPr txBox="1"/>
          <p:nvPr/>
        </p:nvSpPr>
        <p:spPr>
          <a:xfrm>
            <a:off x="11155680" y="6473952"/>
            <a:ext cx="411480" cy="201168"/>
          </a:xfrm>
          <a:prstGeom prst="rect">
            <a:avLst/>
          </a:prstGeom>
          <a:noFill/>
          <a:ln/>
        </p:spPr>
        <p:txBody>
          <a:bodyPr wrap="square" lIns="0" tIns="0" rIns="0" bIns="0" rtlCol="0" anchor="t"/>
          <a:lstStyle/>
          <a:p>
            <a:pPr algn="r" indent="0" marL="0">
              <a:buNone/>
            </a:pPr>
            <a:r>
              <a:rPr lang="en-US" sz="900" dirty="0">
                <a:solidFill>
                  <a:srgbClr val="A6B3CC"/>
                </a:solidFill>
                <a:latin typeface="Arial" pitchFamily="34" charset="0"/>
                <a:ea typeface="Arial" pitchFamily="34" charset="-122"/>
                <a:cs typeface="Arial"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515600" cy="274320"/>
          </a:xfrm>
          <a:prstGeom prst="rect">
            <a:avLst/>
          </a:prstGeom>
          <a:noFill/>
          <a:ln/>
        </p:spPr>
        <p:txBody>
          <a:bodyPr wrap="square" lIns="0" tIns="0" rIns="0" bIns="0" rtlCol="0" anchor="t"/>
          <a:lstStyle/>
          <a:p>
            <a:pPr indent="0" marL="0">
              <a:buNone/>
            </a:pPr>
            <a:r>
              <a:rPr lang="en-US" sz="1100" b="1" spc="300" kern="0" dirty="0">
                <a:solidFill>
                  <a:srgbClr val="2F6FED"/>
                </a:solidFill>
                <a:latin typeface="Arial" pitchFamily="34" charset="0"/>
                <a:ea typeface="Arial" pitchFamily="34" charset="-122"/>
                <a:cs typeface="Arial" pitchFamily="34" charset="-120"/>
              </a:rPr>
              <a:t>WHAT-IF SIMULATOR</a:t>
            </a:r>
            <a:endParaRPr lang="en-US" sz="1100" dirty="0"/>
          </a:p>
        </p:txBody>
      </p:sp>
      <p:sp>
        <p:nvSpPr>
          <p:cNvPr id="3" name="Text 1"/>
          <p:cNvSpPr txBox="1"/>
          <p:nvPr/>
        </p:nvSpPr>
        <p:spPr>
          <a:xfrm>
            <a:off x="640080" y="713232"/>
            <a:ext cx="10972800" cy="640080"/>
          </a:xfrm>
          <a:prstGeom prst="rect">
            <a:avLst/>
          </a:prstGeom>
          <a:noFill/>
          <a:ln/>
        </p:spPr>
        <p:txBody>
          <a:bodyPr wrap="square" lIns="0" tIns="0" rIns="0" bIns="0" rtlCol="0" anchor="ctr"/>
          <a:lstStyle/>
          <a:p>
            <a:pPr indent="0" marL="0">
              <a:buNone/>
            </a:pPr>
            <a:r>
              <a:rPr lang="en-US" sz="3000" b="1" dirty="0">
                <a:solidFill>
                  <a:srgbClr val="142850"/>
                </a:solidFill>
                <a:latin typeface="Cambria" pitchFamily="34" charset="0"/>
                <a:ea typeface="Cambria" pitchFamily="34" charset="-122"/>
                <a:cs typeface="Cambria" pitchFamily="34" charset="-120"/>
              </a:rPr>
              <a:t>What-If scenario simulator</a:t>
            </a:r>
            <a:endParaRPr lang="en-US" sz="3000" dirty="0"/>
          </a:p>
        </p:txBody>
      </p:sp>
      <p:sp>
        <p:nvSpPr>
          <p:cNvPr id="4" name="Text 2"/>
          <p:cNvSpPr txBox="1"/>
          <p:nvPr/>
        </p:nvSpPr>
        <p:spPr>
          <a:xfrm>
            <a:off x="640080" y="1371600"/>
            <a:ext cx="10881360" cy="365760"/>
          </a:xfrm>
          <a:prstGeom prst="rect">
            <a:avLst/>
          </a:prstGeom>
          <a:noFill/>
          <a:ln/>
        </p:spPr>
        <p:txBody>
          <a:bodyPr wrap="square" lIns="0" tIns="0" rIns="0" bIns="0" rtlCol="0" anchor="t"/>
          <a:lstStyle/>
          <a:p>
            <a:pPr indent="0" marL="0">
              <a:buNone/>
            </a:pPr>
            <a:r>
              <a:rPr lang="en-US" sz="1400" dirty="0">
                <a:solidFill>
                  <a:srgbClr val="5B6B87"/>
                </a:solidFill>
                <a:latin typeface="Arial" pitchFamily="34" charset="0"/>
                <a:ea typeface="Arial" pitchFamily="34" charset="-122"/>
                <a:cs typeface="Arial" pitchFamily="34" charset="-120"/>
              </a:rPr>
              <a:t>Real screen: attendance changed from 85 to 95, other inputs at the default reference scenario.</a:t>
            </a:r>
            <a:endParaRPr lang="en-US" sz="1400" dirty="0"/>
          </a:p>
        </p:txBody>
      </p:sp>
      <p:pic>
        <p:nvPicPr>
          <p:cNvPr id="5" name="Image 0" descr="C:\Users\NEMMI\AppData\Local\Temp\claude\d--Documents-Sharda-University-Semester-5-PBL-fontend-student-prediction\d6ce81b2-62cd-4b95-adc5-3e24f53e42a1\scratchpad\ppt\shots\whatif.png">    </p:cNvPr>
          <p:cNvPicPr>
            <a:picLocks noChangeAspect="1"/>
          </p:cNvPicPr>
          <p:nvPr/>
        </p:nvPicPr>
        <p:blipFill>
          <a:blip r:embed="rId1"/>
          <a:stretch>
            <a:fillRect/>
          </a:stretch>
        </p:blipFill>
        <p:spPr>
          <a:xfrm>
            <a:off x="640080" y="1874520"/>
            <a:ext cx="6263640" cy="4349750"/>
          </a:xfrm>
          <a:prstGeom prst="rect">
            <a:avLst/>
          </a:prstGeom>
        </p:spPr>
      </p:pic>
      <p:sp>
        <p:nvSpPr>
          <p:cNvPr id="6" name="Shape 3"/>
          <p:cNvSpPr/>
          <p:nvPr/>
        </p:nvSpPr>
        <p:spPr>
          <a:xfrm>
            <a:off x="7269480" y="1965960"/>
            <a:ext cx="384048" cy="384048"/>
          </a:xfrm>
          <a:prstGeom prst="ellipse">
            <a:avLst/>
          </a:prstGeom>
          <a:solidFill>
            <a:srgbClr val="2F6FED"/>
          </a:solidFill>
          <a:ln w="6350">
            <a:solidFill>
              <a:srgbClr val="2F6FED"/>
            </a:solidFill>
            <a:prstDash val="solid"/>
          </a:ln>
        </p:spPr>
      </p:sp>
      <p:sp>
        <p:nvSpPr>
          <p:cNvPr id="7" name="Text 4"/>
          <p:cNvSpPr txBox="1"/>
          <p:nvPr/>
        </p:nvSpPr>
        <p:spPr>
          <a:xfrm>
            <a:off x="7269480" y="19659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8" name="Text 5"/>
          <p:cNvSpPr txBox="1"/>
          <p:nvPr/>
        </p:nvSpPr>
        <p:spPr>
          <a:xfrm>
            <a:off x="7818120" y="1920240"/>
            <a:ext cx="3749040" cy="502920"/>
          </a:xfrm>
          <a:prstGeom prst="rect">
            <a:avLst/>
          </a:prstGeom>
          <a:noFill/>
          <a:ln/>
        </p:spPr>
        <p:txBody>
          <a:bodyPr wrap="square" lIns="0" tIns="0" rIns="0" bIns="0" rtlCol="0" anchor="ctr"/>
          <a:lstStyle/>
          <a:p>
            <a:pPr indent="0" marL="0">
              <a:buNone/>
            </a:pPr>
            <a:r>
              <a:rPr lang="en-US" sz="1300" dirty="0">
                <a:solidFill>
                  <a:srgbClr val="1A2A4A"/>
                </a:solidFill>
                <a:latin typeface="Arial" pitchFamily="34" charset="0"/>
                <a:ea typeface="Arial" pitchFamily="34" charset="-122"/>
                <a:cs typeface="Arial" pitchFamily="34" charset="-120"/>
              </a:rPr>
              <a:t>User changes hypothetical input values</a:t>
            </a:r>
            <a:endParaRPr lang="en-US" sz="1300" dirty="0"/>
          </a:p>
        </p:txBody>
      </p:sp>
      <p:sp>
        <p:nvSpPr>
          <p:cNvPr id="9" name="Shape 6"/>
          <p:cNvSpPr/>
          <p:nvPr/>
        </p:nvSpPr>
        <p:spPr>
          <a:xfrm>
            <a:off x="7269480" y="2569464"/>
            <a:ext cx="384048" cy="384048"/>
          </a:xfrm>
          <a:prstGeom prst="ellipse">
            <a:avLst/>
          </a:prstGeom>
          <a:solidFill>
            <a:srgbClr val="2F6FED"/>
          </a:solidFill>
          <a:ln w="6350">
            <a:solidFill>
              <a:srgbClr val="2F6FED"/>
            </a:solidFill>
            <a:prstDash val="solid"/>
          </a:ln>
        </p:spPr>
      </p:sp>
      <p:sp>
        <p:nvSpPr>
          <p:cNvPr id="10" name="Text 7"/>
          <p:cNvSpPr txBox="1"/>
          <p:nvPr/>
        </p:nvSpPr>
        <p:spPr>
          <a:xfrm>
            <a:off x="7269480" y="256946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1" name="Text 8"/>
          <p:cNvSpPr txBox="1"/>
          <p:nvPr/>
        </p:nvSpPr>
        <p:spPr>
          <a:xfrm>
            <a:off x="7818120" y="2523744"/>
            <a:ext cx="3749040" cy="502920"/>
          </a:xfrm>
          <a:prstGeom prst="rect">
            <a:avLst/>
          </a:prstGeom>
          <a:noFill/>
          <a:ln/>
        </p:spPr>
        <p:txBody>
          <a:bodyPr wrap="square" lIns="0" tIns="0" rIns="0" bIns="0" rtlCol="0" anchor="ctr"/>
          <a:lstStyle/>
          <a:p>
            <a:pPr indent="0" marL="0">
              <a:buNone/>
            </a:pPr>
            <a:r>
              <a:rPr lang="en-US" sz="1300" dirty="0">
                <a:solidFill>
                  <a:srgbClr val="1A2A4A"/>
                </a:solidFill>
                <a:latin typeface="Arial" pitchFamily="34" charset="0"/>
                <a:ea typeface="Arial" pitchFamily="34" charset="-122"/>
                <a:cs typeface="Arial" pitchFamily="34" charset="-120"/>
              </a:rPr>
              <a:t>The scenario is sent to /predict (same production model)</a:t>
            </a:r>
            <a:endParaRPr lang="en-US" sz="1300" dirty="0"/>
          </a:p>
        </p:txBody>
      </p:sp>
      <p:sp>
        <p:nvSpPr>
          <p:cNvPr id="12" name="Shape 9"/>
          <p:cNvSpPr/>
          <p:nvPr/>
        </p:nvSpPr>
        <p:spPr>
          <a:xfrm>
            <a:off x="7269480" y="3172968"/>
            <a:ext cx="384048" cy="384048"/>
          </a:xfrm>
          <a:prstGeom prst="ellipse">
            <a:avLst/>
          </a:prstGeom>
          <a:solidFill>
            <a:srgbClr val="2F6FED"/>
          </a:solidFill>
          <a:ln w="6350">
            <a:solidFill>
              <a:srgbClr val="2F6FED"/>
            </a:solidFill>
            <a:prstDash val="solid"/>
          </a:ln>
        </p:spPr>
      </p:sp>
      <p:sp>
        <p:nvSpPr>
          <p:cNvPr id="13" name="Text 10"/>
          <p:cNvSpPr txBox="1"/>
          <p:nvPr/>
        </p:nvSpPr>
        <p:spPr>
          <a:xfrm>
            <a:off x="7269480" y="317296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4" name="Text 11"/>
          <p:cNvSpPr txBox="1"/>
          <p:nvPr/>
        </p:nvSpPr>
        <p:spPr>
          <a:xfrm>
            <a:off x="7818120" y="3127248"/>
            <a:ext cx="3749040" cy="502920"/>
          </a:xfrm>
          <a:prstGeom prst="rect">
            <a:avLst/>
          </a:prstGeom>
          <a:noFill/>
          <a:ln/>
        </p:spPr>
        <p:txBody>
          <a:bodyPr wrap="square" lIns="0" tIns="0" rIns="0" bIns="0" rtlCol="0" anchor="ctr"/>
          <a:lstStyle/>
          <a:p>
            <a:pPr indent="0" marL="0">
              <a:buNone/>
            </a:pPr>
            <a:r>
              <a:rPr lang="en-US" sz="1300" dirty="0">
                <a:solidFill>
                  <a:srgbClr val="1A2A4A"/>
                </a:solidFill>
                <a:latin typeface="Arial" pitchFamily="34" charset="0"/>
                <a:ea typeface="Arial" pitchFamily="34" charset="-122"/>
                <a:cs typeface="Arial" pitchFamily="34" charset="-120"/>
              </a:rPr>
              <a:t>The model returns new predicted marks</a:t>
            </a:r>
            <a:endParaRPr lang="en-US" sz="1300" dirty="0"/>
          </a:p>
        </p:txBody>
      </p:sp>
      <p:sp>
        <p:nvSpPr>
          <p:cNvPr id="15" name="Shape 12"/>
          <p:cNvSpPr/>
          <p:nvPr/>
        </p:nvSpPr>
        <p:spPr>
          <a:xfrm>
            <a:off x="7269480" y="3776472"/>
            <a:ext cx="384048" cy="384048"/>
          </a:xfrm>
          <a:prstGeom prst="ellipse">
            <a:avLst/>
          </a:prstGeom>
          <a:solidFill>
            <a:srgbClr val="2F6FED"/>
          </a:solidFill>
          <a:ln w="6350">
            <a:solidFill>
              <a:srgbClr val="2F6FED"/>
            </a:solidFill>
            <a:prstDash val="solid"/>
          </a:ln>
        </p:spPr>
      </p:sp>
      <p:sp>
        <p:nvSpPr>
          <p:cNvPr id="16" name="Text 13"/>
          <p:cNvSpPr txBox="1"/>
          <p:nvPr/>
        </p:nvSpPr>
        <p:spPr>
          <a:xfrm>
            <a:off x="7269480" y="377647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17" name="Text 14"/>
          <p:cNvSpPr txBox="1"/>
          <p:nvPr/>
        </p:nvSpPr>
        <p:spPr>
          <a:xfrm>
            <a:off x="7818120" y="3730752"/>
            <a:ext cx="3749040" cy="502920"/>
          </a:xfrm>
          <a:prstGeom prst="rect">
            <a:avLst/>
          </a:prstGeom>
          <a:noFill/>
          <a:ln/>
        </p:spPr>
        <p:txBody>
          <a:bodyPr wrap="square" lIns="0" tIns="0" rIns="0" bIns="0" rtlCol="0" anchor="ctr"/>
          <a:lstStyle/>
          <a:p>
            <a:pPr indent="0" marL="0">
              <a:buNone/>
            </a:pPr>
            <a:r>
              <a:rPr lang="en-US" sz="1300" dirty="0">
                <a:solidFill>
                  <a:srgbClr val="1A2A4A"/>
                </a:solidFill>
                <a:latin typeface="Arial" pitchFamily="34" charset="0"/>
                <a:ea typeface="Arial" pitchFamily="34" charset="-122"/>
                <a:cs typeface="Arial" pitchFamily="34" charset="-120"/>
              </a:rPr>
              <a:t>The simulator displays the early-warning category</a:t>
            </a:r>
            <a:endParaRPr lang="en-US" sz="1300" dirty="0"/>
          </a:p>
        </p:txBody>
      </p:sp>
      <p:sp>
        <p:nvSpPr>
          <p:cNvPr id="18" name="Shape 15"/>
          <p:cNvSpPr/>
          <p:nvPr/>
        </p:nvSpPr>
        <p:spPr>
          <a:xfrm>
            <a:off x="7269480" y="4379976"/>
            <a:ext cx="384048" cy="384048"/>
          </a:xfrm>
          <a:prstGeom prst="ellipse">
            <a:avLst/>
          </a:prstGeom>
          <a:solidFill>
            <a:srgbClr val="2F6FED"/>
          </a:solidFill>
          <a:ln w="6350">
            <a:solidFill>
              <a:srgbClr val="2F6FED"/>
            </a:solidFill>
            <a:prstDash val="solid"/>
          </a:ln>
        </p:spPr>
      </p:sp>
      <p:sp>
        <p:nvSpPr>
          <p:cNvPr id="19" name="Text 16"/>
          <p:cNvSpPr txBox="1"/>
          <p:nvPr/>
        </p:nvSpPr>
        <p:spPr>
          <a:xfrm>
            <a:off x="7269480" y="437997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20" name="Text 17"/>
          <p:cNvSpPr txBox="1"/>
          <p:nvPr/>
        </p:nvSpPr>
        <p:spPr>
          <a:xfrm>
            <a:off x="7818120" y="4334256"/>
            <a:ext cx="3749040" cy="502920"/>
          </a:xfrm>
          <a:prstGeom prst="rect">
            <a:avLst/>
          </a:prstGeom>
          <a:noFill/>
          <a:ln/>
        </p:spPr>
        <p:txBody>
          <a:bodyPr wrap="square" lIns="0" tIns="0" rIns="0" bIns="0" rtlCol="0" anchor="ctr"/>
          <a:lstStyle/>
          <a:p>
            <a:pPr indent="0" marL="0">
              <a:buNone/>
            </a:pPr>
            <a:r>
              <a:rPr lang="en-US" sz="1300" dirty="0">
                <a:solidFill>
                  <a:srgbClr val="1A2A4A"/>
                </a:solidFill>
                <a:latin typeface="Arial" pitchFamily="34" charset="0"/>
                <a:ea typeface="Arial" pitchFamily="34" charset="-122"/>
                <a:cs typeface="Arial" pitchFamily="34" charset="-120"/>
              </a:rPr>
              <a:t>Difference in model prediction vs the fixed default reference scenario</a:t>
            </a:r>
            <a:endParaRPr lang="en-US" sz="1300" dirty="0"/>
          </a:p>
        </p:txBody>
      </p:sp>
      <p:sp>
        <p:nvSpPr>
          <p:cNvPr id="21" name="Shape 18"/>
          <p:cNvSpPr/>
          <p:nvPr/>
        </p:nvSpPr>
        <p:spPr>
          <a:xfrm>
            <a:off x="7269480" y="5029200"/>
            <a:ext cx="4297680" cy="1188720"/>
          </a:xfrm>
          <a:prstGeom prst="roundRect">
            <a:avLst>
              <a:gd name="adj" fmla="val 9231"/>
            </a:avLst>
          </a:prstGeom>
          <a:solidFill>
            <a:srgbClr val="0A1830"/>
          </a:solidFill>
          <a:ln w="9525">
            <a:solidFill>
              <a:srgbClr val="0A1830"/>
            </a:solidFill>
            <a:prstDash val="solid"/>
          </a:ln>
        </p:spPr>
      </p:sp>
      <p:sp>
        <p:nvSpPr>
          <p:cNvPr id="22" name="Text 19"/>
          <p:cNvSpPr txBox="1"/>
          <p:nvPr/>
        </p:nvSpPr>
        <p:spPr>
          <a:xfrm>
            <a:off x="7498080" y="5029200"/>
            <a:ext cx="3931920" cy="1188720"/>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This represents a model prediction difference, not a guaranteed real-world improvement. Example above: 64.13 → 68.03, difference +3.90 marks.</a:t>
            </a:r>
            <a:endParaRPr lang="en-US" sz="1200" dirty="0"/>
          </a:p>
        </p:txBody>
      </p:sp>
      <p:sp>
        <p:nvSpPr>
          <p:cNvPr id="23" name="Text 20"/>
          <p:cNvSpPr txBox="1"/>
          <p:nvPr/>
        </p:nvSpPr>
        <p:spPr>
          <a:xfrm>
            <a:off x="640080" y="6473952"/>
            <a:ext cx="7315200" cy="201168"/>
          </a:xfrm>
          <a:prstGeom prst="rect">
            <a:avLst/>
          </a:prstGeom>
          <a:noFill/>
          <a:ln/>
        </p:spPr>
        <p:txBody>
          <a:bodyPr wrap="square" lIns="0" tIns="0" rIns="0" bIns="0" rtlCol="0" anchor="t"/>
          <a:lstStyle/>
          <a:p>
            <a:pPr indent="0" marL="0">
              <a:buNone/>
            </a:pPr>
            <a:r>
              <a:rPr lang="en-US" sz="800" spc="200" kern="0" dirty="0">
                <a:solidFill>
                  <a:srgbClr val="A6B3CC"/>
                </a:solidFill>
                <a:latin typeface="Arial" pitchFamily="34" charset="0"/>
                <a:ea typeface="Arial" pitchFamily="34" charset="-122"/>
                <a:cs typeface="Arial" pitchFamily="34" charset="-120"/>
              </a:rPr>
              <a:t>AI STUDENT PERFORMANCE PREDICTION  ·  DECISION SUPPORT  ·  EXPLAINABLE AI</a:t>
            </a:r>
            <a:endParaRPr lang="en-US" sz="800" dirty="0"/>
          </a:p>
        </p:txBody>
      </p:sp>
      <p:sp>
        <p:nvSpPr>
          <p:cNvPr id="24" name="Text 21"/>
          <p:cNvSpPr txBox="1"/>
          <p:nvPr/>
        </p:nvSpPr>
        <p:spPr>
          <a:xfrm>
            <a:off x="11155680" y="6473952"/>
            <a:ext cx="411480" cy="201168"/>
          </a:xfrm>
          <a:prstGeom prst="rect">
            <a:avLst/>
          </a:prstGeom>
          <a:noFill/>
          <a:ln/>
        </p:spPr>
        <p:txBody>
          <a:bodyPr wrap="square" lIns="0" tIns="0" rIns="0" bIns="0" rtlCol="0" anchor="t"/>
          <a:lstStyle/>
          <a:p>
            <a:pPr algn="r" indent="0" marL="0">
              <a:buNone/>
            </a:pPr>
            <a:r>
              <a:rPr lang="en-US" sz="900" dirty="0">
                <a:solidFill>
                  <a:srgbClr val="A6B3CC"/>
                </a:solidFill>
                <a:latin typeface="Arial" pitchFamily="34" charset="0"/>
                <a:ea typeface="Arial" pitchFamily="34" charset="-122"/>
                <a:cs typeface="Arial"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515600" cy="274320"/>
          </a:xfrm>
          <a:prstGeom prst="rect">
            <a:avLst/>
          </a:prstGeom>
          <a:noFill/>
          <a:ln/>
        </p:spPr>
        <p:txBody>
          <a:bodyPr wrap="square" lIns="0" tIns="0" rIns="0" bIns="0" rtlCol="0" anchor="t"/>
          <a:lstStyle/>
          <a:p>
            <a:pPr indent="0" marL="0">
              <a:buNone/>
            </a:pPr>
            <a:r>
              <a:rPr lang="en-US" sz="1100" b="1" spc="300" kern="0" dirty="0">
                <a:solidFill>
                  <a:srgbClr val="2F6FED"/>
                </a:solidFill>
                <a:latin typeface="Arial" pitchFamily="34" charset="0"/>
                <a:ea typeface="Arial" pitchFamily="34" charset="-122"/>
                <a:cs typeface="Arial" pitchFamily="34" charset="-120"/>
              </a:rPr>
              <a:t>SYSTEM DEMONSTRATION</a:t>
            </a:r>
            <a:endParaRPr lang="en-US" sz="1100" dirty="0"/>
          </a:p>
        </p:txBody>
      </p:sp>
      <p:sp>
        <p:nvSpPr>
          <p:cNvPr id="3" name="Text 1"/>
          <p:cNvSpPr txBox="1"/>
          <p:nvPr/>
        </p:nvSpPr>
        <p:spPr>
          <a:xfrm>
            <a:off x="640080" y="713232"/>
            <a:ext cx="10972800" cy="640080"/>
          </a:xfrm>
          <a:prstGeom prst="rect">
            <a:avLst/>
          </a:prstGeom>
          <a:noFill/>
          <a:ln/>
        </p:spPr>
        <p:txBody>
          <a:bodyPr wrap="square" lIns="0" tIns="0" rIns="0" bIns="0" rtlCol="0" anchor="ctr"/>
          <a:lstStyle/>
          <a:p>
            <a:pPr indent="0" marL="0">
              <a:buNone/>
            </a:pPr>
            <a:r>
              <a:rPr lang="en-US" sz="3000" b="1" dirty="0">
                <a:solidFill>
                  <a:srgbClr val="142850"/>
                </a:solidFill>
                <a:latin typeface="Cambria" pitchFamily="34" charset="0"/>
                <a:ea typeface="Cambria" pitchFamily="34" charset="-122"/>
                <a:cs typeface="Cambria" pitchFamily="34" charset="-120"/>
              </a:rPr>
              <a:t>The running application</a:t>
            </a:r>
            <a:endParaRPr lang="en-US" sz="3000" dirty="0"/>
          </a:p>
        </p:txBody>
      </p:sp>
      <p:sp>
        <p:nvSpPr>
          <p:cNvPr id="4" name="Text 2"/>
          <p:cNvSpPr txBox="1"/>
          <p:nvPr/>
        </p:nvSpPr>
        <p:spPr>
          <a:xfrm>
            <a:off x="640080" y="1371600"/>
            <a:ext cx="10881360" cy="365760"/>
          </a:xfrm>
          <a:prstGeom prst="rect">
            <a:avLst/>
          </a:prstGeom>
          <a:noFill/>
          <a:ln/>
        </p:spPr>
        <p:txBody>
          <a:bodyPr wrap="square" lIns="0" tIns="0" rIns="0" bIns="0" rtlCol="0" anchor="t"/>
          <a:lstStyle/>
          <a:p>
            <a:pPr indent="0" marL="0">
              <a:buNone/>
            </a:pPr>
            <a:r>
              <a:rPr lang="en-US" sz="1400" dirty="0">
                <a:solidFill>
                  <a:srgbClr val="5B6B87"/>
                </a:solidFill>
                <a:latin typeface="Arial" pitchFamily="34" charset="0"/>
                <a:ea typeface="Arial" pitchFamily="34" charset="-122"/>
                <a:cs typeface="Arial" pitchFamily="34" charset="-120"/>
              </a:rPr>
              <a:t>Screenshots captured from the current implementation (standard input 91, 32, 36, 7, 3).</a:t>
            </a:r>
            <a:endParaRPr lang="en-US" sz="1400" dirty="0"/>
          </a:p>
        </p:txBody>
      </p:sp>
      <p:pic>
        <p:nvPicPr>
          <p:cNvPr id="5" name="Image 0" descr="C:\Users\NEMMI\AppData\Local\Temp\claude\d--Documents-Sharda-University-Semester-5-PBL-fontend-student-prediction\d6ce81b2-62cd-4b95-adc5-3e24f53e42a1\scratchpad\ppt\shots\prediction-main.png">    </p:cNvPr>
          <p:cNvPicPr>
            <a:picLocks noChangeAspect="1"/>
          </p:cNvPicPr>
          <p:nvPr/>
        </p:nvPicPr>
        <p:blipFill>
          <a:blip r:embed="rId1"/>
          <a:stretch>
            <a:fillRect/>
          </a:stretch>
        </p:blipFill>
        <p:spPr>
          <a:xfrm>
            <a:off x="640080" y="1874520"/>
            <a:ext cx="6309360" cy="3149567"/>
          </a:xfrm>
          <a:prstGeom prst="rect">
            <a:avLst/>
          </a:prstGeom>
        </p:spPr>
      </p:pic>
      <p:sp>
        <p:nvSpPr>
          <p:cNvPr id="6" name="Text 3"/>
          <p:cNvSpPr txBox="1"/>
          <p:nvPr/>
        </p:nvSpPr>
        <p:spPr>
          <a:xfrm>
            <a:off x="640080" y="5069807"/>
            <a:ext cx="6309360" cy="274320"/>
          </a:xfrm>
          <a:prstGeom prst="rect">
            <a:avLst/>
          </a:prstGeom>
          <a:noFill/>
          <a:ln/>
        </p:spPr>
        <p:txBody>
          <a:bodyPr wrap="square" lIns="0" tIns="0" rIns="0" bIns="0" rtlCol="0" anchor="t"/>
          <a:lstStyle/>
          <a:p>
            <a:pPr indent="0" marL="0">
              <a:buNone/>
            </a:pPr>
            <a:r>
              <a:rPr lang="en-US" sz="1100" i="1" dirty="0">
                <a:solidFill>
                  <a:srgbClr val="5B6B87"/>
                </a:solidFill>
                <a:latin typeface="Arial" pitchFamily="34" charset="0"/>
                <a:ea typeface="Arial" pitchFamily="34" charset="-122"/>
                <a:cs typeface="Arial" pitchFamily="34" charset="-120"/>
              </a:rPr>
              <a:t>Prediction page — inputs, predicted marks (70.07 / 100) and early-warning status</a:t>
            </a:r>
            <a:endParaRPr lang="en-US" sz="1100" dirty="0"/>
          </a:p>
        </p:txBody>
      </p:sp>
      <p:pic>
        <p:nvPicPr>
          <p:cNvPr id="7" name="Image 1" descr="C:\Users\NEMMI\AppData\Local\Temp\claude\d--Documents-Sharda-University-Semester-5-PBL-fontend-student-prediction\d6ce81b2-62cd-4b95-adc5-3e24f53e42a1\scratchpad\ppt\shots\reports.png">    </p:cNvPr>
          <p:cNvPicPr>
            <a:picLocks noChangeAspect="1"/>
          </p:cNvPicPr>
          <p:nvPr/>
        </p:nvPicPr>
        <p:blipFill>
          <a:blip r:embed="rId2"/>
          <a:stretch>
            <a:fillRect/>
          </a:stretch>
        </p:blipFill>
        <p:spPr>
          <a:xfrm>
            <a:off x="7269480" y="1874520"/>
            <a:ext cx="4297680" cy="2984500"/>
          </a:xfrm>
          <a:prstGeom prst="rect">
            <a:avLst/>
          </a:prstGeom>
        </p:spPr>
      </p:pic>
      <p:sp>
        <p:nvSpPr>
          <p:cNvPr id="8" name="Text 4"/>
          <p:cNvSpPr txBox="1"/>
          <p:nvPr/>
        </p:nvSpPr>
        <p:spPr>
          <a:xfrm>
            <a:off x="7269480" y="4904740"/>
            <a:ext cx="4297680" cy="457200"/>
          </a:xfrm>
          <a:prstGeom prst="rect">
            <a:avLst/>
          </a:prstGeom>
          <a:noFill/>
          <a:ln/>
        </p:spPr>
        <p:txBody>
          <a:bodyPr wrap="square" lIns="0" tIns="0" rIns="0" bIns="0" rtlCol="0" anchor="t"/>
          <a:lstStyle/>
          <a:p>
            <a:pPr indent="0" marL="0">
              <a:buNone/>
            </a:pPr>
            <a:r>
              <a:rPr lang="en-US" sz="1100" i="1" dirty="0">
                <a:solidFill>
                  <a:srgbClr val="5B6B87"/>
                </a:solidFill>
                <a:latin typeface="Arial" pitchFamily="34" charset="0"/>
                <a:ea typeface="Arial" pitchFamily="34" charset="-122"/>
                <a:cs typeface="Arial" pitchFamily="34" charset="-120"/>
              </a:rPr>
              <a:t>Reports page — 5-fold CV metrics, dataset facts and early-warning categories</a:t>
            </a:r>
            <a:endParaRPr lang="en-US" sz="1100" dirty="0"/>
          </a:p>
        </p:txBody>
      </p:sp>
      <p:sp>
        <p:nvSpPr>
          <p:cNvPr id="9" name="Text 5"/>
          <p:cNvSpPr txBox="1"/>
          <p:nvPr/>
        </p:nvSpPr>
        <p:spPr>
          <a:xfrm>
            <a:off x="640080" y="5806440"/>
            <a:ext cx="10972800" cy="457200"/>
          </a:xfrm>
          <a:prstGeom prst="rect">
            <a:avLst/>
          </a:prstGeom>
          <a:noFill/>
          <a:ln/>
        </p:spPr>
        <p:txBody>
          <a:bodyPr wrap="square" lIns="0" tIns="0" rIns="0" bIns="0" rtlCol="0" anchor="t"/>
          <a:lstStyle/>
          <a:p>
            <a:pPr indent="0" marL="0">
              <a:buNone/>
            </a:pPr>
            <a:r>
              <a:rPr lang="en-US" sz="1100" dirty="0">
                <a:solidFill>
                  <a:srgbClr val="5B6B87"/>
                </a:solidFill>
                <a:latin typeface="Arial" pitchFamily="34" charset="0"/>
                <a:ea typeface="Arial" pitchFamily="34" charset="-122"/>
                <a:cs typeface="Arial" pitchFamily="34" charset="-120"/>
              </a:rPr>
              <a:t>SHAP contributions and recommendations for the same prediction are shown on slides 11 and 12. The faculty dashboard is not shown because it has no connected student data.</a:t>
            </a:r>
            <a:endParaRPr lang="en-US" sz="1100" dirty="0"/>
          </a:p>
        </p:txBody>
      </p:sp>
      <p:sp>
        <p:nvSpPr>
          <p:cNvPr id="10" name="Text 6"/>
          <p:cNvSpPr txBox="1"/>
          <p:nvPr/>
        </p:nvSpPr>
        <p:spPr>
          <a:xfrm>
            <a:off x="640080" y="6473952"/>
            <a:ext cx="7315200" cy="201168"/>
          </a:xfrm>
          <a:prstGeom prst="rect">
            <a:avLst/>
          </a:prstGeom>
          <a:noFill/>
          <a:ln/>
        </p:spPr>
        <p:txBody>
          <a:bodyPr wrap="square" lIns="0" tIns="0" rIns="0" bIns="0" rtlCol="0" anchor="t"/>
          <a:lstStyle/>
          <a:p>
            <a:pPr indent="0" marL="0">
              <a:buNone/>
            </a:pPr>
            <a:r>
              <a:rPr lang="en-US" sz="800" spc="200" kern="0" dirty="0">
                <a:solidFill>
                  <a:srgbClr val="A6B3CC"/>
                </a:solidFill>
                <a:latin typeface="Arial" pitchFamily="34" charset="0"/>
                <a:ea typeface="Arial" pitchFamily="34" charset="-122"/>
                <a:cs typeface="Arial" pitchFamily="34" charset="-120"/>
              </a:rPr>
              <a:t>AI STUDENT PERFORMANCE PREDICTION  ·  DECISION SUPPORT  ·  EXPLAINABLE AI</a:t>
            </a:r>
            <a:endParaRPr lang="en-US" sz="800" dirty="0"/>
          </a:p>
        </p:txBody>
      </p:sp>
      <p:sp>
        <p:nvSpPr>
          <p:cNvPr id="11" name="Text 7"/>
          <p:cNvSpPr txBox="1"/>
          <p:nvPr/>
        </p:nvSpPr>
        <p:spPr>
          <a:xfrm>
            <a:off x="11155680" y="6473952"/>
            <a:ext cx="411480" cy="201168"/>
          </a:xfrm>
          <a:prstGeom prst="rect">
            <a:avLst/>
          </a:prstGeom>
          <a:noFill/>
          <a:ln/>
        </p:spPr>
        <p:txBody>
          <a:bodyPr wrap="square" lIns="0" tIns="0" rIns="0" bIns="0" rtlCol="0" anchor="t"/>
          <a:lstStyle/>
          <a:p>
            <a:pPr algn="r" indent="0" marL="0">
              <a:buNone/>
            </a:pPr>
            <a:r>
              <a:rPr lang="en-US" sz="900" dirty="0">
                <a:solidFill>
                  <a:srgbClr val="A6B3CC"/>
                </a:solidFill>
                <a:latin typeface="Arial" pitchFamily="34" charset="0"/>
                <a:ea typeface="Arial" pitchFamily="34" charset="-122"/>
                <a:cs typeface="Arial"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515600" cy="274320"/>
          </a:xfrm>
          <a:prstGeom prst="rect">
            <a:avLst/>
          </a:prstGeom>
          <a:noFill/>
          <a:ln/>
        </p:spPr>
        <p:txBody>
          <a:bodyPr wrap="square" lIns="0" tIns="0" rIns="0" bIns="0" rtlCol="0" anchor="t"/>
          <a:lstStyle/>
          <a:p>
            <a:pPr indent="0" marL="0">
              <a:buNone/>
            </a:pPr>
            <a:r>
              <a:rPr lang="en-US" sz="1100" b="1" spc="300" kern="0" dirty="0">
                <a:solidFill>
                  <a:srgbClr val="2F6FED"/>
                </a:solidFill>
                <a:latin typeface="Arial" pitchFamily="34" charset="0"/>
                <a:ea typeface="Arial" pitchFamily="34" charset="-122"/>
                <a:cs typeface="Arial" pitchFamily="34" charset="-120"/>
              </a:rPr>
              <a:t>LIMITATIONS</a:t>
            </a:r>
            <a:endParaRPr lang="en-US" sz="1100" dirty="0"/>
          </a:p>
        </p:txBody>
      </p:sp>
      <p:sp>
        <p:nvSpPr>
          <p:cNvPr id="3" name="Text 1"/>
          <p:cNvSpPr txBox="1"/>
          <p:nvPr/>
        </p:nvSpPr>
        <p:spPr>
          <a:xfrm>
            <a:off x="640080" y="713232"/>
            <a:ext cx="10972800" cy="640080"/>
          </a:xfrm>
          <a:prstGeom prst="rect">
            <a:avLst/>
          </a:prstGeom>
          <a:noFill/>
          <a:ln/>
        </p:spPr>
        <p:txBody>
          <a:bodyPr wrap="square" lIns="0" tIns="0" rIns="0" bIns="0" rtlCol="0" anchor="ctr"/>
          <a:lstStyle/>
          <a:p>
            <a:pPr indent="0" marL="0">
              <a:buNone/>
            </a:pPr>
            <a:r>
              <a:rPr lang="en-US" sz="3000" b="1" dirty="0">
                <a:solidFill>
                  <a:srgbClr val="142850"/>
                </a:solidFill>
                <a:latin typeface="Cambria" pitchFamily="34" charset="0"/>
                <a:ea typeface="Cambria" pitchFamily="34" charset="-122"/>
                <a:cs typeface="Cambria" pitchFamily="34" charset="-120"/>
              </a:rPr>
              <a:t>Limitations of the current system</a:t>
            </a:r>
            <a:endParaRPr lang="en-US" sz="3000" dirty="0"/>
          </a:p>
        </p:txBody>
      </p:sp>
      <p:sp>
        <p:nvSpPr>
          <p:cNvPr id="4" name="Text 2"/>
          <p:cNvSpPr txBox="1"/>
          <p:nvPr/>
        </p:nvSpPr>
        <p:spPr>
          <a:xfrm>
            <a:off x="640080" y="1371600"/>
            <a:ext cx="10881360" cy="365760"/>
          </a:xfrm>
          <a:prstGeom prst="rect">
            <a:avLst/>
          </a:prstGeom>
          <a:noFill/>
          <a:ln/>
        </p:spPr>
        <p:txBody>
          <a:bodyPr wrap="square" lIns="0" tIns="0" rIns="0" bIns="0" rtlCol="0" anchor="t"/>
          <a:lstStyle/>
          <a:p>
            <a:pPr indent="0" marL="0">
              <a:buNone/>
            </a:pPr>
            <a:r>
              <a:rPr lang="en-US" sz="1400" dirty="0">
                <a:solidFill>
                  <a:srgbClr val="5B6B87"/>
                </a:solidFill>
                <a:latin typeface="Arial" pitchFamily="34" charset="0"/>
                <a:ea typeface="Arial" pitchFamily="34" charset="-122"/>
                <a:cs typeface="Arial" pitchFamily="34" charset="-120"/>
              </a:rPr>
              <a:t>Stated so that the results are interpreted within their scope.</a:t>
            </a:r>
            <a:endParaRPr lang="en-US" sz="1400" dirty="0"/>
          </a:p>
        </p:txBody>
      </p:sp>
      <p:sp>
        <p:nvSpPr>
          <p:cNvPr id="5" name="Shape 3"/>
          <p:cNvSpPr/>
          <p:nvPr/>
        </p:nvSpPr>
        <p:spPr>
          <a:xfrm>
            <a:off x="640080" y="1965960"/>
            <a:ext cx="5394960" cy="1828800"/>
          </a:xfrm>
          <a:prstGeom prst="roundRect">
            <a:avLst>
              <a:gd name="adj" fmla="val 6000"/>
            </a:avLst>
          </a:prstGeom>
          <a:solidFill>
            <a:srgbClr val="F4F7FE"/>
          </a:solidFill>
          <a:ln w="9525">
            <a:solidFill>
              <a:srgbClr val="D8E1F5"/>
            </a:solidFill>
            <a:prstDash val="solid"/>
          </a:ln>
        </p:spPr>
      </p:sp>
      <p:sp>
        <p:nvSpPr>
          <p:cNvPr id="6" name="Text 4"/>
          <p:cNvSpPr txBox="1"/>
          <p:nvPr/>
        </p:nvSpPr>
        <p:spPr>
          <a:xfrm>
            <a:off x="914400" y="2130552"/>
            <a:ext cx="4846320" cy="320040"/>
          </a:xfrm>
          <a:prstGeom prst="rect">
            <a:avLst/>
          </a:prstGeom>
          <a:noFill/>
          <a:ln/>
        </p:spPr>
        <p:txBody>
          <a:bodyPr wrap="square" lIns="0" tIns="0" rIns="0" bIns="0" rtlCol="0" anchor="t"/>
          <a:lstStyle/>
          <a:p>
            <a:pPr indent="0" marL="0">
              <a:buNone/>
            </a:pPr>
            <a:r>
              <a:rPr lang="en-US" sz="1600" b="1" dirty="0">
                <a:solidFill>
                  <a:srgbClr val="142850"/>
                </a:solidFill>
                <a:latin typeface="Cambria" pitchFamily="34" charset="0"/>
                <a:ea typeface="Cambria" pitchFamily="34" charset="-122"/>
                <a:cs typeface="Cambria" pitchFamily="34" charset="-120"/>
              </a:rPr>
              <a:t>Data &amp; model</a:t>
            </a:r>
            <a:endParaRPr lang="en-US" sz="1600" dirty="0"/>
          </a:p>
        </p:txBody>
      </p:sp>
      <p:sp>
        <p:nvSpPr>
          <p:cNvPr id="7" name="Text 5"/>
          <p:cNvSpPr txBox="1"/>
          <p:nvPr/>
        </p:nvSpPr>
        <p:spPr>
          <a:xfrm>
            <a:off x="914400" y="2514600"/>
            <a:ext cx="4892040" cy="137160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rgbClr val="1A2A4A"/>
                </a:solidFill>
                <a:latin typeface="Arial" pitchFamily="34" charset="0"/>
                <a:ea typeface="Arial" pitchFamily="34" charset="-122"/>
                <a:cs typeface="Arial" pitchFamily="34" charset="-120"/>
              </a:rPr>
              <a:t>Dataset external origin not verified</a:t>
            </a:r>
            <a:endParaRPr lang="en-US" sz="1250" dirty="0"/>
          </a:p>
          <a:p>
            <a:pPr marL="342900" indent="-342900">
              <a:spcAft>
                <a:spcPts val="400"/>
              </a:spcAft>
              <a:buSzPct val="100000"/>
              <a:buChar char="•"/>
            </a:pPr>
            <a:r>
              <a:rPr lang="en-US" sz="1250" dirty="0">
                <a:solidFill>
                  <a:srgbClr val="1A2A4A"/>
                </a:solidFill>
                <a:latin typeface="Arial" pitchFamily="34" charset="0"/>
                <a:ea typeface="Arial" pitchFamily="34" charset="-122"/>
                <a:cs typeface="Arial" pitchFamily="34" charset="-120"/>
              </a:rPr>
              <a:t>Only five academic input features</a:t>
            </a:r>
            <a:endParaRPr lang="en-US" sz="1250" dirty="0"/>
          </a:p>
          <a:p>
            <a:pPr marL="342900" indent="-342900">
              <a:spcAft>
                <a:spcPts val="400"/>
              </a:spcAft>
              <a:buSzPct val="100000"/>
              <a:buChar char="•"/>
            </a:pPr>
            <a:r>
              <a:rPr lang="en-US" sz="1250" dirty="0">
                <a:solidFill>
                  <a:srgbClr val="1A2A4A"/>
                </a:solidFill>
                <a:latin typeface="Arial" pitchFamily="34" charset="0"/>
                <a:ea typeface="Arial" pitchFamily="34" charset="-122"/>
                <a:cs typeface="Arial" pitchFamily="34" charset="-120"/>
              </a:rPr>
              <a:t>No demographic variables, so no fairness or bias analysis</a:t>
            </a:r>
            <a:endParaRPr lang="en-US" sz="1250" dirty="0"/>
          </a:p>
          <a:p>
            <a:pPr marL="342900" indent="-342900">
              <a:spcAft>
                <a:spcPts val="400"/>
              </a:spcAft>
              <a:buSzPct val="100000"/>
              <a:buChar char="•"/>
            </a:pPr>
            <a:r>
              <a:rPr lang="en-US" sz="1250" dirty="0">
                <a:solidFill>
                  <a:srgbClr val="1A2A4A"/>
                </a:solidFill>
                <a:latin typeface="Arial" pitchFamily="34" charset="0"/>
                <a:ea typeface="Arial" pitchFamily="34" charset="-122"/>
                <a:cs typeface="Arial" pitchFamily="34" charset="-120"/>
              </a:rPr>
              <a:t>Model performance is based on this dataset only</a:t>
            </a:r>
            <a:endParaRPr lang="en-US" sz="1250" dirty="0"/>
          </a:p>
        </p:txBody>
      </p:sp>
      <p:sp>
        <p:nvSpPr>
          <p:cNvPr id="8" name="Shape 6"/>
          <p:cNvSpPr/>
          <p:nvPr/>
        </p:nvSpPr>
        <p:spPr>
          <a:xfrm>
            <a:off x="6217920" y="1965960"/>
            <a:ext cx="5394960" cy="1828800"/>
          </a:xfrm>
          <a:prstGeom prst="roundRect">
            <a:avLst>
              <a:gd name="adj" fmla="val 6000"/>
            </a:avLst>
          </a:prstGeom>
          <a:solidFill>
            <a:srgbClr val="F4F7FE"/>
          </a:solidFill>
          <a:ln w="9525">
            <a:solidFill>
              <a:srgbClr val="D8E1F5"/>
            </a:solidFill>
            <a:prstDash val="solid"/>
          </a:ln>
        </p:spPr>
      </p:sp>
      <p:sp>
        <p:nvSpPr>
          <p:cNvPr id="9" name="Text 7"/>
          <p:cNvSpPr txBox="1"/>
          <p:nvPr/>
        </p:nvSpPr>
        <p:spPr>
          <a:xfrm>
            <a:off x="6492240" y="2130552"/>
            <a:ext cx="4846320" cy="320040"/>
          </a:xfrm>
          <a:prstGeom prst="rect">
            <a:avLst/>
          </a:prstGeom>
          <a:noFill/>
          <a:ln/>
        </p:spPr>
        <p:txBody>
          <a:bodyPr wrap="square" lIns="0" tIns="0" rIns="0" bIns="0" rtlCol="0" anchor="t"/>
          <a:lstStyle/>
          <a:p>
            <a:pPr indent="0" marL="0">
              <a:buNone/>
            </a:pPr>
            <a:r>
              <a:rPr lang="en-US" sz="1600" b="1" dirty="0">
                <a:solidFill>
                  <a:srgbClr val="142850"/>
                </a:solidFill>
                <a:latin typeface="Cambria" pitchFamily="34" charset="0"/>
                <a:ea typeface="Cambria" pitchFamily="34" charset="-122"/>
                <a:cs typeface="Cambria" pitchFamily="34" charset="-120"/>
              </a:rPr>
              <a:t>Early warning</a:t>
            </a:r>
            <a:endParaRPr lang="en-US" sz="1600" dirty="0"/>
          </a:p>
        </p:txBody>
      </p:sp>
      <p:sp>
        <p:nvSpPr>
          <p:cNvPr id="10" name="Text 8"/>
          <p:cNvSpPr txBox="1"/>
          <p:nvPr/>
        </p:nvSpPr>
        <p:spPr>
          <a:xfrm>
            <a:off x="6492240" y="2514600"/>
            <a:ext cx="4892040" cy="137160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rgbClr val="1A2A4A"/>
                </a:solidFill>
                <a:latin typeface="Arial" pitchFamily="34" charset="0"/>
                <a:ea typeface="Arial" pitchFamily="34" charset="-122"/>
                <a:cs typeface="Arial" pitchFamily="34" charset="-120"/>
              </a:rPr>
              <a:t>Class imbalance: 1.25% of students scored below 40</a:t>
            </a:r>
            <a:endParaRPr lang="en-US" sz="1250" dirty="0"/>
          </a:p>
          <a:p>
            <a:pPr marL="342900" indent="-342900">
              <a:spcAft>
                <a:spcPts val="400"/>
              </a:spcAft>
              <a:buSzPct val="100000"/>
              <a:buChar char="•"/>
            </a:pPr>
            <a:r>
              <a:rPr lang="en-US" sz="1250" dirty="0">
                <a:solidFill>
                  <a:srgbClr val="1A2A4A"/>
                </a:solidFill>
                <a:latin typeface="Arial" pitchFamily="34" charset="0"/>
                <a:ea typeface="Arial" pitchFamily="34" charset="-122"/>
                <a:cs typeface="Arial" pitchFamily="34" charset="-120"/>
              </a:rPr>
              <a:t>High Concern recall is limited to 52%</a:t>
            </a:r>
            <a:endParaRPr lang="en-US" sz="1250" dirty="0"/>
          </a:p>
          <a:p>
            <a:pPr marL="342900" indent="-342900">
              <a:spcAft>
                <a:spcPts val="400"/>
              </a:spcAft>
              <a:buSzPct val="100000"/>
              <a:buChar char="•"/>
            </a:pPr>
            <a:r>
              <a:rPr lang="en-US" sz="1250" dirty="0">
                <a:solidFill>
                  <a:srgbClr val="1A2A4A"/>
                </a:solidFill>
                <a:latin typeface="Arial" pitchFamily="34" charset="0"/>
                <a:ea typeface="Arial" pitchFamily="34" charset="-122"/>
                <a:cs typeface="Arial" pitchFamily="34" charset="-120"/>
              </a:rPr>
              <a:t>High + Borderline improves recall to 84% but flags more students (47)</a:t>
            </a:r>
            <a:endParaRPr lang="en-US" sz="1250" dirty="0"/>
          </a:p>
          <a:p>
            <a:pPr marL="342900" indent="-342900">
              <a:spcAft>
                <a:spcPts val="400"/>
              </a:spcAft>
              <a:buSzPct val="100000"/>
              <a:buChar char="•"/>
            </a:pPr>
            <a:r>
              <a:rPr lang="en-US" sz="1250" dirty="0">
                <a:solidFill>
                  <a:srgbClr val="1A2A4A"/>
                </a:solidFill>
                <a:latin typeface="Arial" pitchFamily="34" charset="0"/>
                <a:ea typeface="Arial" pitchFamily="34" charset="-122"/>
                <a:cs typeface="Arial" pitchFamily="34" charset="-120"/>
              </a:rPr>
              <a:t>Low scores are predicted closer to the mean</a:t>
            </a:r>
            <a:endParaRPr lang="en-US" sz="1250" dirty="0"/>
          </a:p>
        </p:txBody>
      </p:sp>
      <p:sp>
        <p:nvSpPr>
          <p:cNvPr id="11" name="Shape 9"/>
          <p:cNvSpPr/>
          <p:nvPr/>
        </p:nvSpPr>
        <p:spPr>
          <a:xfrm>
            <a:off x="640080" y="3977640"/>
            <a:ext cx="5394960" cy="1828800"/>
          </a:xfrm>
          <a:prstGeom prst="roundRect">
            <a:avLst>
              <a:gd name="adj" fmla="val 6000"/>
            </a:avLst>
          </a:prstGeom>
          <a:solidFill>
            <a:srgbClr val="E9F0FF"/>
          </a:solidFill>
          <a:ln w="9525">
            <a:solidFill>
              <a:srgbClr val="E9F0FF"/>
            </a:solidFill>
            <a:prstDash val="solid"/>
          </a:ln>
        </p:spPr>
      </p:sp>
      <p:sp>
        <p:nvSpPr>
          <p:cNvPr id="12" name="Text 10"/>
          <p:cNvSpPr txBox="1"/>
          <p:nvPr/>
        </p:nvSpPr>
        <p:spPr>
          <a:xfrm>
            <a:off x="914400" y="4142232"/>
            <a:ext cx="4846320" cy="320040"/>
          </a:xfrm>
          <a:prstGeom prst="rect">
            <a:avLst/>
          </a:prstGeom>
          <a:noFill/>
          <a:ln/>
        </p:spPr>
        <p:txBody>
          <a:bodyPr wrap="square" lIns="0" tIns="0" rIns="0" bIns="0" rtlCol="0" anchor="t"/>
          <a:lstStyle/>
          <a:p>
            <a:pPr indent="0" marL="0">
              <a:buNone/>
            </a:pPr>
            <a:r>
              <a:rPr lang="en-US" sz="1600" b="1" dirty="0">
                <a:solidFill>
                  <a:srgbClr val="142850"/>
                </a:solidFill>
                <a:latin typeface="Cambria" pitchFamily="34" charset="0"/>
                <a:ea typeface="Cambria" pitchFamily="34" charset="-122"/>
                <a:cs typeface="Cambria" pitchFamily="34" charset="-120"/>
              </a:rPr>
              <a:t>Interpretation</a:t>
            </a:r>
            <a:endParaRPr lang="en-US" sz="1600" dirty="0"/>
          </a:p>
        </p:txBody>
      </p:sp>
      <p:sp>
        <p:nvSpPr>
          <p:cNvPr id="13" name="Text 11"/>
          <p:cNvSpPr txBox="1"/>
          <p:nvPr/>
        </p:nvSpPr>
        <p:spPr>
          <a:xfrm>
            <a:off x="914400" y="4526280"/>
            <a:ext cx="4892040" cy="137160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rgbClr val="1A2A4A"/>
                </a:solidFill>
                <a:latin typeface="Arial" pitchFamily="34" charset="0"/>
                <a:ea typeface="Arial" pitchFamily="34" charset="-122"/>
                <a:cs typeface="Arial" pitchFamily="34" charset="-120"/>
              </a:rPr>
              <a:t>SHAP provides model attribution, not causation</a:t>
            </a:r>
            <a:endParaRPr lang="en-US" sz="1250" dirty="0"/>
          </a:p>
          <a:p>
            <a:pPr marL="342900" indent="-342900">
              <a:spcAft>
                <a:spcPts val="400"/>
              </a:spcAft>
              <a:buSzPct val="100000"/>
              <a:buChar char="•"/>
            </a:pPr>
            <a:r>
              <a:rPr lang="en-US" sz="1250" dirty="0">
                <a:solidFill>
                  <a:srgbClr val="1A2A4A"/>
                </a:solidFill>
                <a:latin typeface="Arial" pitchFamily="34" charset="0"/>
                <a:ea typeface="Arial" pitchFamily="34" charset="-122"/>
                <a:cs typeface="Arial" pitchFamily="34" charset="-120"/>
              </a:rPr>
              <a:t>What-If provides scenario comparison, not intervention effects</a:t>
            </a:r>
            <a:endParaRPr lang="en-US" sz="1250" dirty="0"/>
          </a:p>
        </p:txBody>
      </p:sp>
      <p:sp>
        <p:nvSpPr>
          <p:cNvPr id="14" name="Shape 12"/>
          <p:cNvSpPr/>
          <p:nvPr/>
        </p:nvSpPr>
        <p:spPr>
          <a:xfrm>
            <a:off x="6217920" y="3977640"/>
            <a:ext cx="5394960" cy="1828800"/>
          </a:xfrm>
          <a:prstGeom prst="roundRect">
            <a:avLst>
              <a:gd name="adj" fmla="val 6000"/>
            </a:avLst>
          </a:prstGeom>
          <a:solidFill>
            <a:srgbClr val="E9F0FF"/>
          </a:solidFill>
          <a:ln w="9525">
            <a:solidFill>
              <a:srgbClr val="E9F0FF"/>
            </a:solidFill>
            <a:prstDash val="solid"/>
          </a:ln>
        </p:spPr>
      </p:sp>
      <p:sp>
        <p:nvSpPr>
          <p:cNvPr id="15" name="Text 13"/>
          <p:cNvSpPr txBox="1"/>
          <p:nvPr/>
        </p:nvSpPr>
        <p:spPr>
          <a:xfrm>
            <a:off x="6492240" y="4142232"/>
            <a:ext cx="4846320" cy="320040"/>
          </a:xfrm>
          <a:prstGeom prst="rect">
            <a:avLst/>
          </a:prstGeom>
          <a:noFill/>
          <a:ln/>
        </p:spPr>
        <p:txBody>
          <a:bodyPr wrap="square" lIns="0" tIns="0" rIns="0" bIns="0" rtlCol="0" anchor="t"/>
          <a:lstStyle/>
          <a:p>
            <a:pPr indent="0" marL="0">
              <a:buNone/>
            </a:pPr>
            <a:r>
              <a:rPr lang="en-US" sz="1600" b="1" dirty="0">
                <a:solidFill>
                  <a:srgbClr val="142850"/>
                </a:solidFill>
                <a:latin typeface="Cambria" pitchFamily="34" charset="0"/>
                <a:ea typeface="Cambria" pitchFamily="34" charset="-122"/>
                <a:cs typeface="Cambria" pitchFamily="34" charset="-120"/>
              </a:rPr>
              <a:t>System</a:t>
            </a:r>
            <a:endParaRPr lang="en-US" sz="1600" dirty="0"/>
          </a:p>
        </p:txBody>
      </p:sp>
      <p:sp>
        <p:nvSpPr>
          <p:cNvPr id="16" name="Text 14"/>
          <p:cNvSpPr txBox="1"/>
          <p:nvPr/>
        </p:nvSpPr>
        <p:spPr>
          <a:xfrm>
            <a:off x="6492240" y="4526280"/>
            <a:ext cx="4892040" cy="137160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rgbClr val="1A2A4A"/>
                </a:solidFill>
                <a:latin typeface="Arial" pitchFamily="34" charset="0"/>
                <a:ea typeface="Arial" pitchFamily="34" charset="-122"/>
                <a:cs typeface="Arial" pitchFamily="34" charset="-120"/>
              </a:rPr>
              <a:t>No database or prediction history</a:t>
            </a:r>
            <a:endParaRPr lang="en-US" sz="1250" dirty="0"/>
          </a:p>
          <a:p>
            <a:pPr marL="342900" indent="-342900">
              <a:spcAft>
                <a:spcPts val="400"/>
              </a:spcAft>
              <a:buSzPct val="100000"/>
              <a:buChar char="•"/>
            </a:pPr>
            <a:r>
              <a:rPr lang="en-US" sz="1250" dirty="0">
                <a:solidFill>
                  <a:srgbClr val="1A2A4A"/>
                </a:solidFill>
                <a:latin typeface="Arial" pitchFamily="34" charset="0"/>
                <a:ea typeface="Arial" pitchFamily="34" charset="-122"/>
                <a:cs typeface="Arial" pitchFamily="34" charset="-120"/>
              </a:rPr>
              <a:t>No real authentication</a:t>
            </a:r>
            <a:endParaRPr lang="en-US" sz="1250" dirty="0"/>
          </a:p>
          <a:p>
            <a:pPr marL="342900" indent="-342900">
              <a:spcAft>
                <a:spcPts val="400"/>
              </a:spcAft>
              <a:buSzPct val="100000"/>
              <a:buChar char="•"/>
            </a:pPr>
            <a:r>
              <a:rPr lang="en-US" sz="1250" dirty="0">
                <a:solidFill>
                  <a:srgbClr val="1A2A4A"/>
                </a:solidFill>
                <a:latin typeface="Arial" pitchFamily="34" charset="0"/>
                <a:ea typeface="Arial" pitchFamily="34" charset="-122"/>
                <a:cs typeface="Arial" pitchFamily="34" charset="-120"/>
              </a:rPr>
              <a:t>Faculty dashboard is a prototype without connected data</a:t>
            </a:r>
            <a:endParaRPr lang="en-US" sz="1250" dirty="0"/>
          </a:p>
        </p:txBody>
      </p:sp>
      <p:sp>
        <p:nvSpPr>
          <p:cNvPr id="17" name="Text 15"/>
          <p:cNvSpPr txBox="1"/>
          <p:nvPr/>
        </p:nvSpPr>
        <p:spPr>
          <a:xfrm>
            <a:off x="640080" y="6473952"/>
            <a:ext cx="7315200" cy="201168"/>
          </a:xfrm>
          <a:prstGeom prst="rect">
            <a:avLst/>
          </a:prstGeom>
          <a:noFill/>
          <a:ln/>
        </p:spPr>
        <p:txBody>
          <a:bodyPr wrap="square" lIns="0" tIns="0" rIns="0" bIns="0" rtlCol="0" anchor="t"/>
          <a:lstStyle/>
          <a:p>
            <a:pPr indent="0" marL="0">
              <a:buNone/>
            </a:pPr>
            <a:r>
              <a:rPr lang="en-US" sz="800" spc="200" kern="0" dirty="0">
                <a:solidFill>
                  <a:srgbClr val="A6B3CC"/>
                </a:solidFill>
                <a:latin typeface="Arial" pitchFamily="34" charset="0"/>
                <a:ea typeface="Arial" pitchFamily="34" charset="-122"/>
                <a:cs typeface="Arial" pitchFamily="34" charset="-120"/>
              </a:rPr>
              <a:t>AI STUDENT PERFORMANCE PREDICTION  ·  DECISION SUPPORT  ·  EXPLAINABLE AI</a:t>
            </a:r>
            <a:endParaRPr lang="en-US" sz="800" dirty="0"/>
          </a:p>
        </p:txBody>
      </p:sp>
      <p:sp>
        <p:nvSpPr>
          <p:cNvPr id="18" name="Text 16"/>
          <p:cNvSpPr txBox="1"/>
          <p:nvPr/>
        </p:nvSpPr>
        <p:spPr>
          <a:xfrm>
            <a:off x="11155680" y="6473952"/>
            <a:ext cx="411480" cy="201168"/>
          </a:xfrm>
          <a:prstGeom prst="rect">
            <a:avLst/>
          </a:prstGeom>
          <a:noFill/>
          <a:ln/>
        </p:spPr>
        <p:txBody>
          <a:bodyPr wrap="square" lIns="0" tIns="0" rIns="0" bIns="0" rtlCol="0" anchor="t"/>
          <a:lstStyle/>
          <a:p>
            <a:pPr algn="r" indent="0" marL="0">
              <a:buNone/>
            </a:pPr>
            <a:r>
              <a:rPr lang="en-US" sz="900" dirty="0">
                <a:solidFill>
                  <a:srgbClr val="A6B3CC"/>
                </a:solidFill>
                <a:latin typeface="Arial" pitchFamily="34" charset="0"/>
                <a:ea typeface="Arial" pitchFamily="34" charset="-122"/>
                <a:cs typeface="Arial"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830"/>
        </a:solidFill>
      </p:bgPr>
    </p:bg>
    <p:spTree>
      <p:nvGrpSpPr>
        <p:cNvPr id="1" name=""/>
        <p:cNvGrpSpPr/>
        <p:nvPr/>
      </p:nvGrpSpPr>
      <p:grpSpPr>
        <a:xfrm>
          <a:off x="0" y="0"/>
          <a:ext cx="0" cy="0"/>
          <a:chOff x="0" y="0"/>
          <a:chExt cx="0" cy="0"/>
        </a:xfrm>
      </p:grpSpPr>
      <p:sp>
        <p:nvSpPr>
          <p:cNvPr id="2" name="Text 0"/>
          <p:cNvSpPr txBox="1"/>
          <p:nvPr/>
        </p:nvSpPr>
        <p:spPr>
          <a:xfrm>
            <a:off x="640080" y="411480"/>
            <a:ext cx="10058400" cy="274320"/>
          </a:xfrm>
          <a:prstGeom prst="rect">
            <a:avLst/>
          </a:prstGeom>
          <a:noFill/>
          <a:ln/>
        </p:spPr>
        <p:txBody>
          <a:bodyPr wrap="square" lIns="0" tIns="0" rIns="0" bIns="0" rtlCol="0" anchor="t"/>
          <a:lstStyle/>
          <a:p>
            <a:pPr indent="0" marL="0">
              <a:buNone/>
            </a:pPr>
            <a:r>
              <a:rPr lang="en-US" sz="1100" b="1" spc="300" kern="0" dirty="0">
                <a:solidFill>
                  <a:srgbClr val="8FB0F7"/>
                </a:solidFill>
                <a:latin typeface="Arial" pitchFamily="34" charset="0"/>
                <a:ea typeface="Arial" pitchFamily="34" charset="-122"/>
                <a:cs typeface="Arial" pitchFamily="34" charset="-120"/>
              </a:rPr>
              <a:t>FUTURE SCOPE</a:t>
            </a:r>
            <a:endParaRPr lang="en-US" sz="1100" dirty="0"/>
          </a:p>
        </p:txBody>
      </p:sp>
      <p:sp>
        <p:nvSpPr>
          <p:cNvPr id="3" name="Text 1"/>
          <p:cNvSpPr txBox="1"/>
          <p:nvPr/>
        </p:nvSpPr>
        <p:spPr>
          <a:xfrm>
            <a:off x="640080" y="713232"/>
            <a:ext cx="1097280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Planned extensions (not implemented)</a:t>
            </a:r>
            <a:endParaRPr lang="en-US" sz="3000" dirty="0"/>
          </a:p>
        </p:txBody>
      </p:sp>
      <p:sp>
        <p:nvSpPr>
          <p:cNvPr id="4" name="Text 2"/>
          <p:cNvSpPr txBox="1"/>
          <p:nvPr/>
        </p:nvSpPr>
        <p:spPr>
          <a:xfrm>
            <a:off x="640080" y="1371600"/>
            <a:ext cx="10972800" cy="365760"/>
          </a:xfrm>
          <a:prstGeom prst="rect">
            <a:avLst/>
          </a:prstGeom>
          <a:noFill/>
          <a:ln/>
        </p:spPr>
        <p:txBody>
          <a:bodyPr wrap="square" lIns="0" tIns="0" rIns="0" bIns="0" rtlCol="0" anchor="t"/>
          <a:lstStyle/>
          <a:p>
            <a:pPr indent="0" marL="0">
              <a:buNone/>
            </a:pPr>
            <a:r>
              <a:rPr lang="en-US" sz="1400" dirty="0">
                <a:solidFill>
                  <a:srgbClr val="B7C3DD"/>
                </a:solidFill>
                <a:latin typeface="Arial" pitchFamily="34" charset="0"/>
                <a:ea typeface="Arial" pitchFamily="34" charset="-122"/>
                <a:cs typeface="Arial" pitchFamily="34" charset="-120"/>
              </a:rPr>
              <a:t>Everything on this slide is future work. None of it is part of the current system.</a:t>
            </a:r>
            <a:endParaRPr lang="en-US" sz="1400" dirty="0"/>
          </a:p>
        </p:txBody>
      </p:sp>
      <p:sp>
        <p:nvSpPr>
          <p:cNvPr id="5" name="Shape 3"/>
          <p:cNvSpPr/>
          <p:nvPr/>
        </p:nvSpPr>
        <p:spPr>
          <a:xfrm>
            <a:off x="640080" y="2103120"/>
            <a:ext cx="3520440" cy="2926080"/>
          </a:xfrm>
          <a:prstGeom prst="roundRect">
            <a:avLst>
              <a:gd name="adj" fmla="val 3750"/>
            </a:avLst>
          </a:prstGeom>
          <a:solidFill>
            <a:srgbClr val="12264A"/>
          </a:solidFill>
          <a:ln w="9525">
            <a:solidFill>
              <a:srgbClr val="1E3563"/>
            </a:solidFill>
            <a:prstDash val="solid"/>
          </a:ln>
        </p:spPr>
      </p:sp>
      <p:sp>
        <p:nvSpPr>
          <p:cNvPr id="6" name="Text 4"/>
          <p:cNvSpPr txBox="1"/>
          <p:nvPr/>
        </p:nvSpPr>
        <p:spPr>
          <a:xfrm>
            <a:off x="914400" y="2240280"/>
            <a:ext cx="3017520" cy="36576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Data &amp; model</a:t>
            </a:r>
            <a:endParaRPr lang="en-US" sz="1700" dirty="0"/>
          </a:p>
        </p:txBody>
      </p:sp>
      <p:sp>
        <p:nvSpPr>
          <p:cNvPr id="7" name="Text 5"/>
          <p:cNvSpPr txBox="1"/>
          <p:nvPr/>
        </p:nvSpPr>
        <p:spPr>
          <a:xfrm>
            <a:off x="914400" y="2743200"/>
            <a:ext cx="3017520" cy="219456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D6DEEE"/>
                </a:solidFill>
                <a:latin typeface="Arial" pitchFamily="34" charset="0"/>
                <a:ea typeface="Arial" pitchFamily="34" charset="-122"/>
                <a:cs typeface="Arial" pitchFamily="34" charset="-120"/>
              </a:rPr>
              <a:t>Verified and larger datasets</a:t>
            </a:r>
            <a:endParaRPr lang="en-US" sz="1300" dirty="0"/>
          </a:p>
          <a:p>
            <a:pPr marL="342900" indent="-342900">
              <a:spcAft>
                <a:spcPts val="800"/>
              </a:spcAft>
              <a:buSzPct val="100000"/>
              <a:buChar char="•"/>
            </a:pPr>
            <a:r>
              <a:rPr lang="en-US" sz="1300" dirty="0">
                <a:solidFill>
                  <a:srgbClr val="D6DEEE"/>
                </a:solidFill>
                <a:latin typeface="Arial" pitchFamily="34" charset="0"/>
                <a:ea typeface="Arial" pitchFamily="34" charset="-122"/>
                <a:cs typeface="Arial" pitchFamily="34" charset="-120"/>
              </a:rPr>
              <a:t>Additional validated features</a:t>
            </a:r>
            <a:endParaRPr lang="en-US" sz="1300" dirty="0"/>
          </a:p>
          <a:p>
            <a:pPr marL="342900" indent="-342900">
              <a:spcAft>
                <a:spcPts val="800"/>
              </a:spcAft>
              <a:buSzPct val="100000"/>
              <a:buChar char="•"/>
            </a:pPr>
            <a:r>
              <a:rPr lang="en-US" sz="1300" dirty="0">
                <a:solidFill>
                  <a:srgbClr val="D6DEEE"/>
                </a:solidFill>
                <a:latin typeface="Arial" pitchFamily="34" charset="0"/>
                <a:ea typeface="Arial" pitchFamily="34" charset="-122"/>
                <a:cs typeface="Arial" pitchFamily="34" charset="-120"/>
              </a:rPr>
              <a:t>Validated threshold calibration</a:t>
            </a:r>
            <a:endParaRPr lang="en-US" sz="1300" dirty="0"/>
          </a:p>
          <a:p>
            <a:pPr marL="342900" indent="-342900">
              <a:spcAft>
                <a:spcPts val="800"/>
              </a:spcAft>
              <a:buSzPct val="100000"/>
              <a:buChar char="•"/>
            </a:pPr>
            <a:r>
              <a:rPr lang="en-US" sz="1300" dirty="0">
                <a:solidFill>
                  <a:srgbClr val="D6DEEE"/>
                </a:solidFill>
                <a:latin typeface="Arial" pitchFamily="34" charset="0"/>
                <a:ea typeface="Arial" pitchFamily="34" charset="-122"/>
                <a:cs typeface="Arial" pitchFamily="34" charset="-120"/>
              </a:rPr>
              <a:t>Fairness evaluation once suitable demographic data is available</a:t>
            </a:r>
            <a:endParaRPr lang="en-US" sz="1300" dirty="0"/>
          </a:p>
        </p:txBody>
      </p:sp>
      <p:sp>
        <p:nvSpPr>
          <p:cNvPr id="8" name="Shape 6"/>
          <p:cNvSpPr/>
          <p:nvPr/>
        </p:nvSpPr>
        <p:spPr>
          <a:xfrm>
            <a:off x="4389120" y="2103120"/>
            <a:ext cx="3520440" cy="2926080"/>
          </a:xfrm>
          <a:prstGeom prst="roundRect">
            <a:avLst>
              <a:gd name="adj" fmla="val 3750"/>
            </a:avLst>
          </a:prstGeom>
          <a:solidFill>
            <a:srgbClr val="12264A"/>
          </a:solidFill>
          <a:ln w="9525">
            <a:solidFill>
              <a:srgbClr val="1E3563"/>
            </a:solidFill>
            <a:prstDash val="solid"/>
          </a:ln>
        </p:spPr>
      </p:sp>
      <p:sp>
        <p:nvSpPr>
          <p:cNvPr id="9" name="Text 7"/>
          <p:cNvSpPr txBox="1"/>
          <p:nvPr/>
        </p:nvSpPr>
        <p:spPr>
          <a:xfrm>
            <a:off x="4663440" y="2240280"/>
            <a:ext cx="3017520" cy="36576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Platform</a:t>
            </a:r>
            <a:endParaRPr lang="en-US" sz="1700" dirty="0"/>
          </a:p>
        </p:txBody>
      </p:sp>
      <p:sp>
        <p:nvSpPr>
          <p:cNvPr id="10" name="Text 8"/>
          <p:cNvSpPr txBox="1"/>
          <p:nvPr/>
        </p:nvSpPr>
        <p:spPr>
          <a:xfrm>
            <a:off x="4663440" y="2743200"/>
            <a:ext cx="3017520" cy="219456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D6DEEE"/>
                </a:solidFill>
                <a:latin typeface="Arial" pitchFamily="34" charset="0"/>
                <a:ea typeface="Arial" pitchFamily="34" charset="-122"/>
                <a:cs typeface="Arial" pitchFamily="34" charset="-120"/>
              </a:rPr>
              <a:t>Database and prediction history</a:t>
            </a:r>
            <a:endParaRPr lang="en-US" sz="1300" dirty="0"/>
          </a:p>
          <a:p>
            <a:pPr marL="342900" indent="-342900">
              <a:spcAft>
                <a:spcPts val="800"/>
              </a:spcAft>
              <a:buSzPct val="100000"/>
              <a:buChar char="•"/>
            </a:pPr>
            <a:r>
              <a:rPr lang="en-US" sz="1300" dirty="0">
                <a:solidFill>
                  <a:srgbClr val="D6DEEE"/>
                </a:solidFill>
                <a:latin typeface="Arial" pitchFamily="34" charset="0"/>
                <a:ea typeface="Arial" pitchFamily="34" charset="-122"/>
                <a:cs typeface="Arial" pitchFamily="34" charset="-120"/>
              </a:rPr>
              <a:t>Real authentication and role management</a:t>
            </a:r>
            <a:endParaRPr lang="en-US" sz="1300" dirty="0"/>
          </a:p>
          <a:p>
            <a:pPr marL="342900" indent="-342900">
              <a:spcAft>
                <a:spcPts val="800"/>
              </a:spcAft>
              <a:buSzPct val="100000"/>
              <a:buChar char="•"/>
            </a:pPr>
            <a:r>
              <a:rPr lang="en-US" sz="1300" dirty="0">
                <a:solidFill>
                  <a:srgbClr val="D6DEEE"/>
                </a:solidFill>
                <a:latin typeface="Arial" pitchFamily="34" charset="0"/>
                <a:ea typeface="Arial" pitchFamily="34" charset="-122"/>
                <a:cs typeface="Arial" pitchFamily="34" charset="-120"/>
              </a:rPr>
              <a:t>Connected faculty analytics</a:t>
            </a:r>
            <a:endParaRPr lang="en-US" sz="1300" dirty="0"/>
          </a:p>
          <a:p>
            <a:pPr marL="342900" indent="-342900">
              <a:spcAft>
                <a:spcPts val="800"/>
              </a:spcAft>
              <a:buSzPct val="100000"/>
              <a:buChar char="•"/>
            </a:pPr>
            <a:r>
              <a:rPr lang="en-US" sz="1300" dirty="0">
                <a:solidFill>
                  <a:srgbClr val="D6DEEE"/>
                </a:solidFill>
                <a:latin typeface="Arial" pitchFamily="34" charset="0"/>
                <a:ea typeface="Arial" pitchFamily="34" charset="-122"/>
                <a:cs typeface="Arial" pitchFamily="34" charset="-120"/>
              </a:rPr>
              <a:t>Real-time data integration / API</a:t>
            </a:r>
            <a:endParaRPr lang="en-US" sz="1300" dirty="0"/>
          </a:p>
        </p:txBody>
      </p:sp>
      <p:sp>
        <p:nvSpPr>
          <p:cNvPr id="11" name="Shape 9"/>
          <p:cNvSpPr/>
          <p:nvPr/>
        </p:nvSpPr>
        <p:spPr>
          <a:xfrm>
            <a:off x="8138160" y="2103120"/>
            <a:ext cx="3520440" cy="2926080"/>
          </a:xfrm>
          <a:prstGeom prst="roundRect">
            <a:avLst>
              <a:gd name="adj" fmla="val 3750"/>
            </a:avLst>
          </a:prstGeom>
          <a:solidFill>
            <a:srgbClr val="12264A"/>
          </a:solidFill>
          <a:ln w="9525">
            <a:solidFill>
              <a:srgbClr val="1E3563"/>
            </a:solidFill>
            <a:prstDash val="solid"/>
          </a:ln>
        </p:spPr>
      </p:sp>
      <p:sp>
        <p:nvSpPr>
          <p:cNvPr id="12" name="Text 10"/>
          <p:cNvSpPr txBox="1"/>
          <p:nvPr/>
        </p:nvSpPr>
        <p:spPr>
          <a:xfrm>
            <a:off x="8412480" y="2240280"/>
            <a:ext cx="3017520" cy="36576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Extensions</a:t>
            </a:r>
            <a:endParaRPr lang="en-US" sz="1700" dirty="0"/>
          </a:p>
        </p:txBody>
      </p:sp>
      <p:sp>
        <p:nvSpPr>
          <p:cNvPr id="13" name="Text 11"/>
          <p:cNvSpPr txBox="1"/>
          <p:nvPr/>
        </p:nvSpPr>
        <p:spPr>
          <a:xfrm>
            <a:off x="8412480" y="2743200"/>
            <a:ext cx="3017520" cy="219456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D6DEEE"/>
                </a:solidFill>
                <a:latin typeface="Arial" pitchFamily="34" charset="0"/>
                <a:ea typeface="Arial" pitchFamily="34" charset="-122"/>
                <a:cs typeface="Arial" pitchFamily="34" charset="-120"/>
              </a:rPr>
              <a:t>Mobile application</a:t>
            </a:r>
            <a:endParaRPr lang="en-US" sz="1300" dirty="0"/>
          </a:p>
          <a:p>
            <a:pPr marL="342900" indent="-342900">
              <a:spcAft>
                <a:spcPts val="800"/>
              </a:spcAft>
              <a:buSzPct val="100000"/>
              <a:buChar char="•"/>
            </a:pPr>
            <a:r>
              <a:rPr lang="en-US" sz="1300" dirty="0">
                <a:solidFill>
                  <a:srgbClr val="D6DEEE"/>
                </a:solidFill>
                <a:latin typeface="Arial" pitchFamily="34" charset="0"/>
                <a:ea typeface="Arial" pitchFamily="34" charset="-122"/>
                <a:cs typeface="Arial" pitchFamily="34" charset="-120"/>
              </a:rPr>
              <a:t>NLP-based feedback</a:t>
            </a:r>
            <a:endParaRPr lang="en-US" sz="1300" dirty="0"/>
          </a:p>
        </p:txBody>
      </p:sp>
      <p:sp>
        <p:nvSpPr>
          <p:cNvPr id="14" name="Text 12"/>
          <p:cNvSpPr txBox="1"/>
          <p:nvPr/>
        </p:nvSpPr>
        <p:spPr>
          <a:xfrm>
            <a:off x="640080" y="6473952"/>
            <a:ext cx="7315200" cy="201168"/>
          </a:xfrm>
          <a:prstGeom prst="rect">
            <a:avLst/>
          </a:prstGeom>
          <a:noFill/>
          <a:ln/>
        </p:spPr>
        <p:txBody>
          <a:bodyPr wrap="square" lIns="0" tIns="0" rIns="0" bIns="0" rtlCol="0" anchor="t"/>
          <a:lstStyle/>
          <a:p>
            <a:pPr indent="0" marL="0">
              <a:buNone/>
            </a:pPr>
            <a:r>
              <a:rPr lang="en-US" sz="800" spc="200" kern="0" dirty="0">
                <a:solidFill>
                  <a:srgbClr val="6F7F9E"/>
                </a:solidFill>
                <a:latin typeface="Arial" pitchFamily="34" charset="0"/>
                <a:ea typeface="Arial" pitchFamily="34" charset="-122"/>
                <a:cs typeface="Arial" pitchFamily="34" charset="-120"/>
              </a:rPr>
              <a:t>AI STUDENT PERFORMANCE PREDICTION  ·  DECISION SUPPORT  ·  EXPLAINABLE AI</a:t>
            </a:r>
            <a:endParaRPr lang="en-US" sz="800" dirty="0"/>
          </a:p>
        </p:txBody>
      </p:sp>
      <p:sp>
        <p:nvSpPr>
          <p:cNvPr id="15" name="Text 13"/>
          <p:cNvSpPr txBox="1"/>
          <p:nvPr/>
        </p:nvSpPr>
        <p:spPr>
          <a:xfrm>
            <a:off x="11155680" y="6473952"/>
            <a:ext cx="411480" cy="201168"/>
          </a:xfrm>
          <a:prstGeom prst="rect">
            <a:avLst/>
          </a:prstGeom>
          <a:noFill/>
          <a:ln/>
        </p:spPr>
        <p:txBody>
          <a:bodyPr wrap="square" lIns="0" tIns="0" rIns="0" bIns="0" rtlCol="0" anchor="t"/>
          <a:lstStyle/>
          <a:p>
            <a:pPr algn="r" indent="0" marL="0">
              <a:buNone/>
            </a:pPr>
            <a:r>
              <a:rPr lang="en-US" sz="900" dirty="0">
                <a:solidFill>
                  <a:srgbClr val="6F7F9E"/>
                </a:solidFill>
                <a:latin typeface="Arial" pitchFamily="34" charset="0"/>
                <a:ea typeface="Arial" pitchFamily="34" charset="-122"/>
                <a:cs typeface="Arial"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515600" cy="274320"/>
          </a:xfrm>
          <a:prstGeom prst="rect">
            <a:avLst/>
          </a:prstGeom>
          <a:noFill/>
          <a:ln/>
        </p:spPr>
        <p:txBody>
          <a:bodyPr wrap="square" lIns="0" tIns="0" rIns="0" bIns="0" rtlCol="0" anchor="t"/>
          <a:lstStyle/>
          <a:p>
            <a:pPr indent="0" marL="0">
              <a:buNone/>
            </a:pPr>
            <a:r>
              <a:rPr lang="en-US" sz="1100" b="1" spc="300" kern="0" dirty="0">
                <a:solidFill>
                  <a:srgbClr val="2F6FED"/>
                </a:solidFill>
                <a:latin typeface="Arial" pitchFamily="34" charset="0"/>
                <a:ea typeface="Arial" pitchFamily="34" charset="-122"/>
                <a:cs typeface="Arial" pitchFamily="34" charset="-120"/>
              </a:rPr>
              <a:t>REFERENCES</a:t>
            </a:r>
            <a:endParaRPr lang="en-US" sz="1100" dirty="0"/>
          </a:p>
        </p:txBody>
      </p:sp>
      <p:sp>
        <p:nvSpPr>
          <p:cNvPr id="3" name="Text 1"/>
          <p:cNvSpPr txBox="1"/>
          <p:nvPr/>
        </p:nvSpPr>
        <p:spPr>
          <a:xfrm>
            <a:off x="640080" y="713232"/>
            <a:ext cx="10972800" cy="640080"/>
          </a:xfrm>
          <a:prstGeom prst="rect">
            <a:avLst/>
          </a:prstGeom>
          <a:noFill/>
          <a:ln/>
        </p:spPr>
        <p:txBody>
          <a:bodyPr wrap="square" lIns="0" tIns="0" rIns="0" bIns="0" rtlCol="0" anchor="ctr"/>
          <a:lstStyle/>
          <a:p>
            <a:pPr indent="0" marL="0">
              <a:buNone/>
            </a:pPr>
            <a:r>
              <a:rPr lang="en-US" sz="3000" b="1" dirty="0">
                <a:solidFill>
                  <a:srgbClr val="142850"/>
                </a:solidFill>
                <a:latin typeface="Cambria" pitchFamily="34" charset="0"/>
                <a:ea typeface="Cambria" pitchFamily="34" charset="-122"/>
                <a:cs typeface="Cambria" pitchFamily="34" charset="-120"/>
              </a:rPr>
              <a:t>References</a:t>
            </a:r>
            <a:endParaRPr lang="en-US" sz="3000" dirty="0"/>
          </a:p>
        </p:txBody>
      </p:sp>
      <p:sp>
        <p:nvSpPr>
          <p:cNvPr id="4" name="Text 2"/>
          <p:cNvSpPr txBox="1"/>
          <p:nvPr/>
        </p:nvSpPr>
        <p:spPr>
          <a:xfrm>
            <a:off x="640080" y="1371600"/>
            <a:ext cx="10881360" cy="365760"/>
          </a:xfrm>
          <a:prstGeom prst="rect">
            <a:avLst/>
          </a:prstGeom>
          <a:noFill/>
          <a:ln/>
        </p:spPr>
        <p:txBody>
          <a:bodyPr wrap="square" lIns="0" tIns="0" rIns="0" bIns="0" rtlCol="0" anchor="t"/>
          <a:lstStyle/>
          <a:p>
            <a:pPr indent="0" marL="0">
              <a:buNone/>
            </a:pPr>
            <a:r>
              <a:rPr lang="en-US" sz="1400" dirty="0">
                <a:solidFill>
                  <a:srgbClr val="5B6B87"/>
                </a:solidFill>
                <a:latin typeface="Arial" pitchFamily="34" charset="0"/>
                <a:ea typeface="Arial" pitchFamily="34" charset="-122"/>
                <a:cs typeface="Arial" pitchFamily="34" charset="-120"/>
              </a:rPr>
              <a:t>References to be finalized from verified sources.</a:t>
            </a:r>
            <a:endParaRPr lang="en-US" sz="1400" dirty="0"/>
          </a:p>
        </p:txBody>
      </p:sp>
      <p:sp>
        <p:nvSpPr>
          <p:cNvPr id="5" name="Text 3"/>
          <p:cNvSpPr txBox="1"/>
          <p:nvPr/>
        </p:nvSpPr>
        <p:spPr>
          <a:xfrm>
            <a:off x="640080" y="1965960"/>
            <a:ext cx="10972800" cy="274320"/>
          </a:xfrm>
          <a:prstGeom prst="rect">
            <a:avLst/>
          </a:prstGeom>
          <a:noFill/>
          <a:ln/>
        </p:spPr>
        <p:txBody>
          <a:bodyPr wrap="square" lIns="0" tIns="0" rIns="0" bIns="0" rtlCol="0" anchor="t"/>
          <a:lstStyle/>
          <a:p>
            <a:pPr indent="0" marL="0">
              <a:buNone/>
            </a:pPr>
            <a:r>
              <a:rPr lang="en-US" sz="1100" b="1" spc="200" kern="0" dirty="0">
                <a:solidFill>
                  <a:srgbClr val="2F6FED"/>
                </a:solidFill>
                <a:latin typeface="Arial" pitchFamily="34" charset="0"/>
                <a:ea typeface="Arial" pitchFamily="34" charset="-122"/>
                <a:cs typeface="Arial" pitchFamily="34" charset="-120"/>
              </a:rPr>
              <a:t>METHODS AND SOFTWARE USED BY THE SYSTEM</a:t>
            </a:r>
            <a:endParaRPr lang="en-US" sz="1100" dirty="0"/>
          </a:p>
        </p:txBody>
      </p:sp>
      <p:sp>
        <p:nvSpPr>
          <p:cNvPr id="6" name="Text 4"/>
          <p:cNvSpPr txBox="1"/>
          <p:nvPr/>
        </p:nvSpPr>
        <p:spPr>
          <a:xfrm>
            <a:off x="640080" y="2331720"/>
            <a:ext cx="10972800" cy="1188720"/>
          </a:xfrm>
          <a:prstGeom prst="rect">
            <a:avLst/>
          </a:prstGeom>
          <a:noFill/>
          <a:ln/>
        </p:spPr>
        <p:txBody>
          <a:bodyPr wrap="square" lIns="0" tIns="0" rIns="0" bIns="0" rtlCol="0" anchor="t"/>
          <a:lstStyle/>
          <a:p>
            <a:pPr marL="342900" indent="-342900">
              <a:spcAft>
                <a:spcPts val="800"/>
              </a:spcAft>
              <a:buSzPct val="100000"/>
              <a:buFont typeface="+mj-lt"/>
              <a:buAutoNum type="arabicPeriod" startAt="1"/>
            </a:pPr>
            <a:r>
              <a:rPr lang="en-US" sz="1300" dirty="0">
                <a:solidFill>
                  <a:srgbClr val="1A2A4A"/>
                </a:solidFill>
                <a:latin typeface="Arial" pitchFamily="34" charset="0"/>
                <a:ea typeface="Arial" pitchFamily="34" charset="-122"/>
                <a:cs typeface="Arial" pitchFamily="34" charset="-120"/>
              </a:rPr>
              <a:t>Lundberg, S. M., &amp; Lee, S.-I. (2017). A unified approach to interpreting model predictions. Advances in Neural Information Processing Systems 30 (NeurIPS 2017).</a:t>
            </a:r>
            <a:endParaRPr lang="en-US" sz="1300" dirty="0"/>
          </a:p>
          <a:p>
            <a:pPr marL="342900" indent="-342900">
              <a:spcAft>
                <a:spcPts val="800"/>
              </a:spcAft>
              <a:buSzPct val="100000"/>
              <a:buFont typeface="+mj-lt"/>
              <a:buAutoNum type="arabicPeriod" startAt="1"/>
            </a:pPr>
            <a:r>
              <a:rPr lang="en-US" sz="1300" dirty="0">
                <a:solidFill>
                  <a:srgbClr val="1A2A4A"/>
                </a:solidFill>
                <a:latin typeface="Arial" pitchFamily="34" charset="0"/>
                <a:ea typeface="Arial" pitchFamily="34" charset="-122"/>
                <a:cs typeface="Arial" pitchFamily="34" charset="-120"/>
              </a:rPr>
              <a:t>Pedregosa, F., et al. (2011). Scikit-learn: Machine learning in Python. Journal of Machine Learning Research, 12, 2825–2830.</a:t>
            </a:r>
            <a:endParaRPr lang="en-US" sz="1300" dirty="0"/>
          </a:p>
        </p:txBody>
      </p:sp>
      <p:sp>
        <p:nvSpPr>
          <p:cNvPr id="7" name="Shape 5"/>
          <p:cNvSpPr/>
          <p:nvPr/>
        </p:nvSpPr>
        <p:spPr>
          <a:xfrm>
            <a:off x="640080" y="3886200"/>
            <a:ext cx="10972800" cy="1508760"/>
          </a:xfrm>
          <a:prstGeom prst="roundRect">
            <a:avLst>
              <a:gd name="adj" fmla="val 7273"/>
            </a:avLst>
          </a:prstGeom>
          <a:solidFill>
            <a:srgbClr val="FFFFFF"/>
          </a:solidFill>
          <a:ln w="19050">
            <a:solidFill>
              <a:srgbClr val="C27A12"/>
            </a:solidFill>
            <a:prstDash val="dash"/>
          </a:ln>
        </p:spPr>
      </p:sp>
      <p:sp>
        <p:nvSpPr>
          <p:cNvPr id="8" name="Text 6"/>
          <p:cNvSpPr txBox="1"/>
          <p:nvPr/>
        </p:nvSpPr>
        <p:spPr>
          <a:xfrm>
            <a:off x="914400" y="4114800"/>
            <a:ext cx="10424160" cy="274320"/>
          </a:xfrm>
          <a:prstGeom prst="rect">
            <a:avLst/>
          </a:prstGeom>
          <a:noFill/>
          <a:ln/>
        </p:spPr>
        <p:txBody>
          <a:bodyPr wrap="square" lIns="0" tIns="0" rIns="0" bIns="0" rtlCol="0" anchor="t"/>
          <a:lstStyle/>
          <a:p>
            <a:pPr indent="0" marL="0">
              <a:buNone/>
            </a:pPr>
            <a:r>
              <a:rPr lang="en-US" sz="1200" b="1" spc="100" kern="0" dirty="0">
                <a:solidFill>
                  <a:srgbClr val="C27A12"/>
                </a:solidFill>
                <a:latin typeface="Arial" pitchFamily="34" charset="0"/>
                <a:ea typeface="Arial" pitchFamily="34" charset="-122"/>
                <a:cs typeface="Arial" pitchFamily="34" charset="-120"/>
              </a:rPr>
              <a:t>LITERATURE REVIEW — REFERENCES TO BE FINALIZED FROM VERIFIED SOURCES</a:t>
            </a:r>
            <a:endParaRPr lang="en-US" sz="1200" dirty="0"/>
          </a:p>
        </p:txBody>
      </p:sp>
      <p:sp>
        <p:nvSpPr>
          <p:cNvPr id="9" name="Text 7"/>
          <p:cNvSpPr txBox="1"/>
          <p:nvPr/>
        </p:nvSpPr>
        <p:spPr>
          <a:xfrm>
            <a:off x="914400" y="4526280"/>
            <a:ext cx="10424160" cy="731520"/>
          </a:xfrm>
          <a:prstGeom prst="rect">
            <a:avLst/>
          </a:prstGeom>
          <a:noFill/>
          <a:ln/>
        </p:spPr>
        <p:txBody>
          <a:bodyPr wrap="square" lIns="0" tIns="0" rIns="0" bIns="0" rtlCol="0" anchor="t"/>
          <a:lstStyle/>
          <a:p>
            <a:pPr indent="0" marL="0">
              <a:buNone/>
            </a:pPr>
            <a:r>
              <a:rPr lang="en-US" sz="1300" dirty="0">
                <a:solidFill>
                  <a:srgbClr val="1A2A4A"/>
                </a:solidFill>
                <a:latin typeface="Arial" pitchFamily="34" charset="0"/>
                <a:ea typeface="Arial" pitchFamily="34" charset="-122"/>
                <a:cs typeface="Arial" pitchFamily="34" charset="-120"/>
              </a:rPr>
              <a:t>The related-work studies from the earlier draft could not be verified and are not listed. Add full citations (authors, title, venue, year, DOI) for each study used on the Related Work slide before final submission.</a:t>
            </a:r>
            <a:endParaRPr lang="en-US" sz="1300" dirty="0"/>
          </a:p>
        </p:txBody>
      </p:sp>
      <p:sp>
        <p:nvSpPr>
          <p:cNvPr id="10" name="Text 8"/>
          <p:cNvSpPr txBox="1"/>
          <p:nvPr/>
        </p:nvSpPr>
        <p:spPr>
          <a:xfrm>
            <a:off x="640080" y="6473952"/>
            <a:ext cx="7315200" cy="201168"/>
          </a:xfrm>
          <a:prstGeom prst="rect">
            <a:avLst/>
          </a:prstGeom>
          <a:noFill/>
          <a:ln/>
        </p:spPr>
        <p:txBody>
          <a:bodyPr wrap="square" lIns="0" tIns="0" rIns="0" bIns="0" rtlCol="0" anchor="t"/>
          <a:lstStyle/>
          <a:p>
            <a:pPr indent="0" marL="0">
              <a:buNone/>
            </a:pPr>
            <a:r>
              <a:rPr lang="en-US" sz="800" spc="200" kern="0" dirty="0">
                <a:solidFill>
                  <a:srgbClr val="A6B3CC"/>
                </a:solidFill>
                <a:latin typeface="Arial" pitchFamily="34" charset="0"/>
                <a:ea typeface="Arial" pitchFamily="34" charset="-122"/>
                <a:cs typeface="Arial" pitchFamily="34" charset="-120"/>
              </a:rPr>
              <a:t>AI STUDENT PERFORMANCE PREDICTION  ·  DECISION SUPPORT  ·  EXPLAINABLE AI</a:t>
            </a:r>
            <a:endParaRPr lang="en-US" sz="800" dirty="0"/>
          </a:p>
        </p:txBody>
      </p:sp>
      <p:sp>
        <p:nvSpPr>
          <p:cNvPr id="11" name="Text 9"/>
          <p:cNvSpPr txBox="1"/>
          <p:nvPr/>
        </p:nvSpPr>
        <p:spPr>
          <a:xfrm>
            <a:off x="11155680" y="6473952"/>
            <a:ext cx="411480" cy="201168"/>
          </a:xfrm>
          <a:prstGeom prst="rect">
            <a:avLst/>
          </a:prstGeom>
          <a:noFill/>
          <a:ln/>
        </p:spPr>
        <p:txBody>
          <a:bodyPr wrap="square" lIns="0" tIns="0" rIns="0" bIns="0" rtlCol="0" anchor="t"/>
          <a:lstStyle/>
          <a:p>
            <a:pPr algn="r" indent="0" marL="0">
              <a:buNone/>
            </a:pPr>
            <a:r>
              <a:rPr lang="en-US" sz="900" dirty="0">
                <a:solidFill>
                  <a:srgbClr val="A6B3CC"/>
                </a:solidFill>
                <a:latin typeface="Arial" pitchFamily="34" charset="0"/>
                <a:ea typeface="Arial" pitchFamily="34" charset="-122"/>
                <a:cs typeface="Arial" pitchFamily="34" charset="-120"/>
              </a:rPr>
              <a:t>17</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Based Student Performance Prediction and Decision Support System with Explainable AI</dc:title>
  <dc:subject>PptxGenJS Presentation</dc:subject>
  <dc:creator>PptxGenJS</dc:creator>
  <cp:lastModifiedBy>PptxGenJS</cp:lastModifiedBy>
  <cp:revision>1</cp:revision>
  <dcterms:created xsi:type="dcterms:W3CDTF">2026-09-28T21:18:47Z</dcterms:created>
  <dcterms:modified xsi:type="dcterms:W3CDTF">2026-09-28T21:18:47Z</dcterms:modified>
</cp:coreProperties>
</file>