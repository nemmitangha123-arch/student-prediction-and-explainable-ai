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5B6B87"/>
                </a:solidFill>
                <a:latin typeface="Arial"/>
              </a:defRPr>
            </a:pPr>
            <a:r>
              <a:rPr sz="1100" b="0" i="0" u="none" strike="noStrike">
                <a:solidFill>
                  <a:srgbClr val="5B6B87"/>
                </a:solidFill>
                <a:latin typeface="Arial"/>
              </a:rPr>
              <a:t>MAE in marks (lower is better)</a:t>
            </a:r>
          </a:p>
        </c:rich>
      </c:tx>
      <c:overlay val="0"/>
    </c:title>
    <c:autoTitleDeleted val="0"/>
    <c:plotArea>
      <c:layout/>
      <c:barChart>
        <c:barDir val="bar"/>
        <c:grouping val="clustered"/>
        <c:varyColors val="0"/>
        <c:ser>
          <c:idx val="0"/>
          <c:order val="0"/>
          <c:tx>
            <c:strRef>
              <c:f>Sheet1!$B$1</c:f>
              <c:strCache>
                <c:ptCount val="1"/>
                <c:pt idx="0">
                  <c:v>MAE (marks)</c:v>
                </c:pt>
              </c:strCache>
            </c:strRef>
          </c:tx>
          <c:spPr>
            <a:solidFill>
              <a:srgbClr val="2F6FED"/>
            </a:solidFill>
            <a:effectLst/>
          </c:spPr>
          <c:invertIfNegative val="0"/>
          <c:dLbls>
            <c:numFmt formatCode="0.00" sourceLinked="0"/>
            <c:spPr>
              <a:noFill/>
              <a:ln>
                <a:noFill/>
              </a:ln>
              <a:effectLst/>
            </c:spPr>
            <c:txPr>
              <a:bodyPr/>
              <a:lstStyle/>
              <a:p>
                <a:pPr>
                  <a:defRPr sz="1000" b="0" i="0" u="none" strike="noStrike">
                    <a:solidFill>
                      <a:srgbClr val="1A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Linear Regression</c:v>
                </c:pt>
                <c:pt idx="1">
                  <c:v>Random Forest (tuned)</c:v>
                </c:pt>
                <c:pt idx="2">
                  <c:v>SVR</c:v>
                </c:pt>
                <c:pt idx="3">
                  <c:v>Random Forest</c:v>
                </c:pt>
                <c:pt idx="4">
                  <c:v>Decision Tree</c:v>
                </c:pt>
              </c:strCache>
            </c:strRef>
          </c:cat>
          <c:val>
            <c:numRef>
              <c:f>Sheet1!$B$2:$B$6</c:f>
              <c:numCache>
                <c:formatCode>General</c:formatCode>
                <c:ptCount val="5"/>
                <c:pt idx="0">
                  <c:v>3.62</c:v>
                </c:pt>
                <c:pt idx="1">
                  <c:v>3.85</c:v>
                </c:pt>
                <c:pt idx="2">
                  <c:v>3.91</c:v>
                </c:pt>
                <c:pt idx="3">
                  <c:v>3.99</c:v>
                </c:pt>
                <c:pt idx="4">
                  <c:v>4.8499999999999996</c:v>
                </c:pt>
              </c:numCache>
            </c:numRef>
          </c:val>
          <c:extLst>
            <c:ext xmlns:c16="http://schemas.microsoft.com/office/drawing/2014/chart" uri="{C3380CC4-5D6E-409C-BE32-E72D297353CC}">
              <c16:uniqueId val="{00000000-440E-4760-AF85-8F2906107430}"/>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2A4A"/>
                </a:solidFill>
                <a:latin typeface="Arial"/>
              </a:defRPr>
            </a:pPr>
            <a:endParaRPr lang="en-US"/>
          </a:p>
        </c:txPr>
        <c:crossAx val="2094734552"/>
        <c:crosses val="autoZero"/>
        <c:auto val="1"/>
        <c:lblAlgn val="ctr"/>
        <c:lblOffset val="100"/>
        <c:noMultiLvlLbl val="1"/>
      </c:catAx>
      <c:valAx>
        <c:axId val="2094734552"/>
        <c:scaling>
          <c:orientation val="minMax"/>
          <c:max val="5.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723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830"/>
        </a:solidFill>
        <a:effectLst/>
      </p:bgPr>
    </p:bg>
    <p:spTree>
      <p:nvGrpSpPr>
        <p:cNvPr id="1" name=""/>
        <p:cNvGrpSpPr/>
        <p:nvPr/>
      </p:nvGrpSpPr>
      <p:grpSpPr>
        <a:xfrm>
          <a:off x="0" y="0"/>
          <a:ext cx="0" cy="0"/>
          <a:chOff x="0" y="0"/>
          <a:chExt cx="0" cy="0"/>
        </a:xfrm>
      </p:grpSpPr>
      <p:sp>
        <p:nvSpPr>
          <p:cNvPr id="2" name="Shape 0"/>
          <p:cNvSpPr/>
          <p:nvPr/>
        </p:nvSpPr>
        <p:spPr>
          <a:xfrm>
            <a:off x="10177272" y="896112"/>
            <a:ext cx="640080" cy="457200"/>
          </a:xfrm>
          <a:prstGeom prst="line">
            <a:avLst/>
          </a:prstGeom>
          <a:noFill/>
          <a:ln w="12700">
            <a:solidFill>
              <a:srgbClr val="3E5A8C"/>
            </a:solidFill>
            <a:prstDash val="solid"/>
          </a:ln>
        </p:spPr>
      </p:sp>
      <p:sp>
        <p:nvSpPr>
          <p:cNvPr id="3" name="Shape 1"/>
          <p:cNvSpPr/>
          <p:nvPr/>
        </p:nvSpPr>
        <p:spPr>
          <a:xfrm>
            <a:off x="10497312" y="1371600"/>
            <a:ext cx="1280160" cy="256032"/>
          </a:xfrm>
          <a:prstGeom prst="line">
            <a:avLst/>
          </a:prstGeom>
          <a:noFill/>
          <a:ln w="12700">
            <a:solidFill>
              <a:srgbClr val="3E5A8C"/>
            </a:solidFill>
            <a:prstDash val="solid"/>
          </a:ln>
        </p:spPr>
      </p:sp>
      <p:sp>
        <p:nvSpPr>
          <p:cNvPr id="4" name="Shape 2"/>
          <p:cNvSpPr/>
          <p:nvPr/>
        </p:nvSpPr>
        <p:spPr>
          <a:xfrm>
            <a:off x="10149840" y="868680"/>
            <a:ext cx="91440" cy="91440"/>
          </a:xfrm>
          <a:prstGeom prst="ellipse">
            <a:avLst/>
          </a:prstGeom>
          <a:solidFill>
            <a:srgbClr val="2F6FED"/>
          </a:solidFill>
          <a:ln w="6350">
            <a:solidFill>
              <a:srgbClr val="2F6FED"/>
            </a:solidFill>
            <a:prstDash val="solid"/>
          </a:ln>
        </p:spPr>
      </p:sp>
      <p:sp>
        <p:nvSpPr>
          <p:cNvPr id="5" name="Shape 3"/>
          <p:cNvSpPr/>
          <p:nvPr/>
        </p:nvSpPr>
        <p:spPr>
          <a:xfrm>
            <a:off x="10789920" y="1325880"/>
            <a:ext cx="91440" cy="91440"/>
          </a:xfrm>
          <a:prstGeom prst="ellipse">
            <a:avLst/>
          </a:prstGeom>
          <a:solidFill>
            <a:srgbClr val="2F6FED"/>
          </a:solidFill>
          <a:ln w="6350">
            <a:solidFill>
              <a:srgbClr val="2F6FED"/>
            </a:solidFill>
            <a:prstDash val="solid"/>
          </a:ln>
        </p:spPr>
      </p:sp>
      <p:sp>
        <p:nvSpPr>
          <p:cNvPr id="6" name="Shape 4"/>
          <p:cNvSpPr/>
          <p:nvPr/>
        </p:nvSpPr>
        <p:spPr>
          <a:xfrm>
            <a:off x="11384280" y="1051560"/>
            <a:ext cx="91440" cy="91440"/>
          </a:xfrm>
          <a:prstGeom prst="ellipse">
            <a:avLst/>
          </a:prstGeom>
          <a:solidFill>
            <a:srgbClr val="2F6FED"/>
          </a:solidFill>
          <a:ln w="6350">
            <a:solidFill>
              <a:srgbClr val="2F6FED"/>
            </a:solidFill>
            <a:prstDash val="solid"/>
          </a:ln>
        </p:spPr>
      </p:sp>
      <p:sp>
        <p:nvSpPr>
          <p:cNvPr id="7" name="Shape 5"/>
          <p:cNvSpPr/>
          <p:nvPr/>
        </p:nvSpPr>
        <p:spPr>
          <a:xfrm>
            <a:off x="10469880" y="1783080"/>
            <a:ext cx="91440" cy="91440"/>
          </a:xfrm>
          <a:prstGeom prst="ellipse">
            <a:avLst/>
          </a:prstGeom>
          <a:solidFill>
            <a:srgbClr val="2F6FED"/>
          </a:solidFill>
          <a:ln w="6350">
            <a:solidFill>
              <a:srgbClr val="2F6FED"/>
            </a:solidFill>
            <a:prstDash val="solid"/>
          </a:ln>
        </p:spPr>
      </p:sp>
      <p:sp>
        <p:nvSpPr>
          <p:cNvPr id="8" name="Shape 6"/>
          <p:cNvSpPr/>
          <p:nvPr/>
        </p:nvSpPr>
        <p:spPr>
          <a:xfrm>
            <a:off x="11750040" y="1600200"/>
            <a:ext cx="91440" cy="91440"/>
          </a:xfrm>
          <a:prstGeom prst="ellipse">
            <a:avLst/>
          </a:prstGeom>
          <a:solidFill>
            <a:srgbClr val="2F6FED"/>
          </a:solidFill>
          <a:ln w="6350">
            <a:solidFill>
              <a:srgbClr val="2F6FED"/>
            </a:solidFill>
            <a:prstDash val="solid"/>
          </a:ln>
        </p:spPr>
      </p:sp>
      <p:sp>
        <p:nvSpPr>
          <p:cNvPr id="9" name="Shape 7"/>
          <p:cNvSpPr/>
          <p:nvPr/>
        </p:nvSpPr>
        <p:spPr>
          <a:xfrm>
            <a:off x="11201400" y="2148840"/>
            <a:ext cx="91440" cy="91440"/>
          </a:xfrm>
          <a:prstGeom prst="ellipse">
            <a:avLst/>
          </a:prstGeom>
          <a:solidFill>
            <a:srgbClr val="2F6FED"/>
          </a:solidFill>
          <a:ln w="6350">
            <a:solidFill>
              <a:srgbClr val="2F6FED"/>
            </a:solidFill>
            <a:prstDash val="solid"/>
          </a:ln>
        </p:spPr>
      </p:sp>
      <p:sp>
        <p:nvSpPr>
          <p:cNvPr id="10" name="Shape 8"/>
          <p:cNvSpPr/>
          <p:nvPr/>
        </p:nvSpPr>
        <p:spPr>
          <a:xfrm>
            <a:off x="11887200" y="2331720"/>
            <a:ext cx="91440" cy="91440"/>
          </a:xfrm>
          <a:prstGeom prst="ellipse">
            <a:avLst/>
          </a:prstGeom>
          <a:solidFill>
            <a:srgbClr val="2F6FED"/>
          </a:solidFill>
          <a:ln w="6350">
            <a:solidFill>
              <a:srgbClr val="2F6FED"/>
            </a:solidFill>
            <a:prstDash val="solid"/>
          </a:ln>
        </p:spPr>
      </p:sp>
      <p:sp>
        <p:nvSpPr>
          <p:cNvPr id="11" name="Text 9"/>
          <p:cNvSpPr txBox="1"/>
          <p:nvPr/>
        </p:nvSpPr>
        <p:spPr>
          <a:xfrm>
            <a:off x="914400" y="1783080"/>
            <a:ext cx="9144000" cy="320040"/>
          </a:xfrm>
          <a:prstGeom prst="rect">
            <a:avLst/>
          </a:prstGeom>
          <a:noFill/>
          <a:ln/>
        </p:spPr>
        <p:txBody>
          <a:bodyPr wrap="square" lIns="0" tIns="0" rIns="0" bIns="0" rtlCol="0" anchor="t"/>
          <a:lstStyle/>
          <a:p>
            <a:pPr marL="0" indent="0">
              <a:buNone/>
            </a:pPr>
            <a:r>
              <a:rPr lang="en-US" sz="1300" b="1" kern="0" spc="400" dirty="0">
                <a:solidFill>
                  <a:srgbClr val="2F6FED"/>
                </a:solidFill>
                <a:latin typeface="Arial" pitchFamily="34" charset="0"/>
                <a:ea typeface="Arial" pitchFamily="34" charset="-122"/>
                <a:cs typeface="Arial" pitchFamily="34" charset="-120"/>
              </a:rPr>
              <a:t>DATA SCIENCE  ·  MACHINE LEARNING  ·  CAPSTONE PROJECT</a:t>
            </a:r>
            <a:endParaRPr lang="en-US" sz="1300" dirty="0"/>
          </a:p>
        </p:txBody>
      </p:sp>
      <p:sp>
        <p:nvSpPr>
          <p:cNvPr id="12" name="Text 10"/>
          <p:cNvSpPr txBox="1"/>
          <p:nvPr/>
        </p:nvSpPr>
        <p:spPr>
          <a:xfrm>
            <a:off x="914400" y="2240280"/>
            <a:ext cx="9692640" cy="173736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AI Based Student Performance Prediction and Decision Support System with Explainable AI</a:t>
            </a:r>
            <a:endParaRPr lang="en-US" sz="3800" dirty="0"/>
          </a:p>
        </p:txBody>
      </p:sp>
      <p:sp>
        <p:nvSpPr>
          <p:cNvPr id="13" name="Text 11"/>
          <p:cNvSpPr txBox="1"/>
          <p:nvPr/>
        </p:nvSpPr>
        <p:spPr>
          <a:xfrm>
            <a:off x="914400" y="4160520"/>
            <a:ext cx="8778240" cy="731520"/>
          </a:xfrm>
          <a:prstGeom prst="rect">
            <a:avLst/>
          </a:prstGeom>
          <a:noFill/>
          <a:ln/>
        </p:spPr>
        <p:txBody>
          <a:bodyPr wrap="square" lIns="0" tIns="0" rIns="0" bIns="0" rtlCol="0" anchor="t"/>
          <a:lstStyle/>
          <a:p>
            <a:pPr marL="0" indent="0">
              <a:buNone/>
            </a:pPr>
            <a:r>
              <a:rPr lang="en-US" sz="1600" dirty="0">
                <a:solidFill>
                  <a:srgbClr val="B7C3DD"/>
                </a:solidFill>
                <a:latin typeface="Arial" pitchFamily="34" charset="0"/>
                <a:ea typeface="Arial" pitchFamily="34" charset="-122"/>
                <a:cs typeface="Arial" pitchFamily="34" charset="-120"/>
              </a:rPr>
              <a:t>An explainable machine-learning system for predicting final exam marks, identifying early-warning risk bands, and generating SHAP-guided recommendations.</a:t>
            </a:r>
            <a:endParaRPr lang="en-US" sz="1600" dirty="0"/>
          </a:p>
        </p:txBody>
      </p:sp>
      <p:sp>
        <p:nvSpPr>
          <p:cNvPr id="14" name="Text 12"/>
          <p:cNvSpPr txBox="1"/>
          <p:nvPr/>
        </p:nvSpPr>
        <p:spPr>
          <a:xfrm>
            <a:off x="914400" y="5166360"/>
            <a:ext cx="8229600" cy="320040"/>
          </a:xfrm>
          <a:prstGeom prst="rect">
            <a:avLst/>
          </a:prstGeom>
          <a:noFill/>
          <a:ln/>
        </p:spPr>
        <p:txBody>
          <a:bodyPr wrap="square" lIns="0" tIns="0" rIns="0" bIns="0" rtlCol="0" anchor="t"/>
          <a:lstStyle/>
          <a:p>
            <a:pPr marL="0" indent="0">
              <a:buNone/>
            </a:pPr>
            <a:r>
              <a:rPr lang="en-US" sz="1500" dirty="0">
                <a:solidFill>
                  <a:srgbClr val="7F8DAB"/>
                </a:solidFill>
                <a:latin typeface="Arial" pitchFamily="34" charset="0"/>
                <a:ea typeface="Arial" pitchFamily="34" charset="-122"/>
                <a:cs typeface="Arial" pitchFamily="34" charset="-120"/>
              </a:rPr>
              <a:t>Team  </a:t>
            </a:r>
            <a:r>
              <a:rPr lang="en-US" sz="1500" b="1" dirty="0">
                <a:solidFill>
                  <a:srgbClr val="FFFFFF"/>
                </a:solidFill>
                <a:latin typeface="Arial" pitchFamily="34" charset="0"/>
                <a:ea typeface="Arial" pitchFamily="34" charset="-122"/>
                <a:cs typeface="Arial" pitchFamily="34" charset="-120"/>
              </a:rPr>
              <a:t>Nemmi Tangha</a:t>
            </a:r>
            <a:r>
              <a:rPr lang="en-US" sz="1500" dirty="0">
                <a:solidFill>
                  <a:srgbClr val="7F8DAB"/>
                </a:solidFill>
                <a:latin typeface="Arial" pitchFamily="34" charset="0"/>
                <a:ea typeface="Arial" pitchFamily="34" charset="-122"/>
                <a:cs typeface="Arial" pitchFamily="34" charset="-120"/>
              </a:rPr>
              <a:t>   ·   </a:t>
            </a:r>
            <a:r>
              <a:rPr lang="en-US" sz="1500" b="1" dirty="0">
                <a:solidFill>
                  <a:srgbClr val="FFFFFF"/>
                </a:solidFill>
                <a:latin typeface="Arial" pitchFamily="34" charset="0"/>
                <a:ea typeface="Arial" pitchFamily="34" charset="-122"/>
                <a:cs typeface="Arial" pitchFamily="34" charset="-120"/>
              </a:rPr>
              <a:t>Oyindrela Das Oitri</a:t>
            </a:r>
            <a:endParaRPr lang="en-US" sz="1500" dirty="0"/>
          </a:p>
        </p:txBody>
      </p:sp>
      <p:sp>
        <p:nvSpPr>
          <p:cNvPr id="15" name="Text 13"/>
          <p:cNvSpPr txBox="1"/>
          <p:nvPr/>
        </p:nvSpPr>
        <p:spPr>
          <a:xfrm>
            <a:off x="914400" y="5577840"/>
            <a:ext cx="8229600" cy="274320"/>
          </a:xfrm>
          <a:prstGeom prst="rect">
            <a:avLst/>
          </a:prstGeom>
          <a:noFill/>
          <a:ln/>
        </p:spPr>
        <p:txBody>
          <a:bodyPr wrap="square" lIns="0" tIns="0" rIns="0" bIns="0" rtlCol="0" anchor="t"/>
          <a:lstStyle/>
          <a:p>
            <a:pPr marL="0" indent="0">
              <a:buNone/>
            </a:pPr>
            <a:r>
              <a:rPr lang="en-US" sz="1300" dirty="0">
                <a:solidFill>
                  <a:srgbClr val="7F8DAB"/>
                </a:solidFill>
                <a:latin typeface="Arial" pitchFamily="34" charset="0"/>
                <a:ea typeface="Arial" pitchFamily="34" charset="-122"/>
                <a:cs typeface="Arial" pitchFamily="34" charset="-120"/>
              </a:rPr>
              <a:t>Domain: Data Science &amp; Machine Learning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PROBLEM &amp; MOTIVATION</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Academic risk is often recognised too late</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Motivation for the project, and what the implemented system does about it.</a:t>
            </a:r>
            <a:endParaRPr lang="en-US" sz="1400" dirty="0"/>
          </a:p>
        </p:txBody>
      </p:sp>
      <p:sp>
        <p:nvSpPr>
          <p:cNvPr id="5" name="Text 3"/>
          <p:cNvSpPr txBox="1"/>
          <p:nvPr/>
        </p:nvSpPr>
        <p:spPr>
          <a:xfrm>
            <a:off x="640080" y="1965960"/>
            <a:ext cx="5486400" cy="274320"/>
          </a:xfrm>
          <a:prstGeom prst="rect">
            <a:avLst/>
          </a:prstGeom>
          <a:noFill/>
          <a:ln/>
        </p:spPr>
        <p:txBody>
          <a:bodyPr wrap="square" lIns="0" tIns="0" rIns="0" bIns="0" rtlCol="0" anchor="t"/>
          <a:lstStyle/>
          <a:p>
            <a:pPr marL="0" indent="0">
              <a:buNone/>
            </a:pPr>
            <a:r>
              <a:rPr lang="en-US" sz="1100" b="1" kern="0" spc="200" dirty="0">
                <a:solidFill>
                  <a:srgbClr val="5B6B87"/>
                </a:solidFill>
                <a:latin typeface="Arial" pitchFamily="34" charset="0"/>
                <a:ea typeface="Arial" pitchFamily="34" charset="-122"/>
                <a:cs typeface="Arial" pitchFamily="34" charset="-120"/>
              </a:rPr>
              <a:t>THE PROBLEM (MOTIVATION)</a:t>
            </a:r>
            <a:endParaRPr lang="en-US" sz="1100" dirty="0"/>
          </a:p>
        </p:txBody>
      </p:sp>
      <p:sp>
        <p:nvSpPr>
          <p:cNvPr id="6" name="Shape 4"/>
          <p:cNvSpPr/>
          <p:nvPr/>
        </p:nvSpPr>
        <p:spPr>
          <a:xfrm>
            <a:off x="640080" y="2331720"/>
            <a:ext cx="5486400" cy="1005840"/>
          </a:xfrm>
          <a:prstGeom prst="roundRect">
            <a:avLst>
              <a:gd name="adj" fmla="val 10909"/>
            </a:avLst>
          </a:prstGeom>
          <a:solidFill>
            <a:srgbClr val="F4F7FE"/>
          </a:solidFill>
          <a:ln w="9525">
            <a:solidFill>
              <a:srgbClr val="D8E1F5"/>
            </a:solidFill>
            <a:prstDash val="solid"/>
          </a:ln>
        </p:spPr>
      </p:sp>
      <p:sp>
        <p:nvSpPr>
          <p:cNvPr id="7" name="Shape 5"/>
          <p:cNvSpPr/>
          <p:nvPr/>
        </p:nvSpPr>
        <p:spPr>
          <a:xfrm>
            <a:off x="868680" y="2606040"/>
            <a:ext cx="457200" cy="457200"/>
          </a:xfrm>
          <a:prstGeom prst="ellipse">
            <a:avLst/>
          </a:prstGeom>
          <a:solidFill>
            <a:srgbClr val="142850"/>
          </a:solidFill>
          <a:ln w="6350">
            <a:solidFill>
              <a:srgbClr val="142850"/>
            </a:solidFill>
            <a:prstDash val="solid"/>
          </a:ln>
        </p:spPr>
      </p:sp>
      <p:sp>
        <p:nvSpPr>
          <p:cNvPr id="8" name="Text 6"/>
          <p:cNvSpPr txBox="1"/>
          <p:nvPr/>
        </p:nvSpPr>
        <p:spPr>
          <a:xfrm>
            <a:off x="868680" y="26060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554480" y="2496312"/>
            <a:ext cx="4389120" cy="320040"/>
          </a:xfrm>
          <a:prstGeom prst="rect">
            <a:avLst/>
          </a:prstGeom>
          <a:noFill/>
          <a:ln/>
        </p:spPr>
        <p:txBody>
          <a:bodyPr wrap="square" lIns="0" tIns="0" rIns="0" bIns="0" rtlCol="0" anchor="t"/>
          <a:lstStyle/>
          <a:p>
            <a:pPr marL="0" indent="0">
              <a:buNone/>
            </a:pPr>
            <a:r>
              <a:rPr lang="en-US" sz="1500" b="1" dirty="0">
                <a:solidFill>
                  <a:srgbClr val="142850"/>
                </a:solidFill>
                <a:latin typeface="Arial" pitchFamily="34" charset="0"/>
                <a:ea typeface="Arial" pitchFamily="34" charset="-122"/>
                <a:cs typeface="Arial" pitchFamily="34" charset="-120"/>
              </a:rPr>
              <a:t>Late identification</a:t>
            </a:r>
            <a:endParaRPr lang="en-US" sz="1500" dirty="0"/>
          </a:p>
        </p:txBody>
      </p:sp>
      <p:sp>
        <p:nvSpPr>
          <p:cNvPr id="10" name="Text 8"/>
          <p:cNvSpPr txBox="1"/>
          <p:nvPr/>
        </p:nvSpPr>
        <p:spPr>
          <a:xfrm>
            <a:off x="1554480" y="2807208"/>
            <a:ext cx="4434840" cy="457200"/>
          </a:xfrm>
          <a:prstGeom prst="rect">
            <a:avLst/>
          </a:prstGeom>
          <a:noFill/>
          <a:ln/>
        </p:spPr>
        <p:txBody>
          <a:bodyPr wrap="square" lIns="0" tIns="0" rIns="0" bIns="0" rtlCol="0" anchor="t"/>
          <a:lstStyle/>
          <a:p>
            <a:pPr marL="0" indent="0">
              <a:buNone/>
            </a:pPr>
            <a:r>
              <a:rPr lang="en-US" sz="1200" dirty="0">
                <a:solidFill>
                  <a:srgbClr val="5B6B87"/>
                </a:solidFill>
                <a:latin typeface="Arial" pitchFamily="34" charset="0"/>
                <a:ea typeface="Arial" pitchFamily="34" charset="-122"/>
                <a:cs typeface="Arial" pitchFamily="34" charset="-120"/>
              </a:rPr>
              <a:t>Difficulties often become visible only after final examinations, when little time remains for support.</a:t>
            </a:r>
            <a:endParaRPr lang="en-US" sz="1200" dirty="0"/>
          </a:p>
        </p:txBody>
      </p:sp>
      <p:sp>
        <p:nvSpPr>
          <p:cNvPr id="11" name="Shape 9"/>
          <p:cNvSpPr/>
          <p:nvPr/>
        </p:nvSpPr>
        <p:spPr>
          <a:xfrm>
            <a:off x="640080" y="3520440"/>
            <a:ext cx="5486400" cy="1005840"/>
          </a:xfrm>
          <a:prstGeom prst="roundRect">
            <a:avLst>
              <a:gd name="adj" fmla="val 10909"/>
            </a:avLst>
          </a:prstGeom>
          <a:solidFill>
            <a:srgbClr val="F4F7FE"/>
          </a:solidFill>
          <a:ln w="9525">
            <a:solidFill>
              <a:srgbClr val="D8E1F5"/>
            </a:solidFill>
            <a:prstDash val="solid"/>
          </a:ln>
        </p:spPr>
      </p:sp>
      <p:sp>
        <p:nvSpPr>
          <p:cNvPr id="12" name="Shape 10"/>
          <p:cNvSpPr/>
          <p:nvPr/>
        </p:nvSpPr>
        <p:spPr>
          <a:xfrm>
            <a:off x="868680" y="3794760"/>
            <a:ext cx="457200" cy="457200"/>
          </a:xfrm>
          <a:prstGeom prst="ellipse">
            <a:avLst/>
          </a:prstGeom>
          <a:solidFill>
            <a:srgbClr val="142850"/>
          </a:solidFill>
          <a:ln w="6350">
            <a:solidFill>
              <a:srgbClr val="142850"/>
            </a:solidFill>
            <a:prstDash val="solid"/>
          </a:ln>
        </p:spPr>
      </p:sp>
      <p:sp>
        <p:nvSpPr>
          <p:cNvPr id="13" name="Text 11"/>
          <p:cNvSpPr txBox="1"/>
          <p:nvPr/>
        </p:nvSpPr>
        <p:spPr>
          <a:xfrm>
            <a:off x="868680" y="37947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1554480" y="3685032"/>
            <a:ext cx="4389120" cy="320040"/>
          </a:xfrm>
          <a:prstGeom prst="rect">
            <a:avLst/>
          </a:prstGeom>
          <a:noFill/>
          <a:ln/>
        </p:spPr>
        <p:txBody>
          <a:bodyPr wrap="square" lIns="0" tIns="0" rIns="0" bIns="0" rtlCol="0" anchor="t"/>
          <a:lstStyle/>
          <a:p>
            <a:pPr marL="0" indent="0">
              <a:buNone/>
            </a:pPr>
            <a:r>
              <a:rPr lang="en-US" sz="1500" b="1" dirty="0">
                <a:solidFill>
                  <a:srgbClr val="142850"/>
                </a:solidFill>
                <a:latin typeface="Arial" pitchFamily="34" charset="0"/>
                <a:ea typeface="Arial" pitchFamily="34" charset="-122"/>
                <a:cs typeface="Arial" pitchFamily="34" charset="-120"/>
              </a:rPr>
              <a:t>Manual monitoring</a:t>
            </a:r>
            <a:endParaRPr lang="en-US" sz="1500" dirty="0"/>
          </a:p>
        </p:txBody>
      </p:sp>
      <p:sp>
        <p:nvSpPr>
          <p:cNvPr id="15" name="Text 13"/>
          <p:cNvSpPr txBox="1"/>
          <p:nvPr/>
        </p:nvSpPr>
        <p:spPr>
          <a:xfrm>
            <a:off x="1554480" y="3995928"/>
            <a:ext cx="4434840" cy="457200"/>
          </a:xfrm>
          <a:prstGeom prst="rect">
            <a:avLst/>
          </a:prstGeom>
          <a:noFill/>
          <a:ln/>
        </p:spPr>
        <p:txBody>
          <a:bodyPr wrap="square" lIns="0" tIns="0" rIns="0" bIns="0" rtlCol="0" anchor="t"/>
          <a:lstStyle/>
          <a:p>
            <a:pPr marL="0" indent="0">
              <a:buNone/>
            </a:pPr>
            <a:r>
              <a:rPr lang="en-US" sz="1200" dirty="0">
                <a:solidFill>
                  <a:srgbClr val="5B6B87"/>
                </a:solidFill>
                <a:latin typeface="Arial" pitchFamily="34" charset="0"/>
                <a:ea typeface="Arial" pitchFamily="34" charset="-122"/>
                <a:cs typeface="Arial" pitchFamily="34" charset="-120"/>
              </a:rPr>
              <a:t>Teachers review attendance and marks by hand; early indicators are not combined into a prediction.</a:t>
            </a:r>
            <a:endParaRPr lang="en-US" sz="1200" dirty="0"/>
          </a:p>
        </p:txBody>
      </p:sp>
      <p:sp>
        <p:nvSpPr>
          <p:cNvPr id="16" name="Shape 14"/>
          <p:cNvSpPr/>
          <p:nvPr/>
        </p:nvSpPr>
        <p:spPr>
          <a:xfrm>
            <a:off x="640080" y="4709160"/>
            <a:ext cx="5486400" cy="1005840"/>
          </a:xfrm>
          <a:prstGeom prst="roundRect">
            <a:avLst>
              <a:gd name="adj" fmla="val 10909"/>
            </a:avLst>
          </a:prstGeom>
          <a:solidFill>
            <a:srgbClr val="F4F7FE"/>
          </a:solidFill>
          <a:ln w="9525">
            <a:solidFill>
              <a:srgbClr val="D8E1F5"/>
            </a:solidFill>
            <a:prstDash val="solid"/>
          </a:ln>
        </p:spPr>
      </p:sp>
      <p:sp>
        <p:nvSpPr>
          <p:cNvPr id="17" name="Shape 15"/>
          <p:cNvSpPr/>
          <p:nvPr/>
        </p:nvSpPr>
        <p:spPr>
          <a:xfrm>
            <a:off x="868680" y="4983480"/>
            <a:ext cx="457200" cy="457200"/>
          </a:xfrm>
          <a:prstGeom prst="ellipse">
            <a:avLst/>
          </a:prstGeom>
          <a:solidFill>
            <a:srgbClr val="142850"/>
          </a:solidFill>
          <a:ln w="6350">
            <a:solidFill>
              <a:srgbClr val="142850"/>
            </a:solidFill>
            <a:prstDash val="solid"/>
          </a:ln>
        </p:spPr>
      </p:sp>
      <p:sp>
        <p:nvSpPr>
          <p:cNvPr id="18" name="Text 16"/>
          <p:cNvSpPr txBox="1"/>
          <p:nvPr/>
        </p:nvSpPr>
        <p:spPr>
          <a:xfrm>
            <a:off x="868680" y="498348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554480" y="4873752"/>
            <a:ext cx="4389120" cy="320040"/>
          </a:xfrm>
          <a:prstGeom prst="rect">
            <a:avLst/>
          </a:prstGeom>
          <a:noFill/>
          <a:ln/>
        </p:spPr>
        <p:txBody>
          <a:bodyPr wrap="square" lIns="0" tIns="0" rIns="0" bIns="0" rtlCol="0" anchor="t"/>
          <a:lstStyle/>
          <a:p>
            <a:pPr marL="0" indent="0">
              <a:buNone/>
            </a:pPr>
            <a:r>
              <a:rPr lang="en-US" sz="1500" b="1" dirty="0">
                <a:solidFill>
                  <a:srgbClr val="142850"/>
                </a:solidFill>
                <a:latin typeface="Arial" pitchFamily="34" charset="0"/>
                <a:ea typeface="Arial" pitchFamily="34" charset="-122"/>
                <a:cs typeface="Arial" pitchFamily="34" charset="-120"/>
              </a:rPr>
              <a:t>Limited transparency</a:t>
            </a:r>
            <a:endParaRPr lang="en-US" sz="1500" dirty="0"/>
          </a:p>
        </p:txBody>
      </p:sp>
      <p:sp>
        <p:nvSpPr>
          <p:cNvPr id="20" name="Text 18"/>
          <p:cNvSpPr txBox="1"/>
          <p:nvPr/>
        </p:nvSpPr>
        <p:spPr>
          <a:xfrm>
            <a:off x="1554480" y="5184648"/>
            <a:ext cx="4434840" cy="457200"/>
          </a:xfrm>
          <a:prstGeom prst="rect">
            <a:avLst/>
          </a:prstGeom>
          <a:noFill/>
          <a:ln/>
        </p:spPr>
        <p:txBody>
          <a:bodyPr wrap="square" lIns="0" tIns="0" rIns="0" bIns="0" rtlCol="0" anchor="t"/>
          <a:lstStyle/>
          <a:p>
            <a:pPr marL="0" indent="0">
              <a:buNone/>
            </a:pPr>
            <a:r>
              <a:rPr lang="en-US" sz="1200" dirty="0">
                <a:solidFill>
                  <a:srgbClr val="5B6B87"/>
                </a:solidFill>
                <a:latin typeface="Arial" pitchFamily="34" charset="0"/>
                <a:ea typeface="Arial" pitchFamily="34" charset="-122"/>
                <a:cs typeface="Arial" pitchFamily="34" charset="-120"/>
              </a:rPr>
              <a:t>Where predictive tools are used, their outputs are often not explained to educators or students.</a:t>
            </a:r>
            <a:endParaRPr lang="en-US" sz="1200" dirty="0"/>
          </a:p>
        </p:txBody>
      </p:sp>
      <p:sp>
        <p:nvSpPr>
          <p:cNvPr id="21" name="Text 19"/>
          <p:cNvSpPr txBox="1"/>
          <p:nvPr/>
        </p:nvSpPr>
        <p:spPr>
          <a:xfrm>
            <a:off x="6675120" y="1965960"/>
            <a:ext cx="5029200" cy="274320"/>
          </a:xfrm>
          <a:prstGeom prst="rect">
            <a:avLst/>
          </a:prstGeom>
          <a:noFill/>
          <a:ln/>
        </p:spPr>
        <p:txBody>
          <a:bodyPr wrap="square" lIns="0" tIns="0" rIns="0" bIns="0" rtlCol="0" anchor="t"/>
          <a:lstStyle/>
          <a:p>
            <a:pPr marL="0" indent="0">
              <a:buNone/>
            </a:pPr>
            <a:r>
              <a:rPr lang="en-US" sz="1100" b="1" kern="0" spc="200" dirty="0">
                <a:solidFill>
                  <a:srgbClr val="2F6FED"/>
                </a:solidFill>
                <a:latin typeface="Arial" pitchFamily="34" charset="0"/>
                <a:ea typeface="Arial" pitchFamily="34" charset="-122"/>
                <a:cs typeface="Arial" pitchFamily="34" charset="-120"/>
              </a:rPr>
              <a:t>WHAT THIS PROJECT IMPLEMENTS</a:t>
            </a:r>
            <a:endParaRPr lang="en-US" sz="1100" dirty="0"/>
          </a:p>
        </p:txBody>
      </p:sp>
      <p:sp>
        <p:nvSpPr>
          <p:cNvPr id="22" name="Shape 20"/>
          <p:cNvSpPr/>
          <p:nvPr/>
        </p:nvSpPr>
        <p:spPr>
          <a:xfrm>
            <a:off x="6675120" y="2331720"/>
            <a:ext cx="4892040" cy="3383280"/>
          </a:xfrm>
          <a:prstGeom prst="roundRect">
            <a:avLst>
              <a:gd name="adj" fmla="val 3243"/>
            </a:avLst>
          </a:prstGeom>
          <a:solidFill>
            <a:srgbClr val="E9F0FF"/>
          </a:solidFill>
          <a:ln w="9525">
            <a:solidFill>
              <a:srgbClr val="E9F0FF"/>
            </a:solidFill>
            <a:prstDash val="solid"/>
          </a:ln>
        </p:spPr>
      </p:sp>
      <p:sp>
        <p:nvSpPr>
          <p:cNvPr id="23" name="Text 21"/>
          <p:cNvSpPr txBox="1"/>
          <p:nvPr/>
        </p:nvSpPr>
        <p:spPr>
          <a:xfrm>
            <a:off x="6949440" y="2560320"/>
            <a:ext cx="4434840" cy="30175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Predicts final exam marks (0–100) from five academic indicators</a:t>
            </a:r>
            <a:endParaRPr lang="en-US" sz="1400" dirty="0"/>
          </a:p>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Assigns an early-warning band from the predicted marks</a:t>
            </a:r>
            <a:endParaRPr lang="en-US" sz="1400" dirty="0"/>
          </a:p>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Explains each prediction with SHAP feature contributions</a:t>
            </a:r>
            <a:endParaRPr lang="en-US" sz="1400" dirty="0"/>
          </a:p>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Generates SHAP-guided, feature-level recommendations</a:t>
            </a:r>
            <a:endParaRPr lang="en-US" sz="1400" dirty="0"/>
          </a:p>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Compares hypothetical input scenarios (</a:t>
            </a:r>
            <a:r>
              <a:rPr lang="en-US" sz="1400">
                <a:solidFill>
                  <a:srgbClr val="1A2A4A"/>
                </a:solidFill>
                <a:latin typeface="Arial" pitchFamily="34" charset="0"/>
                <a:ea typeface="Arial" pitchFamily="34" charset="-122"/>
                <a:cs typeface="Arial" pitchFamily="34" charset="-120"/>
              </a:rPr>
              <a:t>What-If)</a:t>
            </a:r>
          </a:p>
          <a:p>
            <a:pPr marL="342900" indent="-342900">
              <a:spcAft>
                <a:spcPts val="1000"/>
              </a:spcAft>
              <a:buSzPct val="100000"/>
              <a:buChar char="•"/>
            </a:pPr>
            <a:r>
              <a:rPr lang="en-US" sz="1400">
                <a:solidFill>
                  <a:srgbClr val="1A2A4A"/>
                </a:solidFill>
                <a:latin typeface="Arial" pitchFamily="34" charset="0"/>
                <a:ea typeface="Arial" pitchFamily="34" charset="-122"/>
                <a:cs typeface="Arial" pitchFamily="34" charset="-120"/>
              </a:rPr>
              <a:t>Stores records, predictions, history and interventions for signed-in faculty and students</a:t>
            </a:r>
            <a:endParaRPr lang="en-US" sz="1400" dirty="0"/>
          </a:p>
        </p:txBody>
      </p:sp>
      <p:sp>
        <p:nvSpPr>
          <p:cNvPr id="24" name="Text 22"/>
          <p:cNvSpPr txBox="1"/>
          <p:nvPr/>
        </p:nvSpPr>
        <p:spPr>
          <a:xfrm>
            <a:off x="640080" y="5989320"/>
            <a:ext cx="10972800" cy="274320"/>
          </a:xfrm>
          <a:prstGeom prst="rect">
            <a:avLst/>
          </a:prstGeom>
          <a:noFill/>
          <a:ln/>
        </p:spPr>
        <p:txBody>
          <a:bodyPr wrap="square" lIns="0" tIns="0" rIns="0" bIns="0" rtlCol="0" anchor="t"/>
          <a:lstStyle/>
          <a:p>
            <a:pPr marL="0" indent="0">
              <a:buNone/>
            </a:pPr>
            <a:r>
              <a:rPr lang="en-US" sz="1000" i="1" dirty="0">
                <a:solidFill>
                  <a:srgbClr val="5B6B87"/>
                </a:solidFill>
                <a:latin typeface="Arial" pitchFamily="34" charset="0"/>
                <a:ea typeface="Arial" pitchFamily="34" charset="-122"/>
                <a:cs typeface="Arial" pitchFamily="34" charset="-120"/>
              </a:rPr>
              <a:t>The problem statements describe the general motivation; they are not results measured by this project.</a:t>
            </a:r>
            <a:endParaRPr lang="en-US" sz="1000" dirty="0"/>
          </a:p>
        </p:txBody>
      </p:sp>
      <p:sp>
        <p:nvSpPr>
          <p:cNvPr id="25" name="Text 23"/>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26" name="Text 24"/>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RELATED WORK</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Related work &amp; research gap</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Positioning of the implemented system. Literature citations are pending verification.</a:t>
            </a:r>
            <a:endParaRPr lang="en-US" sz="1400" dirty="0"/>
          </a:p>
        </p:txBody>
      </p:sp>
      <p:sp>
        <p:nvSpPr>
          <p:cNvPr id="5" name="Shape 3"/>
          <p:cNvSpPr/>
          <p:nvPr/>
        </p:nvSpPr>
        <p:spPr>
          <a:xfrm>
            <a:off x="640080" y="2011680"/>
            <a:ext cx="5212080" cy="3840480"/>
          </a:xfrm>
          <a:prstGeom prst="roundRect">
            <a:avLst>
              <a:gd name="adj" fmla="val 2857"/>
            </a:avLst>
          </a:prstGeom>
          <a:solidFill>
            <a:srgbClr val="FFFFFF"/>
          </a:solidFill>
          <a:ln w="19050">
            <a:solidFill>
              <a:srgbClr val="C27A12"/>
            </a:solidFill>
            <a:prstDash val="dash"/>
          </a:ln>
        </p:spPr>
      </p:sp>
      <p:sp>
        <p:nvSpPr>
          <p:cNvPr id="6" name="Text 4"/>
          <p:cNvSpPr txBox="1"/>
          <p:nvPr/>
        </p:nvSpPr>
        <p:spPr>
          <a:xfrm>
            <a:off x="914400" y="2286000"/>
            <a:ext cx="4754880" cy="502920"/>
          </a:xfrm>
          <a:prstGeom prst="rect">
            <a:avLst/>
          </a:prstGeom>
          <a:noFill/>
          <a:ln/>
        </p:spPr>
        <p:txBody>
          <a:bodyPr wrap="square" lIns="0" tIns="0" rIns="0" bIns="0" rtlCol="0" anchor="t"/>
          <a:lstStyle/>
          <a:p>
            <a:pPr marL="0" indent="0">
              <a:buNone/>
            </a:pPr>
            <a:r>
              <a:rPr lang="en-US" sz="1200" b="1" kern="0" spc="100" dirty="0">
                <a:solidFill>
                  <a:srgbClr val="C27A12"/>
                </a:solidFill>
                <a:latin typeface="Arial" pitchFamily="34" charset="0"/>
                <a:ea typeface="Arial" pitchFamily="34" charset="-122"/>
                <a:cs typeface="Arial" pitchFamily="34" charset="-120"/>
              </a:rPr>
              <a:t>VERIFIED REFERENCES REQUIRED BEFORE FINAL SUBMISSION</a:t>
            </a:r>
            <a:endParaRPr lang="en-US" sz="1200" dirty="0"/>
          </a:p>
        </p:txBody>
      </p:sp>
      <p:sp>
        <p:nvSpPr>
          <p:cNvPr id="7" name="Text 5"/>
          <p:cNvSpPr txBox="1"/>
          <p:nvPr/>
        </p:nvSpPr>
        <p:spPr>
          <a:xfrm>
            <a:off x="914400" y="2926080"/>
            <a:ext cx="4663440" cy="27432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A2A4A"/>
                </a:solidFill>
                <a:latin typeface="Arial" pitchFamily="34" charset="0"/>
                <a:ea typeface="Arial" pitchFamily="34" charset="-122"/>
                <a:cs typeface="Arial" pitchFamily="34" charset="-120"/>
              </a:rPr>
              <a:t>The five studies listed in the earlier draft had no authors, titles, venues or DOIs and could not be verified, so they have been removed.</a:t>
            </a:r>
            <a:endParaRPr lang="en-US" sz="1300" dirty="0"/>
          </a:p>
          <a:p>
            <a:pPr marL="342900" indent="-342900">
              <a:spcAft>
                <a:spcPts val="1000"/>
              </a:spcAft>
              <a:buSzPct val="100000"/>
              <a:buChar char="•"/>
            </a:pPr>
            <a:r>
              <a:rPr lang="en-US" sz="1300" dirty="0">
                <a:solidFill>
                  <a:srgbClr val="1A2A4A"/>
                </a:solidFill>
                <a:latin typeface="Arial" pitchFamily="34" charset="0"/>
                <a:ea typeface="Arial" pitchFamily="34" charset="-122"/>
                <a:cs typeface="Arial" pitchFamily="34" charset="-120"/>
              </a:rPr>
              <a:t>Add peer-reviewed studies on student performance prediction, early-warning systems and explainable AI in education here once each source has been checked.</a:t>
            </a:r>
            <a:endParaRPr lang="en-US" sz="1300" dirty="0"/>
          </a:p>
          <a:p>
            <a:pPr marL="342900" indent="-342900">
              <a:spcAft>
                <a:spcPts val="1000"/>
              </a:spcAft>
              <a:buSzPct val="100000"/>
              <a:buChar char="•"/>
            </a:pPr>
            <a:r>
              <a:rPr lang="en-US" sz="1300" dirty="0">
                <a:solidFill>
                  <a:srgbClr val="1A2A4A"/>
                </a:solidFill>
                <a:latin typeface="Arial" pitchFamily="34" charset="0"/>
                <a:ea typeface="Arial" pitchFamily="34" charset="-122"/>
                <a:cs typeface="Arial" pitchFamily="34" charset="-120"/>
              </a:rPr>
              <a:t>The research-gap statement on the right should then be confirmed against those sources.</a:t>
            </a:r>
            <a:endParaRPr lang="en-US" sz="1300" dirty="0"/>
          </a:p>
        </p:txBody>
      </p:sp>
      <p:sp>
        <p:nvSpPr>
          <p:cNvPr id="8" name="Text 6"/>
          <p:cNvSpPr txBox="1"/>
          <p:nvPr/>
        </p:nvSpPr>
        <p:spPr>
          <a:xfrm>
            <a:off x="6309360" y="2011680"/>
            <a:ext cx="5303520" cy="274320"/>
          </a:xfrm>
          <a:prstGeom prst="rect">
            <a:avLst/>
          </a:prstGeom>
          <a:noFill/>
          <a:ln/>
        </p:spPr>
        <p:txBody>
          <a:bodyPr wrap="square" lIns="0" tIns="0" rIns="0" bIns="0" rtlCol="0" anchor="t"/>
          <a:lstStyle/>
          <a:p>
            <a:pPr marL="0" indent="0">
              <a:buNone/>
            </a:pPr>
            <a:r>
              <a:rPr lang="en-US" sz="1100" b="1" kern="0" spc="200" dirty="0">
                <a:solidFill>
                  <a:srgbClr val="2F6FED"/>
                </a:solidFill>
                <a:latin typeface="Arial" pitchFamily="34" charset="0"/>
                <a:ea typeface="Arial" pitchFamily="34" charset="-122"/>
                <a:cs typeface="Arial" pitchFamily="34" charset="-120"/>
              </a:rPr>
              <a:t>IMPLEMENTED COMBINATION IN THIS PROJECT</a:t>
            </a:r>
            <a:endParaRPr lang="en-US" sz="1100" dirty="0"/>
          </a:p>
        </p:txBody>
      </p:sp>
      <p:sp>
        <p:nvSpPr>
          <p:cNvPr id="9" name="Shape 7"/>
          <p:cNvSpPr/>
          <p:nvPr/>
        </p:nvSpPr>
        <p:spPr>
          <a:xfrm>
            <a:off x="6309360" y="2377440"/>
            <a:ext cx="5257800" cy="585216"/>
          </a:xfrm>
          <a:prstGeom prst="roundRect">
            <a:avLst>
              <a:gd name="adj" fmla="val 18750"/>
            </a:avLst>
          </a:prstGeom>
          <a:solidFill>
            <a:srgbClr val="E9F0FF"/>
          </a:solidFill>
          <a:ln w="9525">
            <a:solidFill>
              <a:srgbClr val="E9F0FF"/>
            </a:solidFill>
            <a:prstDash val="solid"/>
          </a:ln>
        </p:spPr>
      </p:sp>
      <p:sp>
        <p:nvSpPr>
          <p:cNvPr id="10" name="Text 8"/>
          <p:cNvSpPr txBox="1"/>
          <p:nvPr/>
        </p:nvSpPr>
        <p:spPr>
          <a:xfrm>
            <a:off x="6492240" y="2377440"/>
            <a:ext cx="274320" cy="585216"/>
          </a:xfrm>
          <a:prstGeom prst="rect">
            <a:avLst/>
          </a:prstGeom>
          <a:noFill/>
          <a:ln/>
        </p:spPr>
        <p:txBody>
          <a:bodyPr wrap="square" lIns="0" tIns="0" rIns="0" bIns="0" rtlCol="0" anchor="ctr"/>
          <a:lstStyle/>
          <a:p>
            <a:pPr marL="0" indent="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11" name="Text 9"/>
          <p:cNvSpPr txBox="1"/>
          <p:nvPr/>
        </p:nvSpPr>
        <p:spPr>
          <a:xfrm>
            <a:off x="6858000" y="2377440"/>
            <a:ext cx="2651760" cy="585216"/>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Performance prediction</a:t>
            </a:r>
            <a:endParaRPr lang="en-US" sz="1300" dirty="0"/>
          </a:p>
        </p:txBody>
      </p:sp>
      <p:sp>
        <p:nvSpPr>
          <p:cNvPr id="12" name="Text 10"/>
          <p:cNvSpPr txBox="1"/>
          <p:nvPr/>
        </p:nvSpPr>
        <p:spPr>
          <a:xfrm>
            <a:off x="9464040" y="2377440"/>
            <a:ext cx="2011680" cy="585216"/>
          </a:xfrm>
          <a:prstGeom prst="rect">
            <a:avLst/>
          </a:prstGeom>
          <a:noFill/>
          <a:ln/>
        </p:spPr>
        <p:txBody>
          <a:bodyPr wrap="square" lIns="0" tIns="0" rIns="0" bIns="0" rtlCol="0" anchor="ctr"/>
          <a:lstStyle/>
          <a:p>
            <a:pPr marL="0" indent="0">
              <a:buNone/>
            </a:pPr>
            <a:r>
              <a:rPr lang="en-US" sz="1100" dirty="0">
                <a:solidFill>
                  <a:srgbClr val="5B6B87"/>
                </a:solidFill>
                <a:latin typeface="Arial" pitchFamily="34" charset="0"/>
                <a:ea typeface="Arial" pitchFamily="34" charset="-122"/>
                <a:cs typeface="Arial" pitchFamily="34" charset="-120"/>
              </a:rPr>
              <a:t>Regression of final exam marks</a:t>
            </a:r>
            <a:endParaRPr lang="en-US" sz="1100" dirty="0"/>
          </a:p>
        </p:txBody>
      </p:sp>
      <p:sp>
        <p:nvSpPr>
          <p:cNvPr id="13" name="Shape 11"/>
          <p:cNvSpPr/>
          <p:nvPr/>
        </p:nvSpPr>
        <p:spPr>
          <a:xfrm>
            <a:off x="6309360" y="3072384"/>
            <a:ext cx="5257800" cy="585216"/>
          </a:xfrm>
          <a:prstGeom prst="roundRect">
            <a:avLst>
              <a:gd name="adj" fmla="val 18750"/>
            </a:avLst>
          </a:prstGeom>
          <a:solidFill>
            <a:srgbClr val="E9F0FF"/>
          </a:solidFill>
          <a:ln w="9525">
            <a:solidFill>
              <a:srgbClr val="E9F0FF"/>
            </a:solidFill>
            <a:prstDash val="solid"/>
          </a:ln>
        </p:spPr>
      </p:sp>
      <p:sp>
        <p:nvSpPr>
          <p:cNvPr id="14" name="Text 12"/>
          <p:cNvSpPr txBox="1"/>
          <p:nvPr/>
        </p:nvSpPr>
        <p:spPr>
          <a:xfrm>
            <a:off x="6492240" y="3072384"/>
            <a:ext cx="274320" cy="585216"/>
          </a:xfrm>
          <a:prstGeom prst="rect">
            <a:avLst/>
          </a:prstGeom>
          <a:noFill/>
          <a:ln/>
        </p:spPr>
        <p:txBody>
          <a:bodyPr wrap="square" lIns="0" tIns="0" rIns="0" bIns="0" rtlCol="0" anchor="ctr"/>
          <a:lstStyle/>
          <a:p>
            <a:pPr marL="0" indent="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15" name="Text 13"/>
          <p:cNvSpPr txBox="1"/>
          <p:nvPr/>
        </p:nvSpPr>
        <p:spPr>
          <a:xfrm>
            <a:off x="6858000" y="3072384"/>
            <a:ext cx="2651760" cy="585216"/>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Early-warning classification</a:t>
            </a:r>
            <a:endParaRPr lang="en-US" sz="1300" dirty="0"/>
          </a:p>
        </p:txBody>
      </p:sp>
      <p:sp>
        <p:nvSpPr>
          <p:cNvPr id="16" name="Text 14"/>
          <p:cNvSpPr txBox="1"/>
          <p:nvPr/>
        </p:nvSpPr>
        <p:spPr>
          <a:xfrm>
            <a:off x="9464040" y="3072384"/>
            <a:ext cx="2011680" cy="585216"/>
          </a:xfrm>
          <a:prstGeom prst="rect">
            <a:avLst/>
          </a:prstGeom>
          <a:noFill/>
          <a:ln/>
        </p:spPr>
        <p:txBody>
          <a:bodyPr wrap="square" lIns="0" tIns="0" rIns="0" bIns="0" rtlCol="0" anchor="ctr"/>
          <a:lstStyle/>
          <a:p>
            <a:pPr marL="0" indent="0">
              <a:buNone/>
            </a:pPr>
            <a:r>
              <a:rPr lang="en-US" sz="1100" dirty="0">
                <a:solidFill>
                  <a:srgbClr val="5B6B87"/>
                </a:solidFill>
                <a:latin typeface="Arial" pitchFamily="34" charset="0"/>
                <a:ea typeface="Arial" pitchFamily="34" charset="-122"/>
                <a:cs typeface="Arial" pitchFamily="34" charset="-120"/>
              </a:rPr>
              <a:t>Rule-based bands on predicted marks</a:t>
            </a:r>
            <a:endParaRPr lang="en-US" sz="1100" dirty="0"/>
          </a:p>
        </p:txBody>
      </p:sp>
      <p:sp>
        <p:nvSpPr>
          <p:cNvPr id="17" name="Shape 15"/>
          <p:cNvSpPr/>
          <p:nvPr/>
        </p:nvSpPr>
        <p:spPr>
          <a:xfrm>
            <a:off x="6309360" y="3767328"/>
            <a:ext cx="5257800" cy="585216"/>
          </a:xfrm>
          <a:prstGeom prst="roundRect">
            <a:avLst>
              <a:gd name="adj" fmla="val 18750"/>
            </a:avLst>
          </a:prstGeom>
          <a:solidFill>
            <a:srgbClr val="E9F0FF"/>
          </a:solidFill>
          <a:ln w="9525">
            <a:solidFill>
              <a:srgbClr val="E9F0FF"/>
            </a:solidFill>
            <a:prstDash val="solid"/>
          </a:ln>
        </p:spPr>
      </p:sp>
      <p:sp>
        <p:nvSpPr>
          <p:cNvPr id="18" name="Text 16"/>
          <p:cNvSpPr txBox="1"/>
          <p:nvPr/>
        </p:nvSpPr>
        <p:spPr>
          <a:xfrm>
            <a:off x="6492240" y="3767328"/>
            <a:ext cx="274320" cy="585216"/>
          </a:xfrm>
          <a:prstGeom prst="rect">
            <a:avLst/>
          </a:prstGeom>
          <a:noFill/>
          <a:ln/>
        </p:spPr>
        <p:txBody>
          <a:bodyPr wrap="square" lIns="0" tIns="0" rIns="0" bIns="0" rtlCol="0" anchor="ctr"/>
          <a:lstStyle/>
          <a:p>
            <a:pPr marL="0" indent="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19" name="Text 17"/>
          <p:cNvSpPr txBox="1"/>
          <p:nvPr/>
        </p:nvSpPr>
        <p:spPr>
          <a:xfrm>
            <a:off x="6858000" y="3767328"/>
            <a:ext cx="2651760" cy="585216"/>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SHAP explainability</a:t>
            </a:r>
            <a:endParaRPr lang="en-US" sz="1300" dirty="0"/>
          </a:p>
        </p:txBody>
      </p:sp>
      <p:sp>
        <p:nvSpPr>
          <p:cNvPr id="20" name="Text 18"/>
          <p:cNvSpPr txBox="1"/>
          <p:nvPr/>
        </p:nvSpPr>
        <p:spPr>
          <a:xfrm>
            <a:off x="9464040" y="3767328"/>
            <a:ext cx="2011680" cy="585216"/>
          </a:xfrm>
          <a:prstGeom prst="rect">
            <a:avLst/>
          </a:prstGeom>
          <a:noFill/>
          <a:ln/>
        </p:spPr>
        <p:txBody>
          <a:bodyPr wrap="square" lIns="0" tIns="0" rIns="0" bIns="0" rtlCol="0" anchor="ctr"/>
          <a:lstStyle/>
          <a:p>
            <a:pPr marL="0" indent="0">
              <a:buNone/>
            </a:pPr>
            <a:r>
              <a:rPr lang="en-US" sz="1100" dirty="0">
                <a:solidFill>
                  <a:srgbClr val="5B6B87"/>
                </a:solidFill>
                <a:latin typeface="Arial" pitchFamily="34" charset="0"/>
                <a:ea typeface="Arial" pitchFamily="34" charset="-122"/>
                <a:cs typeface="Arial" pitchFamily="34" charset="-120"/>
              </a:rPr>
              <a:t>Feature attribution for each prediction</a:t>
            </a:r>
            <a:endParaRPr lang="en-US" sz="1100" dirty="0"/>
          </a:p>
        </p:txBody>
      </p:sp>
      <p:sp>
        <p:nvSpPr>
          <p:cNvPr id="21" name="Shape 19"/>
          <p:cNvSpPr/>
          <p:nvPr/>
        </p:nvSpPr>
        <p:spPr>
          <a:xfrm>
            <a:off x="6309360" y="4462272"/>
            <a:ext cx="5257800" cy="585216"/>
          </a:xfrm>
          <a:prstGeom prst="roundRect">
            <a:avLst>
              <a:gd name="adj" fmla="val 18750"/>
            </a:avLst>
          </a:prstGeom>
          <a:solidFill>
            <a:srgbClr val="E9F0FF"/>
          </a:solidFill>
          <a:ln w="9525">
            <a:solidFill>
              <a:srgbClr val="E9F0FF"/>
            </a:solidFill>
            <a:prstDash val="solid"/>
          </a:ln>
        </p:spPr>
      </p:sp>
      <p:sp>
        <p:nvSpPr>
          <p:cNvPr id="22" name="Text 20"/>
          <p:cNvSpPr txBox="1"/>
          <p:nvPr/>
        </p:nvSpPr>
        <p:spPr>
          <a:xfrm>
            <a:off x="6492240" y="4462272"/>
            <a:ext cx="274320" cy="585216"/>
          </a:xfrm>
          <a:prstGeom prst="rect">
            <a:avLst/>
          </a:prstGeom>
          <a:noFill/>
          <a:ln/>
        </p:spPr>
        <p:txBody>
          <a:bodyPr wrap="square" lIns="0" tIns="0" rIns="0" bIns="0" rtlCol="0" anchor="ctr"/>
          <a:lstStyle/>
          <a:p>
            <a:pPr marL="0" indent="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23" name="Text 21"/>
          <p:cNvSpPr txBox="1"/>
          <p:nvPr/>
        </p:nvSpPr>
        <p:spPr>
          <a:xfrm>
            <a:off x="6858000" y="4462272"/>
            <a:ext cx="2651760" cy="585216"/>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Feature-level recommendations</a:t>
            </a:r>
            <a:endParaRPr lang="en-US" sz="1300" dirty="0"/>
          </a:p>
        </p:txBody>
      </p:sp>
      <p:sp>
        <p:nvSpPr>
          <p:cNvPr id="24" name="Text 22"/>
          <p:cNvSpPr txBox="1"/>
          <p:nvPr/>
        </p:nvSpPr>
        <p:spPr>
          <a:xfrm>
            <a:off x="9464040" y="4462272"/>
            <a:ext cx="2011680" cy="585216"/>
          </a:xfrm>
          <a:prstGeom prst="rect">
            <a:avLst/>
          </a:prstGeom>
          <a:noFill/>
          <a:ln/>
        </p:spPr>
        <p:txBody>
          <a:bodyPr wrap="square" lIns="0" tIns="0" rIns="0" bIns="0" rtlCol="0" anchor="ctr"/>
          <a:lstStyle/>
          <a:p>
            <a:pPr marL="0" indent="0">
              <a:buNone/>
            </a:pPr>
            <a:r>
              <a:rPr lang="en-US" sz="1100" dirty="0">
                <a:solidFill>
                  <a:srgbClr val="5B6B87"/>
                </a:solidFill>
                <a:latin typeface="Arial" pitchFamily="34" charset="0"/>
                <a:ea typeface="Arial" pitchFamily="34" charset="-122"/>
                <a:cs typeface="Arial" pitchFamily="34" charset="-120"/>
              </a:rPr>
              <a:t>Guided by SHAP contributions</a:t>
            </a:r>
            <a:endParaRPr lang="en-US" sz="1100" dirty="0"/>
          </a:p>
        </p:txBody>
      </p:sp>
      <p:sp>
        <p:nvSpPr>
          <p:cNvPr id="25" name="Shape 23"/>
          <p:cNvSpPr/>
          <p:nvPr/>
        </p:nvSpPr>
        <p:spPr>
          <a:xfrm>
            <a:off x="6309360" y="5157216"/>
            <a:ext cx="5257800" cy="585216"/>
          </a:xfrm>
          <a:prstGeom prst="roundRect">
            <a:avLst>
              <a:gd name="adj" fmla="val 18750"/>
            </a:avLst>
          </a:prstGeom>
          <a:solidFill>
            <a:srgbClr val="E9F0FF"/>
          </a:solidFill>
          <a:ln w="9525">
            <a:solidFill>
              <a:srgbClr val="E9F0FF"/>
            </a:solidFill>
            <a:prstDash val="solid"/>
          </a:ln>
        </p:spPr>
      </p:sp>
      <p:sp>
        <p:nvSpPr>
          <p:cNvPr id="26" name="Text 24"/>
          <p:cNvSpPr txBox="1"/>
          <p:nvPr/>
        </p:nvSpPr>
        <p:spPr>
          <a:xfrm>
            <a:off x="6492240" y="5157216"/>
            <a:ext cx="274320" cy="585216"/>
          </a:xfrm>
          <a:prstGeom prst="rect">
            <a:avLst/>
          </a:prstGeom>
          <a:noFill/>
          <a:ln/>
        </p:spPr>
        <p:txBody>
          <a:bodyPr wrap="square" lIns="0" tIns="0" rIns="0" bIns="0" rtlCol="0" anchor="ctr"/>
          <a:lstStyle/>
          <a:p>
            <a:pPr marL="0" indent="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27" name="Text 25"/>
          <p:cNvSpPr txBox="1"/>
          <p:nvPr/>
        </p:nvSpPr>
        <p:spPr>
          <a:xfrm>
            <a:off x="6858000" y="5157216"/>
            <a:ext cx="2651760" cy="585216"/>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What-If scenario analysis</a:t>
            </a:r>
            <a:endParaRPr lang="en-US" sz="1300" dirty="0"/>
          </a:p>
        </p:txBody>
      </p:sp>
      <p:sp>
        <p:nvSpPr>
          <p:cNvPr id="28" name="Text 26"/>
          <p:cNvSpPr txBox="1"/>
          <p:nvPr/>
        </p:nvSpPr>
        <p:spPr>
          <a:xfrm>
            <a:off x="9464040" y="5157216"/>
            <a:ext cx="2011680" cy="585216"/>
          </a:xfrm>
          <a:prstGeom prst="rect">
            <a:avLst/>
          </a:prstGeom>
          <a:noFill/>
          <a:ln/>
        </p:spPr>
        <p:txBody>
          <a:bodyPr wrap="square" lIns="0" tIns="0" rIns="0" bIns="0" rtlCol="0" anchor="ctr"/>
          <a:lstStyle/>
          <a:p>
            <a:pPr marL="0" indent="0">
              <a:buNone/>
            </a:pPr>
            <a:r>
              <a:rPr lang="en-US" sz="1100" dirty="0">
                <a:solidFill>
                  <a:srgbClr val="5B6B87"/>
                </a:solidFill>
                <a:latin typeface="Arial" pitchFamily="34" charset="0"/>
                <a:ea typeface="Arial" pitchFamily="34" charset="-122"/>
                <a:cs typeface="Arial" pitchFamily="34" charset="-120"/>
              </a:rPr>
              <a:t>Comparison of model predictions</a:t>
            </a:r>
            <a:endParaRPr lang="en-US" sz="1100" dirty="0"/>
          </a:p>
        </p:txBody>
      </p:sp>
      <p:sp>
        <p:nvSpPr>
          <p:cNvPr id="29" name="Text 27"/>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30" name="Text 28"/>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PROJECT OBJECTIVES</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What the system is designed to do</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All five objectives are implemented in the current system.</a:t>
            </a:r>
            <a:endParaRPr lang="en-US" sz="1400" dirty="0"/>
          </a:p>
        </p:txBody>
      </p:sp>
      <p:sp>
        <p:nvSpPr>
          <p:cNvPr id="5" name="Shape 3"/>
          <p:cNvSpPr/>
          <p:nvPr/>
        </p:nvSpPr>
        <p:spPr>
          <a:xfrm>
            <a:off x="640080" y="2194560"/>
            <a:ext cx="2048256" cy="2697480"/>
          </a:xfrm>
          <a:prstGeom prst="roundRect">
            <a:avLst>
              <a:gd name="adj" fmla="val 5357"/>
            </a:avLst>
          </a:prstGeom>
          <a:solidFill>
            <a:srgbClr val="F4F7FE"/>
          </a:solidFill>
          <a:ln w="9525">
            <a:solidFill>
              <a:srgbClr val="D8E1F5"/>
            </a:solidFill>
            <a:prstDash val="solid"/>
          </a:ln>
        </p:spPr>
      </p:sp>
      <p:sp>
        <p:nvSpPr>
          <p:cNvPr id="6" name="Shape 4"/>
          <p:cNvSpPr/>
          <p:nvPr/>
        </p:nvSpPr>
        <p:spPr>
          <a:xfrm>
            <a:off x="914400" y="2468880"/>
            <a:ext cx="548640" cy="548640"/>
          </a:xfrm>
          <a:prstGeom prst="ellipse">
            <a:avLst/>
          </a:prstGeom>
          <a:solidFill>
            <a:srgbClr val="2F6FED"/>
          </a:solidFill>
          <a:ln w="6350">
            <a:solidFill>
              <a:srgbClr val="2F6FED"/>
            </a:solidFill>
            <a:prstDash val="solid"/>
          </a:ln>
        </p:spPr>
      </p:sp>
      <p:sp>
        <p:nvSpPr>
          <p:cNvPr id="7" name="Text 5"/>
          <p:cNvSpPr txBox="1"/>
          <p:nvPr/>
        </p:nvSpPr>
        <p:spPr>
          <a:xfrm>
            <a:off x="914400" y="246888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914400" y="3246120"/>
            <a:ext cx="1591056" cy="411480"/>
          </a:xfrm>
          <a:prstGeom prst="rect">
            <a:avLst/>
          </a:prstGeom>
          <a:noFill/>
          <a:ln/>
        </p:spPr>
        <p:txBody>
          <a:bodyPr wrap="square" lIns="0" tIns="0" rIns="0" bIns="0" rtlCol="0" anchor="t"/>
          <a:lstStyle/>
          <a:p>
            <a:pPr marL="0" indent="0">
              <a:buNone/>
            </a:pPr>
            <a:r>
              <a:rPr lang="en-US" sz="1800" b="1" dirty="0">
                <a:solidFill>
                  <a:srgbClr val="142850"/>
                </a:solidFill>
                <a:latin typeface="Cambria" pitchFamily="34" charset="0"/>
                <a:ea typeface="Cambria" pitchFamily="34" charset="-122"/>
                <a:cs typeface="Cambria" pitchFamily="34" charset="-120"/>
              </a:rPr>
              <a:t>Predict</a:t>
            </a:r>
            <a:endParaRPr lang="en-US" sz="1800" dirty="0"/>
          </a:p>
        </p:txBody>
      </p:sp>
      <p:sp>
        <p:nvSpPr>
          <p:cNvPr id="9" name="Text 7"/>
          <p:cNvSpPr txBox="1"/>
          <p:nvPr/>
        </p:nvSpPr>
        <p:spPr>
          <a:xfrm>
            <a:off x="914400" y="3749040"/>
            <a:ext cx="1545336" cy="1371600"/>
          </a:xfrm>
          <a:prstGeom prst="rect">
            <a:avLst/>
          </a:prstGeom>
          <a:noFill/>
          <a:ln/>
        </p:spPr>
        <p:txBody>
          <a:bodyPr wrap="square" lIns="0" tIns="0" rIns="0" bIns="0" rtlCol="0" anchor="t"/>
          <a:lstStyle/>
          <a:p>
            <a:pPr marL="0" indent="0">
              <a:buNone/>
            </a:pPr>
            <a:r>
              <a:rPr lang="en-US" sz="1300" dirty="0">
                <a:solidFill>
                  <a:srgbClr val="5B6B87"/>
                </a:solidFill>
                <a:latin typeface="Arial" pitchFamily="34" charset="0"/>
                <a:ea typeface="Arial" pitchFamily="34" charset="-122"/>
                <a:cs typeface="Arial" pitchFamily="34" charset="-120"/>
              </a:rPr>
              <a:t>Predict final exam marks from early academic indicators.</a:t>
            </a:r>
            <a:endParaRPr lang="en-US" sz="1300" dirty="0"/>
          </a:p>
        </p:txBody>
      </p:sp>
      <p:sp>
        <p:nvSpPr>
          <p:cNvPr id="10" name="Shape 8"/>
          <p:cNvSpPr/>
          <p:nvPr/>
        </p:nvSpPr>
        <p:spPr>
          <a:xfrm>
            <a:off x="2871216" y="2194560"/>
            <a:ext cx="2048256" cy="2697480"/>
          </a:xfrm>
          <a:prstGeom prst="roundRect">
            <a:avLst>
              <a:gd name="adj" fmla="val 5357"/>
            </a:avLst>
          </a:prstGeom>
          <a:solidFill>
            <a:srgbClr val="F4F7FE"/>
          </a:solidFill>
          <a:ln w="9525">
            <a:solidFill>
              <a:srgbClr val="D8E1F5"/>
            </a:solidFill>
            <a:prstDash val="solid"/>
          </a:ln>
        </p:spPr>
      </p:sp>
      <p:sp>
        <p:nvSpPr>
          <p:cNvPr id="11" name="Shape 9"/>
          <p:cNvSpPr/>
          <p:nvPr/>
        </p:nvSpPr>
        <p:spPr>
          <a:xfrm>
            <a:off x="3145536" y="2468880"/>
            <a:ext cx="548640" cy="548640"/>
          </a:xfrm>
          <a:prstGeom prst="ellipse">
            <a:avLst/>
          </a:prstGeom>
          <a:solidFill>
            <a:srgbClr val="2F6FED"/>
          </a:solidFill>
          <a:ln w="6350">
            <a:solidFill>
              <a:srgbClr val="2F6FED"/>
            </a:solidFill>
            <a:prstDash val="solid"/>
          </a:ln>
        </p:spPr>
      </p:sp>
      <p:sp>
        <p:nvSpPr>
          <p:cNvPr id="12" name="Text 10"/>
          <p:cNvSpPr txBox="1"/>
          <p:nvPr/>
        </p:nvSpPr>
        <p:spPr>
          <a:xfrm>
            <a:off x="3145536" y="246888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txBox="1"/>
          <p:nvPr/>
        </p:nvSpPr>
        <p:spPr>
          <a:xfrm>
            <a:off x="3145536" y="3246120"/>
            <a:ext cx="1591056" cy="411480"/>
          </a:xfrm>
          <a:prstGeom prst="rect">
            <a:avLst/>
          </a:prstGeom>
          <a:noFill/>
          <a:ln/>
        </p:spPr>
        <p:txBody>
          <a:bodyPr wrap="square" lIns="0" tIns="0" rIns="0" bIns="0" rtlCol="0" anchor="t"/>
          <a:lstStyle/>
          <a:p>
            <a:pPr marL="0" indent="0">
              <a:buNone/>
            </a:pPr>
            <a:r>
              <a:rPr lang="en-US" sz="1800" b="1" dirty="0">
                <a:solidFill>
                  <a:srgbClr val="142850"/>
                </a:solidFill>
                <a:latin typeface="Cambria" pitchFamily="34" charset="0"/>
                <a:ea typeface="Cambria" pitchFamily="34" charset="-122"/>
                <a:cs typeface="Cambria" pitchFamily="34" charset="-120"/>
              </a:rPr>
              <a:t>Identify</a:t>
            </a:r>
            <a:endParaRPr lang="en-US" sz="1800" dirty="0"/>
          </a:p>
        </p:txBody>
      </p:sp>
      <p:sp>
        <p:nvSpPr>
          <p:cNvPr id="14" name="Text 12"/>
          <p:cNvSpPr txBox="1"/>
          <p:nvPr/>
        </p:nvSpPr>
        <p:spPr>
          <a:xfrm>
            <a:off x="3145536" y="3749040"/>
            <a:ext cx="1545336" cy="1371600"/>
          </a:xfrm>
          <a:prstGeom prst="rect">
            <a:avLst/>
          </a:prstGeom>
          <a:noFill/>
          <a:ln/>
        </p:spPr>
        <p:txBody>
          <a:bodyPr wrap="square" lIns="0" tIns="0" rIns="0" bIns="0" rtlCol="0" anchor="t"/>
          <a:lstStyle/>
          <a:p>
            <a:pPr marL="0" indent="0">
              <a:buNone/>
            </a:pPr>
            <a:r>
              <a:rPr lang="en-US" sz="1300" dirty="0">
                <a:solidFill>
                  <a:srgbClr val="5B6B87"/>
                </a:solidFill>
                <a:latin typeface="Arial" pitchFamily="34" charset="0"/>
                <a:ea typeface="Arial" pitchFamily="34" charset="-122"/>
                <a:cs typeface="Arial" pitchFamily="34" charset="-120"/>
              </a:rPr>
              <a:t>Identify students falling into defined early-warning bands.</a:t>
            </a:r>
            <a:endParaRPr lang="en-US" sz="1300" dirty="0"/>
          </a:p>
        </p:txBody>
      </p:sp>
      <p:sp>
        <p:nvSpPr>
          <p:cNvPr id="15" name="Shape 13"/>
          <p:cNvSpPr/>
          <p:nvPr/>
        </p:nvSpPr>
        <p:spPr>
          <a:xfrm>
            <a:off x="5102352" y="2194560"/>
            <a:ext cx="2048256" cy="2697480"/>
          </a:xfrm>
          <a:prstGeom prst="roundRect">
            <a:avLst>
              <a:gd name="adj" fmla="val 5357"/>
            </a:avLst>
          </a:prstGeom>
          <a:solidFill>
            <a:srgbClr val="F4F7FE"/>
          </a:solidFill>
          <a:ln w="9525">
            <a:solidFill>
              <a:srgbClr val="D8E1F5"/>
            </a:solidFill>
            <a:prstDash val="solid"/>
          </a:ln>
        </p:spPr>
      </p:sp>
      <p:sp>
        <p:nvSpPr>
          <p:cNvPr id="16" name="Shape 14"/>
          <p:cNvSpPr/>
          <p:nvPr/>
        </p:nvSpPr>
        <p:spPr>
          <a:xfrm>
            <a:off x="5376672" y="2468880"/>
            <a:ext cx="548640" cy="548640"/>
          </a:xfrm>
          <a:prstGeom prst="ellipse">
            <a:avLst/>
          </a:prstGeom>
          <a:solidFill>
            <a:srgbClr val="2F6FED"/>
          </a:solidFill>
          <a:ln w="6350">
            <a:solidFill>
              <a:srgbClr val="2F6FED"/>
            </a:solidFill>
            <a:prstDash val="solid"/>
          </a:ln>
        </p:spPr>
      </p:sp>
      <p:sp>
        <p:nvSpPr>
          <p:cNvPr id="17" name="Text 15"/>
          <p:cNvSpPr txBox="1"/>
          <p:nvPr/>
        </p:nvSpPr>
        <p:spPr>
          <a:xfrm>
            <a:off x="5376672" y="246888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txBox="1"/>
          <p:nvPr/>
        </p:nvSpPr>
        <p:spPr>
          <a:xfrm>
            <a:off x="5376672" y="3246120"/>
            <a:ext cx="1591056" cy="411480"/>
          </a:xfrm>
          <a:prstGeom prst="rect">
            <a:avLst/>
          </a:prstGeom>
          <a:noFill/>
          <a:ln/>
        </p:spPr>
        <p:txBody>
          <a:bodyPr wrap="square" lIns="0" tIns="0" rIns="0" bIns="0" rtlCol="0" anchor="t"/>
          <a:lstStyle/>
          <a:p>
            <a:pPr marL="0" indent="0">
              <a:buNone/>
            </a:pPr>
            <a:r>
              <a:rPr lang="en-US" sz="1800" b="1" dirty="0">
                <a:solidFill>
                  <a:srgbClr val="142850"/>
                </a:solidFill>
                <a:latin typeface="Cambria" pitchFamily="34" charset="0"/>
                <a:ea typeface="Cambria" pitchFamily="34" charset="-122"/>
                <a:cs typeface="Cambria" pitchFamily="34" charset="-120"/>
              </a:rPr>
              <a:t>Explain</a:t>
            </a:r>
            <a:endParaRPr lang="en-US" sz="1800" dirty="0"/>
          </a:p>
        </p:txBody>
      </p:sp>
      <p:sp>
        <p:nvSpPr>
          <p:cNvPr id="19" name="Text 17"/>
          <p:cNvSpPr txBox="1"/>
          <p:nvPr/>
        </p:nvSpPr>
        <p:spPr>
          <a:xfrm>
            <a:off x="5376672" y="3749040"/>
            <a:ext cx="1545336" cy="1371600"/>
          </a:xfrm>
          <a:prstGeom prst="rect">
            <a:avLst/>
          </a:prstGeom>
          <a:noFill/>
          <a:ln/>
        </p:spPr>
        <p:txBody>
          <a:bodyPr wrap="square" lIns="0" tIns="0" rIns="0" bIns="0" rtlCol="0" anchor="t"/>
          <a:lstStyle/>
          <a:p>
            <a:pPr marL="0" indent="0">
              <a:buNone/>
            </a:pPr>
            <a:r>
              <a:rPr lang="en-US" sz="1300" dirty="0">
                <a:solidFill>
                  <a:srgbClr val="5B6B87"/>
                </a:solidFill>
                <a:latin typeface="Arial" pitchFamily="34" charset="0"/>
                <a:ea typeface="Arial" pitchFamily="34" charset="-122"/>
                <a:cs typeface="Arial" pitchFamily="34" charset="-120"/>
              </a:rPr>
              <a:t>Explain each prediction using SHAP feature contributions.</a:t>
            </a:r>
            <a:endParaRPr lang="en-US" sz="1300" dirty="0"/>
          </a:p>
        </p:txBody>
      </p:sp>
      <p:sp>
        <p:nvSpPr>
          <p:cNvPr id="20" name="Shape 18"/>
          <p:cNvSpPr/>
          <p:nvPr/>
        </p:nvSpPr>
        <p:spPr>
          <a:xfrm>
            <a:off x="7333488" y="2194560"/>
            <a:ext cx="2048256" cy="2697480"/>
          </a:xfrm>
          <a:prstGeom prst="roundRect">
            <a:avLst>
              <a:gd name="adj" fmla="val 5357"/>
            </a:avLst>
          </a:prstGeom>
          <a:solidFill>
            <a:srgbClr val="F4F7FE"/>
          </a:solidFill>
          <a:ln w="9525">
            <a:solidFill>
              <a:srgbClr val="D8E1F5"/>
            </a:solidFill>
            <a:prstDash val="solid"/>
          </a:ln>
        </p:spPr>
      </p:sp>
      <p:sp>
        <p:nvSpPr>
          <p:cNvPr id="21" name="Shape 19"/>
          <p:cNvSpPr/>
          <p:nvPr/>
        </p:nvSpPr>
        <p:spPr>
          <a:xfrm>
            <a:off x="7607808" y="2468880"/>
            <a:ext cx="548640" cy="548640"/>
          </a:xfrm>
          <a:prstGeom prst="ellipse">
            <a:avLst/>
          </a:prstGeom>
          <a:solidFill>
            <a:srgbClr val="2F6FED"/>
          </a:solidFill>
          <a:ln w="6350">
            <a:solidFill>
              <a:srgbClr val="2F6FED"/>
            </a:solidFill>
            <a:prstDash val="solid"/>
          </a:ln>
        </p:spPr>
      </p:sp>
      <p:sp>
        <p:nvSpPr>
          <p:cNvPr id="22" name="Text 20"/>
          <p:cNvSpPr txBox="1"/>
          <p:nvPr/>
        </p:nvSpPr>
        <p:spPr>
          <a:xfrm>
            <a:off x="7607808" y="246888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txBox="1"/>
          <p:nvPr/>
        </p:nvSpPr>
        <p:spPr>
          <a:xfrm>
            <a:off x="7607808" y="3246120"/>
            <a:ext cx="1591056" cy="411480"/>
          </a:xfrm>
          <a:prstGeom prst="rect">
            <a:avLst/>
          </a:prstGeom>
          <a:noFill/>
          <a:ln/>
        </p:spPr>
        <p:txBody>
          <a:bodyPr wrap="square" lIns="0" tIns="0" rIns="0" bIns="0" rtlCol="0" anchor="t"/>
          <a:lstStyle/>
          <a:p>
            <a:pPr marL="0" indent="0">
              <a:buNone/>
            </a:pPr>
            <a:r>
              <a:rPr lang="en-US" sz="1800" b="1" dirty="0">
                <a:solidFill>
                  <a:srgbClr val="142850"/>
                </a:solidFill>
                <a:latin typeface="Cambria" pitchFamily="34" charset="0"/>
                <a:ea typeface="Cambria" pitchFamily="34" charset="-122"/>
                <a:cs typeface="Cambria" pitchFamily="34" charset="-120"/>
              </a:rPr>
              <a:t>Recommend</a:t>
            </a:r>
            <a:endParaRPr lang="en-US" sz="1800" dirty="0"/>
          </a:p>
        </p:txBody>
      </p:sp>
      <p:sp>
        <p:nvSpPr>
          <p:cNvPr id="24" name="Text 22"/>
          <p:cNvSpPr txBox="1"/>
          <p:nvPr/>
        </p:nvSpPr>
        <p:spPr>
          <a:xfrm>
            <a:off x="7607808" y="3749040"/>
            <a:ext cx="1545336" cy="1371600"/>
          </a:xfrm>
          <a:prstGeom prst="rect">
            <a:avLst/>
          </a:prstGeom>
          <a:noFill/>
          <a:ln/>
        </p:spPr>
        <p:txBody>
          <a:bodyPr wrap="square" lIns="0" tIns="0" rIns="0" bIns="0" rtlCol="0" anchor="t"/>
          <a:lstStyle/>
          <a:p>
            <a:pPr marL="0" indent="0">
              <a:buNone/>
            </a:pPr>
            <a:r>
              <a:rPr lang="en-US" sz="1300" dirty="0">
                <a:solidFill>
                  <a:srgbClr val="5B6B87"/>
                </a:solidFill>
                <a:latin typeface="Arial" pitchFamily="34" charset="0"/>
                <a:ea typeface="Arial" pitchFamily="34" charset="-122"/>
                <a:cs typeface="Arial" pitchFamily="34" charset="-120"/>
              </a:rPr>
              <a:t>Generate SHAP-guided, feature-level recommendations.</a:t>
            </a:r>
            <a:endParaRPr lang="en-US" sz="1300" dirty="0"/>
          </a:p>
        </p:txBody>
      </p:sp>
      <p:sp>
        <p:nvSpPr>
          <p:cNvPr id="25" name="Shape 23"/>
          <p:cNvSpPr/>
          <p:nvPr/>
        </p:nvSpPr>
        <p:spPr>
          <a:xfrm>
            <a:off x="9564624" y="2194560"/>
            <a:ext cx="2048256" cy="2697480"/>
          </a:xfrm>
          <a:prstGeom prst="roundRect">
            <a:avLst>
              <a:gd name="adj" fmla="val 5357"/>
            </a:avLst>
          </a:prstGeom>
          <a:solidFill>
            <a:srgbClr val="F4F7FE"/>
          </a:solidFill>
          <a:ln w="9525">
            <a:solidFill>
              <a:srgbClr val="D8E1F5"/>
            </a:solidFill>
            <a:prstDash val="solid"/>
          </a:ln>
        </p:spPr>
      </p:sp>
      <p:sp>
        <p:nvSpPr>
          <p:cNvPr id="26" name="Shape 24"/>
          <p:cNvSpPr/>
          <p:nvPr/>
        </p:nvSpPr>
        <p:spPr>
          <a:xfrm>
            <a:off x="9838944" y="2468880"/>
            <a:ext cx="548640" cy="548640"/>
          </a:xfrm>
          <a:prstGeom prst="ellipse">
            <a:avLst/>
          </a:prstGeom>
          <a:solidFill>
            <a:srgbClr val="2F6FED"/>
          </a:solidFill>
          <a:ln w="6350">
            <a:solidFill>
              <a:srgbClr val="2F6FED"/>
            </a:solidFill>
            <a:prstDash val="solid"/>
          </a:ln>
        </p:spPr>
      </p:sp>
      <p:sp>
        <p:nvSpPr>
          <p:cNvPr id="27" name="Text 25"/>
          <p:cNvSpPr txBox="1"/>
          <p:nvPr/>
        </p:nvSpPr>
        <p:spPr>
          <a:xfrm>
            <a:off x="9838944" y="246888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8" name="Text 26"/>
          <p:cNvSpPr txBox="1"/>
          <p:nvPr/>
        </p:nvSpPr>
        <p:spPr>
          <a:xfrm>
            <a:off x="9838944" y="3246120"/>
            <a:ext cx="1591056" cy="411480"/>
          </a:xfrm>
          <a:prstGeom prst="rect">
            <a:avLst/>
          </a:prstGeom>
          <a:noFill/>
          <a:ln/>
        </p:spPr>
        <p:txBody>
          <a:bodyPr wrap="square" lIns="0" tIns="0" rIns="0" bIns="0" rtlCol="0" anchor="t"/>
          <a:lstStyle/>
          <a:p>
            <a:pPr marL="0" indent="0">
              <a:buNone/>
            </a:pPr>
            <a:r>
              <a:rPr lang="en-US" sz="1800" b="1" dirty="0">
                <a:solidFill>
                  <a:srgbClr val="142850"/>
                </a:solidFill>
                <a:latin typeface="Cambria" pitchFamily="34" charset="0"/>
                <a:ea typeface="Cambria" pitchFamily="34" charset="-122"/>
                <a:cs typeface="Cambria" pitchFamily="34" charset="-120"/>
              </a:rPr>
              <a:t>Explore</a:t>
            </a:r>
            <a:endParaRPr lang="en-US" sz="1800" dirty="0"/>
          </a:p>
        </p:txBody>
      </p:sp>
      <p:sp>
        <p:nvSpPr>
          <p:cNvPr id="29" name="Text 27"/>
          <p:cNvSpPr txBox="1"/>
          <p:nvPr/>
        </p:nvSpPr>
        <p:spPr>
          <a:xfrm>
            <a:off x="9838944" y="3749040"/>
            <a:ext cx="1545336" cy="1371600"/>
          </a:xfrm>
          <a:prstGeom prst="rect">
            <a:avLst/>
          </a:prstGeom>
          <a:noFill/>
          <a:ln/>
        </p:spPr>
        <p:txBody>
          <a:bodyPr wrap="square" lIns="0" tIns="0" rIns="0" bIns="0" rtlCol="0" anchor="t"/>
          <a:lstStyle/>
          <a:p>
            <a:pPr marL="0" indent="0">
              <a:buNone/>
            </a:pPr>
            <a:r>
              <a:rPr lang="en-US" sz="1300" dirty="0">
                <a:solidFill>
                  <a:srgbClr val="5B6B87"/>
                </a:solidFill>
                <a:latin typeface="Arial" pitchFamily="34" charset="0"/>
                <a:ea typeface="Arial" pitchFamily="34" charset="-122"/>
                <a:cs typeface="Arial" pitchFamily="34" charset="-120"/>
              </a:rPr>
              <a:t>Allow hypothetical scenario comparison through What-If analysis.</a:t>
            </a:r>
            <a:endParaRPr lang="en-US" sz="1300" dirty="0"/>
          </a:p>
        </p:txBody>
      </p:sp>
      <p:sp>
        <p:nvSpPr>
          <p:cNvPr id="30" name="Text 28"/>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31" name="Text 29"/>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DATASET</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Student academic dataset</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data/Final_Marks_Data.csv — the only dataset used by the model.</a:t>
            </a:r>
            <a:endParaRPr lang="en-US" sz="1400" dirty="0"/>
          </a:p>
        </p:txBody>
      </p:sp>
      <p:sp>
        <p:nvSpPr>
          <p:cNvPr id="5" name="Shape 3"/>
          <p:cNvSpPr/>
          <p:nvPr/>
        </p:nvSpPr>
        <p:spPr>
          <a:xfrm>
            <a:off x="640080" y="2011680"/>
            <a:ext cx="3383280" cy="786384"/>
          </a:xfrm>
          <a:prstGeom prst="roundRect">
            <a:avLst>
              <a:gd name="adj" fmla="val 13953"/>
            </a:avLst>
          </a:prstGeom>
          <a:solidFill>
            <a:srgbClr val="E9F0FF"/>
          </a:solidFill>
          <a:ln w="9525">
            <a:solidFill>
              <a:srgbClr val="E9F0FF"/>
            </a:solidFill>
            <a:prstDash val="solid"/>
          </a:ln>
        </p:spPr>
      </p:sp>
      <p:sp>
        <p:nvSpPr>
          <p:cNvPr id="6" name="Text 4"/>
          <p:cNvSpPr txBox="1"/>
          <p:nvPr/>
        </p:nvSpPr>
        <p:spPr>
          <a:xfrm>
            <a:off x="868680" y="2011680"/>
            <a:ext cx="1325880" cy="786384"/>
          </a:xfrm>
          <a:prstGeom prst="rect">
            <a:avLst/>
          </a:prstGeom>
          <a:noFill/>
          <a:ln/>
        </p:spPr>
        <p:txBody>
          <a:bodyPr wrap="square" lIns="0" tIns="0" rIns="0" bIns="0" rtlCol="0" anchor="ctr"/>
          <a:lstStyle/>
          <a:p>
            <a:pPr marL="0" indent="0">
              <a:buNone/>
            </a:pPr>
            <a:r>
              <a:rPr lang="en-US" sz="2600" b="1" dirty="0">
                <a:solidFill>
                  <a:srgbClr val="2F6FED"/>
                </a:solidFill>
                <a:latin typeface="Cambria" pitchFamily="34" charset="0"/>
                <a:ea typeface="Cambria" pitchFamily="34" charset="-122"/>
                <a:cs typeface="Cambria" pitchFamily="34" charset="-120"/>
              </a:rPr>
              <a:t>2,000</a:t>
            </a:r>
            <a:endParaRPr lang="en-US" sz="2600" dirty="0"/>
          </a:p>
        </p:txBody>
      </p:sp>
      <p:sp>
        <p:nvSpPr>
          <p:cNvPr id="7" name="Text 5"/>
          <p:cNvSpPr txBox="1"/>
          <p:nvPr/>
        </p:nvSpPr>
        <p:spPr>
          <a:xfrm>
            <a:off x="2194560" y="2011680"/>
            <a:ext cx="1737360" cy="786384"/>
          </a:xfrm>
          <a:prstGeom prst="rect">
            <a:avLst/>
          </a:prstGeom>
          <a:noFill/>
          <a:ln/>
        </p:spPr>
        <p:txBody>
          <a:bodyPr wrap="square" lIns="0" tIns="0" rIns="0" bIns="0" rtlCol="0" anchor="ctr"/>
          <a:lstStyle/>
          <a:p>
            <a:pPr marL="0" indent="0">
              <a:buNone/>
            </a:pPr>
            <a:r>
              <a:rPr lang="en-US" sz="1200" dirty="0">
                <a:solidFill>
                  <a:srgbClr val="1A2A4A"/>
                </a:solidFill>
                <a:latin typeface="Arial" pitchFamily="34" charset="0"/>
                <a:ea typeface="Arial" pitchFamily="34" charset="-122"/>
                <a:cs typeface="Arial" pitchFamily="34" charset="-120"/>
              </a:rPr>
              <a:t>records (students)</a:t>
            </a:r>
            <a:endParaRPr lang="en-US" sz="1200" dirty="0"/>
          </a:p>
        </p:txBody>
      </p:sp>
      <p:sp>
        <p:nvSpPr>
          <p:cNvPr id="8" name="Shape 6"/>
          <p:cNvSpPr/>
          <p:nvPr/>
        </p:nvSpPr>
        <p:spPr>
          <a:xfrm>
            <a:off x="640080" y="2944368"/>
            <a:ext cx="3383280" cy="786384"/>
          </a:xfrm>
          <a:prstGeom prst="roundRect">
            <a:avLst>
              <a:gd name="adj" fmla="val 13953"/>
            </a:avLst>
          </a:prstGeom>
          <a:solidFill>
            <a:srgbClr val="E9F0FF"/>
          </a:solidFill>
          <a:ln w="9525">
            <a:solidFill>
              <a:srgbClr val="E9F0FF"/>
            </a:solidFill>
            <a:prstDash val="solid"/>
          </a:ln>
        </p:spPr>
      </p:sp>
      <p:sp>
        <p:nvSpPr>
          <p:cNvPr id="9" name="Text 7"/>
          <p:cNvSpPr txBox="1"/>
          <p:nvPr/>
        </p:nvSpPr>
        <p:spPr>
          <a:xfrm>
            <a:off x="868680" y="2944368"/>
            <a:ext cx="1325880" cy="786384"/>
          </a:xfrm>
          <a:prstGeom prst="rect">
            <a:avLst/>
          </a:prstGeom>
          <a:noFill/>
          <a:ln/>
        </p:spPr>
        <p:txBody>
          <a:bodyPr wrap="square" lIns="0" tIns="0" rIns="0" bIns="0" rtlCol="0" anchor="ctr"/>
          <a:lstStyle/>
          <a:p>
            <a:pPr marL="0" indent="0">
              <a:buNone/>
            </a:pPr>
            <a:r>
              <a:rPr lang="en-US" sz="2600" b="1" dirty="0">
                <a:solidFill>
                  <a:srgbClr val="2F6FED"/>
                </a:solidFill>
                <a:latin typeface="Cambria" pitchFamily="34" charset="0"/>
                <a:ea typeface="Cambria" pitchFamily="34" charset="-122"/>
                <a:cs typeface="Cambria" pitchFamily="34" charset="-120"/>
              </a:rPr>
              <a:t>5</a:t>
            </a:r>
            <a:endParaRPr lang="en-US" sz="2600" dirty="0"/>
          </a:p>
        </p:txBody>
      </p:sp>
      <p:sp>
        <p:nvSpPr>
          <p:cNvPr id="10" name="Text 8"/>
          <p:cNvSpPr txBox="1"/>
          <p:nvPr/>
        </p:nvSpPr>
        <p:spPr>
          <a:xfrm>
            <a:off x="2194560" y="2944368"/>
            <a:ext cx="1737360" cy="786384"/>
          </a:xfrm>
          <a:prstGeom prst="rect">
            <a:avLst/>
          </a:prstGeom>
          <a:noFill/>
          <a:ln/>
        </p:spPr>
        <p:txBody>
          <a:bodyPr wrap="square" lIns="0" tIns="0" rIns="0" bIns="0" rtlCol="0" anchor="ctr"/>
          <a:lstStyle/>
          <a:p>
            <a:pPr marL="0" indent="0">
              <a:buNone/>
            </a:pPr>
            <a:r>
              <a:rPr lang="en-US" sz="1200" dirty="0">
                <a:solidFill>
                  <a:srgbClr val="1A2A4A"/>
                </a:solidFill>
                <a:latin typeface="Arial" pitchFamily="34" charset="0"/>
                <a:ea typeface="Arial" pitchFamily="34" charset="-122"/>
                <a:cs typeface="Arial" pitchFamily="34" charset="-120"/>
              </a:rPr>
              <a:t>input features</a:t>
            </a:r>
            <a:endParaRPr lang="en-US" sz="1200" dirty="0"/>
          </a:p>
        </p:txBody>
      </p:sp>
      <p:sp>
        <p:nvSpPr>
          <p:cNvPr id="11" name="Shape 9"/>
          <p:cNvSpPr/>
          <p:nvPr/>
        </p:nvSpPr>
        <p:spPr>
          <a:xfrm>
            <a:off x="640080" y="3877056"/>
            <a:ext cx="3383280" cy="786384"/>
          </a:xfrm>
          <a:prstGeom prst="roundRect">
            <a:avLst>
              <a:gd name="adj" fmla="val 13953"/>
            </a:avLst>
          </a:prstGeom>
          <a:solidFill>
            <a:srgbClr val="E9F0FF"/>
          </a:solidFill>
          <a:ln w="9525">
            <a:solidFill>
              <a:srgbClr val="E9F0FF"/>
            </a:solidFill>
            <a:prstDash val="solid"/>
          </a:ln>
        </p:spPr>
      </p:sp>
      <p:sp>
        <p:nvSpPr>
          <p:cNvPr id="12" name="Text 10"/>
          <p:cNvSpPr txBox="1"/>
          <p:nvPr/>
        </p:nvSpPr>
        <p:spPr>
          <a:xfrm>
            <a:off x="868680" y="3877056"/>
            <a:ext cx="1325880" cy="786384"/>
          </a:xfrm>
          <a:prstGeom prst="rect">
            <a:avLst/>
          </a:prstGeom>
          <a:noFill/>
          <a:ln/>
        </p:spPr>
        <p:txBody>
          <a:bodyPr wrap="square" lIns="0" tIns="0" rIns="0" bIns="0" rtlCol="0" anchor="ctr"/>
          <a:lstStyle/>
          <a:p>
            <a:pPr marL="0" indent="0">
              <a:buNone/>
            </a:pPr>
            <a:r>
              <a:rPr lang="en-US" sz="2600" b="1" dirty="0">
                <a:solidFill>
                  <a:srgbClr val="2F6FED"/>
                </a:solidFill>
                <a:latin typeface="Cambria" pitchFamily="34" charset="0"/>
                <a:ea typeface="Cambria" pitchFamily="34" charset="-122"/>
                <a:cs typeface="Cambria" pitchFamily="34" charset="-120"/>
              </a:rPr>
              <a:t>7</a:t>
            </a:r>
            <a:endParaRPr lang="en-US" sz="2600" dirty="0"/>
          </a:p>
        </p:txBody>
      </p:sp>
      <p:sp>
        <p:nvSpPr>
          <p:cNvPr id="13" name="Text 11"/>
          <p:cNvSpPr txBox="1"/>
          <p:nvPr/>
        </p:nvSpPr>
        <p:spPr>
          <a:xfrm>
            <a:off x="2194560" y="3877056"/>
            <a:ext cx="1737360" cy="786384"/>
          </a:xfrm>
          <a:prstGeom prst="rect">
            <a:avLst/>
          </a:prstGeom>
          <a:noFill/>
          <a:ln/>
        </p:spPr>
        <p:txBody>
          <a:bodyPr wrap="square" lIns="0" tIns="0" rIns="0" bIns="0" rtlCol="0" anchor="ctr"/>
          <a:lstStyle/>
          <a:p>
            <a:pPr marL="0" indent="0">
              <a:buNone/>
            </a:pPr>
            <a:r>
              <a:rPr lang="en-US" sz="1200" dirty="0">
                <a:solidFill>
                  <a:srgbClr val="1A2A4A"/>
                </a:solidFill>
                <a:latin typeface="Arial" pitchFamily="34" charset="0"/>
                <a:ea typeface="Arial" pitchFamily="34" charset="-122"/>
                <a:cs typeface="Arial" pitchFamily="34" charset="-120"/>
              </a:rPr>
              <a:t>columns in total</a:t>
            </a:r>
            <a:endParaRPr lang="en-US" sz="1200" dirty="0"/>
          </a:p>
        </p:txBody>
      </p:sp>
      <p:sp>
        <p:nvSpPr>
          <p:cNvPr id="14" name="Shape 12"/>
          <p:cNvSpPr/>
          <p:nvPr/>
        </p:nvSpPr>
        <p:spPr>
          <a:xfrm>
            <a:off x="640080" y="4809744"/>
            <a:ext cx="3383280" cy="786384"/>
          </a:xfrm>
          <a:prstGeom prst="roundRect">
            <a:avLst>
              <a:gd name="adj" fmla="val 13953"/>
            </a:avLst>
          </a:prstGeom>
          <a:solidFill>
            <a:srgbClr val="E9F0FF"/>
          </a:solidFill>
          <a:ln w="9525">
            <a:solidFill>
              <a:srgbClr val="E9F0FF"/>
            </a:solidFill>
            <a:prstDash val="solid"/>
          </a:ln>
        </p:spPr>
      </p:sp>
      <p:sp>
        <p:nvSpPr>
          <p:cNvPr id="15" name="Text 13"/>
          <p:cNvSpPr txBox="1"/>
          <p:nvPr/>
        </p:nvSpPr>
        <p:spPr>
          <a:xfrm>
            <a:off x="868680" y="4809744"/>
            <a:ext cx="1325880" cy="786384"/>
          </a:xfrm>
          <a:prstGeom prst="rect">
            <a:avLst/>
          </a:prstGeom>
          <a:noFill/>
          <a:ln/>
        </p:spPr>
        <p:txBody>
          <a:bodyPr wrap="square" lIns="0" tIns="0" rIns="0" bIns="0" rtlCol="0" anchor="ctr"/>
          <a:lstStyle/>
          <a:p>
            <a:pPr marL="0" indent="0">
              <a:buNone/>
            </a:pPr>
            <a:r>
              <a:rPr lang="en-US" sz="2600" b="1" dirty="0">
                <a:solidFill>
                  <a:srgbClr val="2F6FED"/>
                </a:solidFill>
                <a:latin typeface="Cambria" pitchFamily="34" charset="0"/>
                <a:ea typeface="Cambria" pitchFamily="34" charset="-122"/>
                <a:cs typeface="Cambria" pitchFamily="34" charset="-120"/>
              </a:rPr>
              <a:t>0–100</a:t>
            </a:r>
            <a:endParaRPr lang="en-US" sz="2600" dirty="0"/>
          </a:p>
        </p:txBody>
      </p:sp>
      <p:sp>
        <p:nvSpPr>
          <p:cNvPr id="16" name="Text 14"/>
          <p:cNvSpPr txBox="1"/>
          <p:nvPr/>
        </p:nvSpPr>
        <p:spPr>
          <a:xfrm>
            <a:off x="2194560" y="4809744"/>
            <a:ext cx="1737360" cy="786384"/>
          </a:xfrm>
          <a:prstGeom prst="rect">
            <a:avLst/>
          </a:prstGeom>
          <a:noFill/>
          <a:ln/>
        </p:spPr>
        <p:txBody>
          <a:bodyPr wrap="square" lIns="0" tIns="0" rIns="0" bIns="0" rtlCol="0" anchor="ctr"/>
          <a:lstStyle/>
          <a:p>
            <a:pPr marL="0" indent="0">
              <a:buNone/>
            </a:pPr>
            <a:r>
              <a:rPr lang="en-US" sz="1200" dirty="0">
                <a:solidFill>
                  <a:srgbClr val="1A2A4A"/>
                </a:solidFill>
                <a:latin typeface="Arial" pitchFamily="34" charset="0"/>
                <a:ea typeface="Arial" pitchFamily="34" charset="-122"/>
                <a:cs typeface="Arial" pitchFamily="34" charset="-120"/>
              </a:rPr>
              <a:t>target scale (final exam marks)</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389120" y="2011680"/>
          <a:ext cx="717804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Arial" pitchFamily="34" charset="0"/>
                          <a:ea typeface="Arial" pitchFamily="34" charset="-122"/>
                          <a:cs typeface="Arial" pitchFamily="34" charset="-120"/>
                        </a:rPr>
                        <a:t>Column</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Role</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Range in data</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A2A4A"/>
                          </a:solidFill>
                          <a:latin typeface="Arial" pitchFamily="34" charset="0"/>
                          <a:ea typeface="Arial" pitchFamily="34" charset="-122"/>
                          <a:cs typeface="Arial" pitchFamily="34" charset="-120"/>
                        </a:rPr>
                        <a:t>Attendance (%)</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52 – 100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A2A4A"/>
                          </a:solidFill>
                          <a:latin typeface="Arial" pitchFamily="34" charset="0"/>
                          <a:ea typeface="Arial" pitchFamily="34" charset="-122"/>
                          <a:cs typeface="Arial" pitchFamily="34" charset="-120"/>
                        </a:rPr>
                        <a:t>Internal Test 1 (out of 40)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18 – 40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A2A4A"/>
                          </a:solidFill>
                          <a:latin typeface="Arial" pitchFamily="34" charset="0"/>
                          <a:ea typeface="Arial" pitchFamily="34" charset="-122"/>
                          <a:cs typeface="Arial" pitchFamily="34" charset="-120"/>
                        </a:rPr>
                        <a:t>Internal Test 2 (out of 40)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16 – 40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A2A4A"/>
                          </a:solidFill>
                          <a:latin typeface="Arial" pitchFamily="34" charset="0"/>
                          <a:ea typeface="Arial" pitchFamily="34" charset="-122"/>
                          <a:cs typeface="Arial" pitchFamily="34" charset="-120"/>
                        </a:rPr>
                        <a:t>Assignment Score (out of 10)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4 – 10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A2A4A"/>
                          </a:solidFill>
                          <a:latin typeface="Arial" pitchFamily="34" charset="0"/>
                          <a:ea typeface="Arial" pitchFamily="34" charset="-122"/>
                          <a:cs typeface="Arial" pitchFamily="34" charset="-120"/>
                        </a:rPr>
                        <a:t>Daily Study Hours</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1 – 5</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200" b="1" dirty="0">
                          <a:solidFill>
                            <a:srgbClr val="142850"/>
                          </a:solidFill>
                          <a:latin typeface="Arial" pitchFamily="34" charset="0"/>
                          <a:ea typeface="Arial" pitchFamily="34" charset="-122"/>
                          <a:cs typeface="Arial" pitchFamily="34" charset="-120"/>
                        </a:rPr>
                        <a:t>Final Exam Marks (out of 100)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b="1" dirty="0">
                          <a:solidFill>
                            <a:srgbClr val="142850"/>
                          </a:solidFill>
                          <a:latin typeface="Arial" pitchFamily="34" charset="0"/>
                          <a:ea typeface="Arial" pitchFamily="34" charset="-122"/>
                          <a:cs typeface="Arial" pitchFamily="34" charset="-120"/>
                        </a:rPr>
                        <a:t>Target</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b="1" dirty="0">
                          <a:solidFill>
                            <a:srgbClr val="142850"/>
                          </a:solidFill>
                          <a:latin typeface="Arial" pitchFamily="34" charset="0"/>
                          <a:ea typeface="Arial" pitchFamily="34" charset="-122"/>
                          <a:cs typeface="Arial" pitchFamily="34" charset="-120"/>
                        </a:rPr>
                        <a:t>25 – 100 (mean 64.86)</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200" dirty="0">
                          <a:solidFill>
                            <a:srgbClr val="1A2A4A"/>
                          </a:solidFill>
                          <a:latin typeface="Arial" pitchFamily="34" charset="0"/>
                          <a:ea typeface="Arial" pitchFamily="34" charset="-122"/>
                          <a:cs typeface="Arial" pitchFamily="34" charset="-120"/>
                        </a:rPr>
                        <a:t>Student_ID</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Identifier (not a model input)</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S1000 – S2999</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8" name="Text 15"/>
          <p:cNvSpPr txBox="1"/>
          <p:nvPr/>
        </p:nvSpPr>
        <p:spPr>
          <a:xfrm>
            <a:off x="4389120" y="5257800"/>
            <a:ext cx="7178040" cy="274320"/>
          </a:xfrm>
          <a:prstGeom prst="rect">
            <a:avLst/>
          </a:prstGeom>
          <a:noFill/>
          <a:ln/>
        </p:spPr>
        <p:txBody>
          <a:bodyPr wrap="square" lIns="0" tIns="0" rIns="0" bIns="0" rtlCol="0" anchor="t"/>
          <a:lstStyle/>
          <a:p>
            <a:pPr marL="0" indent="0">
              <a:buNone/>
            </a:pPr>
            <a:r>
              <a:rPr lang="en-US" sz="1200" b="1" dirty="0">
                <a:solidFill>
                  <a:srgbClr val="1E9E64"/>
                </a:solidFill>
                <a:latin typeface="Arial" pitchFamily="34" charset="0"/>
                <a:ea typeface="Arial" pitchFamily="34" charset="-122"/>
                <a:cs typeface="Arial" pitchFamily="34" charset="-120"/>
              </a:rPr>
              <a:t>No missing values  ·  No duplicate students  ·  All features numeric</a:t>
            </a:r>
            <a:endParaRPr lang="en-US" sz="1200" dirty="0"/>
          </a:p>
        </p:txBody>
      </p:sp>
      <p:sp>
        <p:nvSpPr>
          <p:cNvPr id="19" name="Text 16"/>
          <p:cNvSpPr txBox="1"/>
          <p:nvPr/>
        </p:nvSpPr>
        <p:spPr>
          <a:xfrm>
            <a:off x="4389120" y="5623560"/>
            <a:ext cx="7178040" cy="274320"/>
          </a:xfrm>
          <a:prstGeom prst="rect">
            <a:avLst/>
          </a:prstGeom>
          <a:noFill/>
          <a:ln/>
        </p:spPr>
        <p:txBody>
          <a:bodyPr wrap="square" lIns="0" tIns="0" rIns="0" bIns="0" rtlCol="0" anchor="t"/>
          <a:lstStyle/>
          <a:p>
            <a:pPr marL="0" indent="0">
              <a:buNone/>
            </a:pPr>
            <a:r>
              <a:rPr lang="en-US" sz="1100" i="1" dirty="0">
                <a:solidFill>
                  <a:srgbClr val="C27A12"/>
                </a:solidFill>
                <a:latin typeface="Arial" pitchFamily="34" charset="0"/>
                <a:ea typeface="Arial" pitchFamily="34" charset="-122"/>
                <a:cs typeface="Arial" pitchFamily="34" charset="-120"/>
              </a:rPr>
              <a:t>External dataset origin not verified in the current project documentation.</a:t>
            </a:r>
            <a:endParaRPr lang="en-US" sz="1100" dirty="0"/>
          </a:p>
        </p:txBody>
      </p:sp>
      <p:sp>
        <p:nvSpPr>
          <p:cNvPr id="20" name="Text 17"/>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21" name="Text 18"/>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METHODOLOGY</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From academic inputs to explained predictions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Prediction pipeline used by the production system, and how the models were evaluated.</a:t>
            </a:r>
            <a:endParaRPr lang="en-US" sz="1400" dirty="0"/>
          </a:p>
        </p:txBody>
      </p:sp>
      <p:sp>
        <p:nvSpPr>
          <p:cNvPr id="5" name="Shape 3"/>
          <p:cNvSpPr/>
          <p:nvPr/>
        </p:nvSpPr>
        <p:spPr>
          <a:xfrm>
            <a:off x="640080" y="2057400"/>
            <a:ext cx="2377440" cy="868680"/>
          </a:xfrm>
          <a:prstGeom prst="roundRect">
            <a:avLst>
              <a:gd name="adj" fmla="val 12632"/>
            </a:avLst>
          </a:prstGeom>
          <a:solidFill>
            <a:srgbClr val="E9F0FF"/>
          </a:solidFill>
          <a:ln w="9525">
            <a:solidFill>
              <a:srgbClr val="E9F0FF"/>
            </a:solidFill>
            <a:prstDash val="solid"/>
          </a:ln>
        </p:spPr>
      </p:sp>
      <p:sp>
        <p:nvSpPr>
          <p:cNvPr id="6" name="Shape 4"/>
          <p:cNvSpPr/>
          <p:nvPr/>
        </p:nvSpPr>
        <p:spPr>
          <a:xfrm>
            <a:off x="777240" y="2313432"/>
            <a:ext cx="365760" cy="365760"/>
          </a:xfrm>
          <a:prstGeom prst="ellipse">
            <a:avLst/>
          </a:prstGeom>
          <a:solidFill>
            <a:srgbClr val="2F6FED"/>
          </a:solidFill>
          <a:ln w="6350">
            <a:solidFill>
              <a:srgbClr val="2F6FED"/>
            </a:solidFill>
            <a:prstDash val="solid"/>
          </a:ln>
        </p:spPr>
      </p:sp>
      <p:sp>
        <p:nvSpPr>
          <p:cNvPr id="7" name="Text 5"/>
          <p:cNvSpPr txBox="1"/>
          <p:nvPr/>
        </p:nvSpPr>
        <p:spPr>
          <a:xfrm>
            <a:off x="777240" y="23134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1234440" y="2057400"/>
            <a:ext cx="1691640" cy="868680"/>
          </a:xfrm>
          <a:prstGeom prst="rect">
            <a:avLst/>
          </a:prstGeom>
          <a:noFill/>
          <a:ln/>
        </p:spPr>
        <p:txBody>
          <a:bodyPr wrap="square" lIns="0" tIns="0" rIns="0" bIns="0" rtlCol="0" anchor="ctr"/>
          <a:lstStyle/>
          <a:p>
            <a:pPr marL="0" indent="0">
              <a:buNone/>
            </a:pPr>
            <a:r>
              <a:rPr lang="en-US" sz="1300" b="1">
                <a:solidFill>
                  <a:srgbClr val="142850"/>
                </a:solidFill>
                <a:latin typeface="Arial" pitchFamily="34" charset="0"/>
                <a:ea typeface="Arial" pitchFamily="34" charset="-122"/>
                <a:cs typeface="Arial" pitchFamily="34" charset="-120"/>
              </a:rPr>
              <a:t>Stored academic record</a:t>
            </a:r>
            <a:endParaRPr lang="en-US" sz="1300" dirty="0"/>
          </a:p>
        </p:txBody>
      </p:sp>
      <p:sp>
        <p:nvSpPr>
          <p:cNvPr id="9" name="Shape 7"/>
          <p:cNvSpPr/>
          <p:nvPr/>
        </p:nvSpPr>
        <p:spPr>
          <a:xfrm>
            <a:off x="3090672" y="2372868"/>
            <a:ext cx="338328" cy="237744"/>
          </a:xfrm>
          <a:prstGeom prst="rightArrow">
            <a:avLst/>
          </a:prstGeom>
          <a:solidFill>
            <a:srgbClr val="2F6FED"/>
          </a:solidFill>
          <a:ln w="6350">
            <a:solidFill>
              <a:srgbClr val="2F6FED"/>
            </a:solidFill>
            <a:prstDash val="solid"/>
          </a:ln>
        </p:spPr>
      </p:sp>
      <p:sp>
        <p:nvSpPr>
          <p:cNvPr id="10" name="Shape 8"/>
          <p:cNvSpPr/>
          <p:nvPr/>
        </p:nvSpPr>
        <p:spPr>
          <a:xfrm>
            <a:off x="3502152" y="2057400"/>
            <a:ext cx="2377440" cy="868680"/>
          </a:xfrm>
          <a:prstGeom prst="roundRect">
            <a:avLst>
              <a:gd name="adj" fmla="val 12632"/>
            </a:avLst>
          </a:prstGeom>
          <a:solidFill>
            <a:srgbClr val="E9F0FF"/>
          </a:solidFill>
          <a:ln w="9525">
            <a:solidFill>
              <a:srgbClr val="E9F0FF"/>
            </a:solidFill>
            <a:prstDash val="solid"/>
          </a:ln>
        </p:spPr>
      </p:sp>
      <p:sp>
        <p:nvSpPr>
          <p:cNvPr id="11" name="Shape 9"/>
          <p:cNvSpPr/>
          <p:nvPr/>
        </p:nvSpPr>
        <p:spPr>
          <a:xfrm>
            <a:off x="3639312" y="2313432"/>
            <a:ext cx="365760" cy="365760"/>
          </a:xfrm>
          <a:prstGeom prst="ellipse">
            <a:avLst/>
          </a:prstGeom>
          <a:solidFill>
            <a:srgbClr val="2F6FED"/>
          </a:solidFill>
          <a:ln w="6350">
            <a:solidFill>
              <a:srgbClr val="2F6FED"/>
            </a:solidFill>
            <a:prstDash val="solid"/>
          </a:ln>
        </p:spPr>
      </p:sp>
      <p:sp>
        <p:nvSpPr>
          <p:cNvPr id="12" name="Text 10"/>
          <p:cNvSpPr txBox="1"/>
          <p:nvPr/>
        </p:nvSpPr>
        <p:spPr>
          <a:xfrm>
            <a:off x="3639312" y="23134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txBox="1"/>
          <p:nvPr/>
        </p:nvSpPr>
        <p:spPr>
          <a:xfrm>
            <a:off x="4096512" y="2057400"/>
            <a:ext cx="1691640" cy="868680"/>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Input validation</a:t>
            </a:r>
            <a:endParaRPr lang="en-US" sz="1300" dirty="0"/>
          </a:p>
        </p:txBody>
      </p:sp>
      <p:sp>
        <p:nvSpPr>
          <p:cNvPr id="14" name="Shape 12"/>
          <p:cNvSpPr/>
          <p:nvPr/>
        </p:nvSpPr>
        <p:spPr>
          <a:xfrm>
            <a:off x="5952744" y="2372868"/>
            <a:ext cx="338328" cy="237744"/>
          </a:xfrm>
          <a:prstGeom prst="rightArrow">
            <a:avLst/>
          </a:prstGeom>
          <a:solidFill>
            <a:srgbClr val="2F6FED"/>
          </a:solidFill>
          <a:ln w="6350">
            <a:solidFill>
              <a:srgbClr val="2F6FED"/>
            </a:solidFill>
            <a:prstDash val="solid"/>
          </a:ln>
        </p:spPr>
      </p:sp>
      <p:sp>
        <p:nvSpPr>
          <p:cNvPr id="15" name="Shape 13"/>
          <p:cNvSpPr/>
          <p:nvPr/>
        </p:nvSpPr>
        <p:spPr>
          <a:xfrm>
            <a:off x="6364224" y="2057400"/>
            <a:ext cx="2377440" cy="868680"/>
          </a:xfrm>
          <a:prstGeom prst="roundRect">
            <a:avLst>
              <a:gd name="adj" fmla="val 12632"/>
            </a:avLst>
          </a:prstGeom>
          <a:solidFill>
            <a:srgbClr val="E9F0FF"/>
          </a:solidFill>
          <a:ln w="9525">
            <a:solidFill>
              <a:srgbClr val="E9F0FF"/>
            </a:solidFill>
            <a:prstDash val="solid"/>
          </a:ln>
        </p:spPr>
      </p:sp>
      <p:sp>
        <p:nvSpPr>
          <p:cNvPr id="16" name="Shape 14"/>
          <p:cNvSpPr/>
          <p:nvPr/>
        </p:nvSpPr>
        <p:spPr>
          <a:xfrm>
            <a:off x="6501384" y="2313432"/>
            <a:ext cx="365760" cy="365760"/>
          </a:xfrm>
          <a:prstGeom prst="ellipse">
            <a:avLst/>
          </a:prstGeom>
          <a:solidFill>
            <a:srgbClr val="2F6FED"/>
          </a:solidFill>
          <a:ln w="6350">
            <a:solidFill>
              <a:srgbClr val="2F6FED"/>
            </a:solidFill>
            <a:prstDash val="solid"/>
          </a:ln>
        </p:spPr>
      </p:sp>
      <p:sp>
        <p:nvSpPr>
          <p:cNvPr id="17" name="Text 15"/>
          <p:cNvSpPr txBox="1"/>
          <p:nvPr/>
        </p:nvSpPr>
        <p:spPr>
          <a:xfrm>
            <a:off x="6501384" y="23134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txBox="1"/>
          <p:nvPr/>
        </p:nvSpPr>
        <p:spPr>
          <a:xfrm>
            <a:off x="6958584" y="2057400"/>
            <a:ext cx="1691640" cy="868680"/>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StandardScaler</a:t>
            </a:r>
            <a:endParaRPr lang="en-US" sz="1300" dirty="0"/>
          </a:p>
        </p:txBody>
      </p:sp>
      <p:sp>
        <p:nvSpPr>
          <p:cNvPr id="19" name="Shape 17"/>
          <p:cNvSpPr/>
          <p:nvPr/>
        </p:nvSpPr>
        <p:spPr>
          <a:xfrm>
            <a:off x="8814816" y="2372868"/>
            <a:ext cx="338328" cy="237744"/>
          </a:xfrm>
          <a:prstGeom prst="rightArrow">
            <a:avLst/>
          </a:prstGeom>
          <a:solidFill>
            <a:srgbClr val="2F6FED"/>
          </a:solidFill>
          <a:ln w="6350">
            <a:solidFill>
              <a:srgbClr val="2F6FED"/>
            </a:solidFill>
            <a:prstDash val="solid"/>
          </a:ln>
        </p:spPr>
      </p:sp>
      <p:sp>
        <p:nvSpPr>
          <p:cNvPr id="20" name="Shape 18"/>
          <p:cNvSpPr/>
          <p:nvPr/>
        </p:nvSpPr>
        <p:spPr>
          <a:xfrm>
            <a:off x="9226296" y="2057400"/>
            <a:ext cx="2377440" cy="868680"/>
          </a:xfrm>
          <a:prstGeom prst="roundRect">
            <a:avLst>
              <a:gd name="adj" fmla="val 12632"/>
            </a:avLst>
          </a:prstGeom>
          <a:solidFill>
            <a:srgbClr val="E9F0FF"/>
          </a:solidFill>
          <a:ln w="9525">
            <a:solidFill>
              <a:srgbClr val="E9F0FF"/>
            </a:solidFill>
            <a:prstDash val="solid"/>
          </a:ln>
        </p:spPr>
      </p:sp>
      <p:sp>
        <p:nvSpPr>
          <p:cNvPr id="21" name="Shape 19"/>
          <p:cNvSpPr/>
          <p:nvPr/>
        </p:nvSpPr>
        <p:spPr>
          <a:xfrm>
            <a:off x="9363456" y="2313432"/>
            <a:ext cx="365760" cy="365760"/>
          </a:xfrm>
          <a:prstGeom prst="ellipse">
            <a:avLst/>
          </a:prstGeom>
          <a:solidFill>
            <a:srgbClr val="2F6FED"/>
          </a:solidFill>
          <a:ln w="6350">
            <a:solidFill>
              <a:srgbClr val="2F6FED"/>
            </a:solidFill>
            <a:prstDash val="solid"/>
          </a:ln>
        </p:spPr>
      </p:sp>
      <p:sp>
        <p:nvSpPr>
          <p:cNvPr id="22" name="Text 20"/>
          <p:cNvSpPr txBox="1"/>
          <p:nvPr/>
        </p:nvSpPr>
        <p:spPr>
          <a:xfrm>
            <a:off x="9363456" y="23134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txBox="1"/>
          <p:nvPr/>
        </p:nvSpPr>
        <p:spPr>
          <a:xfrm>
            <a:off x="9820656" y="2057400"/>
            <a:ext cx="1691640" cy="868680"/>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Linear Regression</a:t>
            </a:r>
            <a:endParaRPr lang="en-US" sz="1300" dirty="0"/>
          </a:p>
        </p:txBody>
      </p:sp>
      <p:sp>
        <p:nvSpPr>
          <p:cNvPr id="24" name="Shape 22"/>
          <p:cNvSpPr/>
          <p:nvPr/>
        </p:nvSpPr>
        <p:spPr>
          <a:xfrm>
            <a:off x="9226296" y="3657600"/>
            <a:ext cx="2377440" cy="868680"/>
          </a:xfrm>
          <a:prstGeom prst="roundRect">
            <a:avLst>
              <a:gd name="adj" fmla="val 12632"/>
            </a:avLst>
          </a:prstGeom>
          <a:solidFill>
            <a:srgbClr val="F4F7FE"/>
          </a:solidFill>
          <a:ln w="9525">
            <a:solidFill>
              <a:srgbClr val="D8E1F5"/>
            </a:solidFill>
            <a:prstDash val="solid"/>
          </a:ln>
        </p:spPr>
      </p:sp>
      <p:sp>
        <p:nvSpPr>
          <p:cNvPr id="25" name="Shape 23"/>
          <p:cNvSpPr/>
          <p:nvPr/>
        </p:nvSpPr>
        <p:spPr>
          <a:xfrm>
            <a:off x="9363456" y="3913632"/>
            <a:ext cx="365760" cy="365760"/>
          </a:xfrm>
          <a:prstGeom prst="ellipse">
            <a:avLst/>
          </a:prstGeom>
          <a:solidFill>
            <a:srgbClr val="2F6FED"/>
          </a:solidFill>
          <a:ln w="6350">
            <a:solidFill>
              <a:srgbClr val="2F6FED"/>
            </a:solidFill>
            <a:prstDash val="solid"/>
          </a:ln>
        </p:spPr>
      </p:sp>
      <p:sp>
        <p:nvSpPr>
          <p:cNvPr id="26" name="Text 24"/>
          <p:cNvSpPr txBox="1"/>
          <p:nvPr/>
        </p:nvSpPr>
        <p:spPr>
          <a:xfrm>
            <a:off x="9363456" y="3913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7" name="Text 25"/>
          <p:cNvSpPr txBox="1"/>
          <p:nvPr/>
        </p:nvSpPr>
        <p:spPr>
          <a:xfrm>
            <a:off x="9820656" y="3657600"/>
            <a:ext cx="1691640" cy="868680"/>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Predicted final exam marks</a:t>
            </a:r>
            <a:endParaRPr lang="en-US" sz="1300" dirty="0"/>
          </a:p>
        </p:txBody>
      </p:sp>
      <p:sp>
        <p:nvSpPr>
          <p:cNvPr id="28" name="Shape 26"/>
          <p:cNvSpPr/>
          <p:nvPr/>
        </p:nvSpPr>
        <p:spPr>
          <a:xfrm>
            <a:off x="6364224" y="3657600"/>
            <a:ext cx="2377440" cy="868680"/>
          </a:xfrm>
          <a:prstGeom prst="roundRect">
            <a:avLst>
              <a:gd name="adj" fmla="val 12632"/>
            </a:avLst>
          </a:prstGeom>
          <a:solidFill>
            <a:srgbClr val="F4F7FE"/>
          </a:solidFill>
          <a:ln w="9525">
            <a:solidFill>
              <a:srgbClr val="D8E1F5"/>
            </a:solidFill>
            <a:prstDash val="solid"/>
          </a:ln>
        </p:spPr>
      </p:sp>
      <p:sp>
        <p:nvSpPr>
          <p:cNvPr id="29" name="Shape 27"/>
          <p:cNvSpPr/>
          <p:nvPr/>
        </p:nvSpPr>
        <p:spPr>
          <a:xfrm>
            <a:off x="6501384" y="3913632"/>
            <a:ext cx="365760" cy="365760"/>
          </a:xfrm>
          <a:prstGeom prst="ellipse">
            <a:avLst/>
          </a:prstGeom>
          <a:solidFill>
            <a:srgbClr val="2F6FED"/>
          </a:solidFill>
          <a:ln w="6350">
            <a:solidFill>
              <a:srgbClr val="2F6FED"/>
            </a:solidFill>
            <a:prstDash val="solid"/>
          </a:ln>
        </p:spPr>
      </p:sp>
      <p:sp>
        <p:nvSpPr>
          <p:cNvPr id="30" name="Text 28"/>
          <p:cNvSpPr txBox="1"/>
          <p:nvPr/>
        </p:nvSpPr>
        <p:spPr>
          <a:xfrm>
            <a:off x="6501384" y="3913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1" name="Text 29"/>
          <p:cNvSpPr txBox="1"/>
          <p:nvPr/>
        </p:nvSpPr>
        <p:spPr>
          <a:xfrm>
            <a:off x="6958584" y="3657600"/>
            <a:ext cx="1691640" cy="868680"/>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Early-warning classification</a:t>
            </a:r>
            <a:endParaRPr lang="en-US" sz="1300" dirty="0"/>
          </a:p>
        </p:txBody>
      </p:sp>
      <p:sp>
        <p:nvSpPr>
          <p:cNvPr id="32" name="Shape 30"/>
          <p:cNvSpPr/>
          <p:nvPr/>
        </p:nvSpPr>
        <p:spPr>
          <a:xfrm>
            <a:off x="3502152" y="3657600"/>
            <a:ext cx="2377440" cy="868680"/>
          </a:xfrm>
          <a:prstGeom prst="roundRect">
            <a:avLst>
              <a:gd name="adj" fmla="val 12632"/>
            </a:avLst>
          </a:prstGeom>
          <a:solidFill>
            <a:srgbClr val="F4F7FE"/>
          </a:solidFill>
          <a:ln w="9525">
            <a:solidFill>
              <a:srgbClr val="D8E1F5"/>
            </a:solidFill>
            <a:prstDash val="solid"/>
          </a:ln>
        </p:spPr>
      </p:sp>
      <p:sp>
        <p:nvSpPr>
          <p:cNvPr id="33" name="Shape 31"/>
          <p:cNvSpPr/>
          <p:nvPr/>
        </p:nvSpPr>
        <p:spPr>
          <a:xfrm>
            <a:off x="3639312" y="3913632"/>
            <a:ext cx="365760" cy="365760"/>
          </a:xfrm>
          <a:prstGeom prst="ellipse">
            <a:avLst/>
          </a:prstGeom>
          <a:solidFill>
            <a:srgbClr val="2F6FED"/>
          </a:solidFill>
          <a:ln w="6350">
            <a:solidFill>
              <a:srgbClr val="2F6FED"/>
            </a:solidFill>
            <a:prstDash val="solid"/>
          </a:ln>
        </p:spPr>
      </p:sp>
      <p:sp>
        <p:nvSpPr>
          <p:cNvPr id="34" name="Text 32"/>
          <p:cNvSpPr txBox="1"/>
          <p:nvPr/>
        </p:nvSpPr>
        <p:spPr>
          <a:xfrm>
            <a:off x="3639312" y="3913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35" name="Text 33"/>
          <p:cNvSpPr txBox="1"/>
          <p:nvPr/>
        </p:nvSpPr>
        <p:spPr>
          <a:xfrm>
            <a:off x="4096512" y="3657600"/>
            <a:ext cx="1691640" cy="868680"/>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SHAP explanation</a:t>
            </a:r>
            <a:endParaRPr lang="en-US" sz="1300" dirty="0"/>
          </a:p>
        </p:txBody>
      </p:sp>
      <p:sp>
        <p:nvSpPr>
          <p:cNvPr id="36" name="Shape 34"/>
          <p:cNvSpPr/>
          <p:nvPr/>
        </p:nvSpPr>
        <p:spPr>
          <a:xfrm>
            <a:off x="640080" y="3657600"/>
            <a:ext cx="2377440" cy="868680"/>
          </a:xfrm>
          <a:prstGeom prst="roundRect">
            <a:avLst>
              <a:gd name="adj" fmla="val 12632"/>
            </a:avLst>
          </a:prstGeom>
          <a:solidFill>
            <a:srgbClr val="F4F7FE"/>
          </a:solidFill>
          <a:ln w="9525">
            <a:solidFill>
              <a:srgbClr val="D8E1F5"/>
            </a:solidFill>
            <a:prstDash val="solid"/>
          </a:ln>
        </p:spPr>
      </p:sp>
      <p:sp>
        <p:nvSpPr>
          <p:cNvPr id="37" name="Shape 35"/>
          <p:cNvSpPr/>
          <p:nvPr/>
        </p:nvSpPr>
        <p:spPr>
          <a:xfrm>
            <a:off x="777240" y="3913632"/>
            <a:ext cx="365760" cy="365760"/>
          </a:xfrm>
          <a:prstGeom prst="ellipse">
            <a:avLst/>
          </a:prstGeom>
          <a:solidFill>
            <a:srgbClr val="2F6FED"/>
          </a:solidFill>
          <a:ln w="6350">
            <a:solidFill>
              <a:srgbClr val="2F6FED"/>
            </a:solidFill>
            <a:prstDash val="solid"/>
          </a:ln>
        </p:spPr>
      </p:sp>
      <p:sp>
        <p:nvSpPr>
          <p:cNvPr id="38" name="Text 36"/>
          <p:cNvSpPr txBox="1"/>
          <p:nvPr/>
        </p:nvSpPr>
        <p:spPr>
          <a:xfrm>
            <a:off x="777240" y="3913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39" name="Text 37"/>
          <p:cNvSpPr txBox="1"/>
          <p:nvPr/>
        </p:nvSpPr>
        <p:spPr>
          <a:xfrm>
            <a:off x="1234440" y="3657600"/>
            <a:ext cx="1691640" cy="868680"/>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Feature-level recommendations</a:t>
            </a:r>
            <a:endParaRPr lang="en-US" sz="1300" dirty="0"/>
          </a:p>
        </p:txBody>
      </p:sp>
      <p:sp>
        <p:nvSpPr>
          <p:cNvPr id="40" name="Shape 38"/>
          <p:cNvSpPr/>
          <p:nvPr/>
        </p:nvSpPr>
        <p:spPr>
          <a:xfrm>
            <a:off x="10296144" y="3035808"/>
            <a:ext cx="237744" cy="512064"/>
          </a:xfrm>
          <a:prstGeom prst="downArrow">
            <a:avLst/>
          </a:prstGeom>
          <a:solidFill>
            <a:srgbClr val="2F6FED"/>
          </a:solidFill>
          <a:ln w="6350">
            <a:solidFill>
              <a:srgbClr val="2F6FED"/>
            </a:solidFill>
            <a:prstDash val="solid"/>
          </a:ln>
        </p:spPr>
      </p:sp>
      <p:sp>
        <p:nvSpPr>
          <p:cNvPr id="41" name="Shape 39"/>
          <p:cNvSpPr/>
          <p:nvPr/>
        </p:nvSpPr>
        <p:spPr>
          <a:xfrm>
            <a:off x="8814816" y="3973068"/>
            <a:ext cx="338328" cy="237744"/>
          </a:xfrm>
          <a:prstGeom prst="leftArrow">
            <a:avLst/>
          </a:prstGeom>
          <a:solidFill>
            <a:srgbClr val="2F6FED"/>
          </a:solidFill>
          <a:ln w="6350">
            <a:solidFill>
              <a:srgbClr val="2F6FED"/>
            </a:solidFill>
            <a:prstDash val="solid"/>
          </a:ln>
        </p:spPr>
      </p:sp>
      <p:sp>
        <p:nvSpPr>
          <p:cNvPr id="42" name="Shape 40"/>
          <p:cNvSpPr/>
          <p:nvPr/>
        </p:nvSpPr>
        <p:spPr>
          <a:xfrm>
            <a:off x="5952744" y="3973068"/>
            <a:ext cx="338328" cy="237744"/>
          </a:xfrm>
          <a:prstGeom prst="leftArrow">
            <a:avLst/>
          </a:prstGeom>
          <a:solidFill>
            <a:srgbClr val="2F6FED"/>
          </a:solidFill>
          <a:ln w="6350">
            <a:solidFill>
              <a:srgbClr val="2F6FED"/>
            </a:solidFill>
            <a:prstDash val="solid"/>
          </a:ln>
        </p:spPr>
      </p:sp>
      <p:sp>
        <p:nvSpPr>
          <p:cNvPr id="43" name="Shape 41"/>
          <p:cNvSpPr/>
          <p:nvPr/>
        </p:nvSpPr>
        <p:spPr>
          <a:xfrm>
            <a:off x="3090672" y="3973068"/>
            <a:ext cx="338328" cy="237744"/>
          </a:xfrm>
          <a:prstGeom prst="leftArrow">
            <a:avLst/>
          </a:prstGeom>
          <a:solidFill>
            <a:srgbClr val="2F6FED"/>
          </a:solidFill>
          <a:ln w="6350">
            <a:solidFill>
              <a:srgbClr val="2F6FED"/>
            </a:solidFill>
            <a:prstDash val="solid"/>
          </a:ln>
        </p:spPr>
      </p:sp>
      <p:sp>
        <p:nvSpPr>
          <p:cNvPr id="44" name="Shape 42"/>
          <p:cNvSpPr/>
          <p:nvPr/>
        </p:nvSpPr>
        <p:spPr>
          <a:xfrm>
            <a:off x="640080" y="4892040"/>
            <a:ext cx="5486400" cy="1188720"/>
          </a:xfrm>
          <a:prstGeom prst="roundRect">
            <a:avLst>
              <a:gd name="adj" fmla="val 9231"/>
            </a:avLst>
          </a:prstGeom>
          <a:solidFill>
            <a:srgbClr val="0A1830"/>
          </a:solidFill>
          <a:ln w="9525">
            <a:solidFill>
              <a:srgbClr val="0A1830"/>
            </a:solidFill>
            <a:prstDash val="solid"/>
          </a:ln>
        </p:spPr>
      </p:sp>
      <p:sp>
        <p:nvSpPr>
          <p:cNvPr id="45" name="Text 43"/>
          <p:cNvSpPr txBox="1"/>
          <p:nvPr/>
        </p:nvSpPr>
        <p:spPr>
          <a:xfrm>
            <a:off x="914400" y="5029200"/>
            <a:ext cx="5029200" cy="274320"/>
          </a:xfrm>
          <a:prstGeom prst="rect">
            <a:avLst/>
          </a:prstGeom>
          <a:noFill/>
          <a:ln/>
        </p:spPr>
        <p:txBody>
          <a:bodyPr wrap="square" lIns="0" tIns="0" rIns="0" bIns="0" rtlCol="0" anchor="t"/>
          <a:lstStyle/>
          <a:p>
            <a:pPr marL="0" indent="0">
              <a:buNone/>
            </a:pPr>
            <a:r>
              <a:rPr lang="en-US" sz="1100" b="1" kern="0" spc="200" dirty="0">
                <a:solidFill>
                  <a:srgbClr val="8FB0F7"/>
                </a:solidFill>
                <a:latin typeface="Arial" pitchFamily="34" charset="0"/>
                <a:ea typeface="Arial" pitchFamily="34" charset="-122"/>
                <a:cs typeface="Arial" pitchFamily="34" charset="-120"/>
              </a:rPr>
              <a:t>MODEL EVALUATION</a:t>
            </a:r>
            <a:endParaRPr lang="en-US" sz="1100" dirty="0"/>
          </a:p>
        </p:txBody>
      </p:sp>
      <p:sp>
        <p:nvSpPr>
          <p:cNvPr id="46" name="Text 44"/>
          <p:cNvSpPr txBox="1"/>
          <p:nvPr/>
        </p:nvSpPr>
        <p:spPr>
          <a:xfrm>
            <a:off x="914400" y="5321808"/>
            <a:ext cx="5029200" cy="685800"/>
          </a:xfrm>
          <a:prstGeom prst="rect">
            <a:avLst/>
          </a:prstGeom>
          <a:noFill/>
          <a:ln/>
        </p:spPr>
        <p:txBody>
          <a:bodyPr wrap="square" lIns="0" tIns="0" rIns="0" bIns="0" rtlCol="0" anchor="t"/>
          <a:lstStyle/>
          <a:p>
            <a:pPr marL="0" indent="0">
              <a:buNone/>
            </a:pPr>
            <a:r>
              <a:rPr lang="en-US" sz="1200" dirty="0">
                <a:solidFill>
                  <a:srgbClr val="FFFFFF"/>
                </a:solidFill>
                <a:latin typeface="Arial" pitchFamily="34" charset="0"/>
                <a:ea typeface="Arial" pitchFamily="34" charset="-122"/>
                <a:cs typeface="Arial" pitchFamily="34" charset="-120"/>
              </a:rPr>
              <a:t>5-fold cross-validation (KFold, shuffle, random_state = 42) with the same folds, features and target for all five candidate models. Scaling is fitted inside each training fold.</a:t>
            </a:r>
            <a:endParaRPr lang="en-US" sz="1200" dirty="0"/>
          </a:p>
        </p:txBody>
      </p:sp>
      <p:sp>
        <p:nvSpPr>
          <p:cNvPr id="47" name="Shape 45"/>
          <p:cNvSpPr/>
          <p:nvPr/>
        </p:nvSpPr>
        <p:spPr>
          <a:xfrm>
            <a:off x="6400800" y="4892040"/>
            <a:ext cx="5166360" cy="1188720"/>
          </a:xfrm>
          <a:prstGeom prst="roundRect">
            <a:avLst>
              <a:gd name="adj" fmla="val 9231"/>
            </a:avLst>
          </a:prstGeom>
          <a:solidFill>
            <a:srgbClr val="E9F0FF"/>
          </a:solidFill>
          <a:ln w="9525">
            <a:solidFill>
              <a:srgbClr val="E9F0FF"/>
            </a:solidFill>
            <a:prstDash val="solid"/>
          </a:ln>
        </p:spPr>
      </p:sp>
      <p:sp>
        <p:nvSpPr>
          <p:cNvPr id="48" name="Text 46"/>
          <p:cNvSpPr txBox="1"/>
          <p:nvPr/>
        </p:nvSpPr>
        <p:spPr>
          <a:xfrm>
            <a:off x="6675120" y="5029200"/>
            <a:ext cx="4754880" cy="274320"/>
          </a:xfrm>
          <a:prstGeom prst="rect">
            <a:avLst/>
          </a:prstGeom>
          <a:noFill/>
          <a:ln/>
        </p:spPr>
        <p:txBody>
          <a:bodyPr wrap="square" lIns="0" tIns="0" rIns="0" bIns="0" rtlCol="0" anchor="t"/>
          <a:lstStyle/>
          <a:p>
            <a:pPr marL="0" indent="0">
              <a:buNone/>
            </a:pPr>
            <a:r>
              <a:rPr lang="en-US" sz="1100" b="1" kern="0" spc="200" dirty="0">
                <a:solidFill>
                  <a:srgbClr val="2F6FED"/>
                </a:solidFill>
                <a:latin typeface="Arial" pitchFamily="34" charset="0"/>
                <a:ea typeface="Arial" pitchFamily="34" charset="-122"/>
                <a:cs typeface="Arial" pitchFamily="34" charset="-120"/>
              </a:rPr>
              <a:t>WHAT-IF BRANCH</a:t>
            </a:r>
            <a:endParaRPr lang="en-US" sz="1100" dirty="0"/>
          </a:p>
        </p:txBody>
      </p:sp>
      <p:sp>
        <p:nvSpPr>
          <p:cNvPr id="49" name="Text 47"/>
          <p:cNvSpPr txBox="1"/>
          <p:nvPr/>
        </p:nvSpPr>
        <p:spPr>
          <a:xfrm>
            <a:off x="6675120" y="5321808"/>
            <a:ext cx="4709160" cy="685800"/>
          </a:xfrm>
          <a:prstGeom prst="rect">
            <a:avLst/>
          </a:prstGeom>
          <a:noFill/>
          <a:ln/>
        </p:spPr>
        <p:txBody>
          <a:bodyPr wrap="square" lIns="0" tIns="0" rIns="0" bIns="0" rtlCol="0" anchor="t"/>
          <a:lstStyle/>
          <a:p>
            <a:pPr marL="0" indent="0">
              <a:buNone/>
            </a:pPr>
            <a:r>
              <a:rPr lang="en-US" sz="1200">
                <a:solidFill>
                  <a:srgbClr val="1A2A4A"/>
                </a:solidFill>
                <a:latin typeface="Arial" pitchFamily="34" charset="0"/>
                <a:ea typeface="Arial" pitchFamily="34" charset="-122"/>
                <a:cs typeface="Arial" pitchFamily="34" charset="-120"/>
              </a:rPr>
              <a:t>What-If inputs (Practice Mode — Sample Scenario) follow steps 2–6 through the same prediction endpoint. No SHAP or recommendations are produced and nothing is stored.</a:t>
            </a:r>
            <a:endParaRPr lang="en-US" sz="1200" dirty="0"/>
          </a:p>
        </p:txBody>
      </p:sp>
      <p:sp>
        <p:nvSpPr>
          <p:cNvPr id="50" name="Text 48"/>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51" name="Text 49"/>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SYSTEM ARCHITECTURE</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Architecture &amp; technology stack</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a:solidFill>
                  <a:srgbClr val="5B6B87"/>
                </a:solidFill>
                <a:latin typeface="Arial" pitchFamily="34" charset="0"/>
                <a:ea typeface="Arial" pitchFamily="34" charset="-122"/>
                <a:cs typeface="Arial" pitchFamily="34" charset="-120"/>
              </a:rPr>
              <a:t>React frontend → Flask REST API → SQLite persistence and the ML model with SHAP.</a:t>
            </a:r>
            <a:endParaRPr lang="en-US" sz="1400" dirty="0"/>
          </a:p>
        </p:txBody>
      </p:sp>
      <p:sp>
        <p:nvSpPr>
          <p:cNvPr id="5" name="Shape 3"/>
          <p:cNvSpPr/>
          <p:nvPr/>
        </p:nvSpPr>
        <p:spPr>
          <a:xfrm>
            <a:off x="640080" y="1965960"/>
            <a:ext cx="6583680" cy="868680"/>
          </a:xfrm>
          <a:prstGeom prst="roundRect">
            <a:avLst>
              <a:gd name="adj" fmla="val 12632"/>
            </a:avLst>
          </a:prstGeom>
          <a:solidFill>
            <a:srgbClr val="E9F0FF"/>
          </a:solidFill>
          <a:ln w="9525">
            <a:solidFill>
              <a:srgbClr val="E9F0FF"/>
            </a:solidFill>
            <a:prstDash val="solid"/>
          </a:ln>
        </p:spPr>
      </p:sp>
      <p:sp>
        <p:nvSpPr>
          <p:cNvPr id="6" name="Text 4"/>
          <p:cNvSpPr txBox="1"/>
          <p:nvPr/>
        </p:nvSpPr>
        <p:spPr>
          <a:xfrm>
            <a:off x="868680" y="1965960"/>
            <a:ext cx="1463040" cy="868680"/>
          </a:xfrm>
          <a:prstGeom prst="rect">
            <a:avLst/>
          </a:prstGeom>
          <a:noFill/>
          <a:ln/>
        </p:spPr>
        <p:txBody>
          <a:bodyPr wrap="square" lIns="0" tIns="0" rIns="0" bIns="0" rtlCol="0" anchor="ctr"/>
          <a:lstStyle/>
          <a:p>
            <a:pPr marL="0" indent="0">
              <a:buNone/>
            </a:pPr>
            <a:r>
              <a:rPr lang="en-US" sz="1200" b="1" dirty="0">
                <a:solidFill>
                  <a:srgbClr val="2F6FED"/>
                </a:solidFill>
                <a:latin typeface="Arial" pitchFamily="34" charset="0"/>
                <a:ea typeface="Arial" pitchFamily="34" charset="-122"/>
                <a:cs typeface="Arial" pitchFamily="34" charset="-120"/>
              </a:rPr>
              <a:t>Frontend</a:t>
            </a:r>
            <a:endParaRPr lang="en-US" sz="1200" dirty="0"/>
          </a:p>
        </p:txBody>
      </p:sp>
      <p:sp>
        <p:nvSpPr>
          <p:cNvPr id="7" name="Text 5"/>
          <p:cNvSpPr txBox="1"/>
          <p:nvPr/>
        </p:nvSpPr>
        <p:spPr>
          <a:xfrm>
            <a:off x="2331720" y="1965960"/>
            <a:ext cx="4754880" cy="868680"/>
          </a:xfrm>
          <a:prstGeom prst="rect">
            <a:avLst/>
          </a:prstGeom>
          <a:noFill/>
          <a:ln/>
        </p:spPr>
        <p:txBody>
          <a:bodyPr wrap="square" lIns="0" tIns="0" rIns="0" bIns="0" rtlCol="0" anchor="ctr"/>
          <a:lstStyle/>
          <a:p>
            <a:pPr marL="0" indent="0">
              <a:buNone/>
            </a:pPr>
            <a:r>
              <a:rPr lang="en-US" sz="1600" b="1" dirty="0">
                <a:solidFill>
                  <a:srgbClr val="142850"/>
                </a:solidFill>
                <a:latin typeface="Arial" pitchFamily="34" charset="0"/>
                <a:ea typeface="Arial" pitchFamily="34" charset="-122"/>
                <a:cs typeface="Arial" pitchFamily="34" charset="-120"/>
              </a:rPr>
              <a:t>React 19 + Vite + Tailwind CSS</a:t>
            </a:r>
            <a:endParaRPr lang="en-US" sz="1600" dirty="0"/>
          </a:p>
        </p:txBody>
      </p:sp>
      <p:sp>
        <p:nvSpPr>
          <p:cNvPr id="8" name="Shape 6"/>
          <p:cNvSpPr/>
          <p:nvPr/>
        </p:nvSpPr>
        <p:spPr>
          <a:xfrm>
            <a:off x="3813048" y="2907792"/>
            <a:ext cx="237744" cy="384048"/>
          </a:xfrm>
          <a:prstGeom prst="downArrow">
            <a:avLst/>
          </a:prstGeom>
          <a:solidFill>
            <a:srgbClr val="2F6FED"/>
          </a:solidFill>
          <a:ln w="6350">
            <a:solidFill>
              <a:srgbClr val="2F6FED"/>
            </a:solidFill>
            <a:prstDash val="solid"/>
          </a:ln>
        </p:spPr>
      </p:sp>
      <p:sp>
        <p:nvSpPr>
          <p:cNvPr id="9" name="Text 7"/>
          <p:cNvSpPr txBox="1"/>
          <p:nvPr/>
        </p:nvSpPr>
        <p:spPr>
          <a:xfrm>
            <a:off x="4160520" y="2926080"/>
            <a:ext cx="1828800" cy="365760"/>
          </a:xfrm>
          <a:prstGeom prst="rect">
            <a:avLst/>
          </a:prstGeom>
          <a:noFill/>
          <a:ln/>
        </p:spPr>
        <p:txBody>
          <a:bodyPr wrap="square" lIns="0" tIns="0" rIns="0" bIns="0" rtlCol="0" anchor="ctr"/>
          <a:lstStyle/>
          <a:p>
            <a:pPr marL="0" indent="0">
              <a:buNone/>
            </a:pPr>
            <a:r>
              <a:rPr lang="en-US" sz="1000" dirty="0">
                <a:solidFill>
                  <a:srgbClr val="5B6B87"/>
                </a:solidFill>
                <a:latin typeface="Arial" pitchFamily="34" charset="0"/>
                <a:ea typeface="Arial" pitchFamily="34" charset="-122"/>
                <a:cs typeface="Arial" pitchFamily="34" charset="-120"/>
              </a:rPr>
              <a:t>HTTP / JSON</a:t>
            </a:r>
            <a:endParaRPr lang="en-US" sz="1000" dirty="0"/>
          </a:p>
        </p:txBody>
      </p:sp>
      <p:sp>
        <p:nvSpPr>
          <p:cNvPr id="10" name="Shape 8"/>
          <p:cNvSpPr/>
          <p:nvPr/>
        </p:nvSpPr>
        <p:spPr>
          <a:xfrm>
            <a:off x="640080" y="3364992"/>
            <a:ext cx="6583680" cy="1417320"/>
          </a:xfrm>
          <a:prstGeom prst="roundRect">
            <a:avLst>
              <a:gd name="adj" fmla="val 7742"/>
            </a:avLst>
          </a:prstGeom>
          <a:solidFill>
            <a:srgbClr val="F4F7FE"/>
          </a:solidFill>
          <a:ln w="9525">
            <a:solidFill>
              <a:srgbClr val="D8E1F5"/>
            </a:solidFill>
            <a:prstDash val="solid"/>
          </a:ln>
        </p:spPr>
      </p:sp>
      <p:sp>
        <p:nvSpPr>
          <p:cNvPr id="11" name="Text 9"/>
          <p:cNvSpPr txBox="1"/>
          <p:nvPr/>
        </p:nvSpPr>
        <p:spPr>
          <a:xfrm>
            <a:off x="868680" y="3456432"/>
            <a:ext cx="1463040" cy="365760"/>
          </a:xfrm>
          <a:prstGeom prst="rect">
            <a:avLst/>
          </a:prstGeom>
          <a:noFill/>
          <a:ln/>
        </p:spPr>
        <p:txBody>
          <a:bodyPr wrap="square" lIns="0" tIns="0" rIns="0" bIns="0" rtlCol="0" anchor="t"/>
          <a:lstStyle/>
          <a:p>
            <a:pPr marL="0" indent="0">
              <a:buNone/>
            </a:pPr>
            <a:r>
              <a:rPr lang="en-US" sz="1200" b="1" dirty="0">
                <a:solidFill>
                  <a:srgbClr val="2F6FED"/>
                </a:solidFill>
                <a:latin typeface="Arial" pitchFamily="34" charset="0"/>
                <a:ea typeface="Arial" pitchFamily="34" charset="-122"/>
                <a:cs typeface="Arial" pitchFamily="34" charset="-120"/>
              </a:rPr>
              <a:t>Backend</a:t>
            </a:r>
            <a:endParaRPr lang="en-US" sz="1200" dirty="0"/>
          </a:p>
        </p:txBody>
      </p:sp>
      <p:sp>
        <p:nvSpPr>
          <p:cNvPr id="12" name="Text 10"/>
          <p:cNvSpPr txBox="1"/>
          <p:nvPr/>
        </p:nvSpPr>
        <p:spPr>
          <a:xfrm>
            <a:off x="2331720" y="3456432"/>
            <a:ext cx="4754880" cy="365760"/>
          </a:xfrm>
          <a:prstGeom prst="rect">
            <a:avLst/>
          </a:prstGeom>
          <a:noFill/>
          <a:ln/>
        </p:spPr>
        <p:txBody>
          <a:bodyPr wrap="square" lIns="0" tIns="0" rIns="0" bIns="0" rtlCol="0" anchor="t"/>
          <a:lstStyle/>
          <a:p>
            <a:pPr marL="0" indent="0">
              <a:buNone/>
            </a:pPr>
            <a:r>
              <a:rPr lang="en-US" sz="1600" b="1">
                <a:solidFill>
                  <a:srgbClr val="142850"/>
                </a:solidFill>
                <a:latin typeface="Arial" pitchFamily="34" charset="0"/>
                <a:ea typeface="Arial" pitchFamily="34" charset="-122"/>
                <a:cs typeface="Arial" pitchFamily="34" charset="-120"/>
              </a:rPr>
              <a:t>Flask REST API (Flask-Cors)</a:t>
            </a:r>
            <a:endParaRPr lang="en-US" sz="1600" dirty="0"/>
          </a:p>
        </p:txBody>
      </p:sp>
      <p:sp>
        <p:nvSpPr>
          <p:cNvPr id="13" name="Shape 11"/>
          <p:cNvSpPr/>
          <p:nvPr/>
        </p:nvSpPr>
        <p:spPr>
          <a:xfrm>
            <a:off x="868680" y="4023360"/>
            <a:ext cx="1444752" cy="457200"/>
          </a:xfrm>
          <a:prstGeom prst="roundRect">
            <a:avLst>
              <a:gd name="adj" fmla="val 20000"/>
            </a:avLst>
          </a:prstGeom>
          <a:solidFill>
            <a:srgbClr val="FFFFFF"/>
          </a:solidFill>
          <a:ln w="12700">
            <a:solidFill>
              <a:srgbClr val="2F6FED"/>
            </a:solidFill>
            <a:prstDash val="solid"/>
          </a:ln>
        </p:spPr>
      </p:sp>
      <p:sp>
        <p:nvSpPr>
          <p:cNvPr id="14" name="Text 12"/>
          <p:cNvSpPr txBox="1"/>
          <p:nvPr/>
        </p:nvSpPr>
        <p:spPr>
          <a:xfrm>
            <a:off x="868680" y="4023360"/>
            <a:ext cx="1444752" cy="457200"/>
          </a:xfrm>
          <a:prstGeom prst="rect">
            <a:avLst/>
          </a:prstGeom>
          <a:noFill/>
          <a:ln/>
        </p:spPr>
        <p:txBody>
          <a:bodyPr wrap="square" lIns="0" tIns="0" rIns="0" bIns="0" rtlCol="0" anchor="ctr"/>
          <a:lstStyle/>
          <a:p>
            <a:pPr marL="0" indent="0" algn="ctr">
              <a:buNone/>
            </a:pPr>
            <a:r>
              <a:rPr lang="en-US" sz="1100" b="1">
                <a:solidFill>
                  <a:srgbClr val="2F6FED"/>
                </a:solidFill>
                <a:latin typeface="Courier New" pitchFamily="34" charset="0"/>
                <a:ea typeface="Courier New" pitchFamily="34" charset="-122"/>
                <a:cs typeface="Courier New" pitchFamily="34" charset="-120"/>
              </a:rPr>
              <a:t>/auth/*</a:t>
            </a:r>
            <a:endParaRPr lang="en-US" sz="1100" dirty="0"/>
          </a:p>
        </p:txBody>
      </p:sp>
      <p:sp>
        <p:nvSpPr>
          <p:cNvPr id="15" name="Shape 13"/>
          <p:cNvSpPr/>
          <p:nvPr/>
        </p:nvSpPr>
        <p:spPr>
          <a:xfrm>
            <a:off x="2441448" y="4023360"/>
            <a:ext cx="1444752" cy="457200"/>
          </a:xfrm>
          <a:prstGeom prst="roundRect">
            <a:avLst>
              <a:gd name="adj" fmla="val 20000"/>
            </a:avLst>
          </a:prstGeom>
          <a:solidFill>
            <a:srgbClr val="FFFFFF"/>
          </a:solidFill>
          <a:ln w="12700">
            <a:solidFill>
              <a:srgbClr val="2F6FED"/>
            </a:solidFill>
            <a:prstDash val="solid"/>
          </a:ln>
        </p:spPr>
      </p:sp>
      <p:sp>
        <p:nvSpPr>
          <p:cNvPr id="16" name="Text 14"/>
          <p:cNvSpPr txBox="1"/>
          <p:nvPr/>
        </p:nvSpPr>
        <p:spPr>
          <a:xfrm>
            <a:off x="2441448" y="4023360"/>
            <a:ext cx="1444752" cy="457200"/>
          </a:xfrm>
          <a:prstGeom prst="rect">
            <a:avLst/>
          </a:prstGeom>
          <a:noFill/>
          <a:ln/>
        </p:spPr>
        <p:txBody>
          <a:bodyPr wrap="square" lIns="0" tIns="0" rIns="0" bIns="0" rtlCol="0" anchor="ctr"/>
          <a:lstStyle/>
          <a:p>
            <a:pPr marL="0" indent="0" algn="ctr">
              <a:buNone/>
            </a:pPr>
            <a:r>
              <a:rPr lang="en-US" sz="1100" b="1">
                <a:solidFill>
                  <a:srgbClr val="2F6FED"/>
                </a:solidFill>
                <a:latin typeface="Courier New" pitchFamily="34" charset="0"/>
                <a:ea typeface="Courier New" pitchFamily="34" charset="-122"/>
                <a:cs typeface="Courier New" pitchFamily="34" charset="-120"/>
              </a:rPr>
              <a:t>/students/*</a:t>
            </a:r>
            <a:endParaRPr lang="en-US" sz="1100" dirty="0"/>
          </a:p>
        </p:txBody>
      </p:sp>
      <p:sp>
        <p:nvSpPr>
          <p:cNvPr id="17" name="Shape 15"/>
          <p:cNvSpPr/>
          <p:nvPr/>
        </p:nvSpPr>
        <p:spPr>
          <a:xfrm>
            <a:off x="4014216" y="4023360"/>
            <a:ext cx="1444752" cy="457200"/>
          </a:xfrm>
          <a:prstGeom prst="roundRect">
            <a:avLst>
              <a:gd name="adj" fmla="val 20000"/>
            </a:avLst>
          </a:prstGeom>
          <a:solidFill>
            <a:srgbClr val="FFFFFF"/>
          </a:solidFill>
          <a:ln w="12700">
            <a:solidFill>
              <a:srgbClr val="2F6FED"/>
            </a:solidFill>
            <a:prstDash val="solid"/>
          </a:ln>
        </p:spPr>
      </p:sp>
      <p:sp>
        <p:nvSpPr>
          <p:cNvPr id="18" name="Text 16"/>
          <p:cNvSpPr txBox="1"/>
          <p:nvPr/>
        </p:nvSpPr>
        <p:spPr>
          <a:xfrm>
            <a:off x="4014216" y="4023360"/>
            <a:ext cx="1444752" cy="457200"/>
          </a:xfrm>
          <a:prstGeom prst="rect">
            <a:avLst/>
          </a:prstGeom>
          <a:noFill/>
          <a:ln/>
        </p:spPr>
        <p:txBody>
          <a:bodyPr wrap="square" lIns="0" tIns="0" rIns="0" bIns="0" rtlCol="0" anchor="ctr"/>
          <a:lstStyle/>
          <a:p>
            <a:pPr marL="0" indent="0" algn="ctr">
              <a:buNone/>
            </a:pPr>
            <a:r>
              <a:rPr lang="en-US" sz="1100" b="1">
                <a:solidFill>
                  <a:srgbClr val="2F6FED"/>
                </a:solidFill>
                <a:latin typeface="Courier New" pitchFamily="34" charset="0"/>
                <a:ea typeface="Courier New" pitchFamily="34" charset="-122"/>
                <a:cs typeface="Courier New" pitchFamily="34" charset="-120"/>
              </a:rPr>
              <a:t>/interventions/*</a:t>
            </a:r>
            <a:endParaRPr lang="en-US" sz="1100" dirty="0"/>
          </a:p>
        </p:txBody>
      </p:sp>
      <p:sp>
        <p:nvSpPr>
          <p:cNvPr id="19" name="Shape 17"/>
          <p:cNvSpPr/>
          <p:nvPr/>
        </p:nvSpPr>
        <p:spPr>
          <a:xfrm>
            <a:off x="5586984" y="4023360"/>
            <a:ext cx="1444752" cy="457200"/>
          </a:xfrm>
          <a:prstGeom prst="roundRect">
            <a:avLst>
              <a:gd name="adj" fmla="val 20000"/>
            </a:avLst>
          </a:prstGeom>
          <a:solidFill>
            <a:srgbClr val="FFFFFF"/>
          </a:solidFill>
          <a:ln w="12700">
            <a:solidFill>
              <a:srgbClr val="2F6FED"/>
            </a:solidFill>
            <a:prstDash val="solid"/>
          </a:ln>
        </p:spPr>
      </p:sp>
      <p:sp>
        <p:nvSpPr>
          <p:cNvPr id="20" name="Text 18"/>
          <p:cNvSpPr txBox="1"/>
          <p:nvPr/>
        </p:nvSpPr>
        <p:spPr>
          <a:xfrm>
            <a:off x="5586984" y="4023360"/>
            <a:ext cx="1444752" cy="457200"/>
          </a:xfrm>
          <a:prstGeom prst="rect">
            <a:avLst/>
          </a:prstGeom>
          <a:noFill/>
          <a:ln/>
        </p:spPr>
        <p:txBody>
          <a:bodyPr wrap="square" lIns="0" tIns="0" rIns="0" bIns="0" rtlCol="0" anchor="ctr"/>
          <a:lstStyle/>
          <a:p>
            <a:pPr marL="0" indent="0" algn="ctr">
              <a:buNone/>
            </a:pPr>
            <a:r>
              <a:rPr lang="en-US" sz="900" b="1">
                <a:solidFill>
                  <a:srgbClr val="2F6FED"/>
                </a:solidFill>
                <a:latin typeface="Courier New" pitchFamily="34" charset="0"/>
                <a:ea typeface="Courier New" pitchFamily="34" charset="-122"/>
                <a:cs typeface="Courier New" pitchFamily="34" charset="-120"/>
              </a:rPr>
              <a:t>/predict /explain</a:t>
            </a:r>
          </a:p>
          <a:p>
            <a:pPr marL="0" indent="0" algn="ctr">
              <a:buNone/>
            </a:pPr>
            <a:r>
              <a:rPr lang="en-US" sz="900" b="1">
                <a:solidFill>
                  <a:srgbClr val="2F6FED"/>
                </a:solidFill>
                <a:latin typeface="Courier New" pitchFamily="34" charset="0"/>
                <a:ea typeface="Courier New" pitchFamily="34" charset="-122"/>
                <a:cs typeface="Courier New" pitchFamily="34" charset="-120"/>
              </a:rPr>
              <a:t>/recommend</a:t>
            </a:r>
            <a:endParaRPr lang="en-US" sz="900" dirty="0"/>
          </a:p>
        </p:txBody>
      </p:sp>
      <p:sp>
        <p:nvSpPr>
          <p:cNvPr id="21" name="Arrow Persistence"/>
          <p:cNvSpPr/>
          <p:nvPr/>
        </p:nvSpPr>
        <p:spPr>
          <a:xfrm>
            <a:off x="2135378" y="4855464"/>
            <a:ext cx="237744" cy="384048"/>
          </a:xfrm>
          <a:prstGeom prst="downArrow">
            <a:avLst/>
          </a:prstGeom>
          <a:solidFill>
            <a:srgbClr val="2F6FED"/>
          </a:solidFill>
          <a:ln w="6350">
            <a:solidFill>
              <a:srgbClr val="2F6FED"/>
            </a:solidFill>
            <a:prstDash val="solid"/>
          </a:ln>
        </p:spPr>
      </p:sp>
      <p:sp>
        <p:nvSpPr>
          <p:cNvPr id="22" name="Box Persistence"/>
          <p:cNvSpPr/>
          <p:nvPr/>
        </p:nvSpPr>
        <p:spPr>
          <a:xfrm>
            <a:off x="640080" y="5312664"/>
            <a:ext cx="3228340" cy="868680"/>
          </a:xfrm>
          <a:prstGeom prst="roundRect">
            <a:avLst>
              <a:gd name="adj" fmla="val 12632"/>
            </a:avLst>
          </a:prstGeom>
          <a:solidFill>
            <a:srgbClr val="142850"/>
          </a:solidFill>
          <a:ln w="9525">
            <a:solidFill>
              <a:srgbClr val="142850"/>
            </a:solidFill>
            <a:prstDash val="solid"/>
          </a:ln>
        </p:spPr>
      </p:sp>
      <p:sp>
        <p:nvSpPr>
          <p:cNvPr id="23" name="Label Persistence"/>
          <p:cNvSpPr txBox="1"/>
          <p:nvPr/>
        </p:nvSpPr>
        <p:spPr>
          <a:xfrm>
            <a:off x="817880" y="5363464"/>
            <a:ext cx="2872740" cy="254000"/>
          </a:xfrm>
          <a:prstGeom prst="rect">
            <a:avLst/>
          </a:prstGeom>
          <a:noFill/>
          <a:ln/>
        </p:spPr>
        <p:txBody>
          <a:bodyPr wrap="square" lIns="0" tIns="0" rIns="0" bIns="0" rtlCol="0" anchor="t"/>
          <a:lstStyle/>
          <a:p>
            <a:pPr marL="0" indent="0">
              <a:buNone/>
            </a:pPr>
            <a:r>
              <a:rPr lang="en-US" sz="1200" b="1">
                <a:solidFill>
                  <a:srgbClr val="8FB0F7"/>
                </a:solidFill>
                <a:latin typeface="Arial" pitchFamily="34" charset="0"/>
                <a:ea typeface="Arial" pitchFamily="34" charset="-122"/>
                <a:cs typeface="Arial" pitchFamily="34" charset="-120"/>
              </a:rPr>
              <a:t>Persistence</a:t>
            </a:r>
            <a:endParaRPr lang="en-US" sz="1200" dirty="0"/>
          </a:p>
        </p:txBody>
      </p:sp>
      <p:sp>
        <p:nvSpPr>
          <p:cNvPr id="24" name="Desc Persistence"/>
          <p:cNvSpPr txBox="1"/>
          <p:nvPr/>
        </p:nvSpPr>
        <p:spPr>
          <a:xfrm>
            <a:off x="817880" y="5592064"/>
            <a:ext cx="2872740" cy="538480"/>
          </a:xfrm>
          <a:prstGeom prst="rect">
            <a:avLst/>
          </a:prstGeom>
          <a:noFill/>
          <a:ln/>
        </p:spPr>
        <p:txBody>
          <a:bodyPr wrap="square" lIns="0" tIns="0" rIns="0" bIns="0" rtlCol="0" anchor="t"/>
          <a:lstStyle/>
          <a:p>
            <a:pPr marL="0" indent="0">
              <a:buNone/>
            </a:pPr>
            <a:r>
              <a:rPr lang="en-US" sz="1100" b="1">
                <a:solidFill>
                  <a:srgbClr val="FFFFFF"/>
                </a:solidFill>
                <a:latin typeface="Arial" pitchFamily="34" charset="0"/>
                <a:ea typeface="Arial" pitchFamily="34" charset="-122"/>
                <a:cs typeface="Arial" pitchFamily="34" charset="-120"/>
              </a:rPr>
              <a:t>SQLite: accounts, students, academic records, predictions &amp; history, interventions</a:t>
            </a:r>
            <a:endParaRPr lang="en-US" sz="1100" dirty="0"/>
          </a:p>
        </p:txBody>
      </p:sp>
      <p:sp>
        <p:nvSpPr>
          <p:cNvPr id="25" name="Text 23"/>
          <p:cNvSpPr txBox="1"/>
          <p:nvPr/>
        </p:nvSpPr>
        <p:spPr>
          <a:xfrm>
            <a:off x="7680960" y="1965960"/>
            <a:ext cx="3840480" cy="274320"/>
          </a:xfrm>
          <a:prstGeom prst="rect">
            <a:avLst/>
          </a:prstGeom>
          <a:noFill/>
          <a:ln/>
        </p:spPr>
        <p:txBody>
          <a:bodyPr wrap="square" lIns="0" tIns="0" rIns="0" bIns="0" rtlCol="0" anchor="t"/>
          <a:lstStyle/>
          <a:p>
            <a:pPr marL="0" indent="0">
              <a:buNone/>
            </a:pPr>
            <a:r>
              <a:rPr lang="en-US" sz="1100" b="1" kern="0" spc="200" dirty="0">
                <a:solidFill>
                  <a:srgbClr val="2F6FED"/>
                </a:solidFill>
                <a:latin typeface="Arial" pitchFamily="34" charset="0"/>
                <a:ea typeface="Arial" pitchFamily="34" charset="-122"/>
                <a:cs typeface="Arial" pitchFamily="34" charset="-120"/>
              </a:rPr>
              <a:t>FRONTEND</a:t>
            </a:r>
            <a:endParaRPr lang="en-US" sz="1100" dirty="0"/>
          </a:p>
        </p:txBody>
      </p:sp>
      <p:sp>
        <p:nvSpPr>
          <p:cNvPr id="26" name="Shape 24"/>
          <p:cNvSpPr/>
          <p:nvPr/>
        </p:nvSpPr>
        <p:spPr>
          <a:xfrm>
            <a:off x="7680960" y="2295144"/>
            <a:ext cx="1216152" cy="365760"/>
          </a:xfrm>
          <a:prstGeom prst="roundRect">
            <a:avLst>
              <a:gd name="adj" fmla="val 20000"/>
            </a:avLst>
          </a:prstGeom>
          <a:solidFill>
            <a:srgbClr val="E9F0FF"/>
          </a:solidFill>
          <a:ln w="6350">
            <a:solidFill>
              <a:srgbClr val="E9F0FF"/>
            </a:solidFill>
            <a:prstDash val="solid"/>
          </a:ln>
        </p:spPr>
      </p:sp>
      <p:sp>
        <p:nvSpPr>
          <p:cNvPr id="27" name="Text 25"/>
          <p:cNvSpPr txBox="1"/>
          <p:nvPr/>
        </p:nvSpPr>
        <p:spPr>
          <a:xfrm>
            <a:off x="7680960" y="2295144"/>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React 19</a:t>
            </a:r>
            <a:endParaRPr lang="en-US" sz="1100" dirty="0"/>
          </a:p>
        </p:txBody>
      </p:sp>
      <p:sp>
        <p:nvSpPr>
          <p:cNvPr id="28" name="Shape 26"/>
          <p:cNvSpPr/>
          <p:nvPr/>
        </p:nvSpPr>
        <p:spPr>
          <a:xfrm>
            <a:off x="8988552" y="2295144"/>
            <a:ext cx="1216152" cy="365760"/>
          </a:xfrm>
          <a:prstGeom prst="roundRect">
            <a:avLst>
              <a:gd name="adj" fmla="val 20000"/>
            </a:avLst>
          </a:prstGeom>
          <a:solidFill>
            <a:srgbClr val="E9F0FF"/>
          </a:solidFill>
          <a:ln w="6350">
            <a:solidFill>
              <a:srgbClr val="E9F0FF"/>
            </a:solidFill>
            <a:prstDash val="solid"/>
          </a:ln>
        </p:spPr>
      </p:sp>
      <p:sp>
        <p:nvSpPr>
          <p:cNvPr id="29" name="Text 27"/>
          <p:cNvSpPr txBox="1"/>
          <p:nvPr/>
        </p:nvSpPr>
        <p:spPr>
          <a:xfrm>
            <a:off x="8988552" y="2295144"/>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Vite</a:t>
            </a:r>
            <a:endParaRPr lang="en-US" sz="1100" dirty="0"/>
          </a:p>
        </p:txBody>
      </p:sp>
      <p:sp>
        <p:nvSpPr>
          <p:cNvPr id="30" name="Shape 28"/>
          <p:cNvSpPr/>
          <p:nvPr/>
        </p:nvSpPr>
        <p:spPr>
          <a:xfrm>
            <a:off x="10296144" y="2295144"/>
            <a:ext cx="1216152" cy="365760"/>
          </a:xfrm>
          <a:prstGeom prst="roundRect">
            <a:avLst>
              <a:gd name="adj" fmla="val 20000"/>
            </a:avLst>
          </a:prstGeom>
          <a:solidFill>
            <a:srgbClr val="E9F0FF"/>
          </a:solidFill>
          <a:ln w="6350">
            <a:solidFill>
              <a:srgbClr val="E9F0FF"/>
            </a:solidFill>
            <a:prstDash val="solid"/>
          </a:ln>
        </p:spPr>
      </p:sp>
      <p:sp>
        <p:nvSpPr>
          <p:cNvPr id="31" name="Text 29"/>
          <p:cNvSpPr txBox="1"/>
          <p:nvPr/>
        </p:nvSpPr>
        <p:spPr>
          <a:xfrm>
            <a:off x="10296144" y="2295144"/>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Tailwind CSS</a:t>
            </a:r>
            <a:endParaRPr lang="en-US" sz="1100" dirty="0"/>
          </a:p>
        </p:txBody>
      </p:sp>
      <p:sp>
        <p:nvSpPr>
          <p:cNvPr id="32" name="Text 30"/>
          <p:cNvSpPr txBox="1"/>
          <p:nvPr/>
        </p:nvSpPr>
        <p:spPr>
          <a:xfrm>
            <a:off x="7680960" y="2980944"/>
            <a:ext cx="3840480" cy="274320"/>
          </a:xfrm>
          <a:prstGeom prst="rect">
            <a:avLst/>
          </a:prstGeom>
          <a:noFill/>
          <a:ln/>
        </p:spPr>
        <p:txBody>
          <a:bodyPr wrap="square" lIns="0" tIns="0" rIns="0" bIns="0" rtlCol="0" anchor="t"/>
          <a:lstStyle/>
          <a:p>
            <a:pPr marL="0" indent="0">
              <a:buNone/>
            </a:pPr>
            <a:r>
              <a:rPr lang="en-US" sz="1100" b="1" kern="0" spc="200" dirty="0">
                <a:solidFill>
                  <a:srgbClr val="2F6FED"/>
                </a:solidFill>
                <a:latin typeface="Arial" pitchFamily="34" charset="0"/>
                <a:ea typeface="Arial" pitchFamily="34" charset="-122"/>
                <a:cs typeface="Arial" pitchFamily="34" charset="-120"/>
              </a:rPr>
              <a:t>BACKEND</a:t>
            </a:r>
            <a:endParaRPr lang="en-US" sz="1100" dirty="0"/>
          </a:p>
        </p:txBody>
      </p:sp>
      <p:sp>
        <p:nvSpPr>
          <p:cNvPr id="33" name="Shape 31"/>
          <p:cNvSpPr/>
          <p:nvPr/>
        </p:nvSpPr>
        <p:spPr>
          <a:xfrm>
            <a:off x="7680960" y="3310128"/>
            <a:ext cx="1216152" cy="365760"/>
          </a:xfrm>
          <a:prstGeom prst="roundRect">
            <a:avLst>
              <a:gd name="adj" fmla="val 20000"/>
            </a:avLst>
          </a:prstGeom>
          <a:solidFill>
            <a:srgbClr val="E9F0FF"/>
          </a:solidFill>
          <a:ln w="6350">
            <a:solidFill>
              <a:srgbClr val="E9F0FF"/>
            </a:solidFill>
            <a:prstDash val="solid"/>
          </a:ln>
        </p:spPr>
      </p:sp>
      <p:sp>
        <p:nvSpPr>
          <p:cNvPr id="34" name="Text 32"/>
          <p:cNvSpPr txBox="1"/>
          <p:nvPr/>
        </p:nvSpPr>
        <p:spPr>
          <a:xfrm>
            <a:off x="7680960" y="3310128"/>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Python</a:t>
            </a:r>
            <a:endParaRPr lang="en-US" sz="1100" dirty="0"/>
          </a:p>
        </p:txBody>
      </p:sp>
      <p:sp>
        <p:nvSpPr>
          <p:cNvPr id="35" name="Shape 33"/>
          <p:cNvSpPr/>
          <p:nvPr/>
        </p:nvSpPr>
        <p:spPr>
          <a:xfrm>
            <a:off x="8988552" y="3310128"/>
            <a:ext cx="1216152" cy="365760"/>
          </a:xfrm>
          <a:prstGeom prst="roundRect">
            <a:avLst>
              <a:gd name="adj" fmla="val 20000"/>
            </a:avLst>
          </a:prstGeom>
          <a:solidFill>
            <a:srgbClr val="E9F0FF"/>
          </a:solidFill>
          <a:ln w="6350">
            <a:solidFill>
              <a:srgbClr val="E9F0FF"/>
            </a:solidFill>
            <a:prstDash val="solid"/>
          </a:ln>
        </p:spPr>
      </p:sp>
      <p:sp>
        <p:nvSpPr>
          <p:cNvPr id="36" name="Text 34"/>
          <p:cNvSpPr txBox="1"/>
          <p:nvPr/>
        </p:nvSpPr>
        <p:spPr>
          <a:xfrm>
            <a:off x="8988552" y="3310128"/>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Flask</a:t>
            </a:r>
            <a:endParaRPr lang="en-US" sz="1100" dirty="0"/>
          </a:p>
        </p:txBody>
      </p:sp>
      <p:sp>
        <p:nvSpPr>
          <p:cNvPr id="37" name="Shape 35"/>
          <p:cNvSpPr/>
          <p:nvPr/>
        </p:nvSpPr>
        <p:spPr>
          <a:xfrm>
            <a:off x="10296144" y="3310128"/>
            <a:ext cx="1216152" cy="365760"/>
          </a:xfrm>
          <a:prstGeom prst="roundRect">
            <a:avLst>
              <a:gd name="adj" fmla="val 20000"/>
            </a:avLst>
          </a:prstGeom>
          <a:solidFill>
            <a:srgbClr val="E9F0FF"/>
          </a:solidFill>
          <a:ln w="6350">
            <a:solidFill>
              <a:srgbClr val="E9F0FF"/>
            </a:solidFill>
            <a:prstDash val="solid"/>
          </a:ln>
        </p:spPr>
      </p:sp>
      <p:sp>
        <p:nvSpPr>
          <p:cNvPr id="38" name="Text 36"/>
          <p:cNvSpPr txBox="1"/>
          <p:nvPr/>
        </p:nvSpPr>
        <p:spPr>
          <a:xfrm>
            <a:off x="10296144" y="3310128"/>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Flask-Cors</a:t>
            </a:r>
            <a:endParaRPr lang="en-US" sz="1100" dirty="0"/>
          </a:p>
        </p:txBody>
      </p:sp>
      <p:sp>
        <p:nvSpPr>
          <p:cNvPr id="39" name="Text 37"/>
          <p:cNvSpPr txBox="1"/>
          <p:nvPr/>
        </p:nvSpPr>
        <p:spPr>
          <a:xfrm>
            <a:off x="7680960" y="3995928"/>
            <a:ext cx="3840480" cy="274320"/>
          </a:xfrm>
          <a:prstGeom prst="rect">
            <a:avLst/>
          </a:prstGeom>
          <a:noFill/>
          <a:ln/>
        </p:spPr>
        <p:txBody>
          <a:bodyPr wrap="square" lIns="0" tIns="0" rIns="0" bIns="0" rtlCol="0" anchor="t"/>
          <a:lstStyle/>
          <a:p>
            <a:pPr marL="0" indent="0">
              <a:buNone/>
            </a:pPr>
            <a:r>
              <a:rPr lang="en-US" sz="1100" b="1" kern="0" spc="200" dirty="0">
                <a:solidFill>
                  <a:srgbClr val="2F6FED"/>
                </a:solidFill>
                <a:latin typeface="Arial" pitchFamily="34" charset="0"/>
                <a:ea typeface="Arial" pitchFamily="34" charset="-122"/>
                <a:cs typeface="Arial" pitchFamily="34" charset="-120"/>
              </a:rPr>
              <a:t>DATA &amp; ML</a:t>
            </a:r>
            <a:endParaRPr lang="en-US" sz="1100" dirty="0"/>
          </a:p>
        </p:txBody>
      </p:sp>
      <p:sp>
        <p:nvSpPr>
          <p:cNvPr id="40" name="Shape 38"/>
          <p:cNvSpPr/>
          <p:nvPr/>
        </p:nvSpPr>
        <p:spPr>
          <a:xfrm>
            <a:off x="7680960" y="4325112"/>
            <a:ext cx="1216152" cy="365760"/>
          </a:xfrm>
          <a:prstGeom prst="roundRect">
            <a:avLst>
              <a:gd name="adj" fmla="val 20000"/>
            </a:avLst>
          </a:prstGeom>
          <a:solidFill>
            <a:srgbClr val="E9F0FF"/>
          </a:solidFill>
          <a:ln w="6350">
            <a:solidFill>
              <a:srgbClr val="E9F0FF"/>
            </a:solidFill>
            <a:prstDash val="solid"/>
          </a:ln>
        </p:spPr>
      </p:sp>
      <p:sp>
        <p:nvSpPr>
          <p:cNvPr id="41" name="Text 39"/>
          <p:cNvSpPr txBox="1"/>
          <p:nvPr/>
        </p:nvSpPr>
        <p:spPr>
          <a:xfrm>
            <a:off x="7680960" y="4325112"/>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Pandas</a:t>
            </a:r>
            <a:endParaRPr lang="en-US" sz="1100" dirty="0"/>
          </a:p>
        </p:txBody>
      </p:sp>
      <p:sp>
        <p:nvSpPr>
          <p:cNvPr id="42" name="Shape 40"/>
          <p:cNvSpPr/>
          <p:nvPr/>
        </p:nvSpPr>
        <p:spPr>
          <a:xfrm>
            <a:off x="8988552" y="4325112"/>
            <a:ext cx="1216152" cy="365760"/>
          </a:xfrm>
          <a:prstGeom prst="roundRect">
            <a:avLst>
              <a:gd name="adj" fmla="val 20000"/>
            </a:avLst>
          </a:prstGeom>
          <a:solidFill>
            <a:srgbClr val="E9F0FF"/>
          </a:solidFill>
          <a:ln w="6350">
            <a:solidFill>
              <a:srgbClr val="E9F0FF"/>
            </a:solidFill>
            <a:prstDash val="solid"/>
          </a:ln>
        </p:spPr>
      </p:sp>
      <p:sp>
        <p:nvSpPr>
          <p:cNvPr id="43" name="Text 41"/>
          <p:cNvSpPr txBox="1"/>
          <p:nvPr/>
        </p:nvSpPr>
        <p:spPr>
          <a:xfrm>
            <a:off x="8988552" y="4325112"/>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NumPy</a:t>
            </a:r>
            <a:endParaRPr lang="en-US" sz="1100" dirty="0"/>
          </a:p>
        </p:txBody>
      </p:sp>
      <p:sp>
        <p:nvSpPr>
          <p:cNvPr id="44" name="Shape 42"/>
          <p:cNvSpPr/>
          <p:nvPr/>
        </p:nvSpPr>
        <p:spPr>
          <a:xfrm>
            <a:off x="10296144" y="4325112"/>
            <a:ext cx="1216152" cy="365760"/>
          </a:xfrm>
          <a:prstGeom prst="roundRect">
            <a:avLst>
              <a:gd name="adj" fmla="val 20000"/>
            </a:avLst>
          </a:prstGeom>
          <a:solidFill>
            <a:srgbClr val="E9F0FF"/>
          </a:solidFill>
          <a:ln w="6350">
            <a:solidFill>
              <a:srgbClr val="E9F0FF"/>
            </a:solidFill>
            <a:prstDash val="solid"/>
          </a:ln>
        </p:spPr>
      </p:sp>
      <p:sp>
        <p:nvSpPr>
          <p:cNvPr id="45" name="Text 43"/>
          <p:cNvSpPr txBox="1"/>
          <p:nvPr/>
        </p:nvSpPr>
        <p:spPr>
          <a:xfrm>
            <a:off x="10296144" y="4325112"/>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scikit-learn</a:t>
            </a:r>
            <a:endParaRPr lang="en-US" sz="1100" dirty="0"/>
          </a:p>
        </p:txBody>
      </p:sp>
      <p:sp>
        <p:nvSpPr>
          <p:cNvPr id="46" name="Shape 44"/>
          <p:cNvSpPr/>
          <p:nvPr/>
        </p:nvSpPr>
        <p:spPr>
          <a:xfrm>
            <a:off x="7680960" y="4782312"/>
            <a:ext cx="1216152" cy="365760"/>
          </a:xfrm>
          <a:prstGeom prst="roundRect">
            <a:avLst>
              <a:gd name="adj" fmla="val 20000"/>
            </a:avLst>
          </a:prstGeom>
          <a:solidFill>
            <a:srgbClr val="E9F0FF"/>
          </a:solidFill>
          <a:ln w="6350">
            <a:solidFill>
              <a:srgbClr val="E9F0FF"/>
            </a:solidFill>
            <a:prstDash val="solid"/>
          </a:ln>
        </p:spPr>
      </p:sp>
      <p:sp>
        <p:nvSpPr>
          <p:cNvPr id="47" name="Text 45"/>
          <p:cNvSpPr txBox="1"/>
          <p:nvPr/>
        </p:nvSpPr>
        <p:spPr>
          <a:xfrm>
            <a:off x="7680960" y="4782312"/>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SHAP</a:t>
            </a:r>
            <a:endParaRPr lang="en-US" sz="1100" dirty="0"/>
          </a:p>
        </p:txBody>
      </p:sp>
      <p:sp>
        <p:nvSpPr>
          <p:cNvPr id="48" name="Shape 46"/>
          <p:cNvSpPr/>
          <p:nvPr/>
        </p:nvSpPr>
        <p:spPr>
          <a:xfrm>
            <a:off x="8988552" y="4782312"/>
            <a:ext cx="1216152" cy="365760"/>
          </a:xfrm>
          <a:prstGeom prst="roundRect">
            <a:avLst>
              <a:gd name="adj" fmla="val 20000"/>
            </a:avLst>
          </a:prstGeom>
          <a:solidFill>
            <a:srgbClr val="E9F0FF"/>
          </a:solidFill>
          <a:ln w="6350">
            <a:solidFill>
              <a:srgbClr val="E9F0FF"/>
            </a:solidFill>
            <a:prstDash val="solid"/>
          </a:ln>
        </p:spPr>
      </p:sp>
      <p:sp>
        <p:nvSpPr>
          <p:cNvPr id="49" name="Text 47"/>
          <p:cNvSpPr txBox="1"/>
          <p:nvPr/>
        </p:nvSpPr>
        <p:spPr>
          <a:xfrm>
            <a:off x="8988552" y="4782312"/>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joblib</a:t>
            </a:r>
            <a:endParaRPr lang="en-US" sz="1100" dirty="0"/>
          </a:p>
        </p:txBody>
      </p:sp>
      <p:sp>
        <p:nvSpPr>
          <p:cNvPr id="50" name="Shape 48"/>
          <p:cNvSpPr/>
          <p:nvPr/>
        </p:nvSpPr>
        <p:spPr>
          <a:xfrm>
            <a:off x="7680960" y="5312664"/>
            <a:ext cx="3886200" cy="868680"/>
          </a:xfrm>
          <a:prstGeom prst="roundRect">
            <a:avLst>
              <a:gd name="adj" fmla="val 12632"/>
            </a:avLst>
          </a:prstGeom>
          <a:solidFill>
            <a:srgbClr val="E9F0FF"/>
          </a:solidFill>
          <a:ln w="9525">
            <a:solidFill>
              <a:srgbClr val="FDF3E3"/>
            </a:solidFill>
            <a:prstDash val="solid"/>
          </a:ln>
        </p:spPr>
      </p:sp>
      <p:sp>
        <p:nvSpPr>
          <p:cNvPr id="51" name="Text 49"/>
          <p:cNvSpPr txBox="1"/>
          <p:nvPr/>
        </p:nvSpPr>
        <p:spPr>
          <a:xfrm>
            <a:off x="7863840" y="5312664"/>
            <a:ext cx="3566160" cy="868680"/>
          </a:xfrm>
          <a:prstGeom prst="rect">
            <a:avLst/>
          </a:prstGeom>
          <a:noFill/>
          <a:ln/>
        </p:spPr>
        <p:txBody>
          <a:bodyPr wrap="square" lIns="0" tIns="0" rIns="0" bIns="0" rtlCol="0" anchor="ctr"/>
          <a:lstStyle/>
          <a:p>
            <a:pPr marL="0" indent="0">
              <a:buNone/>
            </a:pPr>
            <a:r>
              <a:rPr lang="en-US" sz="1100" b="1">
                <a:solidFill>
                  <a:srgbClr val="000000"/>
                </a:solidFill>
                <a:latin typeface="Arial" pitchFamily="34" charset="0"/>
                <a:ea typeface="Arial" pitchFamily="34" charset="-122"/>
                <a:cs typeface="Arial" pitchFamily="34" charset="-120"/>
              </a:rPr>
              <a:t>Stored in SQLite: user accounts, students, academic records, every prediction with its SHAP values and recommendations, and interventions.</a:t>
            </a:r>
            <a:endParaRPr lang="en-US" sz="1100" dirty="0">
              <a:solidFill>
                <a:srgbClr val="000000"/>
              </a:solidFill>
            </a:endParaRPr>
          </a:p>
        </p:txBody>
      </p:sp>
      <p:sp>
        <p:nvSpPr>
          <p:cNvPr id="52" name="Text 50"/>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53" name="Text 51"/>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07</a:t>
            </a:r>
            <a:endParaRPr lang="en-US" sz="900" dirty="0"/>
          </a:p>
        </p:txBody>
      </p:sp>
      <p:sp>
        <p:nvSpPr>
          <p:cNvPr id="54" name="Box Model">
            <a:extLst>
              <a:ext uri="{FF2B5EF4-FFF2-40B4-BE49-F238E27FC236}">
                <a16:creationId xmlns:a16="http://schemas.microsoft.com/office/drawing/2014/main" id="{982210FD-C1A4-41BF-9D1A-216675594F26}"/>
              </a:ext>
            </a:extLst>
          </p:cNvPr>
          <p:cNvSpPr/>
          <p:nvPr/>
        </p:nvSpPr>
        <p:spPr>
          <a:xfrm>
            <a:off x="3995420" y="5312664"/>
            <a:ext cx="3228340" cy="868680"/>
          </a:xfrm>
          <a:prstGeom prst="roundRect">
            <a:avLst>
              <a:gd name="adj" fmla="val 12632"/>
            </a:avLst>
          </a:prstGeom>
          <a:solidFill>
            <a:srgbClr val="142850"/>
          </a:solidFill>
          <a:ln w="9525">
            <a:solidFill>
              <a:srgbClr val="142850"/>
            </a:solidFill>
            <a:prstDash val="solid"/>
          </a:ln>
        </p:spPr>
      </p:sp>
      <p:sp>
        <p:nvSpPr>
          <p:cNvPr id="55" name="Label Model">
            <a:extLst>
              <a:ext uri="{FF2B5EF4-FFF2-40B4-BE49-F238E27FC236}">
                <a16:creationId xmlns:a16="http://schemas.microsoft.com/office/drawing/2014/main" id="{FF071A06-71F9-49AE-BF6C-98B369D5BEE4}"/>
              </a:ext>
            </a:extLst>
          </p:cNvPr>
          <p:cNvSpPr txBox="1"/>
          <p:nvPr/>
        </p:nvSpPr>
        <p:spPr>
          <a:xfrm>
            <a:off x="4173220" y="5363464"/>
            <a:ext cx="2872740" cy="254000"/>
          </a:xfrm>
          <a:prstGeom prst="rect">
            <a:avLst/>
          </a:prstGeom>
          <a:noFill/>
          <a:ln/>
        </p:spPr>
        <p:txBody>
          <a:bodyPr wrap="square" lIns="0" tIns="0" rIns="0" bIns="0" rtlCol="0" anchor="t"/>
          <a:lstStyle/>
          <a:p>
            <a:pPr marL="0" indent="0">
              <a:buNone/>
            </a:pPr>
            <a:r>
              <a:rPr lang="en-US" sz="1200" b="1">
                <a:solidFill>
                  <a:srgbClr val="8FB0F7"/>
                </a:solidFill>
                <a:latin typeface="Arial" pitchFamily="34" charset="0"/>
                <a:ea typeface="Arial" pitchFamily="34" charset="-122"/>
                <a:cs typeface="Arial" pitchFamily="34" charset="-120"/>
              </a:rPr>
              <a:t>Model</a:t>
            </a:r>
            <a:endParaRPr lang="en-US" sz="1200" dirty="0"/>
          </a:p>
        </p:txBody>
      </p:sp>
      <p:sp>
        <p:nvSpPr>
          <p:cNvPr id="56" name="Desc Model">
            <a:extLst>
              <a:ext uri="{FF2B5EF4-FFF2-40B4-BE49-F238E27FC236}">
                <a16:creationId xmlns:a16="http://schemas.microsoft.com/office/drawing/2014/main" id="{EC78EFAF-362E-4B6D-93DC-3018A76F1783}"/>
              </a:ext>
            </a:extLst>
          </p:cNvPr>
          <p:cNvSpPr txBox="1"/>
          <p:nvPr/>
        </p:nvSpPr>
        <p:spPr>
          <a:xfrm>
            <a:off x="4173220" y="5592064"/>
            <a:ext cx="2872740" cy="538480"/>
          </a:xfrm>
          <a:prstGeom prst="rect">
            <a:avLst/>
          </a:prstGeom>
          <a:noFill/>
          <a:ln/>
        </p:spPr>
        <p:txBody>
          <a:bodyPr wrap="square" lIns="0" tIns="0" rIns="0" bIns="0" rtlCol="0" anchor="t"/>
          <a:lstStyle/>
          <a:p>
            <a:pPr marL="0" indent="0">
              <a:buNone/>
            </a:pPr>
            <a:r>
              <a:rPr lang="en-US" sz="1100" b="1">
                <a:solidFill>
                  <a:srgbClr val="FFFFFF"/>
                </a:solidFill>
                <a:latin typeface="Arial" pitchFamily="34" charset="0"/>
                <a:ea typeface="Arial" pitchFamily="34" charset="-122"/>
                <a:cs typeface="Arial" pitchFamily="34" charset="-120"/>
              </a:rPr>
              <a:t>scikit-learn pipeline (StandardScaler + LinearRegression) + SHAP explainer</a:t>
            </a:r>
            <a:endParaRPr lang="en-US" sz="1100" dirty="0"/>
          </a:p>
        </p:txBody>
      </p:sp>
      <p:sp>
        <p:nvSpPr>
          <p:cNvPr id="57" name="Arrow Model">
            <a:extLst>
              <a:ext uri="{FF2B5EF4-FFF2-40B4-BE49-F238E27FC236}">
                <a16:creationId xmlns:a16="http://schemas.microsoft.com/office/drawing/2014/main" id="{F7C61D02-ED04-4255-807D-8BFE32A42AB8}"/>
              </a:ext>
            </a:extLst>
          </p:cNvPr>
          <p:cNvSpPr/>
          <p:nvPr/>
        </p:nvSpPr>
        <p:spPr>
          <a:xfrm>
            <a:off x="5490718" y="4855464"/>
            <a:ext cx="237744" cy="384048"/>
          </a:xfrm>
          <a:prstGeom prst="downArrow">
            <a:avLst/>
          </a:prstGeom>
          <a:solidFill>
            <a:srgbClr val="2F6FED"/>
          </a:solidFill>
          <a:ln w="6350">
            <a:solidFill>
              <a:srgbClr val="2F6FED"/>
            </a:solidFill>
            <a:prstDash val="solid"/>
          </a:ln>
        </p:spPr>
      </p:sp>
      <p:sp>
        <p:nvSpPr>
          <p:cNvPr id="58" name="Chip SQLite">
            <a:extLst>
              <a:ext uri="{FF2B5EF4-FFF2-40B4-BE49-F238E27FC236}">
                <a16:creationId xmlns:a16="http://schemas.microsoft.com/office/drawing/2014/main" id="{41CFCF15-22E8-4734-9CB7-E5030E1650B3}"/>
              </a:ext>
            </a:extLst>
          </p:cNvPr>
          <p:cNvSpPr/>
          <p:nvPr/>
        </p:nvSpPr>
        <p:spPr>
          <a:xfrm>
            <a:off x="10296144" y="4782312"/>
            <a:ext cx="1216152" cy="365760"/>
          </a:xfrm>
          <a:prstGeom prst="roundRect">
            <a:avLst>
              <a:gd name="adj" fmla="val 20000"/>
            </a:avLst>
          </a:prstGeom>
          <a:solidFill>
            <a:srgbClr val="E9F0FF"/>
          </a:solidFill>
          <a:ln w="6350">
            <a:solidFill>
              <a:srgbClr val="E9F0FF"/>
            </a:solidFill>
            <a:prstDash val="solid"/>
          </a:ln>
        </p:spPr>
      </p:sp>
      <p:sp>
        <p:nvSpPr>
          <p:cNvPr id="59" name="Text Chip SQLite">
            <a:extLst>
              <a:ext uri="{FF2B5EF4-FFF2-40B4-BE49-F238E27FC236}">
                <a16:creationId xmlns:a16="http://schemas.microsoft.com/office/drawing/2014/main" id="{F515F456-F36F-4B0A-88E1-C6D273DEE723}"/>
              </a:ext>
            </a:extLst>
          </p:cNvPr>
          <p:cNvSpPr txBox="1"/>
          <p:nvPr/>
        </p:nvSpPr>
        <p:spPr>
          <a:xfrm>
            <a:off x="10296144" y="4782312"/>
            <a:ext cx="1216152" cy="365760"/>
          </a:xfrm>
          <a:prstGeom prst="rect">
            <a:avLst/>
          </a:prstGeom>
          <a:noFill/>
          <a:ln/>
        </p:spPr>
        <p:txBody>
          <a:bodyPr wrap="square" lIns="0" tIns="0" rIns="0" bIns="0" rtlCol="0" anchor="ctr"/>
          <a:lstStyle/>
          <a:p>
            <a:pPr marL="0" indent="0" algn="ctr">
              <a:buNone/>
            </a:pPr>
            <a:r>
              <a:rPr lang="en-US" sz="1100" b="1">
                <a:solidFill>
                  <a:srgbClr val="142850"/>
                </a:solidFill>
                <a:latin typeface="Arial" pitchFamily="34" charset="0"/>
                <a:ea typeface="Arial" pitchFamily="34" charset="-122"/>
                <a:cs typeface="Arial" pitchFamily="34" charset="-120"/>
              </a:rPr>
              <a:t>SQLite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MODEL COMPARISON</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Five regression models on the same 5 folds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5-fold cross-validation, mean ± standard deviation. MAE and RMSE are in final-exam marks out of 100.</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057400"/>
          <a:ext cx="676656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57200">
                <a:tc>
                  <a:txBody>
                    <a:bodyPr/>
                    <a:lstStyle/>
                    <a:p>
                      <a:pPr marL="0" indent="0">
                        <a:buNone/>
                      </a:pPr>
                      <a:r>
                        <a:rPr lang="en-US" sz="1300" b="1" dirty="0">
                          <a:solidFill>
                            <a:srgbClr val="FFFFFF"/>
                          </a:solidFill>
                          <a:latin typeface="Arial" pitchFamily="34" charset="0"/>
                          <a:ea typeface="Arial" pitchFamily="34" charset="-122"/>
                          <a:cs typeface="Arial" pitchFamily="34" charset="-120"/>
                        </a:rPr>
                        <a:t>Model</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MAE</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RMSE</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R²</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142850"/>
                          </a:solidFill>
                          <a:latin typeface="Arial" pitchFamily="34" charset="0"/>
                          <a:ea typeface="Arial" pitchFamily="34" charset="-122"/>
                          <a:cs typeface="Arial" pitchFamily="34" charset="-120"/>
                        </a:rPr>
                        <a:t>Linear Regression  (production)</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marL="0" indent="0">
                        <a:buNone/>
                      </a:pPr>
                      <a:r>
                        <a:rPr lang="en-US" sz="1300" b="1" dirty="0">
                          <a:solidFill>
                            <a:srgbClr val="142850"/>
                          </a:solidFill>
                          <a:latin typeface="Arial" pitchFamily="34" charset="0"/>
                          <a:ea typeface="Arial" pitchFamily="34" charset="-122"/>
                          <a:cs typeface="Arial" pitchFamily="34" charset="-120"/>
                        </a:rPr>
                        <a:t>3.62 ± 0.07</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marL="0" indent="0">
                        <a:buNone/>
                      </a:pPr>
                      <a:r>
                        <a:rPr lang="en-US" sz="1300" b="1" dirty="0">
                          <a:solidFill>
                            <a:srgbClr val="142850"/>
                          </a:solidFill>
                          <a:latin typeface="Arial" pitchFamily="34" charset="0"/>
                          <a:ea typeface="Arial" pitchFamily="34" charset="-122"/>
                          <a:cs typeface="Arial" pitchFamily="34" charset="-120"/>
                        </a:rPr>
                        <a:t>4.59 ± 0.09</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marL="0" indent="0">
                        <a:buNone/>
                      </a:pPr>
                      <a:r>
                        <a:rPr lang="en-US" sz="1300" b="1" dirty="0">
                          <a:solidFill>
                            <a:srgbClr val="142850"/>
                          </a:solidFill>
                          <a:latin typeface="Arial" pitchFamily="34" charset="0"/>
                          <a:ea typeface="Arial" pitchFamily="34" charset="-122"/>
                          <a:cs typeface="Arial" pitchFamily="34" charset="-120"/>
                        </a:rPr>
                        <a:t>0.8357 ± 0.0084</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extLst>
                  <a:ext uri="{0D108BD9-81ED-4DB2-BD59-A6C34878D82A}">
                    <a16:rowId xmlns:a16="http://schemas.microsoft.com/office/drawing/2014/main" val="10001"/>
                  </a:ext>
                </a:extLst>
              </a:tr>
              <a:tr h="457200">
                <a:tc>
                  <a:txBody>
                    <a:bodyPr/>
                    <a:lstStyle/>
                    <a:p>
                      <a:pPr marL="0" indent="0">
                        <a:buNone/>
                      </a:pPr>
                      <a:r>
                        <a:rPr lang="en-US" sz="1300" dirty="0">
                          <a:solidFill>
                            <a:srgbClr val="1A2A4A"/>
                          </a:solidFill>
                          <a:latin typeface="Arial" pitchFamily="34" charset="0"/>
                          <a:ea typeface="Arial" pitchFamily="34" charset="-122"/>
                          <a:cs typeface="Arial" pitchFamily="34" charset="-120"/>
                        </a:rPr>
                        <a:t>Random Forest (tuned)</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3.85 ± 0.08</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4.88 ± 0.09</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0.8145 ± 0.0053</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dirty="0">
                          <a:solidFill>
                            <a:srgbClr val="1A2A4A"/>
                          </a:solidFill>
                          <a:latin typeface="Arial" pitchFamily="34" charset="0"/>
                          <a:ea typeface="Arial" pitchFamily="34" charset="-122"/>
                          <a:cs typeface="Arial" pitchFamily="34" charset="-120"/>
                        </a:rPr>
                        <a:t>SVR</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3.91 ± 0.11</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4.94 ± 0.11</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0.8099 ± 0.0069</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dirty="0">
                          <a:solidFill>
                            <a:srgbClr val="1A2A4A"/>
                          </a:solidFill>
                          <a:latin typeface="Arial" pitchFamily="34" charset="0"/>
                          <a:ea typeface="Arial" pitchFamily="34" charset="-122"/>
                          <a:cs typeface="Arial" pitchFamily="34" charset="-120"/>
                        </a:rPr>
                        <a:t>Random Forest</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3.99 ± 0.11</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5.05 ± 0.10</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0.8008 ± 0.0063</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dirty="0">
                          <a:solidFill>
                            <a:srgbClr val="1A2A4A"/>
                          </a:solidFill>
                          <a:latin typeface="Arial" pitchFamily="34" charset="0"/>
                          <a:ea typeface="Arial" pitchFamily="34" charset="-122"/>
                          <a:cs typeface="Arial" pitchFamily="34" charset="-120"/>
                        </a:rPr>
                        <a:t>Decision Tree</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4.85 ± 0.17</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6.07 ± 0.17</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0.7123 ± 0.0158</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6" name="Chart 0"/>
          <p:cNvGraphicFramePr/>
          <p:nvPr/>
        </p:nvGraphicFramePr>
        <p:xfrm>
          <a:off x="7772400" y="1920240"/>
          <a:ext cx="393192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3"/>
          <p:cNvSpPr/>
          <p:nvPr/>
        </p:nvSpPr>
        <p:spPr>
          <a:xfrm>
            <a:off x="640080" y="5074920"/>
            <a:ext cx="10972800" cy="777240"/>
          </a:xfrm>
          <a:prstGeom prst="roundRect">
            <a:avLst>
              <a:gd name="adj" fmla="val 14118"/>
            </a:avLst>
          </a:prstGeom>
          <a:solidFill>
            <a:srgbClr val="0A1830"/>
          </a:solidFill>
          <a:ln w="9525">
            <a:solidFill>
              <a:srgbClr val="0A1830"/>
            </a:solidFill>
            <a:prstDash val="solid"/>
          </a:ln>
        </p:spPr>
      </p:sp>
      <p:sp>
        <p:nvSpPr>
          <p:cNvPr id="8" name="Text 4"/>
          <p:cNvSpPr txBox="1"/>
          <p:nvPr/>
        </p:nvSpPr>
        <p:spPr>
          <a:xfrm>
            <a:off x="914400" y="5074920"/>
            <a:ext cx="10424160" cy="7772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Linear Regression is the production model: </a:t>
            </a:r>
            <a:r>
              <a:rPr lang="en-US" sz="1400" dirty="0">
                <a:solidFill>
                  <a:srgbClr val="C9D6F0"/>
                </a:solidFill>
                <a:latin typeface="Arial" pitchFamily="34" charset="0"/>
                <a:ea typeface="Arial" pitchFamily="34" charset="-122"/>
                <a:cs typeface="Arial" pitchFamily="34" charset="-120"/>
              </a:rPr>
              <a:t>it has the lowest MAE, the lowest RMSE and the highest R² of the five reproducible candidates.</a:t>
            </a:r>
            <a:endParaRPr lang="en-US" sz="1400" dirty="0"/>
          </a:p>
        </p:txBody>
      </p:sp>
      <p:sp>
        <p:nvSpPr>
          <p:cNvPr id="5" name="Text 5"/>
          <p:cNvSpPr txBox="1"/>
          <p:nvPr/>
        </p:nvSpPr>
        <p:spPr>
          <a:xfrm>
            <a:off x="640080" y="5989320"/>
            <a:ext cx="10972800" cy="320040"/>
          </a:xfrm>
          <a:prstGeom prst="rect">
            <a:avLst/>
          </a:prstGeom>
          <a:noFill/>
          <a:ln/>
        </p:spPr>
        <p:txBody>
          <a:bodyPr wrap="square" lIns="0" tIns="0" rIns="0" bIns="0" rtlCol="0" anchor="t"/>
          <a:lstStyle/>
          <a:p>
            <a:pPr marL="0" indent="0">
              <a:buNone/>
            </a:pPr>
            <a:r>
              <a:rPr lang="en-US" sz="1000" i="1" dirty="0">
                <a:solidFill>
                  <a:srgbClr val="5B6B87"/>
                </a:solidFill>
                <a:latin typeface="Arial" pitchFamily="34" charset="0"/>
                <a:ea typeface="Arial" pitchFamily="34" charset="-122"/>
                <a:cs typeface="Arial" pitchFamily="34" charset="-120"/>
              </a:rPr>
              <a:t>Source: results/evaluation.md (evaluate_models.py). XGBoost is not included: the package is not part of the project environment, so it could not be evaluated reproducibly.</a:t>
            </a:r>
            <a:endParaRPr lang="en-US" sz="1000" dirty="0"/>
          </a:p>
        </p:txBody>
      </p:sp>
      <p:sp>
        <p:nvSpPr>
          <p:cNvPr id="10" name="Text 6"/>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1" name="Text 7"/>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PRODUCTION MODEL</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StandardScaler + Linear Regression</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Selected as the production model because it achieved the strongest 5-fold CV performance among the reproducible candidate models.</a:t>
            </a:r>
            <a:endParaRPr lang="en-US" sz="1400" dirty="0"/>
          </a:p>
        </p:txBody>
      </p:sp>
      <p:sp>
        <p:nvSpPr>
          <p:cNvPr id="5" name="Shape 3"/>
          <p:cNvSpPr/>
          <p:nvPr/>
        </p:nvSpPr>
        <p:spPr>
          <a:xfrm>
            <a:off x="640080" y="2103120"/>
            <a:ext cx="3474720" cy="2103120"/>
          </a:xfrm>
          <a:prstGeom prst="roundRect">
            <a:avLst>
              <a:gd name="adj" fmla="val 5217"/>
            </a:avLst>
          </a:prstGeom>
          <a:solidFill>
            <a:srgbClr val="E9F0FF"/>
          </a:solidFill>
          <a:ln w="9525">
            <a:solidFill>
              <a:srgbClr val="E9F0FF"/>
            </a:solidFill>
            <a:prstDash val="solid"/>
          </a:ln>
        </p:spPr>
      </p:sp>
      <p:sp>
        <p:nvSpPr>
          <p:cNvPr id="6" name="Text 4"/>
          <p:cNvSpPr txBox="1"/>
          <p:nvPr/>
        </p:nvSpPr>
        <p:spPr>
          <a:xfrm>
            <a:off x="960120" y="2286000"/>
            <a:ext cx="2834640" cy="320040"/>
          </a:xfrm>
          <a:prstGeom prst="rect">
            <a:avLst/>
          </a:prstGeom>
          <a:noFill/>
          <a:ln/>
        </p:spPr>
        <p:txBody>
          <a:bodyPr wrap="square" lIns="0" tIns="0" rIns="0" bIns="0" rtlCol="0" anchor="t"/>
          <a:lstStyle/>
          <a:p>
            <a:pPr marL="0" indent="0">
              <a:buNone/>
            </a:pPr>
            <a:r>
              <a:rPr lang="en-US" sz="1300" b="1" kern="0" spc="200" dirty="0">
                <a:solidFill>
                  <a:srgbClr val="2F6FED"/>
                </a:solidFill>
                <a:latin typeface="Arial" pitchFamily="34" charset="0"/>
                <a:ea typeface="Arial" pitchFamily="34" charset="-122"/>
                <a:cs typeface="Arial" pitchFamily="34" charset="-120"/>
              </a:rPr>
              <a:t>MAE</a:t>
            </a:r>
            <a:endParaRPr lang="en-US" sz="1300" dirty="0"/>
          </a:p>
        </p:txBody>
      </p:sp>
      <p:sp>
        <p:nvSpPr>
          <p:cNvPr id="7" name="Text 5"/>
          <p:cNvSpPr txBox="1"/>
          <p:nvPr/>
        </p:nvSpPr>
        <p:spPr>
          <a:xfrm>
            <a:off x="960120" y="2651760"/>
            <a:ext cx="2834640" cy="822960"/>
          </a:xfrm>
          <a:prstGeom prst="rect">
            <a:avLst/>
          </a:prstGeom>
          <a:noFill/>
          <a:ln/>
        </p:spPr>
        <p:txBody>
          <a:bodyPr wrap="square" lIns="0" tIns="0" rIns="0" bIns="0" rtlCol="0" anchor="ctr"/>
          <a:lstStyle/>
          <a:p>
            <a:pPr marL="0" indent="0">
              <a:buNone/>
            </a:pPr>
            <a:r>
              <a:rPr lang="en-US" sz="4800" b="1" dirty="0">
                <a:solidFill>
                  <a:srgbClr val="142850"/>
                </a:solidFill>
                <a:latin typeface="Cambria" pitchFamily="34" charset="0"/>
                <a:ea typeface="Cambria" pitchFamily="34" charset="-122"/>
                <a:cs typeface="Cambria" pitchFamily="34" charset="-120"/>
              </a:rPr>
              <a:t>3.62</a:t>
            </a:r>
            <a:endParaRPr lang="en-US" sz="4800" dirty="0"/>
          </a:p>
        </p:txBody>
      </p:sp>
      <p:sp>
        <p:nvSpPr>
          <p:cNvPr id="8" name="Text 6"/>
          <p:cNvSpPr txBox="1"/>
          <p:nvPr/>
        </p:nvSpPr>
        <p:spPr>
          <a:xfrm>
            <a:off x="960120" y="3474720"/>
            <a:ext cx="2834640" cy="274320"/>
          </a:xfrm>
          <a:prstGeom prst="rect">
            <a:avLst/>
          </a:prstGeom>
          <a:noFill/>
          <a:ln/>
        </p:spPr>
        <p:txBody>
          <a:bodyPr wrap="square" lIns="0" tIns="0" rIns="0" bIns="0" rtlCol="0" anchor="t"/>
          <a:lstStyle/>
          <a:p>
            <a:pPr marL="0" indent="0">
              <a:buNone/>
            </a:pPr>
            <a:r>
              <a:rPr lang="en-US" sz="1400" b="1" dirty="0">
                <a:solidFill>
                  <a:srgbClr val="1A2A4A"/>
                </a:solidFill>
                <a:latin typeface="Arial" pitchFamily="34" charset="0"/>
                <a:ea typeface="Arial" pitchFamily="34" charset="-122"/>
                <a:cs typeface="Arial" pitchFamily="34" charset="-120"/>
              </a:rPr>
              <a:t>± 0.07 marks</a:t>
            </a:r>
            <a:endParaRPr lang="en-US" sz="1400" dirty="0"/>
          </a:p>
        </p:txBody>
      </p:sp>
      <p:sp>
        <p:nvSpPr>
          <p:cNvPr id="9" name="Text 7"/>
          <p:cNvSpPr txBox="1"/>
          <p:nvPr/>
        </p:nvSpPr>
        <p:spPr>
          <a:xfrm>
            <a:off x="960120" y="3794760"/>
            <a:ext cx="2834640" cy="274320"/>
          </a:xfrm>
          <a:prstGeom prst="rect">
            <a:avLst/>
          </a:prstGeom>
          <a:noFill/>
          <a:ln/>
        </p:spPr>
        <p:txBody>
          <a:bodyPr wrap="square" lIns="0" tIns="0" rIns="0" bIns="0" rtlCol="0" anchor="t"/>
          <a:lstStyle/>
          <a:p>
            <a:pPr marL="0" indent="0">
              <a:buNone/>
            </a:pPr>
            <a:r>
              <a:rPr lang="en-US" sz="1200" dirty="0">
                <a:solidFill>
                  <a:srgbClr val="5B6B87"/>
                </a:solidFill>
                <a:latin typeface="Arial" pitchFamily="34" charset="0"/>
                <a:ea typeface="Arial" pitchFamily="34" charset="-122"/>
                <a:cs typeface="Arial" pitchFamily="34" charset="-120"/>
              </a:rPr>
              <a:t>Mean absolute error</a:t>
            </a:r>
            <a:endParaRPr lang="en-US" sz="1200" dirty="0"/>
          </a:p>
        </p:txBody>
      </p:sp>
      <p:sp>
        <p:nvSpPr>
          <p:cNvPr id="10" name="Shape 8"/>
          <p:cNvSpPr/>
          <p:nvPr/>
        </p:nvSpPr>
        <p:spPr>
          <a:xfrm>
            <a:off x="4389120" y="2103120"/>
            <a:ext cx="3474720" cy="2103120"/>
          </a:xfrm>
          <a:prstGeom prst="roundRect">
            <a:avLst>
              <a:gd name="adj" fmla="val 5217"/>
            </a:avLst>
          </a:prstGeom>
          <a:solidFill>
            <a:srgbClr val="E9F0FF"/>
          </a:solidFill>
          <a:ln w="9525">
            <a:solidFill>
              <a:srgbClr val="E9F0FF"/>
            </a:solidFill>
            <a:prstDash val="solid"/>
          </a:ln>
        </p:spPr>
      </p:sp>
      <p:sp>
        <p:nvSpPr>
          <p:cNvPr id="11" name="Text 9"/>
          <p:cNvSpPr txBox="1"/>
          <p:nvPr/>
        </p:nvSpPr>
        <p:spPr>
          <a:xfrm>
            <a:off x="4709160" y="2286000"/>
            <a:ext cx="2834640" cy="320040"/>
          </a:xfrm>
          <a:prstGeom prst="rect">
            <a:avLst/>
          </a:prstGeom>
          <a:noFill/>
          <a:ln/>
        </p:spPr>
        <p:txBody>
          <a:bodyPr wrap="square" lIns="0" tIns="0" rIns="0" bIns="0" rtlCol="0" anchor="t"/>
          <a:lstStyle/>
          <a:p>
            <a:pPr marL="0" indent="0">
              <a:buNone/>
            </a:pPr>
            <a:r>
              <a:rPr lang="en-US" sz="1300" b="1" kern="0" spc="200" dirty="0">
                <a:solidFill>
                  <a:srgbClr val="2F6FED"/>
                </a:solidFill>
                <a:latin typeface="Arial" pitchFamily="34" charset="0"/>
                <a:ea typeface="Arial" pitchFamily="34" charset="-122"/>
                <a:cs typeface="Arial" pitchFamily="34" charset="-120"/>
              </a:rPr>
              <a:t>RMSE</a:t>
            </a:r>
            <a:endParaRPr lang="en-US" sz="1300" dirty="0"/>
          </a:p>
        </p:txBody>
      </p:sp>
      <p:sp>
        <p:nvSpPr>
          <p:cNvPr id="12" name="Text 10"/>
          <p:cNvSpPr txBox="1"/>
          <p:nvPr/>
        </p:nvSpPr>
        <p:spPr>
          <a:xfrm>
            <a:off x="4709160" y="2651760"/>
            <a:ext cx="2834640" cy="822960"/>
          </a:xfrm>
          <a:prstGeom prst="rect">
            <a:avLst/>
          </a:prstGeom>
          <a:noFill/>
          <a:ln/>
        </p:spPr>
        <p:txBody>
          <a:bodyPr wrap="square" lIns="0" tIns="0" rIns="0" bIns="0" rtlCol="0" anchor="ctr"/>
          <a:lstStyle/>
          <a:p>
            <a:pPr marL="0" indent="0">
              <a:buNone/>
            </a:pPr>
            <a:r>
              <a:rPr lang="en-US" sz="4800" b="1" dirty="0">
                <a:solidFill>
                  <a:srgbClr val="142850"/>
                </a:solidFill>
                <a:latin typeface="Cambria" pitchFamily="34" charset="0"/>
                <a:ea typeface="Cambria" pitchFamily="34" charset="-122"/>
                <a:cs typeface="Cambria" pitchFamily="34" charset="-120"/>
              </a:rPr>
              <a:t>4.59</a:t>
            </a:r>
            <a:endParaRPr lang="en-US" sz="4800" dirty="0"/>
          </a:p>
        </p:txBody>
      </p:sp>
      <p:sp>
        <p:nvSpPr>
          <p:cNvPr id="13" name="Text 11"/>
          <p:cNvSpPr txBox="1"/>
          <p:nvPr/>
        </p:nvSpPr>
        <p:spPr>
          <a:xfrm>
            <a:off x="4709160" y="3474720"/>
            <a:ext cx="2834640" cy="274320"/>
          </a:xfrm>
          <a:prstGeom prst="rect">
            <a:avLst/>
          </a:prstGeom>
          <a:noFill/>
          <a:ln/>
        </p:spPr>
        <p:txBody>
          <a:bodyPr wrap="square" lIns="0" tIns="0" rIns="0" bIns="0" rtlCol="0" anchor="t"/>
          <a:lstStyle/>
          <a:p>
            <a:pPr marL="0" indent="0">
              <a:buNone/>
            </a:pPr>
            <a:r>
              <a:rPr lang="en-US" sz="1400" b="1" dirty="0">
                <a:solidFill>
                  <a:srgbClr val="1A2A4A"/>
                </a:solidFill>
                <a:latin typeface="Arial" pitchFamily="34" charset="0"/>
                <a:ea typeface="Arial" pitchFamily="34" charset="-122"/>
                <a:cs typeface="Arial" pitchFamily="34" charset="-120"/>
              </a:rPr>
              <a:t>± 0.09 marks</a:t>
            </a:r>
            <a:endParaRPr lang="en-US" sz="1400" dirty="0"/>
          </a:p>
        </p:txBody>
      </p:sp>
      <p:sp>
        <p:nvSpPr>
          <p:cNvPr id="14" name="Text 12"/>
          <p:cNvSpPr txBox="1"/>
          <p:nvPr/>
        </p:nvSpPr>
        <p:spPr>
          <a:xfrm>
            <a:off x="4709160" y="3794760"/>
            <a:ext cx="2834640" cy="274320"/>
          </a:xfrm>
          <a:prstGeom prst="rect">
            <a:avLst/>
          </a:prstGeom>
          <a:noFill/>
          <a:ln/>
        </p:spPr>
        <p:txBody>
          <a:bodyPr wrap="square" lIns="0" tIns="0" rIns="0" bIns="0" rtlCol="0" anchor="t"/>
          <a:lstStyle/>
          <a:p>
            <a:pPr marL="0" indent="0">
              <a:buNone/>
            </a:pPr>
            <a:r>
              <a:rPr lang="en-US" sz="1200" dirty="0">
                <a:solidFill>
                  <a:srgbClr val="5B6B87"/>
                </a:solidFill>
                <a:latin typeface="Arial" pitchFamily="34" charset="0"/>
                <a:ea typeface="Arial" pitchFamily="34" charset="-122"/>
                <a:cs typeface="Arial" pitchFamily="34" charset="-120"/>
              </a:rPr>
              <a:t>Root mean squared error</a:t>
            </a:r>
            <a:endParaRPr lang="en-US" sz="1200" dirty="0"/>
          </a:p>
        </p:txBody>
      </p:sp>
      <p:sp>
        <p:nvSpPr>
          <p:cNvPr id="15" name="Shape 13"/>
          <p:cNvSpPr/>
          <p:nvPr/>
        </p:nvSpPr>
        <p:spPr>
          <a:xfrm>
            <a:off x="8138160" y="2103120"/>
            <a:ext cx="3474720" cy="2103120"/>
          </a:xfrm>
          <a:prstGeom prst="roundRect">
            <a:avLst>
              <a:gd name="adj" fmla="val 5217"/>
            </a:avLst>
          </a:prstGeom>
          <a:solidFill>
            <a:srgbClr val="E9F0FF"/>
          </a:solidFill>
          <a:ln w="9525">
            <a:solidFill>
              <a:srgbClr val="E9F0FF"/>
            </a:solidFill>
            <a:prstDash val="solid"/>
          </a:ln>
        </p:spPr>
      </p:sp>
      <p:sp>
        <p:nvSpPr>
          <p:cNvPr id="16" name="Text 14"/>
          <p:cNvSpPr txBox="1"/>
          <p:nvPr/>
        </p:nvSpPr>
        <p:spPr>
          <a:xfrm>
            <a:off x="8458200" y="2286000"/>
            <a:ext cx="2834640" cy="320040"/>
          </a:xfrm>
          <a:prstGeom prst="rect">
            <a:avLst/>
          </a:prstGeom>
          <a:noFill/>
          <a:ln/>
        </p:spPr>
        <p:txBody>
          <a:bodyPr wrap="square" lIns="0" tIns="0" rIns="0" bIns="0" rtlCol="0" anchor="t"/>
          <a:lstStyle/>
          <a:p>
            <a:pPr marL="0" indent="0">
              <a:buNone/>
            </a:pPr>
            <a:r>
              <a:rPr lang="en-US" sz="1300" b="1" kern="0" spc="200" dirty="0">
                <a:solidFill>
                  <a:srgbClr val="2F6FED"/>
                </a:solidFill>
                <a:latin typeface="Arial" pitchFamily="34" charset="0"/>
                <a:ea typeface="Arial" pitchFamily="34" charset="-122"/>
                <a:cs typeface="Arial" pitchFamily="34" charset="-120"/>
              </a:rPr>
              <a:t>R²</a:t>
            </a:r>
            <a:endParaRPr lang="en-US" sz="1300" dirty="0"/>
          </a:p>
        </p:txBody>
      </p:sp>
      <p:sp>
        <p:nvSpPr>
          <p:cNvPr id="17" name="Text 15"/>
          <p:cNvSpPr txBox="1"/>
          <p:nvPr/>
        </p:nvSpPr>
        <p:spPr>
          <a:xfrm>
            <a:off x="8458200" y="2651760"/>
            <a:ext cx="2834640" cy="822960"/>
          </a:xfrm>
          <a:prstGeom prst="rect">
            <a:avLst/>
          </a:prstGeom>
          <a:noFill/>
          <a:ln/>
        </p:spPr>
        <p:txBody>
          <a:bodyPr wrap="square" lIns="0" tIns="0" rIns="0" bIns="0" rtlCol="0" anchor="ctr"/>
          <a:lstStyle/>
          <a:p>
            <a:pPr marL="0" indent="0">
              <a:buNone/>
            </a:pPr>
            <a:r>
              <a:rPr lang="en-US" sz="4800" b="1" dirty="0">
                <a:solidFill>
                  <a:srgbClr val="142850"/>
                </a:solidFill>
                <a:latin typeface="Cambria" pitchFamily="34" charset="0"/>
                <a:ea typeface="Cambria" pitchFamily="34" charset="-122"/>
                <a:cs typeface="Cambria" pitchFamily="34" charset="-120"/>
              </a:rPr>
              <a:t>0.8357</a:t>
            </a:r>
            <a:endParaRPr lang="en-US" sz="4800" dirty="0"/>
          </a:p>
        </p:txBody>
      </p:sp>
      <p:sp>
        <p:nvSpPr>
          <p:cNvPr id="18" name="Text 16"/>
          <p:cNvSpPr txBox="1"/>
          <p:nvPr/>
        </p:nvSpPr>
        <p:spPr>
          <a:xfrm>
            <a:off x="8458200" y="3474720"/>
            <a:ext cx="2834640" cy="274320"/>
          </a:xfrm>
          <a:prstGeom prst="rect">
            <a:avLst/>
          </a:prstGeom>
          <a:noFill/>
          <a:ln/>
        </p:spPr>
        <p:txBody>
          <a:bodyPr wrap="square" lIns="0" tIns="0" rIns="0" bIns="0" rtlCol="0" anchor="t"/>
          <a:lstStyle/>
          <a:p>
            <a:pPr marL="0" indent="0">
              <a:buNone/>
            </a:pPr>
            <a:r>
              <a:rPr lang="en-US" sz="1400" b="1" dirty="0">
                <a:solidFill>
                  <a:srgbClr val="1A2A4A"/>
                </a:solidFill>
                <a:latin typeface="Arial" pitchFamily="34" charset="0"/>
                <a:ea typeface="Arial" pitchFamily="34" charset="-122"/>
                <a:cs typeface="Arial" pitchFamily="34" charset="-120"/>
              </a:rPr>
              <a:t>± 0.0084</a:t>
            </a:r>
            <a:endParaRPr lang="en-US" sz="1400" dirty="0"/>
          </a:p>
        </p:txBody>
      </p:sp>
      <p:sp>
        <p:nvSpPr>
          <p:cNvPr id="19" name="Text 17"/>
          <p:cNvSpPr txBox="1"/>
          <p:nvPr/>
        </p:nvSpPr>
        <p:spPr>
          <a:xfrm>
            <a:off x="8458200" y="3794760"/>
            <a:ext cx="2834640" cy="274320"/>
          </a:xfrm>
          <a:prstGeom prst="rect">
            <a:avLst/>
          </a:prstGeom>
          <a:noFill/>
          <a:ln/>
        </p:spPr>
        <p:txBody>
          <a:bodyPr wrap="square" lIns="0" tIns="0" rIns="0" bIns="0" rtlCol="0" anchor="t"/>
          <a:lstStyle/>
          <a:p>
            <a:pPr marL="0" indent="0">
              <a:buNone/>
            </a:pPr>
            <a:r>
              <a:rPr lang="en-US" sz="1200" dirty="0">
                <a:solidFill>
                  <a:srgbClr val="5B6B87"/>
                </a:solidFill>
                <a:latin typeface="Arial" pitchFamily="34" charset="0"/>
                <a:ea typeface="Arial" pitchFamily="34" charset="-122"/>
                <a:cs typeface="Arial" pitchFamily="34" charset="-120"/>
              </a:rPr>
              <a:t>Coefficient of determination</a:t>
            </a:r>
            <a:endParaRPr lang="en-US" sz="1200" dirty="0"/>
          </a:p>
        </p:txBody>
      </p:sp>
      <p:sp>
        <p:nvSpPr>
          <p:cNvPr id="20" name="Shape 18"/>
          <p:cNvSpPr/>
          <p:nvPr/>
        </p:nvSpPr>
        <p:spPr>
          <a:xfrm>
            <a:off x="640080" y="4617720"/>
            <a:ext cx="2377440" cy="685800"/>
          </a:xfrm>
          <a:prstGeom prst="roundRect">
            <a:avLst>
              <a:gd name="adj" fmla="val 16000"/>
            </a:avLst>
          </a:prstGeom>
          <a:solidFill>
            <a:srgbClr val="F4F7FE"/>
          </a:solidFill>
          <a:ln w="9525">
            <a:solidFill>
              <a:srgbClr val="D8E1F5"/>
            </a:solidFill>
            <a:prstDash val="solid"/>
          </a:ln>
        </p:spPr>
      </p:sp>
      <p:sp>
        <p:nvSpPr>
          <p:cNvPr id="21" name="Text 19"/>
          <p:cNvSpPr txBox="1"/>
          <p:nvPr/>
        </p:nvSpPr>
        <p:spPr>
          <a:xfrm>
            <a:off x="640080" y="4617720"/>
            <a:ext cx="2377440" cy="685800"/>
          </a:xfrm>
          <a:prstGeom prst="rect">
            <a:avLst/>
          </a:prstGeom>
          <a:noFill/>
          <a:ln/>
        </p:spPr>
        <p:txBody>
          <a:bodyPr wrap="square" lIns="0" tIns="0" rIns="0" bIns="0" rtlCol="0" anchor="ctr"/>
          <a:lstStyle/>
          <a:p>
            <a:pPr marL="0" indent="0" algn="ctr">
              <a:buNone/>
            </a:pPr>
            <a:r>
              <a:rPr lang="en-US" sz="1400" b="1" dirty="0">
                <a:solidFill>
                  <a:srgbClr val="142850"/>
                </a:solidFill>
                <a:latin typeface="Arial" pitchFamily="34" charset="0"/>
                <a:ea typeface="Arial" pitchFamily="34" charset="-122"/>
                <a:cs typeface="Arial" pitchFamily="34" charset="-120"/>
              </a:rPr>
              <a:t>Five inputs</a:t>
            </a:r>
            <a:endParaRPr lang="en-US" sz="1400" dirty="0"/>
          </a:p>
        </p:txBody>
      </p:sp>
      <p:sp>
        <p:nvSpPr>
          <p:cNvPr id="22" name="Shape 20"/>
          <p:cNvSpPr/>
          <p:nvPr/>
        </p:nvSpPr>
        <p:spPr>
          <a:xfrm>
            <a:off x="3063240" y="4846320"/>
            <a:ext cx="365760" cy="237744"/>
          </a:xfrm>
          <a:prstGeom prst="rightArrow">
            <a:avLst/>
          </a:prstGeom>
          <a:solidFill>
            <a:srgbClr val="2F6FED"/>
          </a:solidFill>
          <a:ln w="6350">
            <a:solidFill>
              <a:srgbClr val="2F6FED"/>
            </a:solidFill>
            <a:prstDash val="solid"/>
          </a:ln>
        </p:spPr>
      </p:sp>
      <p:sp>
        <p:nvSpPr>
          <p:cNvPr id="23" name="Shape 21"/>
          <p:cNvSpPr/>
          <p:nvPr/>
        </p:nvSpPr>
        <p:spPr>
          <a:xfrm>
            <a:off x="3474720" y="4617720"/>
            <a:ext cx="2377440" cy="685800"/>
          </a:xfrm>
          <a:prstGeom prst="roundRect">
            <a:avLst>
              <a:gd name="adj" fmla="val 16000"/>
            </a:avLst>
          </a:prstGeom>
          <a:solidFill>
            <a:srgbClr val="E9F0FF"/>
          </a:solidFill>
          <a:ln w="9525">
            <a:solidFill>
              <a:srgbClr val="E9F0FF"/>
            </a:solidFill>
            <a:prstDash val="solid"/>
          </a:ln>
        </p:spPr>
      </p:sp>
      <p:sp>
        <p:nvSpPr>
          <p:cNvPr id="24" name="Text 22"/>
          <p:cNvSpPr txBox="1"/>
          <p:nvPr/>
        </p:nvSpPr>
        <p:spPr>
          <a:xfrm>
            <a:off x="3474720" y="4617720"/>
            <a:ext cx="2377440" cy="685800"/>
          </a:xfrm>
          <a:prstGeom prst="rect">
            <a:avLst/>
          </a:prstGeom>
          <a:noFill/>
          <a:ln/>
        </p:spPr>
        <p:txBody>
          <a:bodyPr wrap="square" lIns="0" tIns="0" rIns="0" bIns="0" rtlCol="0" anchor="ctr"/>
          <a:lstStyle/>
          <a:p>
            <a:pPr marL="0" indent="0" algn="ctr">
              <a:buNone/>
            </a:pPr>
            <a:r>
              <a:rPr lang="en-US" sz="1400" b="1" dirty="0">
                <a:solidFill>
                  <a:srgbClr val="142850"/>
                </a:solidFill>
                <a:latin typeface="Arial" pitchFamily="34" charset="0"/>
                <a:ea typeface="Arial" pitchFamily="34" charset="-122"/>
                <a:cs typeface="Arial" pitchFamily="34" charset="-120"/>
              </a:rPr>
              <a:t>StandardScaler</a:t>
            </a:r>
            <a:endParaRPr lang="en-US" sz="1400" dirty="0"/>
          </a:p>
        </p:txBody>
      </p:sp>
      <p:sp>
        <p:nvSpPr>
          <p:cNvPr id="25" name="Shape 23"/>
          <p:cNvSpPr/>
          <p:nvPr/>
        </p:nvSpPr>
        <p:spPr>
          <a:xfrm>
            <a:off x="5897880" y="4846320"/>
            <a:ext cx="365760" cy="237744"/>
          </a:xfrm>
          <a:prstGeom prst="rightArrow">
            <a:avLst/>
          </a:prstGeom>
          <a:solidFill>
            <a:srgbClr val="2F6FED"/>
          </a:solidFill>
          <a:ln w="6350">
            <a:solidFill>
              <a:srgbClr val="2F6FED"/>
            </a:solidFill>
            <a:prstDash val="solid"/>
          </a:ln>
        </p:spPr>
      </p:sp>
      <p:sp>
        <p:nvSpPr>
          <p:cNvPr id="26" name="Shape 24"/>
          <p:cNvSpPr/>
          <p:nvPr/>
        </p:nvSpPr>
        <p:spPr>
          <a:xfrm>
            <a:off x="6309360" y="4617720"/>
            <a:ext cx="2377440" cy="685800"/>
          </a:xfrm>
          <a:prstGeom prst="roundRect">
            <a:avLst>
              <a:gd name="adj" fmla="val 16000"/>
            </a:avLst>
          </a:prstGeom>
          <a:solidFill>
            <a:srgbClr val="E9F0FF"/>
          </a:solidFill>
          <a:ln w="9525">
            <a:solidFill>
              <a:srgbClr val="E9F0FF"/>
            </a:solidFill>
            <a:prstDash val="solid"/>
          </a:ln>
        </p:spPr>
      </p:sp>
      <p:sp>
        <p:nvSpPr>
          <p:cNvPr id="27" name="Text 25"/>
          <p:cNvSpPr txBox="1"/>
          <p:nvPr/>
        </p:nvSpPr>
        <p:spPr>
          <a:xfrm>
            <a:off x="6309360" y="4617720"/>
            <a:ext cx="2377440" cy="685800"/>
          </a:xfrm>
          <a:prstGeom prst="rect">
            <a:avLst/>
          </a:prstGeom>
          <a:noFill/>
          <a:ln/>
        </p:spPr>
        <p:txBody>
          <a:bodyPr wrap="square" lIns="0" tIns="0" rIns="0" bIns="0" rtlCol="0" anchor="ctr"/>
          <a:lstStyle/>
          <a:p>
            <a:pPr marL="0" indent="0" algn="ctr">
              <a:buNone/>
            </a:pPr>
            <a:r>
              <a:rPr lang="en-US" sz="1400" b="1" dirty="0">
                <a:solidFill>
                  <a:srgbClr val="142850"/>
                </a:solidFill>
                <a:latin typeface="Arial" pitchFamily="34" charset="0"/>
                <a:ea typeface="Arial" pitchFamily="34" charset="-122"/>
                <a:cs typeface="Arial" pitchFamily="34" charset="-120"/>
              </a:rPr>
              <a:t>LinearRegression</a:t>
            </a:r>
            <a:endParaRPr lang="en-US" sz="1400" dirty="0"/>
          </a:p>
        </p:txBody>
      </p:sp>
      <p:sp>
        <p:nvSpPr>
          <p:cNvPr id="28" name="Shape 26"/>
          <p:cNvSpPr/>
          <p:nvPr/>
        </p:nvSpPr>
        <p:spPr>
          <a:xfrm>
            <a:off x="8732520" y="4846320"/>
            <a:ext cx="365760" cy="237744"/>
          </a:xfrm>
          <a:prstGeom prst="rightArrow">
            <a:avLst/>
          </a:prstGeom>
          <a:solidFill>
            <a:srgbClr val="2F6FED"/>
          </a:solidFill>
          <a:ln w="6350">
            <a:solidFill>
              <a:srgbClr val="2F6FED"/>
            </a:solidFill>
            <a:prstDash val="solid"/>
          </a:ln>
        </p:spPr>
      </p:sp>
      <p:sp>
        <p:nvSpPr>
          <p:cNvPr id="29" name="Shape 27"/>
          <p:cNvSpPr/>
          <p:nvPr/>
        </p:nvSpPr>
        <p:spPr>
          <a:xfrm>
            <a:off x="9144000" y="4617720"/>
            <a:ext cx="2377440" cy="685800"/>
          </a:xfrm>
          <a:prstGeom prst="roundRect">
            <a:avLst>
              <a:gd name="adj" fmla="val 16000"/>
            </a:avLst>
          </a:prstGeom>
          <a:solidFill>
            <a:srgbClr val="F4F7FE"/>
          </a:solidFill>
          <a:ln w="9525">
            <a:solidFill>
              <a:srgbClr val="D8E1F5"/>
            </a:solidFill>
            <a:prstDash val="solid"/>
          </a:ln>
        </p:spPr>
      </p:sp>
      <p:sp>
        <p:nvSpPr>
          <p:cNvPr id="30" name="Text 28"/>
          <p:cNvSpPr txBox="1"/>
          <p:nvPr/>
        </p:nvSpPr>
        <p:spPr>
          <a:xfrm>
            <a:off x="9144000" y="4617720"/>
            <a:ext cx="2377440" cy="685800"/>
          </a:xfrm>
          <a:prstGeom prst="rect">
            <a:avLst/>
          </a:prstGeom>
          <a:noFill/>
          <a:ln/>
        </p:spPr>
        <p:txBody>
          <a:bodyPr wrap="square" lIns="0" tIns="0" rIns="0" bIns="0" rtlCol="0" anchor="ctr"/>
          <a:lstStyle/>
          <a:p>
            <a:pPr marL="0" indent="0" algn="ctr">
              <a:buNone/>
            </a:pPr>
            <a:r>
              <a:rPr lang="en-US" sz="1400" b="1" dirty="0">
                <a:solidFill>
                  <a:srgbClr val="142850"/>
                </a:solidFill>
                <a:latin typeface="Arial" pitchFamily="34" charset="0"/>
                <a:ea typeface="Arial" pitchFamily="34" charset="-122"/>
                <a:cs typeface="Arial" pitchFamily="34" charset="-120"/>
              </a:rPr>
              <a:t>Predicted marks</a:t>
            </a:r>
            <a:endParaRPr lang="en-US" sz="1400" dirty="0"/>
          </a:p>
        </p:txBody>
      </p:sp>
      <p:sp>
        <p:nvSpPr>
          <p:cNvPr id="31" name="Text 29"/>
          <p:cNvSpPr txBox="1"/>
          <p:nvPr/>
        </p:nvSpPr>
        <p:spPr>
          <a:xfrm>
            <a:off x="640080" y="5577840"/>
            <a:ext cx="10972800" cy="548640"/>
          </a:xfrm>
          <a:prstGeom prst="rect">
            <a:avLst/>
          </a:prstGeom>
          <a:noFill/>
          <a:ln/>
        </p:spPr>
        <p:txBody>
          <a:bodyPr wrap="square" lIns="0" tIns="0" rIns="0" bIns="0" rtlCol="0" anchor="t"/>
          <a:lstStyle/>
          <a:p>
            <a:pPr marL="0" indent="0">
              <a:buNone/>
            </a:pPr>
            <a:r>
              <a:rPr lang="en-US" sz="1200" dirty="0">
                <a:solidFill>
                  <a:srgbClr val="5B6B87"/>
                </a:solidFill>
                <a:latin typeface="Arial" pitchFamily="34" charset="0"/>
                <a:ea typeface="Arial" pitchFamily="34" charset="-122"/>
                <a:cs typeface="Arial" pitchFamily="34" charset="-120"/>
              </a:rPr>
              <a:t>Trained on all 2,000 records by final_model.py and saved as final_student_performance_model.pkl (scikit-learn 1.9.1). The same model serves /predict, /explain and /recommend.</a:t>
            </a:r>
            <a:endParaRPr lang="en-US" sz="1200" dirty="0"/>
          </a:p>
        </p:txBody>
      </p:sp>
      <p:sp>
        <p:nvSpPr>
          <p:cNvPr id="32" name="Text 30"/>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33" name="Text 31"/>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EARLY-WARNING CLASSIFICATION</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Early-warning bands on predicted marks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This is a derived early-warning layer on top of a regression model. Results use out-of-fold predictions (5-fold CV).</a:t>
            </a:r>
            <a:endParaRPr lang="en-US" sz="1400" dirty="0"/>
          </a:p>
        </p:txBody>
      </p:sp>
      <p:sp>
        <p:nvSpPr>
          <p:cNvPr id="5" name="Text 3"/>
          <p:cNvSpPr txBox="1"/>
          <p:nvPr/>
        </p:nvSpPr>
        <p:spPr>
          <a:xfrm>
            <a:off x="640080" y="1965960"/>
            <a:ext cx="3108960" cy="274320"/>
          </a:xfrm>
          <a:prstGeom prst="rect">
            <a:avLst/>
          </a:prstGeom>
          <a:noFill/>
          <a:ln/>
        </p:spPr>
        <p:txBody>
          <a:bodyPr wrap="square" lIns="0" tIns="0" rIns="0" bIns="0" rtlCol="0" anchor="t"/>
          <a:lstStyle/>
          <a:p>
            <a:pPr marL="0" indent="0">
              <a:buNone/>
            </a:pPr>
            <a:r>
              <a:rPr lang="en-US" sz="1100" b="1" kern="0" spc="200" dirty="0">
                <a:solidFill>
                  <a:srgbClr val="5B6B87"/>
                </a:solidFill>
                <a:latin typeface="Arial" pitchFamily="34" charset="0"/>
                <a:ea typeface="Arial" pitchFamily="34" charset="-122"/>
                <a:cs typeface="Arial" pitchFamily="34" charset="-120"/>
              </a:rPr>
              <a:t>THRESHOLDS</a:t>
            </a:r>
            <a:endParaRPr lang="en-US" sz="1100" dirty="0"/>
          </a:p>
        </p:txBody>
      </p:sp>
      <p:sp>
        <p:nvSpPr>
          <p:cNvPr id="6" name="Shape 4"/>
          <p:cNvSpPr/>
          <p:nvPr/>
        </p:nvSpPr>
        <p:spPr>
          <a:xfrm>
            <a:off x="640080" y="2331720"/>
            <a:ext cx="1600200" cy="329184"/>
          </a:xfrm>
          <a:prstGeom prst="roundRect">
            <a:avLst>
              <a:gd name="adj" fmla="val 50000"/>
            </a:avLst>
          </a:prstGeom>
          <a:solidFill>
            <a:srgbClr val="FDECEF"/>
          </a:solidFill>
          <a:ln w="9525">
            <a:solidFill>
              <a:srgbClr val="E1516A"/>
            </a:solidFill>
            <a:prstDash val="solid"/>
          </a:ln>
        </p:spPr>
      </p:sp>
      <p:sp>
        <p:nvSpPr>
          <p:cNvPr id="7" name="Text 5"/>
          <p:cNvSpPr txBox="1"/>
          <p:nvPr/>
        </p:nvSpPr>
        <p:spPr>
          <a:xfrm>
            <a:off x="640080" y="2331720"/>
            <a:ext cx="1600200" cy="329184"/>
          </a:xfrm>
          <a:prstGeom prst="rect">
            <a:avLst/>
          </a:prstGeom>
          <a:noFill/>
          <a:ln/>
        </p:spPr>
        <p:txBody>
          <a:bodyPr wrap="square" lIns="0" tIns="0" rIns="0" bIns="0" rtlCol="0" anchor="ctr"/>
          <a:lstStyle/>
          <a:p>
            <a:pPr marL="0" indent="0" algn="ctr">
              <a:buNone/>
            </a:pPr>
            <a:r>
              <a:rPr lang="en-US" sz="1200" b="1" dirty="0">
                <a:solidFill>
                  <a:srgbClr val="E1516A"/>
                </a:solidFill>
                <a:latin typeface="Arial" pitchFamily="34" charset="0"/>
                <a:ea typeface="Arial" pitchFamily="34" charset="-122"/>
                <a:cs typeface="Arial" pitchFamily="34" charset="-120"/>
              </a:rPr>
              <a:t>High Concern</a:t>
            </a:r>
            <a:endParaRPr lang="en-US" sz="1200" dirty="0"/>
          </a:p>
        </p:txBody>
      </p:sp>
      <p:sp>
        <p:nvSpPr>
          <p:cNvPr id="8" name="Text 6"/>
          <p:cNvSpPr txBox="1"/>
          <p:nvPr/>
        </p:nvSpPr>
        <p:spPr>
          <a:xfrm>
            <a:off x="2377440" y="2331720"/>
            <a:ext cx="1463040" cy="329184"/>
          </a:xfrm>
          <a:prstGeom prst="rect">
            <a:avLst/>
          </a:prstGeom>
          <a:noFill/>
          <a:ln/>
        </p:spPr>
        <p:txBody>
          <a:bodyPr wrap="square" lIns="0" tIns="0" rIns="0" bIns="0" rtlCol="0" anchor="ctr"/>
          <a:lstStyle/>
          <a:p>
            <a:pPr marL="0" indent="0">
              <a:buNone/>
            </a:pPr>
            <a:r>
              <a:rPr lang="en-US" sz="1200" dirty="0">
                <a:solidFill>
                  <a:srgbClr val="1A2A4A"/>
                </a:solidFill>
                <a:latin typeface="Arial" pitchFamily="34" charset="0"/>
                <a:ea typeface="Arial" pitchFamily="34" charset="-122"/>
                <a:cs typeface="Arial" pitchFamily="34" charset="-120"/>
              </a:rPr>
              <a:t>predicted &lt; 40</a:t>
            </a:r>
            <a:endParaRPr lang="en-US" sz="1200" dirty="0"/>
          </a:p>
        </p:txBody>
      </p:sp>
      <p:sp>
        <p:nvSpPr>
          <p:cNvPr id="9" name="Shape 7"/>
          <p:cNvSpPr/>
          <p:nvPr/>
        </p:nvSpPr>
        <p:spPr>
          <a:xfrm>
            <a:off x="640080" y="2898648"/>
            <a:ext cx="1600200" cy="329184"/>
          </a:xfrm>
          <a:prstGeom prst="roundRect">
            <a:avLst>
              <a:gd name="adj" fmla="val 50000"/>
            </a:avLst>
          </a:prstGeom>
          <a:solidFill>
            <a:srgbClr val="FDF3E3"/>
          </a:solidFill>
          <a:ln w="9525">
            <a:solidFill>
              <a:srgbClr val="C27A12"/>
            </a:solidFill>
            <a:prstDash val="solid"/>
          </a:ln>
        </p:spPr>
      </p:sp>
      <p:sp>
        <p:nvSpPr>
          <p:cNvPr id="10" name="Text 8"/>
          <p:cNvSpPr txBox="1"/>
          <p:nvPr/>
        </p:nvSpPr>
        <p:spPr>
          <a:xfrm>
            <a:off x="640080" y="2898648"/>
            <a:ext cx="1600200" cy="329184"/>
          </a:xfrm>
          <a:prstGeom prst="rect">
            <a:avLst/>
          </a:prstGeom>
          <a:noFill/>
          <a:ln/>
        </p:spPr>
        <p:txBody>
          <a:bodyPr wrap="square" lIns="0" tIns="0" rIns="0" bIns="0" rtlCol="0" anchor="ctr"/>
          <a:lstStyle/>
          <a:p>
            <a:pPr marL="0" indent="0" algn="ctr">
              <a:buNone/>
            </a:pPr>
            <a:r>
              <a:rPr lang="en-US" sz="1200" b="1" dirty="0">
                <a:solidFill>
                  <a:srgbClr val="C27A12"/>
                </a:solidFill>
                <a:latin typeface="Arial" pitchFamily="34" charset="0"/>
                <a:ea typeface="Arial" pitchFamily="34" charset="-122"/>
                <a:cs typeface="Arial" pitchFamily="34" charset="-120"/>
              </a:rPr>
              <a:t>Borderline</a:t>
            </a:r>
            <a:endParaRPr lang="en-US" sz="1200" dirty="0"/>
          </a:p>
        </p:txBody>
      </p:sp>
      <p:sp>
        <p:nvSpPr>
          <p:cNvPr id="11" name="Text 9"/>
          <p:cNvSpPr txBox="1"/>
          <p:nvPr/>
        </p:nvSpPr>
        <p:spPr>
          <a:xfrm>
            <a:off x="2377440" y="2898648"/>
            <a:ext cx="1463040" cy="329184"/>
          </a:xfrm>
          <a:prstGeom prst="rect">
            <a:avLst/>
          </a:prstGeom>
          <a:noFill/>
          <a:ln/>
        </p:spPr>
        <p:txBody>
          <a:bodyPr wrap="square" lIns="0" tIns="0" rIns="0" bIns="0" rtlCol="0" anchor="ctr"/>
          <a:lstStyle/>
          <a:p>
            <a:pPr marL="0" indent="0">
              <a:buNone/>
            </a:pPr>
            <a:r>
              <a:rPr lang="en-US" sz="1200" dirty="0">
                <a:solidFill>
                  <a:srgbClr val="1A2A4A"/>
                </a:solidFill>
                <a:latin typeface="Arial" pitchFamily="34" charset="0"/>
                <a:ea typeface="Arial" pitchFamily="34" charset="-122"/>
                <a:cs typeface="Arial" pitchFamily="34" charset="-120"/>
              </a:rPr>
              <a:t>predicted 40 – 44</a:t>
            </a:r>
            <a:endParaRPr lang="en-US" sz="1200" dirty="0"/>
          </a:p>
        </p:txBody>
      </p:sp>
      <p:sp>
        <p:nvSpPr>
          <p:cNvPr id="12" name="Shape 10"/>
          <p:cNvSpPr/>
          <p:nvPr/>
        </p:nvSpPr>
        <p:spPr>
          <a:xfrm>
            <a:off x="640080" y="3465576"/>
            <a:ext cx="1600200" cy="329184"/>
          </a:xfrm>
          <a:prstGeom prst="roundRect">
            <a:avLst>
              <a:gd name="adj" fmla="val 50000"/>
            </a:avLst>
          </a:prstGeom>
          <a:solidFill>
            <a:srgbClr val="E6F5EE"/>
          </a:solidFill>
          <a:ln w="9525">
            <a:solidFill>
              <a:srgbClr val="1E9E64"/>
            </a:solidFill>
            <a:prstDash val="solid"/>
          </a:ln>
        </p:spPr>
      </p:sp>
      <p:sp>
        <p:nvSpPr>
          <p:cNvPr id="13" name="Text 11"/>
          <p:cNvSpPr txBox="1"/>
          <p:nvPr/>
        </p:nvSpPr>
        <p:spPr>
          <a:xfrm>
            <a:off x="640080" y="3465576"/>
            <a:ext cx="1600200" cy="329184"/>
          </a:xfrm>
          <a:prstGeom prst="rect">
            <a:avLst/>
          </a:prstGeom>
          <a:noFill/>
          <a:ln/>
        </p:spPr>
        <p:txBody>
          <a:bodyPr wrap="square" lIns="0" tIns="0" rIns="0" bIns="0" rtlCol="0" anchor="ctr"/>
          <a:lstStyle/>
          <a:p>
            <a:pPr marL="0" indent="0" algn="ctr">
              <a:buNone/>
            </a:pPr>
            <a:r>
              <a:rPr lang="en-US" sz="1200" b="1" dirty="0">
                <a:solidFill>
                  <a:srgbClr val="1E9E64"/>
                </a:solidFill>
                <a:latin typeface="Arial" pitchFamily="34" charset="0"/>
                <a:ea typeface="Arial" pitchFamily="34" charset="-122"/>
                <a:cs typeface="Arial" pitchFamily="34" charset="-120"/>
              </a:rPr>
              <a:t>Lower Concern</a:t>
            </a:r>
            <a:endParaRPr lang="en-US" sz="1200" dirty="0"/>
          </a:p>
        </p:txBody>
      </p:sp>
      <p:sp>
        <p:nvSpPr>
          <p:cNvPr id="14" name="Text 12"/>
          <p:cNvSpPr txBox="1"/>
          <p:nvPr/>
        </p:nvSpPr>
        <p:spPr>
          <a:xfrm>
            <a:off x="2377440" y="3465576"/>
            <a:ext cx="1463040" cy="329184"/>
          </a:xfrm>
          <a:prstGeom prst="rect">
            <a:avLst/>
          </a:prstGeom>
          <a:noFill/>
          <a:ln/>
        </p:spPr>
        <p:txBody>
          <a:bodyPr wrap="square" lIns="0" tIns="0" rIns="0" bIns="0" rtlCol="0" anchor="ctr"/>
          <a:lstStyle/>
          <a:p>
            <a:pPr marL="0" indent="0">
              <a:buNone/>
            </a:pPr>
            <a:r>
              <a:rPr lang="en-US" sz="1200" dirty="0">
                <a:solidFill>
                  <a:srgbClr val="1A2A4A"/>
                </a:solidFill>
                <a:latin typeface="Arial" pitchFamily="34" charset="0"/>
                <a:ea typeface="Arial" pitchFamily="34" charset="-122"/>
                <a:cs typeface="Arial" pitchFamily="34" charset="-120"/>
              </a:rPr>
              <a:t>predicted &gt; 44</a:t>
            </a:r>
            <a:endParaRPr lang="en-US" sz="1200" dirty="0"/>
          </a:p>
        </p:txBody>
      </p:sp>
      <p:sp>
        <p:nvSpPr>
          <p:cNvPr id="15" name="Text 13"/>
          <p:cNvSpPr txBox="1"/>
          <p:nvPr/>
        </p:nvSpPr>
        <p:spPr>
          <a:xfrm>
            <a:off x="4114800" y="1965960"/>
            <a:ext cx="7315200" cy="274320"/>
          </a:xfrm>
          <a:prstGeom prst="rect">
            <a:avLst/>
          </a:prstGeom>
          <a:noFill/>
          <a:ln/>
        </p:spPr>
        <p:txBody>
          <a:bodyPr wrap="square" lIns="0" tIns="0" rIns="0" bIns="0" rtlCol="0" anchor="t"/>
          <a:lstStyle/>
          <a:p>
            <a:pPr marL="0" indent="0">
              <a:buNone/>
            </a:pPr>
            <a:r>
              <a:rPr lang="en-US" sz="1100" b="1" kern="0" spc="200" dirty="0">
                <a:solidFill>
                  <a:srgbClr val="5B6B87"/>
                </a:solidFill>
                <a:latin typeface="Arial" pitchFamily="34" charset="0"/>
                <a:ea typeface="Arial" pitchFamily="34" charset="-122"/>
                <a:cs typeface="Arial" pitchFamily="34" charset="-120"/>
              </a:rPr>
              <a:t>CONFUSION MATRIX (ACTUAL VS PREDICTED BAND)</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0" y="2331720"/>
          <a:ext cx="7452360" cy="914400"/>
        </p:xfrm>
        <a:graphic>
          <a:graphicData uri="http://schemas.openxmlformats.org/drawingml/2006/table">
            <a:tbl>
              <a:tblPr/>
              <a:tblGrid>
                <a:gridCol w="18745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65760">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Actual \ Predicted</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High Concern</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Borderline</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Lower Concern</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Total</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extLst>
                  <a:ext uri="{0D108BD9-81ED-4DB2-BD59-A6C34878D82A}">
                    <a16:rowId xmlns:a16="http://schemas.microsoft.com/office/drawing/2014/main" val="10000"/>
                  </a:ext>
                </a:extLst>
              </a:tr>
              <a:tr h="365760">
                <a:tc>
                  <a:txBody>
                    <a:bodyPr/>
                    <a:lstStyle/>
                    <a:p>
                      <a:pPr marL="0" indent="0">
                        <a:buNone/>
                      </a:pPr>
                      <a:r>
                        <a:rPr lang="en-US" sz="1200" b="1" dirty="0">
                          <a:solidFill>
                            <a:srgbClr val="142850"/>
                          </a:solidFill>
                          <a:latin typeface="Arial" pitchFamily="34" charset="0"/>
                          <a:ea typeface="Arial" pitchFamily="34" charset="-122"/>
                          <a:cs typeface="Arial" pitchFamily="34" charset="-120"/>
                        </a:rPr>
                        <a:t>Actual &lt; 40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4F7FE"/>
                    </a:solidFill>
                  </a:tcPr>
                </a:tc>
                <a:tc>
                  <a:txBody>
                    <a:bodyPr/>
                    <a:lstStyle/>
                    <a:p>
                      <a:pPr marL="0" indent="0" algn="ctr">
                        <a:buNone/>
                      </a:pPr>
                      <a:r>
                        <a:rPr lang="en-US" sz="1200" b="1" dirty="0">
                          <a:solidFill>
                            <a:srgbClr val="142850"/>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200" b="1" dirty="0">
                          <a:solidFill>
                            <a:srgbClr val="142850"/>
                          </a:solidFill>
                          <a:latin typeface="Arial" pitchFamily="34" charset="0"/>
                          <a:ea typeface="Arial" pitchFamily="34" charset="-122"/>
                          <a:cs typeface="Arial" pitchFamily="34" charset="-120"/>
                        </a:rPr>
                        <a:t>Actual 40 – 44</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4F7FE"/>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42850"/>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43</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58</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200" b="1" dirty="0">
                          <a:solidFill>
                            <a:srgbClr val="142850"/>
                          </a:solidFill>
                          <a:latin typeface="Arial" pitchFamily="34" charset="0"/>
                          <a:ea typeface="Arial" pitchFamily="34" charset="-122"/>
                          <a:cs typeface="Arial" pitchFamily="34" charset="-120"/>
                        </a:rPr>
                        <a:t>Actual &gt; 44</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4F7FE"/>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42850"/>
                          </a:solidFill>
                          <a:latin typeface="Arial" pitchFamily="34" charset="0"/>
                          <a:ea typeface="Arial" pitchFamily="34" charset="-122"/>
                          <a:cs typeface="Arial" pitchFamily="34" charset="-120"/>
                        </a:rPr>
                        <a:t>1,906</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1,917</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Shape 14"/>
          <p:cNvSpPr/>
          <p:nvPr/>
        </p:nvSpPr>
        <p:spPr>
          <a:xfrm>
            <a:off x="640080" y="4069080"/>
            <a:ext cx="2606040" cy="1417320"/>
          </a:xfrm>
          <a:prstGeom prst="roundRect">
            <a:avLst>
              <a:gd name="adj" fmla="val 7742"/>
            </a:avLst>
          </a:prstGeom>
          <a:solidFill>
            <a:srgbClr val="E9F0FF"/>
          </a:solidFill>
          <a:ln w="9525">
            <a:solidFill>
              <a:srgbClr val="E9F0FF"/>
            </a:solidFill>
            <a:prstDash val="solid"/>
          </a:ln>
        </p:spPr>
      </p:sp>
      <p:sp>
        <p:nvSpPr>
          <p:cNvPr id="18" name="Text 15"/>
          <p:cNvSpPr txBox="1"/>
          <p:nvPr/>
        </p:nvSpPr>
        <p:spPr>
          <a:xfrm>
            <a:off x="868680" y="4160520"/>
            <a:ext cx="2194560" cy="548640"/>
          </a:xfrm>
          <a:prstGeom prst="rect">
            <a:avLst/>
          </a:prstGeom>
          <a:noFill/>
          <a:ln/>
        </p:spPr>
        <p:txBody>
          <a:bodyPr wrap="square" lIns="0" tIns="0" rIns="0" bIns="0" rtlCol="0" anchor="ctr"/>
          <a:lstStyle/>
          <a:p>
            <a:pPr marL="0" indent="0">
              <a:buNone/>
            </a:pPr>
            <a:r>
              <a:rPr lang="en-US" sz="2800" b="1" dirty="0">
                <a:solidFill>
                  <a:srgbClr val="142850"/>
                </a:solidFill>
                <a:latin typeface="Cambria" pitchFamily="34" charset="0"/>
                <a:ea typeface="Cambria" pitchFamily="34" charset="-122"/>
                <a:cs typeface="Cambria" pitchFamily="34" charset="-120"/>
              </a:rPr>
              <a:t>13 / 25</a:t>
            </a:r>
            <a:endParaRPr lang="en-US" sz="2800" dirty="0"/>
          </a:p>
        </p:txBody>
      </p:sp>
      <p:sp>
        <p:nvSpPr>
          <p:cNvPr id="19" name="Text 16"/>
          <p:cNvSpPr txBox="1"/>
          <p:nvPr/>
        </p:nvSpPr>
        <p:spPr>
          <a:xfrm>
            <a:off x="868680" y="4709160"/>
            <a:ext cx="2240280" cy="274320"/>
          </a:xfrm>
          <a:prstGeom prst="rect">
            <a:avLst/>
          </a:prstGeom>
          <a:noFill/>
          <a:ln/>
        </p:spPr>
        <p:txBody>
          <a:bodyPr wrap="square" lIns="0" tIns="0" rIns="0" bIns="0" rtlCol="0" anchor="t"/>
          <a:lstStyle/>
          <a:p>
            <a:pPr marL="0" indent="0">
              <a:buNone/>
            </a:pPr>
            <a:r>
              <a:rPr lang="en-US" sz="1200" b="1" dirty="0">
                <a:solidFill>
                  <a:srgbClr val="1A2A4A"/>
                </a:solidFill>
                <a:latin typeface="Arial" pitchFamily="34" charset="0"/>
                <a:ea typeface="Arial" pitchFamily="34" charset="-122"/>
                <a:cs typeface="Arial" pitchFamily="34" charset="-120"/>
              </a:rPr>
              <a:t>High Concern alone</a:t>
            </a:r>
            <a:endParaRPr lang="en-US" sz="1200" dirty="0"/>
          </a:p>
        </p:txBody>
      </p:sp>
      <p:sp>
        <p:nvSpPr>
          <p:cNvPr id="20" name="Text 17"/>
          <p:cNvSpPr txBox="1"/>
          <p:nvPr/>
        </p:nvSpPr>
        <p:spPr>
          <a:xfrm>
            <a:off x="868680" y="4983480"/>
            <a:ext cx="2286000" cy="411480"/>
          </a:xfrm>
          <a:prstGeom prst="rect">
            <a:avLst/>
          </a:prstGeom>
          <a:noFill/>
          <a:ln/>
        </p:spPr>
        <p:txBody>
          <a:bodyPr wrap="square" lIns="0" tIns="0" rIns="0" bIns="0" rtlCol="0" anchor="t"/>
          <a:lstStyle/>
          <a:p>
            <a:pPr marL="0" indent="0">
              <a:buNone/>
            </a:pPr>
            <a:r>
              <a:rPr lang="en-US" sz="1050" dirty="0">
                <a:solidFill>
                  <a:srgbClr val="5B6B87"/>
                </a:solidFill>
                <a:latin typeface="Arial" pitchFamily="34" charset="0"/>
                <a:ea typeface="Arial" pitchFamily="34" charset="-122"/>
                <a:cs typeface="Arial" pitchFamily="34" charset="-120"/>
              </a:rPr>
              <a:t>Recall 52.0%  ·  Precision 76.5%</a:t>
            </a:r>
            <a:endParaRPr lang="en-US" sz="1050" dirty="0"/>
          </a:p>
        </p:txBody>
      </p:sp>
      <p:sp>
        <p:nvSpPr>
          <p:cNvPr id="21" name="Shape 18"/>
          <p:cNvSpPr/>
          <p:nvPr/>
        </p:nvSpPr>
        <p:spPr>
          <a:xfrm>
            <a:off x="3429000" y="4069080"/>
            <a:ext cx="2606040" cy="1417320"/>
          </a:xfrm>
          <a:prstGeom prst="roundRect">
            <a:avLst>
              <a:gd name="adj" fmla="val 7742"/>
            </a:avLst>
          </a:prstGeom>
          <a:solidFill>
            <a:srgbClr val="E9F0FF"/>
          </a:solidFill>
          <a:ln w="9525">
            <a:solidFill>
              <a:srgbClr val="E9F0FF"/>
            </a:solidFill>
            <a:prstDash val="solid"/>
          </a:ln>
        </p:spPr>
      </p:sp>
      <p:sp>
        <p:nvSpPr>
          <p:cNvPr id="22" name="Text 19"/>
          <p:cNvSpPr txBox="1"/>
          <p:nvPr/>
        </p:nvSpPr>
        <p:spPr>
          <a:xfrm>
            <a:off x="3657600" y="4160520"/>
            <a:ext cx="2194560" cy="548640"/>
          </a:xfrm>
          <a:prstGeom prst="rect">
            <a:avLst/>
          </a:prstGeom>
          <a:noFill/>
          <a:ln/>
        </p:spPr>
        <p:txBody>
          <a:bodyPr wrap="square" lIns="0" tIns="0" rIns="0" bIns="0" rtlCol="0" anchor="ctr"/>
          <a:lstStyle/>
          <a:p>
            <a:pPr marL="0" indent="0">
              <a:buNone/>
            </a:pPr>
            <a:r>
              <a:rPr lang="en-US" sz="2800" b="1" dirty="0">
                <a:solidFill>
                  <a:srgbClr val="142850"/>
                </a:solidFill>
                <a:latin typeface="Cambria" pitchFamily="34" charset="0"/>
                <a:ea typeface="Cambria" pitchFamily="34" charset="-122"/>
                <a:cs typeface="Cambria" pitchFamily="34" charset="-120"/>
              </a:rPr>
              <a:t>21 / 25</a:t>
            </a:r>
            <a:endParaRPr lang="en-US" sz="2800" dirty="0"/>
          </a:p>
        </p:txBody>
      </p:sp>
      <p:sp>
        <p:nvSpPr>
          <p:cNvPr id="23" name="Text 20"/>
          <p:cNvSpPr txBox="1"/>
          <p:nvPr/>
        </p:nvSpPr>
        <p:spPr>
          <a:xfrm>
            <a:off x="3657600" y="4709160"/>
            <a:ext cx="2240280" cy="274320"/>
          </a:xfrm>
          <a:prstGeom prst="rect">
            <a:avLst/>
          </a:prstGeom>
          <a:noFill/>
          <a:ln/>
        </p:spPr>
        <p:txBody>
          <a:bodyPr wrap="square" lIns="0" tIns="0" rIns="0" bIns="0" rtlCol="0" anchor="t"/>
          <a:lstStyle/>
          <a:p>
            <a:pPr marL="0" indent="0">
              <a:buNone/>
            </a:pPr>
            <a:r>
              <a:rPr lang="en-US" sz="1200" b="1" dirty="0">
                <a:solidFill>
                  <a:srgbClr val="1A2A4A"/>
                </a:solidFill>
                <a:latin typeface="Arial" pitchFamily="34" charset="0"/>
                <a:ea typeface="Arial" pitchFamily="34" charset="-122"/>
                <a:cs typeface="Arial" pitchFamily="34" charset="-120"/>
              </a:rPr>
              <a:t>High Concern + Borderline</a:t>
            </a:r>
            <a:endParaRPr lang="en-US" sz="1200" dirty="0"/>
          </a:p>
        </p:txBody>
      </p:sp>
      <p:sp>
        <p:nvSpPr>
          <p:cNvPr id="24" name="Text 21"/>
          <p:cNvSpPr txBox="1"/>
          <p:nvPr/>
        </p:nvSpPr>
        <p:spPr>
          <a:xfrm>
            <a:off x="3657600" y="4983480"/>
            <a:ext cx="2286000" cy="411480"/>
          </a:xfrm>
          <a:prstGeom prst="rect">
            <a:avLst/>
          </a:prstGeom>
          <a:noFill/>
          <a:ln/>
        </p:spPr>
        <p:txBody>
          <a:bodyPr wrap="square" lIns="0" tIns="0" rIns="0" bIns="0" rtlCol="0" anchor="t"/>
          <a:lstStyle/>
          <a:p>
            <a:pPr marL="0" indent="0">
              <a:buNone/>
            </a:pPr>
            <a:r>
              <a:rPr lang="en-US" sz="1050" dirty="0">
                <a:solidFill>
                  <a:srgbClr val="5B6B87"/>
                </a:solidFill>
                <a:latin typeface="Arial" pitchFamily="34" charset="0"/>
                <a:ea typeface="Arial" pitchFamily="34" charset="-122"/>
                <a:cs typeface="Arial" pitchFamily="34" charset="-120"/>
              </a:rPr>
              <a:t>Broad-warning recall 84.0%  ·  47 flagged</a:t>
            </a:r>
            <a:endParaRPr lang="en-US" sz="1050" dirty="0"/>
          </a:p>
        </p:txBody>
      </p:sp>
      <p:sp>
        <p:nvSpPr>
          <p:cNvPr id="25" name="Shape 22"/>
          <p:cNvSpPr/>
          <p:nvPr/>
        </p:nvSpPr>
        <p:spPr>
          <a:xfrm>
            <a:off x="6217920" y="4069080"/>
            <a:ext cx="2606040" cy="1417320"/>
          </a:xfrm>
          <a:prstGeom prst="roundRect">
            <a:avLst>
              <a:gd name="adj" fmla="val 7742"/>
            </a:avLst>
          </a:prstGeom>
          <a:solidFill>
            <a:srgbClr val="F4F7FE"/>
          </a:solidFill>
          <a:ln w="9525">
            <a:solidFill>
              <a:srgbClr val="D8E1F5"/>
            </a:solidFill>
            <a:prstDash val="solid"/>
          </a:ln>
        </p:spPr>
      </p:sp>
      <p:sp>
        <p:nvSpPr>
          <p:cNvPr id="26" name="Text 23"/>
          <p:cNvSpPr txBox="1"/>
          <p:nvPr/>
        </p:nvSpPr>
        <p:spPr>
          <a:xfrm>
            <a:off x="6446520" y="4160520"/>
            <a:ext cx="2194560" cy="548640"/>
          </a:xfrm>
          <a:prstGeom prst="rect">
            <a:avLst/>
          </a:prstGeom>
          <a:noFill/>
          <a:ln/>
        </p:spPr>
        <p:txBody>
          <a:bodyPr wrap="square" lIns="0" tIns="0" rIns="0" bIns="0" rtlCol="0" anchor="ctr"/>
          <a:lstStyle/>
          <a:p>
            <a:pPr marL="0" indent="0">
              <a:buNone/>
            </a:pPr>
            <a:r>
              <a:rPr lang="en-US" sz="2800" b="1" dirty="0">
                <a:solidFill>
                  <a:srgbClr val="142850"/>
                </a:solidFill>
                <a:latin typeface="Cambria" pitchFamily="34" charset="0"/>
                <a:ea typeface="Cambria" pitchFamily="34" charset="-122"/>
                <a:cs typeface="Cambria" pitchFamily="34" charset="-120"/>
              </a:rPr>
              <a:t>0.990</a:t>
            </a:r>
            <a:endParaRPr lang="en-US" sz="2800" dirty="0"/>
          </a:p>
        </p:txBody>
      </p:sp>
      <p:sp>
        <p:nvSpPr>
          <p:cNvPr id="27" name="Text 24"/>
          <p:cNvSpPr txBox="1"/>
          <p:nvPr/>
        </p:nvSpPr>
        <p:spPr>
          <a:xfrm>
            <a:off x="6446520" y="4709160"/>
            <a:ext cx="2240280" cy="274320"/>
          </a:xfrm>
          <a:prstGeom prst="rect">
            <a:avLst/>
          </a:prstGeom>
          <a:noFill/>
          <a:ln/>
        </p:spPr>
        <p:txBody>
          <a:bodyPr wrap="square" lIns="0" tIns="0" rIns="0" bIns="0" rtlCol="0" anchor="t"/>
          <a:lstStyle/>
          <a:p>
            <a:pPr marL="0" indent="0">
              <a:buNone/>
            </a:pPr>
            <a:r>
              <a:rPr lang="en-US" sz="1200" b="1" dirty="0">
                <a:solidFill>
                  <a:srgbClr val="1A2A4A"/>
                </a:solidFill>
                <a:latin typeface="Arial" pitchFamily="34" charset="0"/>
                <a:ea typeface="Arial" pitchFamily="34" charset="-122"/>
                <a:cs typeface="Arial" pitchFamily="34" charset="-120"/>
              </a:rPr>
              <a:t>ROC-AUC (actual &lt; 40)</a:t>
            </a:r>
            <a:endParaRPr lang="en-US" sz="1200" dirty="0"/>
          </a:p>
        </p:txBody>
      </p:sp>
      <p:sp>
        <p:nvSpPr>
          <p:cNvPr id="28" name="Text 25"/>
          <p:cNvSpPr txBox="1"/>
          <p:nvPr/>
        </p:nvSpPr>
        <p:spPr>
          <a:xfrm>
            <a:off x="6446520" y="4983480"/>
            <a:ext cx="2286000" cy="411480"/>
          </a:xfrm>
          <a:prstGeom prst="rect">
            <a:avLst/>
          </a:prstGeom>
          <a:noFill/>
          <a:ln/>
        </p:spPr>
        <p:txBody>
          <a:bodyPr wrap="square" lIns="0" tIns="0" rIns="0" bIns="0" rtlCol="0" anchor="t"/>
          <a:lstStyle/>
          <a:p>
            <a:pPr marL="0" indent="0">
              <a:buNone/>
            </a:pPr>
            <a:r>
              <a:rPr lang="en-US" sz="1050" dirty="0">
                <a:solidFill>
                  <a:srgbClr val="5B6B87"/>
                </a:solidFill>
                <a:latin typeface="Arial" pitchFamily="34" charset="0"/>
                <a:ea typeface="Arial" pitchFamily="34" charset="-122"/>
                <a:cs typeface="Arial" pitchFamily="34" charset="-120"/>
              </a:rPr>
              <a:t>Ranking quality of predicted marks</a:t>
            </a:r>
            <a:endParaRPr lang="en-US" sz="1050" dirty="0"/>
          </a:p>
        </p:txBody>
      </p:sp>
      <p:sp>
        <p:nvSpPr>
          <p:cNvPr id="29" name="Shape 26"/>
          <p:cNvSpPr/>
          <p:nvPr/>
        </p:nvSpPr>
        <p:spPr>
          <a:xfrm>
            <a:off x="9006840" y="4069080"/>
            <a:ext cx="2606040" cy="1417320"/>
          </a:xfrm>
          <a:prstGeom prst="roundRect">
            <a:avLst>
              <a:gd name="adj" fmla="val 7742"/>
            </a:avLst>
          </a:prstGeom>
          <a:solidFill>
            <a:srgbClr val="F4F7FE"/>
          </a:solidFill>
          <a:ln w="9525">
            <a:solidFill>
              <a:srgbClr val="D8E1F5"/>
            </a:solidFill>
            <a:prstDash val="solid"/>
          </a:ln>
        </p:spPr>
      </p:sp>
      <p:sp>
        <p:nvSpPr>
          <p:cNvPr id="30" name="Text 27"/>
          <p:cNvSpPr txBox="1"/>
          <p:nvPr/>
        </p:nvSpPr>
        <p:spPr>
          <a:xfrm>
            <a:off x="9235440" y="4160520"/>
            <a:ext cx="2194560" cy="548640"/>
          </a:xfrm>
          <a:prstGeom prst="rect">
            <a:avLst/>
          </a:prstGeom>
          <a:noFill/>
          <a:ln/>
        </p:spPr>
        <p:txBody>
          <a:bodyPr wrap="square" lIns="0" tIns="0" rIns="0" bIns="0" rtlCol="0" anchor="ctr"/>
          <a:lstStyle/>
          <a:p>
            <a:pPr marL="0" indent="0">
              <a:buNone/>
            </a:pPr>
            <a:r>
              <a:rPr lang="en-US" sz="2800" b="1" dirty="0">
                <a:solidFill>
                  <a:srgbClr val="142850"/>
                </a:solidFill>
                <a:latin typeface="Cambria" pitchFamily="34" charset="0"/>
                <a:ea typeface="Cambria" pitchFamily="34" charset="-122"/>
                <a:cs typeface="Cambria" pitchFamily="34" charset="-120"/>
              </a:rPr>
              <a:t>1.25%</a:t>
            </a:r>
            <a:endParaRPr lang="en-US" sz="2800" dirty="0"/>
          </a:p>
        </p:txBody>
      </p:sp>
      <p:sp>
        <p:nvSpPr>
          <p:cNvPr id="31" name="Text 28"/>
          <p:cNvSpPr txBox="1"/>
          <p:nvPr/>
        </p:nvSpPr>
        <p:spPr>
          <a:xfrm>
            <a:off x="9235440" y="4709160"/>
            <a:ext cx="2240280" cy="274320"/>
          </a:xfrm>
          <a:prstGeom prst="rect">
            <a:avLst/>
          </a:prstGeom>
          <a:noFill/>
          <a:ln/>
        </p:spPr>
        <p:txBody>
          <a:bodyPr wrap="square" lIns="0" tIns="0" rIns="0" bIns="0" rtlCol="0" anchor="t"/>
          <a:lstStyle/>
          <a:p>
            <a:pPr marL="0" indent="0">
              <a:buNone/>
            </a:pPr>
            <a:r>
              <a:rPr lang="en-US" sz="1200" b="1" dirty="0">
                <a:solidFill>
                  <a:srgbClr val="1A2A4A"/>
                </a:solidFill>
                <a:latin typeface="Arial" pitchFamily="34" charset="0"/>
                <a:ea typeface="Arial" pitchFamily="34" charset="-122"/>
                <a:cs typeface="Arial" pitchFamily="34" charset="-120"/>
              </a:rPr>
              <a:t>Actual marks below 40</a:t>
            </a:r>
            <a:endParaRPr lang="en-US" sz="1200" dirty="0"/>
          </a:p>
        </p:txBody>
      </p:sp>
      <p:sp>
        <p:nvSpPr>
          <p:cNvPr id="32" name="Text 29"/>
          <p:cNvSpPr txBox="1"/>
          <p:nvPr/>
        </p:nvSpPr>
        <p:spPr>
          <a:xfrm>
            <a:off x="9235440" y="4983480"/>
            <a:ext cx="2286000" cy="411480"/>
          </a:xfrm>
          <a:prstGeom prst="rect">
            <a:avLst/>
          </a:prstGeom>
          <a:noFill/>
          <a:ln/>
        </p:spPr>
        <p:txBody>
          <a:bodyPr wrap="square" lIns="0" tIns="0" rIns="0" bIns="0" rtlCol="0" anchor="t"/>
          <a:lstStyle/>
          <a:p>
            <a:pPr marL="0" indent="0">
              <a:buNone/>
            </a:pPr>
            <a:r>
              <a:rPr lang="en-US" sz="1050" dirty="0">
                <a:solidFill>
                  <a:srgbClr val="5B6B87"/>
                </a:solidFill>
                <a:latin typeface="Arial" pitchFamily="34" charset="0"/>
                <a:ea typeface="Arial" pitchFamily="34" charset="-122"/>
                <a:cs typeface="Arial" pitchFamily="34" charset="-120"/>
              </a:rPr>
              <a:t>25 of 2,000 students</a:t>
            </a:r>
            <a:endParaRPr lang="en-US" sz="1050" dirty="0"/>
          </a:p>
        </p:txBody>
      </p:sp>
      <p:sp>
        <p:nvSpPr>
          <p:cNvPr id="33" name="Shape 30"/>
          <p:cNvSpPr/>
          <p:nvPr/>
        </p:nvSpPr>
        <p:spPr>
          <a:xfrm>
            <a:off x="640080" y="5669280"/>
            <a:ext cx="10972800" cy="548640"/>
          </a:xfrm>
          <a:prstGeom prst="roundRect">
            <a:avLst>
              <a:gd name="adj" fmla="val 20000"/>
            </a:avLst>
          </a:prstGeom>
          <a:solidFill>
            <a:srgbClr val="FDF3E3"/>
          </a:solidFill>
          <a:ln w="9525">
            <a:solidFill>
              <a:srgbClr val="FDF3E3"/>
            </a:solidFill>
            <a:prstDash val="solid"/>
          </a:ln>
        </p:spPr>
      </p:sp>
      <p:sp>
        <p:nvSpPr>
          <p:cNvPr id="34" name="Text 31"/>
          <p:cNvSpPr txBox="1"/>
          <p:nvPr/>
        </p:nvSpPr>
        <p:spPr>
          <a:xfrm>
            <a:off x="868680" y="5669280"/>
            <a:ext cx="10515600" cy="548640"/>
          </a:xfrm>
          <a:prstGeom prst="rect">
            <a:avLst/>
          </a:prstGeom>
          <a:noFill/>
          <a:ln/>
        </p:spPr>
        <p:txBody>
          <a:bodyPr wrap="square" lIns="0" tIns="0" rIns="0" bIns="0" rtlCol="0" anchor="ctr"/>
          <a:lstStyle/>
          <a:p>
            <a:pPr marL="0" indent="0">
              <a:buNone/>
            </a:pPr>
            <a:r>
              <a:rPr lang="en-US" sz="1200" b="1" dirty="0">
                <a:solidFill>
                  <a:srgbClr val="C27A12"/>
                </a:solidFill>
                <a:latin typeface="Arial" pitchFamily="34" charset="0"/>
                <a:ea typeface="Arial" pitchFamily="34" charset="-122"/>
                <a:cs typeface="Arial" pitchFamily="34" charset="-120"/>
              </a:rPr>
              <a:t>Limitation: class imbalance and regression shrinkage toward the mean limit detection of some low-scoring students. Thresholds were not tuned on these results.</a:t>
            </a:r>
            <a:endParaRPr lang="en-US" sz="1200" dirty="0"/>
          </a:p>
        </p:txBody>
      </p:sp>
      <p:sp>
        <p:nvSpPr>
          <p:cNvPr id="35" name="Text 32"/>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36" name="Text 33"/>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EXPLAINABLE AI</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SHAP feature attribution</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SHAP attributes the model prediction to input features relative to a baseline (the average prediction).</a:t>
            </a:r>
            <a:endParaRPr lang="en-US" sz="1400" dirty="0"/>
          </a:p>
        </p:txBody>
      </p:sp>
      <p:sp>
        <p:nvSpPr>
          <p:cNvPr id="5" name="Text 3"/>
          <p:cNvSpPr txBox="1"/>
          <p:nvPr/>
        </p:nvSpPr>
        <p:spPr>
          <a:xfrm>
            <a:off x="640080" y="1874520"/>
            <a:ext cx="6400800" cy="274320"/>
          </a:xfrm>
          <a:prstGeom prst="rect">
            <a:avLst/>
          </a:prstGeom>
          <a:noFill/>
          <a:ln/>
        </p:spPr>
        <p:txBody>
          <a:bodyPr wrap="square" lIns="0" tIns="0" rIns="0" bIns="0" rtlCol="0" anchor="t"/>
          <a:lstStyle/>
          <a:p>
            <a:pPr marL="0" indent="0">
              <a:buNone/>
            </a:pPr>
            <a:r>
              <a:rPr lang="en-US" sz="1000" b="1" kern="0" spc="100" dirty="0">
                <a:solidFill>
                  <a:srgbClr val="5B6B87"/>
                </a:solidFill>
                <a:latin typeface="Arial" pitchFamily="34" charset="0"/>
                <a:ea typeface="Arial" pitchFamily="34" charset="-122"/>
                <a:cs typeface="Arial" pitchFamily="34" charset="-120"/>
              </a:rPr>
              <a:t>GLOBAL: MEAN |SHAP| OVER ALL 2,000 STUDENTS (MARKS)</a:t>
            </a:r>
            <a:endParaRPr lang="en-US" sz="1000" dirty="0"/>
          </a:p>
        </p:txBody>
      </p:sp>
      <p:pic>
        <p:nvPicPr>
          <p:cNvPr id="6" name="Image 0" descr="d:\Documents\Sharda University\Semester 5\PBL\fontend student prediction\global_shap_importance.png"/>
          <p:cNvPicPr>
            <a:picLocks noChangeAspect="1"/>
          </p:cNvPicPr>
          <p:nvPr/>
        </p:nvPicPr>
        <p:blipFill>
          <a:blip r:embed="rId3"/>
          <a:stretch>
            <a:fillRect/>
          </a:stretch>
        </p:blipFill>
        <p:spPr>
          <a:xfrm>
            <a:off x="640080" y="2194560"/>
            <a:ext cx="4892040" cy="2127337"/>
          </a:xfrm>
          <a:prstGeom prst="rect">
            <a:avLst/>
          </a:prstGeom>
        </p:spPr>
      </p:pic>
      <p:sp>
        <p:nvSpPr>
          <p:cNvPr id="7" name="Text 4"/>
          <p:cNvSpPr txBox="1"/>
          <p:nvPr/>
        </p:nvSpPr>
        <p:spPr>
          <a:xfrm>
            <a:off x="640080" y="4389120"/>
            <a:ext cx="6400800" cy="274320"/>
          </a:xfrm>
          <a:prstGeom prst="rect">
            <a:avLst/>
          </a:prstGeom>
          <a:noFill/>
          <a:ln/>
        </p:spPr>
        <p:txBody>
          <a:bodyPr wrap="square" lIns="0" tIns="0" rIns="0" bIns="0" rtlCol="0" anchor="t"/>
          <a:lstStyle/>
          <a:p>
            <a:pPr marL="0" indent="0">
              <a:buNone/>
            </a:pPr>
            <a:r>
              <a:rPr lang="en-US" sz="1000" b="1" kern="0" spc="100" dirty="0">
                <a:solidFill>
                  <a:srgbClr val="5B6B87"/>
                </a:solidFill>
                <a:latin typeface="Arial" pitchFamily="34" charset="0"/>
                <a:ea typeface="Arial" pitchFamily="34" charset="-122"/>
                <a:cs typeface="Arial" pitchFamily="34" charset="-120"/>
              </a:rPr>
              <a:t>DISTRIBUTION ACROSS STUDENTS</a:t>
            </a:r>
            <a:endParaRPr lang="en-US" sz="1000" dirty="0"/>
          </a:p>
        </p:txBody>
      </p:sp>
      <p:pic>
        <p:nvPicPr>
          <p:cNvPr id="8" name="Image 1" descr="d:\Documents\Sharda University\Semester 5\PBL\fontend student prediction\shap_beeswarm.png"/>
          <p:cNvPicPr>
            <a:picLocks noChangeAspect="1"/>
          </p:cNvPicPr>
          <p:nvPr/>
        </p:nvPicPr>
        <p:blipFill>
          <a:blip r:embed="rId4"/>
          <a:stretch>
            <a:fillRect/>
          </a:stretch>
        </p:blipFill>
        <p:spPr>
          <a:xfrm>
            <a:off x="640080" y="4681728"/>
            <a:ext cx="3429000" cy="1666003"/>
          </a:xfrm>
          <a:prstGeom prst="rect">
            <a:avLst/>
          </a:prstGeom>
        </p:spPr>
      </p:pic>
      <p:sp>
        <p:nvSpPr>
          <p:cNvPr id="9" name="Text 5"/>
          <p:cNvSpPr txBox="1"/>
          <p:nvPr/>
        </p:nvSpPr>
        <p:spPr>
          <a:xfrm>
            <a:off x="4206240" y="4846320"/>
            <a:ext cx="1737360" cy="1280160"/>
          </a:xfrm>
          <a:prstGeom prst="rect">
            <a:avLst/>
          </a:prstGeom>
          <a:noFill/>
          <a:ln/>
        </p:spPr>
        <p:txBody>
          <a:bodyPr wrap="square" lIns="0" tIns="0" rIns="0" bIns="0" rtlCol="0" anchor="t"/>
          <a:lstStyle/>
          <a:p>
            <a:pPr marL="0" indent="0">
              <a:buNone/>
            </a:pPr>
            <a:r>
              <a:rPr lang="en-US" sz="1000" i="1" dirty="0">
                <a:solidFill>
                  <a:srgbClr val="5B6B87"/>
                </a:solidFill>
                <a:latin typeface="Arial" pitchFamily="34" charset="0"/>
                <a:ea typeface="Arial" pitchFamily="34" charset="-122"/>
                <a:cs typeface="Arial" pitchFamily="34" charset="-120"/>
              </a:rPr>
              <a:t>Each dot is one student; colour is the feature value. Feature names are the model inputs.</a:t>
            </a:r>
            <a:endParaRPr lang="en-US" sz="1000" dirty="0"/>
          </a:p>
        </p:txBody>
      </p:sp>
      <p:sp>
        <p:nvSpPr>
          <p:cNvPr id="10" name="Text 6"/>
          <p:cNvSpPr txBox="1"/>
          <p:nvPr/>
        </p:nvSpPr>
        <p:spPr>
          <a:xfrm>
            <a:off x="6309360" y="1874520"/>
            <a:ext cx="5303520" cy="274320"/>
          </a:xfrm>
          <a:prstGeom prst="rect">
            <a:avLst/>
          </a:prstGeom>
          <a:noFill/>
          <a:ln/>
        </p:spPr>
        <p:txBody>
          <a:bodyPr wrap="square" lIns="0" tIns="0" rIns="0" bIns="0" rtlCol="0" anchor="t"/>
          <a:lstStyle/>
          <a:p>
            <a:pPr marL="0" indent="0">
              <a:buNone/>
            </a:pPr>
            <a:r>
              <a:rPr lang="en-US" sz="1000" b="1" kern="0" spc="100" dirty="0">
                <a:solidFill>
                  <a:srgbClr val="5B6B87"/>
                </a:solidFill>
                <a:latin typeface="Arial" pitchFamily="34" charset="0"/>
                <a:ea typeface="Arial" pitchFamily="34" charset="-122"/>
                <a:cs typeface="Arial" pitchFamily="34" charset="-120"/>
              </a:rPr>
              <a:t>ONE PREDICTION (STANDARD INPUT 91, 32, 36, 7, 3)</a:t>
            </a:r>
            <a:endParaRPr lang="en-US" sz="1000" dirty="0"/>
          </a:p>
        </p:txBody>
      </p:sp>
      <p:pic>
        <p:nvPicPr>
          <p:cNvPr id="11" name="Image 2" descr="C:\Users\NEMMI\AppData\Local\Temp\claude\d--Documents-Sharda-University-Semester-5-PBL-fontend-student-prediction\d6ce81b2-62cd-4b95-adc5-3e24f53e42a1\scratchpad\ppt\shots\prediction-shap.png"/>
          <p:cNvPicPr>
            <a:picLocks noChangeAspect="1"/>
          </p:cNvPicPr>
          <p:nvPr/>
        </p:nvPicPr>
        <p:blipFill>
          <a:blip r:embed="rId5"/>
          <a:stretch>
            <a:fillRect/>
          </a:stretch>
        </p:blipFill>
        <p:spPr>
          <a:xfrm>
            <a:off x="6309360" y="2194560"/>
            <a:ext cx="3657600" cy="2941983"/>
          </a:xfrm>
          <a:prstGeom prst="rect">
            <a:avLst/>
          </a:prstGeom>
        </p:spPr>
      </p:pic>
      <p:sp>
        <p:nvSpPr>
          <p:cNvPr id="12" name="Shape 7"/>
          <p:cNvSpPr/>
          <p:nvPr/>
        </p:nvSpPr>
        <p:spPr>
          <a:xfrm>
            <a:off x="10104120" y="2194560"/>
            <a:ext cx="1463040" cy="2926080"/>
          </a:xfrm>
          <a:prstGeom prst="roundRect">
            <a:avLst>
              <a:gd name="adj" fmla="val 7500"/>
            </a:avLst>
          </a:prstGeom>
          <a:solidFill>
            <a:srgbClr val="E9F0FF"/>
          </a:solidFill>
          <a:ln w="9525">
            <a:solidFill>
              <a:srgbClr val="E9F0FF"/>
            </a:solidFill>
            <a:prstDash val="solid"/>
          </a:ln>
        </p:spPr>
      </p:sp>
      <p:sp>
        <p:nvSpPr>
          <p:cNvPr id="13" name="Text 8"/>
          <p:cNvSpPr txBox="1"/>
          <p:nvPr/>
        </p:nvSpPr>
        <p:spPr>
          <a:xfrm>
            <a:off x="10195560" y="2286000"/>
            <a:ext cx="1325880" cy="2743200"/>
          </a:xfrm>
          <a:prstGeom prst="rect">
            <a:avLst/>
          </a:prstGeom>
          <a:noFill/>
          <a:ln/>
        </p:spPr>
        <p:txBody>
          <a:bodyPr wrap="square" lIns="0" tIns="0" rIns="0" bIns="0" rtlCol="0" anchor="ctr"/>
          <a:lstStyle/>
          <a:p>
            <a:pPr marL="0" indent="0">
              <a:buNone/>
            </a:pPr>
            <a:r>
              <a:rPr lang="en-US" sz="1100" dirty="0">
                <a:solidFill>
                  <a:srgbClr val="5B6B87"/>
                </a:solidFill>
                <a:latin typeface="Arial" pitchFamily="34" charset="0"/>
                <a:ea typeface="Arial" pitchFamily="34" charset="-122"/>
                <a:cs typeface="Arial" pitchFamily="34" charset="-120"/>
              </a:rPr>
              <a:t>Base value
</a:t>
            </a:r>
            <a:r>
              <a:rPr lang="en-US" sz="2000" b="1" dirty="0">
                <a:solidFill>
                  <a:srgbClr val="142850"/>
                </a:solidFill>
                <a:latin typeface="Arial" pitchFamily="34" charset="0"/>
                <a:ea typeface="Arial" pitchFamily="34" charset="-122"/>
                <a:cs typeface="Arial" pitchFamily="34" charset="-120"/>
              </a:rPr>
              <a:t>64.855
</a:t>
            </a:r>
            <a:r>
              <a:rPr lang="en-US" sz="1100" dirty="0">
                <a:solidFill>
                  <a:srgbClr val="5B6B87"/>
                </a:solidFill>
                <a:latin typeface="Arial" pitchFamily="34" charset="0"/>
                <a:ea typeface="Arial" pitchFamily="34" charset="-122"/>
                <a:cs typeface="Arial" pitchFamily="34" charset="-120"/>
              </a:rPr>
              <a:t>+ contributions
</a:t>
            </a:r>
            <a:r>
              <a:rPr lang="en-US" sz="2000" b="1" dirty="0">
                <a:solidFill>
                  <a:srgbClr val="142850"/>
                </a:solidFill>
                <a:latin typeface="Arial" pitchFamily="34" charset="0"/>
                <a:ea typeface="Arial" pitchFamily="34" charset="-122"/>
                <a:cs typeface="Arial" pitchFamily="34" charset="-120"/>
              </a:rPr>
              <a:t>+5.22
</a:t>
            </a:r>
            <a:r>
              <a:rPr lang="en-US" sz="1100" dirty="0">
                <a:solidFill>
                  <a:srgbClr val="5B6B87"/>
                </a:solidFill>
                <a:latin typeface="Arial" pitchFamily="34" charset="0"/>
                <a:ea typeface="Arial" pitchFamily="34" charset="-122"/>
                <a:cs typeface="Arial" pitchFamily="34" charset="-120"/>
              </a:rPr>
              <a:t>= prediction
</a:t>
            </a:r>
            <a:r>
              <a:rPr lang="en-US" sz="2000" b="1" dirty="0">
                <a:solidFill>
                  <a:srgbClr val="2F6FED"/>
                </a:solidFill>
                <a:latin typeface="Arial" pitchFamily="34" charset="0"/>
                <a:ea typeface="Arial" pitchFamily="34" charset="-122"/>
                <a:cs typeface="Arial" pitchFamily="34" charset="-120"/>
              </a:rPr>
              <a:t>70.07</a:t>
            </a:r>
            <a:endParaRPr lang="en-US" sz="1100" dirty="0"/>
          </a:p>
        </p:txBody>
      </p:sp>
      <p:sp>
        <p:nvSpPr>
          <p:cNvPr id="14" name="Shape 9"/>
          <p:cNvSpPr/>
          <p:nvPr/>
        </p:nvSpPr>
        <p:spPr>
          <a:xfrm>
            <a:off x="6309360" y="5349240"/>
            <a:ext cx="5257800" cy="914400"/>
          </a:xfrm>
          <a:prstGeom prst="roundRect">
            <a:avLst>
              <a:gd name="adj" fmla="val 12000"/>
            </a:avLst>
          </a:prstGeom>
          <a:solidFill>
            <a:srgbClr val="0A1830"/>
          </a:solidFill>
          <a:ln w="9525">
            <a:solidFill>
              <a:srgbClr val="0A1830"/>
            </a:solidFill>
            <a:prstDash val="solid"/>
          </a:ln>
        </p:spPr>
      </p:sp>
      <p:sp>
        <p:nvSpPr>
          <p:cNvPr id="15" name="Text 10"/>
          <p:cNvSpPr txBox="1"/>
          <p:nvPr/>
        </p:nvSpPr>
        <p:spPr>
          <a:xfrm>
            <a:off x="6537960" y="5349240"/>
            <a:ext cx="4846320" cy="914400"/>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SHAP explains how the model arrived at a prediction. It does not show that an input caused a student's performance, and it does not predict what would happen if an input changed.</a:t>
            </a:r>
            <a:endParaRPr lang="en-US" sz="1150" dirty="0"/>
          </a:p>
        </p:txBody>
      </p:sp>
      <p:sp>
        <p:nvSpPr>
          <p:cNvPr id="16" name="Text 11"/>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7" name="Text 12"/>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RECOMMENDATION ENGINE</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SHAP-guided, feature-level recommendations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Recommendations are SHAP-guided and feature-level: fixed rules applied to each feature's SHAP contribution.</a:t>
            </a:r>
            <a:endParaRPr lang="en-US" sz="1400" dirty="0"/>
          </a:p>
        </p:txBody>
      </p:sp>
      <p:sp>
        <p:nvSpPr>
          <p:cNvPr id="5" name="Shape 3"/>
          <p:cNvSpPr/>
          <p:nvPr/>
        </p:nvSpPr>
        <p:spPr>
          <a:xfrm>
            <a:off x="640080" y="1965960"/>
            <a:ext cx="3931920" cy="640080"/>
          </a:xfrm>
          <a:prstGeom prst="roundRect">
            <a:avLst>
              <a:gd name="adj" fmla="val 17143"/>
            </a:avLst>
          </a:prstGeom>
          <a:solidFill>
            <a:srgbClr val="E9F0FF"/>
          </a:solidFill>
          <a:ln w="9525">
            <a:solidFill>
              <a:srgbClr val="E9F0FF"/>
            </a:solidFill>
            <a:prstDash val="solid"/>
          </a:ln>
        </p:spPr>
      </p:sp>
      <p:sp>
        <p:nvSpPr>
          <p:cNvPr id="6" name="Text 4"/>
          <p:cNvSpPr txBox="1"/>
          <p:nvPr/>
        </p:nvSpPr>
        <p:spPr>
          <a:xfrm>
            <a:off x="640080" y="1965960"/>
            <a:ext cx="3931920" cy="640080"/>
          </a:xfrm>
          <a:prstGeom prst="rect">
            <a:avLst/>
          </a:prstGeom>
          <a:noFill/>
          <a:ln/>
        </p:spPr>
        <p:txBody>
          <a:bodyPr wrap="square" lIns="0" tIns="0" rIns="0" bIns="0" rtlCol="0" anchor="ctr"/>
          <a:lstStyle/>
          <a:p>
            <a:pPr marL="0" indent="0" algn="ctr">
              <a:buNone/>
            </a:pPr>
            <a:r>
              <a:rPr lang="en-US" sz="1400" b="1" dirty="0">
                <a:solidFill>
                  <a:srgbClr val="142850"/>
                </a:solidFill>
                <a:latin typeface="Arial" pitchFamily="34" charset="0"/>
                <a:ea typeface="Arial" pitchFamily="34" charset="-122"/>
                <a:cs typeface="Arial" pitchFamily="34" charset="-120"/>
              </a:rPr>
              <a:t>Prediction + SHAP contributions</a:t>
            </a:r>
            <a:endParaRPr lang="en-US" sz="1400" dirty="0"/>
          </a:p>
        </p:txBody>
      </p:sp>
      <p:sp>
        <p:nvSpPr>
          <p:cNvPr id="7" name="Shape 5"/>
          <p:cNvSpPr/>
          <p:nvPr/>
        </p:nvSpPr>
        <p:spPr>
          <a:xfrm>
            <a:off x="2487168" y="2642616"/>
            <a:ext cx="237744" cy="164592"/>
          </a:xfrm>
          <a:prstGeom prst="downArrow">
            <a:avLst/>
          </a:prstGeom>
          <a:solidFill>
            <a:srgbClr val="2F6FED"/>
          </a:solidFill>
          <a:ln w="6350">
            <a:solidFill>
              <a:srgbClr val="2F6FED"/>
            </a:solidFill>
            <a:prstDash val="solid"/>
          </a:ln>
        </p:spPr>
      </p:sp>
      <p:sp>
        <p:nvSpPr>
          <p:cNvPr id="8" name="Shape 6"/>
          <p:cNvSpPr/>
          <p:nvPr/>
        </p:nvSpPr>
        <p:spPr>
          <a:xfrm>
            <a:off x="640080" y="2834640"/>
            <a:ext cx="3931920" cy="640080"/>
          </a:xfrm>
          <a:prstGeom prst="roundRect">
            <a:avLst>
              <a:gd name="adj" fmla="val 17143"/>
            </a:avLst>
          </a:prstGeom>
          <a:solidFill>
            <a:srgbClr val="E9F0FF"/>
          </a:solidFill>
          <a:ln w="9525">
            <a:solidFill>
              <a:srgbClr val="E9F0FF"/>
            </a:solidFill>
            <a:prstDash val="solid"/>
          </a:ln>
        </p:spPr>
      </p:sp>
      <p:sp>
        <p:nvSpPr>
          <p:cNvPr id="9" name="Text 7"/>
          <p:cNvSpPr txBox="1"/>
          <p:nvPr/>
        </p:nvSpPr>
        <p:spPr>
          <a:xfrm>
            <a:off x="640080" y="2834640"/>
            <a:ext cx="3931920" cy="640080"/>
          </a:xfrm>
          <a:prstGeom prst="rect">
            <a:avLst/>
          </a:prstGeom>
          <a:noFill/>
          <a:ln/>
        </p:spPr>
        <p:txBody>
          <a:bodyPr wrap="square" lIns="0" tIns="0" rIns="0" bIns="0" rtlCol="0" anchor="ctr"/>
          <a:lstStyle/>
          <a:p>
            <a:pPr marL="0" indent="0" algn="ctr">
              <a:buNone/>
            </a:pPr>
            <a:r>
              <a:rPr lang="en-US" sz="1400" b="1" dirty="0">
                <a:solidFill>
                  <a:srgbClr val="142850"/>
                </a:solidFill>
                <a:latin typeface="Arial" pitchFamily="34" charset="0"/>
                <a:ea typeface="Arial" pitchFamily="34" charset="-122"/>
                <a:cs typeface="Arial" pitchFamily="34" charset="-120"/>
              </a:rPr>
              <a:t>Threshold-based rules</a:t>
            </a:r>
            <a:endParaRPr lang="en-US" sz="1400" dirty="0"/>
          </a:p>
        </p:txBody>
      </p:sp>
      <p:sp>
        <p:nvSpPr>
          <p:cNvPr id="10" name="Shape 8"/>
          <p:cNvSpPr/>
          <p:nvPr/>
        </p:nvSpPr>
        <p:spPr>
          <a:xfrm>
            <a:off x="2487168" y="3511296"/>
            <a:ext cx="237744" cy="164592"/>
          </a:xfrm>
          <a:prstGeom prst="downArrow">
            <a:avLst/>
          </a:prstGeom>
          <a:solidFill>
            <a:srgbClr val="2F6FED"/>
          </a:solidFill>
          <a:ln w="6350">
            <a:solidFill>
              <a:srgbClr val="2F6FED"/>
            </a:solidFill>
            <a:prstDash val="solid"/>
          </a:ln>
        </p:spPr>
      </p:sp>
      <p:sp>
        <p:nvSpPr>
          <p:cNvPr id="11" name="Shape 9"/>
          <p:cNvSpPr/>
          <p:nvPr/>
        </p:nvSpPr>
        <p:spPr>
          <a:xfrm>
            <a:off x="640080" y="3703320"/>
            <a:ext cx="3931920" cy="640080"/>
          </a:xfrm>
          <a:prstGeom prst="roundRect">
            <a:avLst>
              <a:gd name="adj" fmla="val 17143"/>
            </a:avLst>
          </a:prstGeom>
          <a:solidFill>
            <a:srgbClr val="142850"/>
          </a:solidFill>
          <a:ln w="9525">
            <a:solidFill>
              <a:srgbClr val="142850"/>
            </a:solidFill>
            <a:prstDash val="solid"/>
          </a:ln>
        </p:spPr>
      </p:sp>
      <p:sp>
        <p:nvSpPr>
          <p:cNvPr id="12" name="Text 10"/>
          <p:cNvSpPr txBox="1"/>
          <p:nvPr/>
        </p:nvSpPr>
        <p:spPr>
          <a:xfrm>
            <a:off x="640080" y="3703320"/>
            <a:ext cx="393192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Feature-level recommendations</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4617720"/>
          <a:ext cx="3931920" cy="914400"/>
        </p:xfrm>
        <a:graphic>
          <a:graphicData uri="http://schemas.openxmlformats.org/drawingml/2006/table">
            <a:tbl>
              <a:tblPr/>
              <a:tblGrid>
                <a:gridCol w="18745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Arial" pitchFamily="34" charset="0"/>
                          <a:ea typeface="Arial" pitchFamily="34" charset="-122"/>
                          <a:cs typeface="Arial" pitchFamily="34" charset="-120"/>
                        </a:rPr>
                        <a:t>SHAP contribution</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Priority</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1A2A4A"/>
                          </a:solidFill>
                          <a:latin typeface="Arial" pitchFamily="34" charset="0"/>
                          <a:ea typeface="Arial" pitchFamily="34" charset="-122"/>
                          <a:cs typeface="Arial" pitchFamily="34" charset="-120"/>
                        </a:rPr>
                        <a:t>below −1.0 marks</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b="1" dirty="0">
                          <a:solidFill>
                            <a:srgbClr val="E1516A"/>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1A2A4A"/>
                          </a:solidFill>
                          <a:latin typeface="Arial" pitchFamily="34" charset="0"/>
                          <a:ea typeface="Arial" pitchFamily="34" charset="-122"/>
                          <a:cs typeface="Arial" pitchFamily="34" charset="-120"/>
                        </a:rPr>
                        <a:t>−1.0 to below −0.5</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b="1" dirty="0">
                          <a:solidFill>
                            <a:srgbClr val="C27A12"/>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1A2A4A"/>
                          </a:solidFill>
                          <a:latin typeface="Arial" pitchFamily="34" charset="0"/>
                          <a:ea typeface="Arial" pitchFamily="34" charset="-122"/>
                          <a:cs typeface="Arial" pitchFamily="34" charset="-120"/>
                        </a:rPr>
                        <a:t>−0.5 to +0.5</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5B6B87"/>
                          </a:solidFill>
                          <a:latin typeface="Arial" pitchFamily="34" charset="0"/>
                          <a:ea typeface="Arial" pitchFamily="34" charset="-122"/>
                          <a:cs typeface="Arial" pitchFamily="34" charset="-120"/>
                        </a:rPr>
                        <a:t>no recommendation</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dirty="0">
                          <a:solidFill>
                            <a:srgbClr val="1A2A4A"/>
                          </a:solidFill>
                          <a:latin typeface="Arial" pitchFamily="34" charset="0"/>
                          <a:ea typeface="Arial" pitchFamily="34" charset="-122"/>
                          <a:cs typeface="Arial" pitchFamily="34" charset="-120"/>
                        </a:rPr>
                        <a:t>above +0.5 marks</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b="1" dirty="0">
                          <a:solidFill>
                            <a:srgbClr val="1E9E64"/>
                          </a:solidFill>
                          <a:latin typeface="Arial" pitchFamily="34" charset="0"/>
                          <a:ea typeface="Arial" pitchFamily="34" charset="-122"/>
                          <a:cs typeface="Arial" pitchFamily="34" charset="-120"/>
                        </a:rPr>
                        <a:t>POSITIVE (maintenance)</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4" name="Text 11"/>
          <p:cNvSpPr txBox="1"/>
          <p:nvPr/>
        </p:nvSpPr>
        <p:spPr>
          <a:xfrm>
            <a:off x="4983480" y="1965960"/>
            <a:ext cx="6583680" cy="274320"/>
          </a:xfrm>
          <a:prstGeom prst="rect">
            <a:avLst/>
          </a:prstGeom>
          <a:noFill/>
          <a:ln/>
        </p:spPr>
        <p:txBody>
          <a:bodyPr wrap="square" lIns="0" tIns="0" rIns="0" bIns="0" rtlCol="0" anchor="t"/>
          <a:lstStyle/>
          <a:p>
            <a:pPr marL="0" indent="0">
              <a:buNone/>
            </a:pPr>
            <a:r>
              <a:rPr lang="en-US" sz="1000" b="1" kern="0" spc="100" dirty="0">
                <a:solidFill>
                  <a:srgbClr val="5B6B87"/>
                </a:solidFill>
                <a:latin typeface="Arial" pitchFamily="34" charset="0"/>
                <a:ea typeface="Arial" pitchFamily="34" charset="-122"/>
                <a:cs typeface="Arial" pitchFamily="34" charset="-120"/>
              </a:rPr>
              <a:t>REAL OUTPUT FOR THE STANDARD INPUT (91, 32, 36, 7, 3)</a:t>
            </a:r>
            <a:endParaRPr lang="en-US" sz="1000" dirty="0"/>
          </a:p>
        </p:txBody>
      </p:sp>
      <p:pic>
        <p:nvPicPr>
          <p:cNvPr id="15" name="Image 0" descr="C:\Users\NEMMI\AppData\Local\Temp\claude\d--Documents-Sharda-University-Semester-5-PBL-fontend-student-prediction\d6ce81b2-62cd-4b95-adc5-3e24f53e42a1\scratchpad\ppt\shots\rec-medium.png"/>
          <p:cNvPicPr>
            <a:picLocks noChangeAspect="1"/>
          </p:cNvPicPr>
          <p:nvPr/>
        </p:nvPicPr>
        <p:blipFill>
          <a:blip r:embed="rId3"/>
          <a:stretch>
            <a:fillRect/>
          </a:stretch>
        </p:blipFill>
        <p:spPr>
          <a:xfrm>
            <a:off x="4983480" y="2286000"/>
            <a:ext cx="2011680" cy="3535680"/>
          </a:xfrm>
          <a:prstGeom prst="rect">
            <a:avLst/>
          </a:prstGeom>
        </p:spPr>
      </p:pic>
      <p:pic>
        <p:nvPicPr>
          <p:cNvPr id="16" name="Image 1" descr="C:\Users\NEMMI\AppData\Local\Temp\claude\d--Documents-Sharda-University-Semester-5-PBL-fontend-student-prediction\d6ce81b2-62cd-4b95-adc5-3e24f53e42a1\scratchpad\ppt\shots\rec-positive.png"/>
          <p:cNvPicPr>
            <a:picLocks noChangeAspect="1"/>
          </p:cNvPicPr>
          <p:nvPr/>
        </p:nvPicPr>
        <p:blipFill>
          <a:blip r:embed="rId4"/>
          <a:stretch>
            <a:fillRect/>
          </a:stretch>
        </p:blipFill>
        <p:spPr>
          <a:xfrm>
            <a:off x="7132320" y="2286000"/>
            <a:ext cx="2011680" cy="3237653"/>
          </a:xfrm>
          <a:prstGeom prst="rect">
            <a:avLst/>
          </a:prstGeom>
        </p:spPr>
      </p:pic>
      <p:sp>
        <p:nvSpPr>
          <p:cNvPr id="17" name="Text 12"/>
          <p:cNvSpPr txBox="1"/>
          <p:nvPr/>
        </p:nvSpPr>
        <p:spPr>
          <a:xfrm>
            <a:off x="9372600" y="2286000"/>
            <a:ext cx="2240280" cy="353568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1A2A4A"/>
                </a:solidFill>
                <a:latin typeface="Arial" pitchFamily="34" charset="0"/>
                <a:ea typeface="Arial" pitchFamily="34" charset="-122"/>
                <a:cs typeface="Arial" pitchFamily="34" charset="-120"/>
              </a:rPr>
              <a:t>Negative contributors are listed first, ordered by the size of their SHAP contribution; positive contributors follow as maintenance guidance.</a:t>
            </a:r>
            <a:endParaRPr lang="en-US" sz="1150" dirty="0"/>
          </a:p>
          <a:p>
            <a:pPr marL="152400" indent="-152400">
              <a:spcAft>
                <a:spcPts val="800"/>
              </a:spcAft>
              <a:buSzPct val="100000"/>
              <a:buChar char="•"/>
            </a:pPr>
            <a:r>
              <a:rPr lang="en-US" sz="1150" dirty="0">
                <a:solidFill>
                  <a:srgbClr val="1A2A4A"/>
                </a:solidFill>
                <a:latin typeface="Arial" pitchFamily="34" charset="0"/>
                <a:ea typeface="Arial" pitchFamily="34" charset="-122"/>
                <a:cs typeface="Arial" pitchFamily="34" charset="-120"/>
              </a:rPr>
              <a:t>Each item shows the feature, priority, current value, performance level, SHAP contribution and a predefined action.</a:t>
            </a:r>
            <a:endParaRPr lang="en-US" sz="1150" dirty="0"/>
          </a:p>
          <a:p>
            <a:pPr marL="152400" indent="-152400">
              <a:spcAft>
                <a:spcPts val="800"/>
              </a:spcAft>
              <a:buSzPct val="100000"/>
              <a:buChar char="•"/>
            </a:pPr>
            <a:r>
              <a:rPr lang="en-US" sz="1150" dirty="0">
                <a:solidFill>
                  <a:srgbClr val="1A2A4A"/>
                </a:solidFill>
                <a:latin typeface="Arial" pitchFamily="34" charset="0"/>
                <a:ea typeface="Arial" pitchFamily="34" charset="-122"/>
                <a:cs typeface="Arial" pitchFamily="34" charset="-120"/>
              </a:rPr>
              <a:t>Actions are predefined academic guidance per feature — not individual study plans.</a:t>
            </a:r>
            <a:endParaRPr lang="en-US" sz="1150" dirty="0"/>
          </a:p>
        </p:txBody>
      </p:sp>
      <p:sp>
        <p:nvSpPr>
          <p:cNvPr id="18" name="Text 13"/>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9" name="Text 14"/>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WHAT-IF SIMULATOR</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What-If scenario simulator</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a:solidFill>
                  <a:srgbClr val="5B6B87"/>
                </a:solidFill>
                <a:latin typeface="Arial" pitchFamily="34" charset="0"/>
                <a:ea typeface="Arial" pitchFamily="34" charset="-122"/>
                <a:cs typeface="Arial" pitchFamily="34" charset="-120"/>
              </a:rPr>
              <a:t>Practice Mode — Sample Scenario. Screen from an earlier build: attendance 85 → 95, other inputs 32, 32, 7, 3.</a:t>
            </a:r>
            <a:endParaRPr lang="en-US" sz="1400" dirty="0"/>
          </a:p>
        </p:txBody>
      </p:sp>
      <p:pic>
        <p:nvPicPr>
          <p:cNvPr id="5" name="Image 0" descr="C:\Users\NEMMI\AppData\Local\Temp\claude\d--Documents-Sharda-University-Semester-5-PBL-fontend-student-prediction\d6ce81b2-62cd-4b95-adc5-3e24f53e42a1\scratchpad\ppt\shots\whatif.png"/>
          <p:cNvPicPr>
            <a:picLocks noChangeAspect="1"/>
          </p:cNvPicPr>
          <p:nvPr/>
        </p:nvPicPr>
        <p:blipFill>
          <a:blip r:embed="rId3"/>
          <a:stretch>
            <a:fillRect/>
          </a:stretch>
        </p:blipFill>
        <p:spPr>
          <a:xfrm>
            <a:off x="640080" y="1874520"/>
            <a:ext cx="6263640" cy="4349750"/>
          </a:xfrm>
          <a:prstGeom prst="rect">
            <a:avLst/>
          </a:prstGeom>
        </p:spPr>
      </p:pic>
      <p:sp>
        <p:nvSpPr>
          <p:cNvPr id="6" name="Shape 3"/>
          <p:cNvSpPr/>
          <p:nvPr/>
        </p:nvSpPr>
        <p:spPr>
          <a:xfrm>
            <a:off x="7269480" y="1965960"/>
            <a:ext cx="384048" cy="384048"/>
          </a:xfrm>
          <a:prstGeom prst="ellipse">
            <a:avLst/>
          </a:prstGeom>
          <a:solidFill>
            <a:srgbClr val="2F6FED"/>
          </a:solidFill>
          <a:ln w="6350">
            <a:solidFill>
              <a:srgbClr val="2F6FED"/>
            </a:solidFill>
            <a:prstDash val="solid"/>
          </a:ln>
        </p:spPr>
      </p:sp>
      <p:sp>
        <p:nvSpPr>
          <p:cNvPr id="7" name="Text 4"/>
          <p:cNvSpPr txBox="1"/>
          <p:nvPr/>
        </p:nvSpPr>
        <p:spPr>
          <a:xfrm>
            <a:off x="7269480"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txBox="1"/>
          <p:nvPr/>
        </p:nvSpPr>
        <p:spPr>
          <a:xfrm>
            <a:off x="7818120" y="1920240"/>
            <a:ext cx="3749040" cy="502920"/>
          </a:xfrm>
          <a:prstGeom prst="rect">
            <a:avLst/>
          </a:prstGeom>
          <a:noFill/>
          <a:ln/>
        </p:spPr>
        <p:txBody>
          <a:bodyPr wrap="square" lIns="0" tIns="0" rIns="0" bIns="0" rtlCol="0" anchor="ctr"/>
          <a:lstStyle/>
          <a:p>
            <a:pPr marL="0" indent="0">
              <a:buNone/>
            </a:pPr>
            <a:r>
              <a:rPr lang="en-US" sz="1300" dirty="0">
                <a:solidFill>
                  <a:srgbClr val="1A2A4A"/>
                </a:solidFill>
                <a:latin typeface="Arial" pitchFamily="34" charset="0"/>
                <a:ea typeface="Arial" pitchFamily="34" charset="-122"/>
                <a:cs typeface="Arial" pitchFamily="34" charset="-120"/>
              </a:rPr>
              <a:t>User changes hypothetical input values</a:t>
            </a:r>
            <a:endParaRPr lang="en-US" sz="1300" dirty="0"/>
          </a:p>
        </p:txBody>
      </p:sp>
      <p:sp>
        <p:nvSpPr>
          <p:cNvPr id="9" name="Shape 6"/>
          <p:cNvSpPr/>
          <p:nvPr/>
        </p:nvSpPr>
        <p:spPr>
          <a:xfrm>
            <a:off x="7269480" y="2569464"/>
            <a:ext cx="384048" cy="384048"/>
          </a:xfrm>
          <a:prstGeom prst="ellipse">
            <a:avLst/>
          </a:prstGeom>
          <a:solidFill>
            <a:srgbClr val="2F6FED"/>
          </a:solidFill>
          <a:ln w="6350">
            <a:solidFill>
              <a:srgbClr val="2F6FED"/>
            </a:solidFill>
            <a:prstDash val="solid"/>
          </a:ln>
        </p:spPr>
      </p:sp>
      <p:sp>
        <p:nvSpPr>
          <p:cNvPr id="10" name="Text 7"/>
          <p:cNvSpPr txBox="1"/>
          <p:nvPr/>
        </p:nvSpPr>
        <p:spPr>
          <a:xfrm>
            <a:off x="7269480" y="256946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8"/>
          <p:cNvSpPr txBox="1"/>
          <p:nvPr/>
        </p:nvSpPr>
        <p:spPr>
          <a:xfrm>
            <a:off x="7818120" y="2523744"/>
            <a:ext cx="3749040" cy="502920"/>
          </a:xfrm>
          <a:prstGeom prst="rect">
            <a:avLst/>
          </a:prstGeom>
          <a:noFill/>
          <a:ln/>
        </p:spPr>
        <p:txBody>
          <a:bodyPr wrap="square" lIns="0" tIns="0" rIns="0" bIns="0" rtlCol="0" anchor="ctr"/>
          <a:lstStyle/>
          <a:p>
            <a:pPr marL="0" indent="0">
              <a:buNone/>
            </a:pPr>
            <a:r>
              <a:rPr lang="en-US" sz="1300" dirty="0">
                <a:solidFill>
                  <a:srgbClr val="1A2A4A"/>
                </a:solidFill>
                <a:latin typeface="Arial" pitchFamily="34" charset="0"/>
                <a:ea typeface="Arial" pitchFamily="34" charset="-122"/>
                <a:cs typeface="Arial" pitchFamily="34" charset="-120"/>
              </a:rPr>
              <a:t>The scenario is sent to /predict (same production model)</a:t>
            </a:r>
            <a:endParaRPr lang="en-US" sz="1300" dirty="0"/>
          </a:p>
        </p:txBody>
      </p:sp>
      <p:sp>
        <p:nvSpPr>
          <p:cNvPr id="12" name="Shape 9"/>
          <p:cNvSpPr/>
          <p:nvPr/>
        </p:nvSpPr>
        <p:spPr>
          <a:xfrm>
            <a:off x="7269480" y="3172968"/>
            <a:ext cx="384048" cy="384048"/>
          </a:xfrm>
          <a:prstGeom prst="ellipse">
            <a:avLst/>
          </a:prstGeom>
          <a:solidFill>
            <a:srgbClr val="2F6FED"/>
          </a:solidFill>
          <a:ln w="6350">
            <a:solidFill>
              <a:srgbClr val="2F6FED"/>
            </a:solidFill>
            <a:prstDash val="solid"/>
          </a:ln>
        </p:spPr>
      </p:sp>
      <p:sp>
        <p:nvSpPr>
          <p:cNvPr id="13" name="Text 10"/>
          <p:cNvSpPr txBox="1"/>
          <p:nvPr/>
        </p:nvSpPr>
        <p:spPr>
          <a:xfrm>
            <a:off x="7269480" y="31729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1"/>
          <p:cNvSpPr txBox="1"/>
          <p:nvPr/>
        </p:nvSpPr>
        <p:spPr>
          <a:xfrm>
            <a:off x="7818120" y="3127248"/>
            <a:ext cx="3749040" cy="502920"/>
          </a:xfrm>
          <a:prstGeom prst="rect">
            <a:avLst/>
          </a:prstGeom>
          <a:noFill/>
          <a:ln/>
        </p:spPr>
        <p:txBody>
          <a:bodyPr wrap="square" lIns="0" tIns="0" rIns="0" bIns="0" rtlCol="0" anchor="ctr"/>
          <a:lstStyle/>
          <a:p>
            <a:pPr marL="0" indent="0">
              <a:buNone/>
            </a:pPr>
            <a:r>
              <a:rPr lang="en-US" sz="1300" dirty="0">
                <a:solidFill>
                  <a:srgbClr val="1A2A4A"/>
                </a:solidFill>
                <a:latin typeface="Arial" pitchFamily="34" charset="0"/>
                <a:ea typeface="Arial" pitchFamily="34" charset="-122"/>
                <a:cs typeface="Arial" pitchFamily="34" charset="-120"/>
              </a:rPr>
              <a:t>The model returns new predicted marks</a:t>
            </a:r>
            <a:endParaRPr lang="en-US" sz="1300" dirty="0"/>
          </a:p>
        </p:txBody>
      </p:sp>
      <p:sp>
        <p:nvSpPr>
          <p:cNvPr id="15" name="Shape 12"/>
          <p:cNvSpPr/>
          <p:nvPr/>
        </p:nvSpPr>
        <p:spPr>
          <a:xfrm>
            <a:off x="7269480" y="3776472"/>
            <a:ext cx="384048" cy="384048"/>
          </a:xfrm>
          <a:prstGeom prst="ellipse">
            <a:avLst/>
          </a:prstGeom>
          <a:solidFill>
            <a:srgbClr val="2F6FED"/>
          </a:solidFill>
          <a:ln w="6350">
            <a:solidFill>
              <a:srgbClr val="2F6FED"/>
            </a:solidFill>
            <a:prstDash val="solid"/>
          </a:ln>
        </p:spPr>
      </p:sp>
      <p:sp>
        <p:nvSpPr>
          <p:cNvPr id="16" name="Text 13"/>
          <p:cNvSpPr txBox="1"/>
          <p:nvPr/>
        </p:nvSpPr>
        <p:spPr>
          <a:xfrm>
            <a:off x="7269480" y="37764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Text 14"/>
          <p:cNvSpPr txBox="1"/>
          <p:nvPr/>
        </p:nvSpPr>
        <p:spPr>
          <a:xfrm>
            <a:off x="7818120" y="3730752"/>
            <a:ext cx="3749040" cy="502920"/>
          </a:xfrm>
          <a:prstGeom prst="rect">
            <a:avLst/>
          </a:prstGeom>
          <a:noFill/>
          <a:ln/>
        </p:spPr>
        <p:txBody>
          <a:bodyPr wrap="square" lIns="0" tIns="0" rIns="0" bIns="0" rtlCol="0" anchor="ctr"/>
          <a:lstStyle/>
          <a:p>
            <a:pPr marL="0" indent="0">
              <a:buNone/>
            </a:pPr>
            <a:r>
              <a:rPr lang="en-US" sz="1300" dirty="0">
                <a:solidFill>
                  <a:srgbClr val="1A2A4A"/>
                </a:solidFill>
                <a:latin typeface="Arial" pitchFamily="34" charset="0"/>
                <a:ea typeface="Arial" pitchFamily="34" charset="-122"/>
                <a:cs typeface="Arial" pitchFamily="34" charset="-120"/>
              </a:rPr>
              <a:t>The simulator displays the early-warning category</a:t>
            </a:r>
            <a:endParaRPr lang="en-US" sz="1300" dirty="0"/>
          </a:p>
        </p:txBody>
      </p:sp>
      <p:sp>
        <p:nvSpPr>
          <p:cNvPr id="18" name="Shape 15"/>
          <p:cNvSpPr/>
          <p:nvPr/>
        </p:nvSpPr>
        <p:spPr>
          <a:xfrm>
            <a:off x="7269480" y="4379976"/>
            <a:ext cx="384048" cy="384048"/>
          </a:xfrm>
          <a:prstGeom prst="ellipse">
            <a:avLst/>
          </a:prstGeom>
          <a:solidFill>
            <a:srgbClr val="2F6FED"/>
          </a:solidFill>
          <a:ln w="6350">
            <a:solidFill>
              <a:srgbClr val="2F6FED"/>
            </a:solidFill>
            <a:prstDash val="solid"/>
          </a:ln>
        </p:spPr>
      </p:sp>
      <p:sp>
        <p:nvSpPr>
          <p:cNvPr id="19" name="Text 16"/>
          <p:cNvSpPr txBox="1"/>
          <p:nvPr/>
        </p:nvSpPr>
        <p:spPr>
          <a:xfrm>
            <a:off x="7269480" y="43799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0" name="Text 17"/>
          <p:cNvSpPr txBox="1"/>
          <p:nvPr/>
        </p:nvSpPr>
        <p:spPr>
          <a:xfrm>
            <a:off x="7818120" y="4334256"/>
            <a:ext cx="3749040" cy="502920"/>
          </a:xfrm>
          <a:prstGeom prst="rect">
            <a:avLst/>
          </a:prstGeom>
          <a:noFill/>
          <a:ln/>
        </p:spPr>
        <p:txBody>
          <a:bodyPr wrap="square" lIns="0" tIns="0" rIns="0" bIns="0" rtlCol="0" anchor="ctr"/>
          <a:lstStyle/>
          <a:p>
            <a:pPr marL="0" indent="0">
              <a:buNone/>
            </a:pPr>
            <a:r>
              <a:rPr lang="en-US" sz="1300">
                <a:solidFill>
                  <a:srgbClr val="1A2A4A"/>
                </a:solidFill>
                <a:latin typeface="Arial" pitchFamily="34" charset="0"/>
                <a:ea typeface="Arial" pitchFamily="34" charset="-122"/>
                <a:cs typeface="Arial" pitchFamily="34" charset="-120"/>
              </a:rPr>
              <a:t>Difference in model prediction vs the starting scenario</a:t>
            </a:r>
            <a:endParaRPr lang="en-US" sz="1300" dirty="0"/>
          </a:p>
        </p:txBody>
      </p:sp>
      <p:sp>
        <p:nvSpPr>
          <p:cNvPr id="21" name="Shape 18"/>
          <p:cNvSpPr/>
          <p:nvPr/>
        </p:nvSpPr>
        <p:spPr>
          <a:xfrm>
            <a:off x="7269480" y="5029200"/>
            <a:ext cx="4297680" cy="1188720"/>
          </a:xfrm>
          <a:prstGeom prst="roundRect">
            <a:avLst>
              <a:gd name="adj" fmla="val 9231"/>
            </a:avLst>
          </a:prstGeom>
          <a:solidFill>
            <a:srgbClr val="0A1830"/>
          </a:solidFill>
          <a:ln w="9525">
            <a:solidFill>
              <a:srgbClr val="0A1830"/>
            </a:solidFill>
            <a:prstDash val="solid"/>
          </a:ln>
        </p:spPr>
      </p:sp>
      <p:sp>
        <p:nvSpPr>
          <p:cNvPr id="22" name="Text 19"/>
          <p:cNvSpPr txBox="1"/>
          <p:nvPr/>
        </p:nvSpPr>
        <p:spPr>
          <a:xfrm>
            <a:off x="7498080" y="5029200"/>
            <a:ext cx="3931920" cy="1188720"/>
          </a:xfrm>
          <a:prstGeom prst="rect">
            <a:avLst/>
          </a:prstGeom>
          <a:noFill/>
          <a:ln/>
        </p:spPr>
        <p:txBody>
          <a:bodyPr wrap="square" lIns="0" tIns="0" rIns="0" bIns="0" rtlCol="0" anchor="ctr"/>
          <a:lstStyle/>
          <a:p>
            <a:pPr marL="0" indent="0">
              <a:buNone/>
            </a:pPr>
            <a:r>
              <a:rPr lang="en-US" sz="1200">
                <a:solidFill>
                  <a:srgbClr val="FFFFFF"/>
                </a:solidFill>
                <a:latin typeface="Arial" pitchFamily="34" charset="0"/>
                <a:ea typeface="Arial" pitchFamily="34" charset="-122"/>
                <a:cs typeface="Arial" pitchFamily="34" charset="-120"/>
              </a:rPr>
              <a:t>A model prediction difference, not a guaranteed real-world improvement. Example above: 64.13 → 68.03, +3.90 marks. Nothing is saved: student records, history and interventions are unchanged.</a:t>
            </a:r>
            <a:endParaRPr lang="en-US" sz="1200" dirty="0"/>
          </a:p>
        </p:txBody>
      </p:sp>
      <p:sp>
        <p:nvSpPr>
          <p:cNvPr id="23" name="Text 20"/>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24" name="Text 21"/>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SYSTEM DEMONSTRATION</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The running application</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a:solidFill>
                  <a:srgbClr val="5B6B87"/>
                </a:solidFill>
                <a:latin typeface="Arial" pitchFamily="34" charset="0"/>
                <a:ea typeface="Arial" pitchFamily="34" charset="-122"/>
                <a:cs typeface="Arial" pitchFamily="34" charset="-120"/>
              </a:rPr>
              <a:t>Screens from an earlier build (standard input 91, 32, 36, 7, 3); the model outputs shown are unchanged.</a:t>
            </a:r>
            <a:endParaRPr lang="en-US" sz="1400" dirty="0"/>
          </a:p>
        </p:txBody>
      </p:sp>
      <p:pic>
        <p:nvPicPr>
          <p:cNvPr id="5" name="Image 0" descr="C:\Users\NEMMI\AppData\Local\Temp\claude\d--Documents-Sharda-University-Semester-5-PBL-fontend-student-prediction\d6ce81b2-62cd-4b95-adc5-3e24f53e42a1\scratchpad\ppt\shots\prediction-main.png"/>
          <p:cNvPicPr>
            <a:picLocks noChangeAspect="1"/>
          </p:cNvPicPr>
          <p:nvPr/>
        </p:nvPicPr>
        <p:blipFill>
          <a:blip r:embed="rId3"/>
          <a:stretch>
            <a:fillRect/>
          </a:stretch>
        </p:blipFill>
        <p:spPr>
          <a:xfrm>
            <a:off x="640080" y="1874520"/>
            <a:ext cx="6309360" cy="3149567"/>
          </a:xfrm>
          <a:prstGeom prst="rect">
            <a:avLst/>
          </a:prstGeom>
        </p:spPr>
      </p:pic>
      <p:sp>
        <p:nvSpPr>
          <p:cNvPr id="6" name="Text 3"/>
          <p:cNvSpPr txBox="1"/>
          <p:nvPr/>
        </p:nvSpPr>
        <p:spPr>
          <a:xfrm>
            <a:off x="640080" y="5069807"/>
            <a:ext cx="6309360" cy="274320"/>
          </a:xfrm>
          <a:prstGeom prst="rect">
            <a:avLst/>
          </a:prstGeom>
          <a:noFill/>
          <a:ln/>
        </p:spPr>
        <p:txBody>
          <a:bodyPr wrap="square" lIns="0" tIns="0" rIns="0" bIns="0" rtlCol="0" anchor="t"/>
          <a:lstStyle/>
          <a:p>
            <a:pPr marL="0" indent="0">
              <a:buNone/>
            </a:pPr>
            <a:r>
              <a:rPr lang="en-US" sz="1100" i="1">
                <a:solidFill>
                  <a:srgbClr val="5B6B87"/>
                </a:solidFill>
                <a:latin typeface="Arial" pitchFamily="34" charset="0"/>
                <a:ea typeface="Arial" pitchFamily="34" charset="-122"/>
                <a:cs typeface="Arial" pitchFamily="34" charset="-120"/>
              </a:rPr>
              <a:t>Prediction page (now Practice Mode) — inputs, 70.07 / 100 and early-warning status</a:t>
            </a:r>
            <a:endParaRPr lang="en-US" sz="1100" dirty="0"/>
          </a:p>
        </p:txBody>
      </p:sp>
      <p:pic>
        <p:nvPicPr>
          <p:cNvPr id="7" name="Image 1" descr="C:\Users\NEMMI\AppData\Local\Temp\claude\d--Documents-Sharda-University-Semester-5-PBL-fontend-student-prediction\d6ce81b2-62cd-4b95-adc5-3e24f53e42a1\scratchpad\ppt\shots\reports.png"/>
          <p:cNvPicPr>
            <a:picLocks noChangeAspect="1"/>
          </p:cNvPicPr>
          <p:nvPr/>
        </p:nvPicPr>
        <p:blipFill>
          <a:blip r:embed="rId4"/>
          <a:stretch>
            <a:fillRect/>
          </a:stretch>
        </p:blipFill>
        <p:spPr>
          <a:xfrm>
            <a:off x="7269480" y="1874520"/>
            <a:ext cx="4297680" cy="2984500"/>
          </a:xfrm>
          <a:prstGeom prst="rect">
            <a:avLst/>
          </a:prstGeom>
        </p:spPr>
      </p:pic>
      <p:sp>
        <p:nvSpPr>
          <p:cNvPr id="8" name="Text 4"/>
          <p:cNvSpPr txBox="1"/>
          <p:nvPr/>
        </p:nvSpPr>
        <p:spPr>
          <a:xfrm>
            <a:off x="7269480" y="4904740"/>
            <a:ext cx="4297680" cy="457200"/>
          </a:xfrm>
          <a:prstGeom prst="rect">
            <a:avLst/>
          </a:prstGeom>
          <a:noFill/>
          <a:ln/>
        </p:spPr>
        <p:txBody>
          <a:bodyPr wrap="square" lIns="0" tIns="0" rIns="0" bIns="0" rtlCol="0" anchor="t"/>
          <a:lstStyle/>
          <a:p>
            <a:pPr marL="0" indent="0">
              <a:buNone/>
            </a:pPr>
            <a:r>
              <a:rPr lang="en-US" sz="1100" i="1">
                <a:solidFill>
                  <a:srgbClr val="5B6B87"/>
                </a:solidFill>
                <a:latin typeface="Arial" pitchFamily="34" charset="0"/>
                <a:ea typeface="Arial" pitchFamily="34" charset="-122"/>
                <a:cs typeface="Arial" pitchFamily="34" charset="-120"/>
              </a:rPr>
              <a:t>Reports page — 5-fold CV metrics, dataset facts and early-warning categories</a:t>
            </a:r>
            <a:endParaRPr lang="en-US" sz="1100" dirty="0"/>
          </a:p>
        </p:txBody>
      </p:sp>
      <p:sp>
        <p:nvSpPr>
          <p:cNvPr id="9" name="Text 5"/>
          <p:cNvSpPr txBox="1"/>
          <p:nvPr/>
        </p:nvSpPr>
        <p:spPr>
          <a:xfrm>
            <a:off x="640080" y="5806440"/>
            <a:ext cx="10972800" cy="457200"/>
          </a:xfrm>
          <a:prstGeom prst="rect">
            <a:avLst/>
          </a:prstGeom>
          <a:noFill/>
          <a:ln/>
        </p:spPr>
        <p:txBody>
          <a:bodyPr wrap="square" lIns="0" tIns="0" rIns="0" bIns="0" rtlCol="0" anchor="t"/>
          <a:lstStyle/>
          <a:p>
            <a:pPr marL="0" indent="0">
              <a:buNone/>
            </a:pPr>
            <a:r>
              <a:rPr lang="en-US" sz="1100">
                <a:solidFill>
                  <a:srgbClr val="5B6B87"/>
                </a:solidFill>
                <a:latin typeface="Arial" pitchFamily="34" charset="0"/>
                <a:ea typeface="Arial" pitchFamily="34" charset="-122"/>
                <a:cs typeface="Arial" pitchFamily="34" charset="-120"/>
              </a:rPr>
              <a:t>Current system: Faculty and Student sign-in · faculty edit marks, students enter study hours · Generate Prediction from the stored record · SHAP, recommendations and prediction history · faculty interventions that students mark completed.</a:t>
            </a:r>
            <a:endParaRPr lang="en-US" sz="1100" dirty="0"/>
          </a:p>
        </p:txBody>
      </p:sp>
      <p:sp>
        <p:nvSpPr>
          <p:cNvPr id="10" name="Text 6"/>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1" name="Text 7"/>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LIMITATIONS</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Limitations of the current system</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a:solidFill>
                  <a:srgbClr val="5B6B87"/>
                </a:solidFill>
                <a:latin typeface="Arial" pitchFamily="34" charset="0"/>
                <a:ea typeface="Arial" pitchFamily="34" charset="-122"/>
                <a:cs typeface="Arial" pitchFamily="34" charset="-120"/>
              </a:rPr>
              <a:t>Scope of the database-backed, role-based decision-support system, so that results are interpreted correctly.</a:t>
            </a:r>
            <a:endParaRPr lang="en-US" sz="1400" dirty="0"/>
          </a:p>
        </p:txBody>
      </p:sp>
      <p:sp>
        <p:nvSpPr>
          <p:cNvPr id="5" name="Shape 3"/>
          <p:cNvSpPr/>
          <p:nvPr/>
        </p:nvSpPr>
        <p:spPr>
          <a:xfrm>
            <a:off x="640080" y="1965960"/>
            <a:ext cx="5394960" cy="1828800"/>
          </a:xfrm>
          <a:prstGeom prst="roundRect">
            <a:avLst>
              <a:gd name="adj" fmla="val 6000"/>
            </a:avLst>
          </a:prstGeom>
          <a:solidFill>
            <a:srgbClr val="F4F7FE"/>
          </a:solidFill>
          <a:ln w="9525">
            <a:solidFill>
              <a:srgbClr val="D8E1F5"/>
            </a:solidFill>
            <a:prstDash val="solid"/>
          </a:ln>
        </p:spPr>
      </p:sp>
      <p:sp>
        <p:nvSpPr>
          <p:cNvPr id="6" name="Text 4"/>
          <p:cNvSpPr txBox="1"/>
          <p:nvPr/>
        </p:nvSpPr>
        <p:spPr>
          <a:xfrm>
            <a:off x="914400" y="2130552"/>
            <a:ext cx="4846320" cy="320040"/>
          </a:xfrm>
          <a:prstGeom prst="rect">
            <a:avLst/>
          </a:prstGeom>
          <a:noFill/>
          <a:ln/>
        </p:spPr>
        <p:txBody>
          <a:bodyPr wrap="square" lIns="0" tIns="0" rIns="0" bIns="0" rtlCol="0" anchor="t"/>
          <a:lstStyle/>
          <a:p>
            <a:pPr marL="0" indent="0">
              <a:buNone/>
            </a:pPr>
            <a:r>
              <a:rPr lang="en-US" sz="1600" b="1" dirty="0">
                <a:solidFill>
                  <a:srgbClr val="142850"/>
                </a:solidFill>
                <a:latin typeface="Cambria" pitchFamily="34" charset="0"/>
                <a:ea typeface="Cambria" pitchFamily="34" charset="-122"/>
                <a:cs typeface="Cambria" pitchFamily="34" charset="-120"/>
              </a:rPr>
              <a:t>Data &amp; model</a:t>
            </a:r>
            <a:endParaRPr lang="en-US" sz="1600" dirty="0"/>
          </a:p>
        </p:txBody>
      </p:sp>
      <p:sp>
        <p:nvSpPr>
          <p:cNvPr id="7" name="Text 5"/>
          <p:cNvSpPr txBox="1"/>
          <p:nvPr/>
        </p:nvSpPr>
        <p:spPr>
          <a:xfrm>
            <a:off x="914400" y="2514600"/>
            <a:ext cx="4892040" cy="1371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Dataset external origin not verified</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Only five academic input features</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No demographic variables, so no fairness or bias analysis</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Model performance is based on this dataset only</a:t>
            </a:r>
            <a:endParaRPr lang="en-US" sz="1250" dirty="0"/>
          </a:p>
        </p:txBody>
      </p:sp>
      <p:sp>
        <p:nvSpPr>
          <p:cNvPr id="8" name="Shape 6"/>
          <p:cNvSpPr/>
          <p:nvPr/>
        </p:nvSpPr>
        <p:spPr>
          <a:xfrm>
            <a:off x="6217920" y="1965960"/>
            <a:ext cx="5394960" cy="1828800"/>
          </a:xfrm>
          <a:prstGeom prst="roundRect">
            <a:avLst>
              <a:gd name="adj" fmla="val 6000"/>
            </a:avLst>
          </a:prstGeom>
          <a:solidFill>
            <a:srgbClr val="F4F7FE"/>
          </a:solidFill>
          <a:ln w="9525">
            <a:solidFill>
              <a:srgbClr val="D8E1F5"/>
            </a:solidFill>
            <a:prstDash val="solid"/>
          </a:ln>
        </p:spPr>
      </p:sp>
      <p:sp>
        <p:nvSpPr>
          <p:cNvPr id="9" name="Text 7"/>
          <p:cNvSpPr txBox="1"/>
          <p:nvPr/>
        </p:nvSpPr>
        <p:spPr>
          <a:xfrm>
            <a:off x="6492240" y="2130552"/>
            <a:ext cx="4846320" cy="320040"/>
          </a:xfrm>
          <a:prstGeom prst="rect">
            <a:avLst/>
          </a:prstGeom>
          <a:noFill/>
          <a:ln/>
        </p:spPr>
        <p:txBody>
          <a:bodyPr wrap="square" lIns="0" tIns="0" rIns="0" bIns="0" rtlCol="0" anchor="t"/>
          <a:lstStyle/>
          <a:p>
            <a:pPr marL="0" indent="0">
              <a:buNone/>
            </a:pPr>
            <a:r>
              <a:rPr lang="en-US" sz="1600" b="1" dirty="0">
                <a:solidFill>
                  <a:srgbClr val="142850"/>
                </a:solidFill>
                <a:latin typeface="Cambria" pitchFamily="34" charset="0"/>
                <a:ea typeface="Cambria" pitchFamily="34" charset="-122"/>
                <a:cs typeface="Cambria" pitchFamily="34" charset="-120"/>
              </a:rPr>
              <a:t>Early warning</a:t>
            </a:r>
            <a:endParaRPr lang="en-US" sz="1600" dirty="0"/>
          </a:p>
        </p:txBody>
      </p:sp>
      <p:sp>
        <p:nvSpPr>
          <p:cNvPr id="10" name="Text 8"/>
          <p:cNvSpPr txBox="1"/>
          <p:nvPr/>
        </p:nvSpPr>
        <p:spPr>
          <a:xfrm>
            <a:off x="6492240" y="2514600"/>
            <a:ext cx="4892040" cy="1371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Class imbalance: 1.25% of students scored below 40</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High Concern recall is limited to 52%</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High + Borderline improves recall to 84% but flags more students (47)</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Low scores are predicted closer to the mean</a:t>
            </a:r>
            <a:endParaRPr lang="en-US" sz="1250" dirty="0"/>
          </a:p>
        </p:txBody>
      </p:sp>
      <p:sp>
        <p:nvSpPr>
          <p:cNvPr id="11" name="Shape 9"/>
          <p:cNvSpPr/>
          <p:nvPr/>
        </p:nvSpPr>
        <p:spPr>
          <a:xfrm>
            <a:off x="640080" y="3977640"/>
            <a:ext cx="5394960" cy="1828800"/>
          </a:xfrm>
          <a:prstGeom prst="roundRect">
            <a:avLst>
              <a:gd name="adj" fmla="val 6000"/>
            </a:avLst>
          </a:prstGeom>
          <a:solidFill>
            <a:srgbClr val="E9F0FF"/>
          </a:solidFill>
          <a:ln w="9525">
            <a:solidFill>
              <a:srgbClr val="E9F0FF"/>
            </a:solidFill>
            <a:prstDash val="solid"/>
          </a:ln>
        </p:spPr>
      </p:sp>
      <p:sp>
        <p:nvSpPr>
          <p:cNvPr id="12" name="Text 10"/>
          <p:cNvSpPr txBox="1"/>
          <p:nvPr/>
        </p:nvSpPr>
        <p:spPr>
          <a:xfrm>
            <a:off x="914400" y="4142232"/>
            <a:ext cx="4846320" cy="320040"/>
          </a:xfrm>
          <a:prstGeom prst="rect">
            <a:avLst/>
          </a:prstGeom>
          <a:noFill/>
          <a:ln/>
        </p:spPr>
        <p:txBody>
          <a:bodyPr wrap="square" lIns="0" tIns="0" rIns="0" bIns="0" rtlCol="0" anchor="t"/>
          <a:lstStyle/>
          <a:p>
            <a:pPr marL="0" indent="0">
              <a:buNone/>
            </a:pPr>
            <a:r>
              <a:rPr lang="en-US" sz="1600" b="1" dirty="0">
                <a:solidFill>
                  <a:srgbClr val="142850"/>
                </a:solidFill>
                <a:latin typeface="Cambria" pitchFamily="34" charset="0"/>
                <a:ea typeface="Cambria" pitchFamily="34" charset="-122"/>
                <a:cs typeface="Cambria" pitchFamily="34" charset="-120"/>
              </a:rPr>
              <a:t>Interpretation</a:t>
            </a:r>
            <a:endParaRPr lang="en-US" sz="1600" dirty="0"/>
          </a:p>
        </p:txBody>
      </p:sp>
      <p:sp>
        <p:nvSpPr>
          <p:cNvPr id="13" name="Text 11"/>
          <p:cNvSpPr txBox="1"/>
          <p:nvPr/>
        </p:nvSpPr>
        <p:spPr>
          <a:xfrm>
            <a:off x="914400" y="4526280"/>
            <a:ext cx="4892040" cy="1371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SHAP provides model attribution, not causation</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What-If provides scenario comparison, not intervention effects</a:t>
            </a:r>
            <a:endParaRPr lang="en-US" sz="1250" dirty="0"/>
          </a:p>
        </p:txBody>
      </p:sp>
      <p:sp>
        <p:nvSpPr>
          <p:cNvPr id="14" name="Shape 12"/>
          <p:cNvSpPr/>
          <p:nvPr/>
        </p:nvSpPr>
        <p:spPr>
          <a:xfrm>
            <a:off x="6217920" y="3977640"/>
            <a:ext cx="5394960" cy="1828800"/>
          </a:xfrm>
          <a:prstGeom prst="roundRect">
            <a:avLst>
              <a:gd name="adj" fmla="val 6000"/>
            </a:avLst>
          </a:prstGeom>
          <a:solidFill>
            <a:srgbClr val="E9F0FF"/>
          </a:solidFill>
          <a:ln w="9525">
            <a:solidFill>
              <a:srgbClr val="E9F0FF"/>
            </a:solidFill>
            <a:prstDash val="solid"/>
          </a:ln>
        </p:spPr>
      </p:sp>
      <p:sp>
        <p:nvSpPr>
          <p:cNvPr id="15" name="Text 13"/>
          <p:cNvSpPr txBox="1"/>
          <p:nvPr/>
        </p:nvSpPr>
        <p:spPr>
          <a:xfrm>
            <a:off x="6492240" y="4142232"/>
            <a:ext cx="4846320" cy="320040"/>
          </a:xfrm>
          <a:prstGeom prst="rect">
            <a:avLst/>
          </a:prstGeom>
          <a:noFill/>
          <a:ln/>
        </p:spPr>
        <p:txBody>
          <a:bodyPr wrap="square" lIns="0" tIns="0" rIns="0" bIns="0" rtlCol="0" anchor="t"/>
          <a:lstStyle/>
          <a:p>
            <a:pPr marL="0" indent="0">
              <a:buNone/>
            </a:pPr>
            <a:r>
              <a:rPr lang="en-US" sz="1600" b="1" dirty="0">
                <a:solidFill>
                  <a:srgbClr val="142850"/>
                </a:solidFill>
                <a:latin typeface="Cambria" pitchFamily="34" charset="0"/>
                <a:ea typeface="Cambria" pitchFamily="34" charset="-122"/>
                <a:cs typeface="Cambria" pitchFamily="34" charset="-120"/>
              </a:rPr>
              <a:t>System</a:t>
            </a:r>
            <a:endParaRPr lang="en-US" sz="1600" dirty="0"/>
          </a:p>
        </p:txBody>
      </p:sp>
      <p:sp>
        <p:nvSpPr>
          <p:cNvPr id="16" name="Text 14"/>
          <p:cNvSpPr txBox="1"/>
          <p:nvPr/>
        </p:nvSpPr>
        <p:spPr>
          <a:xfrm>
            <a:off x="6492240" y="4526280"/>
            <a:ext cx="4892040" cy="1371600"/>
          </a:xfrm>
          <a:prstGeom prst="rect">
            <a:avLst/>
          </a:prstGeom>
          <a:noFill/>
          <a:ln/>
        </p:spPr>
        <p:txBody>
          <a:bodyPr wrap="square" lIns="0" tIns="0" rIns="0" bIns="0" rtlCol="0" anchor="t"/>
          <a:lstStyle/>
          <a:p>
            <a:pPr marL="342900" indent="-342900">
              <a:spcAft>
                <a:spcPts val="400"/>
              </a:spcAft>
              <a:buSzPct val="100000"/>
              <a:buChar char="•"/>
            </a:pPr>
            <a:r>
              <a:rPr lang="en-US" sz="1250">
                <a:solidFill>
                  <a:srgbClr val="1A2A4A"/>
                </a:solidFill>
                <a:latin typeface="Arial" pitchFamily="34" charset="0"/>
                <a:ea typeface="Arial" pitchFamily="34" charset="-122"/>
                <a:cs typeface="Arial" pitchFamily="34" charset="-120"/>
              </a:rPr>
              <a:t>Fictional sample students in one course; no live university data</a:t>
            </a:r>
          </a:p>
          <a:p>
            <a:pPr marL="342900" indent="-342900">
              <a:spcAft>
                <a:spcPts val="400"/>
              </a:spcAft>
              <a:buSzPct val="100000"/>
              <a:buChar char="•"/>
            </a:pPr>
            <a:r>
              <a:rPr lang="en-US" sz="1250">
                <a:solidFill>
                  <a:srgbClr val="1A2A4A"/>
                </a:solidFill>
                <a:latin typeface="Arial" pitchFamily="34" charset="0"/>
                <a:ea typeface="Arial" pitchFamily="34" charset="-122"/>
                <a:cs typeface="Arial" pitchFamily="34" charset="-120"/>
              </a:rPr>
              <a:t>Simple accounts: no institutional login or password reset</a:t>
            </a:r>
          </a:p>
          <a:p>
            <a:pPr marL="342900" indent="-342900">
              <a:spcAft>
                <a:spcPts val="400"/>
              </a:spcAft>
              <a:buSzPct val="100000"/>
              <a:buChar char="•"/>
            </a:pPr>
            <a:r>
              <a:rPr lang="en-US" sz="1250">
                <a:solidFill>
                  <a:srgbClr val="1A2A4A"/>
                </a:solidFill>
                <a:latin typeface="Arial" pitchFamily="34" charset="0"/>
                <a:ea typeface="Arial" pitchFamily="34" charset="-122"/>
                <a:cs typeface="Arial" pitchFamily="34" charset="-120"/>
              </a:rPr>
              <a:t>Daily Study Hours is self-reported by the student</a:t>
            </a:r>
            <a:endParaRPr lang="en-US" sz="1250" dirty="0"/>
          </a:p>
        </p:txBody>
      </p:sp>
      <p:sp>
        <p:nvSpPr>
          <p:cNvPr id="17" name="Text 15"/>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8" name="Text 16"/>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830"/>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274320"/>
          </a:xfrm>
          <a:prstGeom prst="rect">
            <a:avLst/>
          </a:prstGeom>
          <a:noFill/>
          <a:ln/>
        </p:spPr>
        <p:txBody>
          <a:bodyPr wrap="square" lIns="0" tIns="0" rIns="0" bIns="0" rtlCol="0" anchor="t"/>
          <a:lstStyle/>
          <a:p>
            <a:pPr marL="0" indent="0">
              <a:buNone/>
            </a:pPr>
            <a:r>
              <a:rPr lang="en-US" sz="1100" b="1" kern="0" spc="300" dirty="0">
                <a:solidFill>
                  <a:srgbClr val="8FB0F7"/>
                </a:solidFill>
                <a:latin typeface="Arial" pitchFamily="34" charset="0"/>
                <a:ea typeface="Arial" pitchFamily="34" charset="-122"/>
                <a:cs typeface="Arial" pitchFamily="34" charset="-120"/>
              </a:rPr>
              <a:t>FUTURE SCOPE</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Planned extensions (not implemented)</a:t>
            </a:r>
            <a:endParaRPr lang="en-US" sz="3000" dirty="0"/>
          </a:p>
        </p:txBody>
      </p:sp>
      <p:sp>
        <p:nvSpPr>
          <p:cNvPr id="4" name="Text 2"/>
          <p:cNvSpPr txBox="1"/>
          <p:nvPr/>
        </p:nvSpPr>
        <p:spPr>
          <a:xfrm>
            <a:off x="640080" y="1371600"/>
            <a:ext cx="10972800" cy="365760"/>
          </a:xfrm>
          <a:prstGeom prst="rect">
            <a:avLst/>
          </a:prstGeom>
          <a:noFill/>
          <a:ln/>
        </p:spPr>
        <p:txBody>
          <a:bodyPr wrap="square" lIns="0" tIns="0" rIns="0" bIns="0" rtlCol="0" anchor="t"/>
          <a:lstStyle/>
          <a:p>
            <a:pPr marL="0" indent="0">
              <a:buNone/>
            </a:pPr>
            <a:r>
              <a:rPr lang="en-US" sz="1400" dirty="0">
                <a:solidFill>
                  <a:srgbClr val="B7C3DD"/>
                </a:solidFill>
                <a:latin typeface="Arial" pitchFamily="34" charset="0"/>
                <a:ea typeface="Arial" pitchFamily="34" charset="-122"/>
                <a:cs typeface="Arial" pitchFamily="34" charset="-120"/>
              </a:rPr>
              <a:t>Everything on this slide is future work. None of it is part of the current system.</a:t>
            </a:r>
            <a:endParaRPr lang="en-US" sz="1400" dirty="0"/>
          </a:p>
        </p:txBody>
      </p:sp>
      <p:sp>
        <p:nvSpPr>
          <p:cNvPr id="5" name="Shape 3"/>
          <p:cNvSpPr/>
          <p:nvPr/>
        </p:nvSpPr>
        <p:spPr>
          <a:xfrm>
            <a:off x="640080" y="2103120"/>
            <a:ext cx="3520440" cy="2926080"/>
          </a:xfrm>
          <a:prstGeom prst="roundRect">
            <a:avLst>
              <a:gd name="adj" fmla="val 3750"/>
            </a:avLst>
          </a:prstGeom>
          <a:solidFill>
            <a:srgbClr val="12264A"/>
          </a:solidFill>
          <a:ln w="9525">
            <a:solidFill>
              <a:srgbClr val="1E3563"/>
            </a:solidFill>
            <a:prstDash val="solid"/>
          </a:ln>
        </p:spPr>
      </p:sp>
      <p:sp>
        <p:nvSpPr>
          <p:cNvPr id="6" name="Text 4"/>
          <p:cNvSpPr txBox="1"/>
          <p:nvPr/>
        </p:nvSpPr>
        <p:spPr>
          <a:xfrm>
            <a:off x="914400" y="2240280"/>
            <a:ext cx="3017520" cy="36576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Data &amp; model</a:t>
            </a:r>
            <a:endParaRPr lang="en-US" sz="1700" dirty="0"/>
          </a:p>
        </p:txBody>
      </p:sp>
      <p:sp>
        <p:nvSpPr>
          <p:cNvPr id="7" name="Text 5"/>
          <p:cNvSpPr txBox="1"/>
          <p:nvPr/>
        </p:nvSpPr>
        <p:spPr>
          <a:xfrm>
            <a:off x="914400" y="2743200"/>
            <a:ext cx="301752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Verified and larger datasets</a:t>
            </a:r>
            <a:endParaRPr lang="en-US" sz="1300" dirty="0"/>
          </a:p>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Additional validated features</a:t>
            </a:r>
            <a:endParaRPr lang="en-US" sz="1300" dirty="0"/>
          </a:p>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Validated threshold calibration</a:t>
            </a:r>
            <a:endParaRPr lang="en-US" sz="1300" dirty="0"/>
          </a:p>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Fairness evaluation once suitable demographic data is available</a:t>
            </a:r>
            <a:endParaRPr lang="en-US" sz="1300" dirty="0"/>
          </a:p>
        </p:txBody>
      </p:sp>
      <p:sp>
        <p:nvSpPr>
          <p:cNvPr id="8" name="Shape 6"/>
          <p:cNvSpPr/>
          <p:nvPr/>
        </p:nvSpPr>
        <p:spPr>
          <a:xfrm>
            <a:off x="4389120" y="2103120"/>
            <a:ext cx="3520440" cy="2926080"/>
          </a:xfrm>
          <a:prstGeom prst="roundRect">
            <a:avLst>
              <a:gd name="adj" fmla="val 3750"/>
            </a:avLst>
          </a:prstGeom>
          <a:solidFill>
            <a:srgbClr val="12264A"/>
          </a:solidFill>
          <a:ln w="9525">
            <a:solidFill>
              <a:srgbClr val="1E3563"/>
            </a:solidFill>
            <a:prstDash val="solid"/>
          </a:ln>
        </p:spPr>
      </p:sp>
      <p:sp>
        <p:nvSpPr>
          <p:cNvPr id="9" name="Text 7"/>
          <p:cNvSpPr txBox="1"/>
          <p:nvPr/>
        </p:nvSpPr>
        <p:spPr>
          <a:xfrm>
            <a:off x="4663440" y="2240280"/>
            <a:ext cx="3017520" cy="36576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Platform</a:t>
            </a:r>
            <a:endParaRPr lang="en-US" sz="1700" dirty="0"/>
          </a:p>
        </p:txBody>
      </p:sp>
      <p:sp>
        <p:nvSpPr>
          <p:cNvPr id="10" name="Text 8"/>
          <p:cNvSpPr txBox="1"/>
          <p:nvPr/>
        </p:nvSpPr>
        <p:spPr>
          <a:xfrm>
            <a:off x="4663440" y="2743200"/>
            <a:ext cx="3017520" cy="2194560"/>
          </a:xfrm>
          <a:prstGeom prst="rect">
            <a:avLst/>
          </a:prstGeom>
          <a:noFill/>
          <a:ln/>
        </p:spPr>
        <p:txBody>
          <a:bodyPr wrap="square" lIns="0" tIns="0" rIns="0" bIns="0" rtlCol="0" anchor="t"/>
          <a:lstStyle/>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Institutional login and LMS integration</a:t>
            </a:r>
          </a:p>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Multi-course and semester support</a:t>
            </a:r>
          </a:p>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Automated attendance and marks collection</a:t>
            </a:r>
          </a:p>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Department-level and cohort analytics</a:t>
            </a:r>
            <a:endParaRPr lang="en-US" sz="1300" dirty="0"/>
          </a:p>
        </p:txBody>
      </p:sp>
      <p:sp>
        <p:nvSpPr>
          <p:cNvPr id="11" name="Shape 9"/>
          <p:cNvSpPr/>
          <p:nvPr/>
        </p:nvSpPr>
        <p:spPr>
          <a:xfrm>
            <a:off x="8138160" y="2103120"/>
            <a:ext cx="3520440" cy="2926080"/>
          </a:xfrm>
          <a:prstGeom prst="roundRect">
            <a:avLst>
              <a:gd name="adj" fmla="val 3750"/>
            </a:avLst>
          </a:prstGeom>
          <a:solidFill>
            <a:srgbClr val="12264A"/>
          </a:solidFill>
          <a:ln w="9525">
            <a:solidFill>
              <a:srgbClr val="1E3563"/>
            </a:solidFill>
            <a:prstDash val="solid"/>
          </a:ln>
        </p:spPr>
      </p:sp>
      <p:sp>
        <p:nvSpPr>
          <p:cNvPr id="12" name="Text 10"/>
          <p:cNvSpPr txBox="1"/>
          <p:nvPr/>
        </p:nvSpPr>
        <p:spPr>
          <a:xfrm>
            <a:off x="8412480" y="2240280"/>
            <a:ext cx="3017520" cy="36576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Extensions</a:t>
            </a:r>
            <a:endParaRPr lang="en-US" sz="1700" dirty="0"/>
          </a:p>
        </p:txBody>
      </p:sp>
      <p:sp>
        <p:nvSpPr>
          <p:cNvPr id="13" name="Text 11"/>
          <p:cNvSpPr txBox="1"/>
          <p:nvPr/>
        </p:nvSpPr>
        <p:spPr>
          <a:xfrm>
            <a:off x="8412480" y="2743200"/>
            <a:ext cx="3017520" cy="2194560"/>
          </a:xfrm>
          <a:prstGeom prst="rect">
            <a:avLst/>
          </a:prstGeom>
          <a:noFill/>
          <a:ln/>
        </p:spPr>
        <p:txBody>
          <a:bodyPr wrap="square" lIns="0" tIns="0" rIns="0" bIns="0" rtlCol="0" anchor="t"/>
          <a:lstStyle/>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Intervention effectiveness measurement</a:t>
            </a:r>
          </a:p>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Progress and trend analytics</a:t>
            </a:r>
          </a:p>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Automated notifications</a:t>
            </a:r>
          </a:p>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Mobile application</a:t>
            </a:r>
          </a:p>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NLP-based feedback</a:t>
            </a:r>
            <a:endParaRPr lang="en-US" sz="1300" dirty="0"/>
          </a:p>
        </p:txBody>
      </p:sp>
      <p:sp>
        <p:nvSpPr>
          <p:cNvPr id="14" name="Text 12"/>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6F7F9E"/>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5" name="Text 13"/>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6F7F9E"/>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REFERENCES</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References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References to be finalized from verified sources.</a:t>
            </a:r>
            <a:endParaRPr lang="en-US" sz="1400" dirty="0"/>
          </a:p>
        </p:txBody>
      </p:sp>
      <p:sp>
        <p:nvSpPr>
          <p:cNvPr id="5" name="Text 3"/>
          <p:cNvSpPr txBox="1"/>
          <p:nvPr/>
        </p:nvSpPr>
        <p:spPr>
          <a:xfrm>
            <a:off x="640080" y="1965960"/>
            <a:ext cx="10972800" cy="274320"/>
          </a:xfrm>
          <a:prstGeom prst="rect">
            <a:avLst/>
          </a:prstGeom>
          <a:noFill/>
          <a:ln/>
        </p:spPr>
        <p:txBody>
          <a:bodyPr wrap="square" lIns="0" tIns="0" rIns="0" bIns="0" rtlCol="0" anchor="t"/>
          <a:lstStyle/>
          <a:p>
            <a:pPr marL="0" indent="0">
              <a:buNone/>
            </a:pPr>
            <a:r>
              <a:rPr lang="en-US" sz="1100" b="1" kern="0" spc="200" dirty="0">
                <a:solidFill>
                  <a:srgbClr val="2F6FED"/>
                </a:solidFill>
                <a:latin typeface="Arial" pitchFamily="34" charset="0"/>
                <a:ea typeface="Arial" pitchFamily="34" charset="-122"/>
                <a:cs typeface="Arial" pitchFamily="34" charset="-120"/>
              </a:rPr>
              <a:t>METHODS AND SOFTWARE USED BY THE SYSTEM</a:t>
            </a:r>
            <a:endParaRPr lang="en-US" sz="1100" dirty="0"/>
          </a:p>
        </p:txBody>
      </p:sp>
      <p:sp>
        <p:nvSpPr>
          <p:cNvPr id="6" name="Text 4"/>
          <p:cNvSpPr txBox="1"/>
          <p:nvPr/>
        </p:nvSpPr>
        <p:spPr>
          <a:xfrm>
            <a:off x="640080" y="2331720"/>
            <a:ext cx="10972800" cy="118872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300" dirty="0">
                <a:solidFill>
                  <a:srgbClr val="1A2A4A"/>
                </a:solidFill>
                <a:latin typeface="Arial" pitchFamily="34" charset="0"/>
                <a:ea typeface="Arial" pitchFamily="34" charset="-122"/>
                <a:cs typeface="Arial" pitchFamily="34" charset="-120"/>
              </a:rPr>
              <a:t>Lundberg, S. M., &amp; Lee, S.-I. (2017). A unified approach to interpreting model predictions. Advances in Neural Information Processing Systems 30 (NeurIPS 2017).</a:t>
            </a:r>
            <a:endParaRPr lang="en-US" sz="1300" dirty="0"/>
          </a:p>
          <a:p>
            <a:pPr marL="342900" indent="-342900">
              <a:spcAft>
                <a:spcPts val="800"/>
              </a:spcAft>
              <a:buSzPct val="100000"/>
              <a:buFont typeface="+mj-lt"/>
              <a:buAutoNum type="arabicPeriod"/>
            </a:pPr>
            <a:r>
              <a:rPr lang="en-US" sz="1300" dirty="0">
                <a:solidFill>
                  <a:srgbClr val="1A2A4A"/>
                </a:solidFill>
                <a:latin typeface="Arial" pitchFamily="34" charset="0"/>
                <a:ea typeface="Arial" pitchFamily="34" charset="-122"/>
                <a:cs typeface="Arial" pitchFamily="34" charset="-120"/>
              </a:rPr>
              <a:t>Pedregosa, F., et al. (2011). Scikit-learn: Machine learning in Python. Journal of Machine Learning Research, 12, 2825–2830.</a:t>
            </a:r>
            <a:endParaRPr lang="en-US" sz="1300" dirty="0"/>
          </a:p>
        </p:txBody>
      </p:sp>
      <p:sp>
        <p:nvSpPr>
          <p:cNvPr id="7" name="Shape 5"/>
          <p:cNvSpPr/>
          <p:nvPr/>
        </p:nvSpPr>
        <p:spPr>
          <a:xfrm>
            <a:off x="640080" y="3886200"/>
            <a:ext cx="10972800" cy="1508760"/>
          </a:xfrm>
          <a:prstGeom prst="roundRect">
            <a:avLst>
              <a:gd name="adj" fmla="val 7273"/>
            </a:avLst>
          </a:prstGeom>
          <a:solidFill>
            <a:srgbClr val="FFFFFF"/>
          </a:solidFill>
          <a:ln w="19050">
            <a:solidFill>
              <a:srgbClr val="C27A12"/>
            </a:solidFill>
            <a:prstDash val="dash"/>
          </a:ln>
        </p:spPr>
      </p:sp>
      <p:sp>
        <p:nvSpPr>
          <p:cNvPr id="8" name="Text 6"/>
          <p:cNvSpPr txBox="1"/>
          <p:nvPr/>
        </p:nvSpPr>
        <p:spPr>
          <a:xfrm>
            <a:off x="914400" y="4114800"/>
            <a:ext cx="10424160" cy="274320"/>
          </a:xfrm>
          <a:prstGeom prst="rect">
            <a:avLst/>
          </a:prstGeom>
          <a:noFill/>
          <a:ln/>
        </p:spPr>
        <p:txBody>
          <a:bodyPr wrap="square" lIns="0" tIns="0" rIns="0" bIns="0" rtlCol="0" anchor="t"/>
          <a:lstStyle/>
          <a:p>
            <a:pPr marL="0" indent="0">
              <a:buNone/>
            </a:pPr>
            <a:r>
              <a:rPr lang="en-US" sz="1200" b="1" kern="0" spc="100" dirty="0">
                <a:solidFill>
                  <a:srgbClr val="C27A12"/>
                </a:solidFill>
                <a:latin typeface="Arial" pitchFamily="34" charset="0"/>
                <a:ea typeface="Arial" pitchFamily="34" charset="-122"/>
                <a:cs typeface="Arial" pitchFamily="34" charset="-120"/>
              </a:rPr>
              <a:t>LITERATURE REVIEW — REFERENCES TO BE FINALIZED FROM VERIFIED SOURCES</a:t>
            </a:r>
            <a:endParaRPr lang="en-US" sz="1200" dirty="0"/>
          </a:p>
        </p:txBody>
      </p:sp>
      <p:sp>
        <p:nvSpPr>
          <p:cNvPr id="9" name="Text 7"/>
          <p:cNvSpPr txBox="1"/>
          <p:nvPr/>
        </p:nvSpPr>
        <p:spPr>
          <a:xfrm>
            <a:off x="914400" y="4526280"/>
            <a:ext cx="10424160" cy="731520"/>
          </a:xfrm>
          <a:prstGeom prst="rect">
            <a:avLst/>
          </a:prstGeom>
          <a:noFill/>
          <a:ln/>
        </p:spPr>
        <p:txBody>
          <a:bodyPr wrap="square" lIns="0" tIns="0" rIns="0" bIns="0" rtlCol="0" anchor="t"/>
          <a:lstStyle/>
          <a:p>
            <a:pPr marL="0" indent="0">
              <a:buNone/>
            </a:pPr>
            <a:r>
              <a:rPr lang="en-US" sz="1300" dirty="0">
                <a:solidFill>
                  <a:srgbClr val="1A2A4A"/>
                </a:solidFill>
                <a:latin typeface="Arial" pitchFamily="34" charset="0"/>
                <a:ea typeface="Arial" pitchFamily="34" charset="-122"/>
                <a:cs typeface="Arial" pitchFamily="34" charset="-120"/>
              </a:rPr>
              <a:t>The related-work studies from the earlier draft could not be verified and are not listed. Add full citations (authors, title, venue, year, DOI) for each study used on the Related Work slide before final submission.</a:t>
            </a:r>
            <a:endParaRPr lang="en-US" sz="1300" dirty="0"/>
          </a:p>
        </p:txBody>
      </p:sp>
      <p:sp>
        <p:nvSpPr>
          <p:cNvPr id="10" name="Text 8"/>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1" name="Text 9"/>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2224</Words>
  <Application>Microsoft Office PowerPoint</Application>
  <PresentationFormat>Widescreen</PresentationFormat>
  <Paragraphs>399</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Based Student Performance Prediction and Decision Support System with Explainable AI</dc:title>
  <dc:subject>PptxGenJS Presentation</dc:subject>
  <dc:creator>PptxGenJS</dc:creator>
  <cp:lastModifiedBy>NEMMI</cp:lastModifiedBy>
  <cp:revision>5</cp:revision>
  <dcterms:created xsi:type="dcterms:W3CDTF">2026-09-28T21:18:47Z</dcterms:created>
  <dcterms:modified xsi:type="dcterms:W3CDTF">2026-10-07T19:27:14Z</dcterms:modified>
</cp:coreProperties>
</file>